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7" r:id="rId6"/>
  </p:sldMasterIdLst>
  <p:notesMasterIdLst>
    <p:notesMasterId r:id="rId92"/>
  </p:notesMasterIdLst>
  <p:sldIdLst>
    <p:sldId id="401" r:id="rId7"/>
    <p:sldId id="257" r:id="rId8"/>
    <p:sldId id="400" r:id="rId9"/>
    <p:sldId id="266" r:id="rId10"/>
    <p:sldId id="262" r:id="rId11"/>
    <p:sldId id="264" r:id="rId12"/>
    <p:sldId id="265" r:id="rId13"/>
    <p:sldId id="437" r:id="rId14"/>
    <p:sldId id="263" r:id="rId15"/>
    <p:sldId id="546" r:id="rId16"/>
    <p:sldId id="547" r:id="rId17"/>
    <p:sldId id="548" r:id="rId18"/>
    <p:sldId id="549" r:id="rId19"/>
    <p:sldId id="550" r:id="rId20"/>
    <p:sldId id="551" r:id="rId21"/>
    <p:sldId id="552" r:id="rId22"/>
    <p:sldId id="267" r:id="rId23"/>
    <p:sldId id="428" r:id="rId24"/>
    <p:sldId id="429" r:id="rId25"/>
    <p:sldId id="430" r:id="rId26"/>
    <p:sldId id="431" r:id="rId27"/>
    <p:sldId id="432" r:id="rId28"/>
    <p:sldId id="433" r:id="rId29"/>
    <p:sldId id="466" r:id="rId30"/>
    <p:sldId id="436" r:id="rId31"/>
    <p:sldId id="467" r:id="rId32"/>
    <p:sldId id="453" r:id="rId33"/>
    <p:sldId id="454" r:id="rId34"/>
    <p:sldId id="455" r:id="rId35"/>
    <p:sldId id="456" r:id="rId36"/>
    <p:sldId id="465" r:id="rId37"/>
    <p:sldId id="439" r:id="rId38"/>
    <p:sldId id="440" r:id="rId39"/>
    <p:sldId id="468" r:id="rId40"/>
    <p:sldId id="469" r:id="rId41"/>
    <p:sldId id="441" r:id="rId42"/>
    <p:sldId id="498" r:id="rId43"/>
    <p:sldId id="499" r:id="rId44"/>
    <p:sldId id="526" r:id="rId45"/>
    <p:sldId id="444" r:id="rId46"/>
    <p:sldId id="445" r:id="rId47"/>
    <p:sldId id="446" r:id="rId48"/>
    <p:sldId id="500" r:id="rId49"/>
    <p:sldId id="501" r:id="rId50"/>
    <p:sldId id="502" r:id="rId51"/>
    <p:sldId id="506" r:id="rId52"/>
    <p:sldId id="503" r:id="rId53"/>
    <p:sldId id="504" r:id="rId54"/>
    <p:sldId id="505" r:id="rId55"/>
    <p:sldId id="553" r:id="rId56"/>
    <p:sldId id="507" r:id="rId57"/>
    <p:sldId id="508" r:id="rId58"/>
    <p:sldId id="510" r:id="rId59"/>
    <p:sldId id="511" r:id="rId60"/>
    <p:sldId id="512" r:id="rId61"/>
    <p:sldId id="513" r:id="rId62"/>
    <p:sldId id="514" r:id="rId63"/>
    <p:sldId id="419" r:id="rId64"/>
    <p:sldId id="420" r:id="rId65"/>
    <p:sldId id="534" r:id="rId66"/>
    <p:sldId id="536" r:id="rId67"/>
    <p:sldId id="537" r:id="rId68"/>
    <p:sldId id="452" r:id="rId69"/>
    <p:sldId id="518" r:id="rId70"/>
    <p:sldId id="519" r:id="rId71"/>
    <p:sldId id="538" r:id="rId72"/>
    <p:sldId id="523" r:id="rId73"/>
    <p:sldId id="525" r:id="rId74"/>
    <p:sldId id="522" r:id="rId75"/>
    <p:sldId id="539" r:id="rId76"/>
    <p:sldId id="540" r:id="rId77"/>
    <p:sldId id="541" r:id="rId78"/>
    <p:sldId id="542" r:id="rId79"/>
    <p:sldId id="543" r:id="rId80"/>
    <p:sldId id="524" r:id="rId81"/>
    <p:sldId id="528" r:id="rId82"/>
    <p:sldId id="529" r:id="rId83"/>
    <p:sldId id="530" r:id="rId84"/>
    <p:sldId id="527" r:id="rId85"/>
    <p:sldId id="520" r:id="rId86"/>
    <p:sldId id="515" r:id="rId87"/>
    <p:sldId id="531" r:id="rId88"/>
    <p:sldId id="533" r:id="rId89"/>
    <p:sldId id="545" r:id="rId90"/>
    <p:sldId id="544" r:id="rId91"/>
  </p:sldIdLst>
  <p:sldSz cx="9144000" cy="6858000" type="screen4x3"/>
  <p:notesSz cx="6731000" cy="98552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4">
          <p15:clr>
            <a:srgbClr val="A4A3A4"/>
          </p15:clr>
        </p15:guide>
        <p15:guide id="2" pos="212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333399"/>
    <a:srgbClr val="FF5050"/>
    <a:srgbClr val="3366CC"/>
    <a:srgbClr val="0099CC"/>
    <a:srgbClr val="00CC00"/>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86" autoAdjust="0"/>
    <p:restoredTop sz="65649" autoAdjust="0"/>
  </p:normalViewPr>
  <p:slideViewPr>
    <p:cSldViewPr>
      <p:cViewPr varScale="1">
        <p:scale>
          <a:sx n="38" d="100"/>
          <a:sy n="38" d="100"/>
        </p:scale>
        <p:origin x="1578" y="27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Lst>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39" d="100"/>
          <a:sy n="39" d="100"/>
        </p:scale>
        <p:origin x="-1896" y="-114"/>
      </p:cViewPr>
      <p:guideLst>
        <p:guide orient="horz" pos="3104"/>
        <p:guide pos="212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slide" Target="slides/slide57.xml"/><Relationship Id="rId68" Type="http://schemas.openxmlformats.org/officeDocument/2006/relationships/slide" Target="slides/slide62.xml"/><Relationship Id="rId76" Type="http://schemas.openxmlformats.org/officeDocument/2006/relationships/slide" Target="slides/slide70.xml"/><Relationship Id="rId84" Type="http://schemas.openxmlformats.org/officeDocument/2006/relationships/slide" Target="slides/slide78.xml"/><Relationship Id="rId89" Type="http://schemas.openxmlformats.org/officeDocument/2006/relationships/slide" Target="slides/slide83.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slide" Target="slides/slide73.xml"/><Relationship Id="rId87" Type="http://schemas.openxmlformats.org/officeDocument/2006/relationships/slide" Target="slides/slide81.xml"/><Relationship Id="rId5" Type="http://schemas.openxmlformats.org/officeDocument/2006/relationships/customXml" Target="../customXml/item5.xml"/><Relationship Id="rId61" Type="http://schemas.openxmlformats.org/officeDocument/2006/relationships/slide" Target="slides/slide55.xml"/><Relationship Id="rId82" Type="http://schemas.openxmlformats.org/officeDocument/2006/relationships/slide" Target="slides/slide76.xml"/><Relationship Id="rId90" Type="http://schemas.openxmlformats.org/officeDocument/2006/relationships/slide" Target="slides/slide84.xml"/><Relationship Id="rId95" Type="http://schemas.openxmlformats.org/officeDocument/2006/relationships/theme" Target="theme/theme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s>
</file>

<file path=ppt/_rels/viewProps.xml.rels><?xml version="1.0" encoding="UTF-8" standalone="yes"?>
<Relationships xmlns="http://schemas.openxmlformats.org/package/2006/relationships"><Relationship Id="rId8" Type="http://schemas.openxmlformats.org/officeDocument/2006/relationships/slide" Target="slides/slide12.xml"/><Relationship Id="rId13" Type="http://schemas.openxmlformats.org/officeDocument/2006/relationships/slide" Target="slides/slide24.xml"/><Relationship Id="rId18" Type="http://schemas.openxmlformats.org/officeDocument/2006/relationships/slide" Target="slides/slide38.xml"/><Relationship Id="rId26" Type="http://schemas.openxmlformats.org/officeDocument/2006/relationships/slide" Target="slides/slide80.xml"/><Relationship Id="rId3" Type="http://schemas.openxmlformats.org/officeDocument/2006/relationships/slide" Target="slides/slide5.xml"/><Relationship Id="rId21" Type="http://schemas.openxmlformats.org/officeDocument/2006/relationships/slide" Target="slides/slide52.xml"/><Relationship Id="rId7" Type="http://schemas.openxmlformats.org/officeDocument/2006/relationships/slide" Target="slides/slide11.xml"/><Relationship Id="rId12" Type="http://schemas.openxmlformats.org/officeDocument/2006/relationships/slide" Target="slides/slide16.xml"/><Relationship Id="rId17" Type="http://schemas.openxmlformats.org/officeDocument/2006/relationships/slide" Target="slides/slide37.xml"/><Relationship Id="rId25" Type="http://schemas.openxmlformats.org/officeDocument/2006/relationships/slide" Target="slides/slide65.xml"/><Relationship Id="rId2" Type="http://schemas.openxmlformats.org/officeDocument/2006/relationships/slide" Target="slides/slide3.xml"/><Relationship Id="rId16" Type="http://schemas.openxmlformats.org/officeDocument/2006/relationships/slide" Target="slides/slide36.xml"/><Relationship Id="rId20" Type="http://schemas.openxmlformats.org/officeDocument/2006/relationships/slide" Target="slides/slide41.xml"/><Relationship Id="rId1" Type="http://schemas.openxmlformats.org/officeDocument/2006/relationships/slide" Target="slides/slide2.xml"/><Relationship Id="rId6" Type="http://schemas.openxmlformats.org/officeDocument/2006/relationships/slide" Target="slides/slide10.xml"/><Relationship Id="rId11" Type="http://schemas.openxmlformats.org/officeDocument/2006/relationships/slide" Target="slides/slide15.xml"/><Relationship Id="rId24" Type="http://schemas.openxmlformats.org/officeDocument/2006/relationships/slide" Target="slides/slide64.xml"/><Relationship Id="rId5" Type="http://schemas.openxmlformats.org/officeDocument/2006/relationships/slide" Target="slides/slide7.xml"/><Relationship Id="rId15" Type="http://schemas.openxmlformats.org/officeDocument/2006/relationships/slide" Target="slides/slide33.xml"/><Relationship Id="rId23" Type="http://schemas.openxmlformats.org/officeDocument/2006/relationships/slide" Target="slides/slide63.xml"/><Relationship Id="rId10" Type="http://schemas.openxmlformats.org/officeDocument/2006/relationships/slide" Target="slides/slide14.xml"/><Relationship Id="rId19" Type="http://schemas.openxmlformats.org/officeDocument/2006/relationships/slide" Target="slides/slide39.xml"/><Relationship Id="rId4" Type="http://schemas.openxmlformats.org/officeDocument/2006/relationships/slide" Target="slides/slide6.xml"/><Relationship Id="rId9" Type="http://schemas.openxmlformats.org/officeDocument/2006/relationships/slide" Target="slides/slide13.xml"/><Relationship Id="rId14" Type="http://schemas.openxmlformats.org/officeDocument/2006/relationships/slide" Target="slides/slide26.xml"/><Relationship Id="rId22" Type="http://schemas.openxmlformats.org/officeDocument/2006/relationships/slide" Target="slides/slide59.xml"/><Relationship Id="rId27"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B84C227-53EB-1331-6BE7-12AEF3ABF906}"/>
              </a:ext>
            </a:extLst>
          </p:cNvPr>
          <p:cNvSpPr>
            <a:spLocks noGrp="1" noChangeArrowheads="1"/>
          </p:cNvSpPr>
          <p:nvPr>
            <p:ph type="hdr" sz="quarter"/>
          </p:nvPr>
        </p:nvSpPr>
        <p:spPr bwMode="auto">
          <a:xfrm>
            <a:off x="0" y="0"/>
            <a:ext cx="2916238" cy="492125"/>
          </a:xfrm>
          <a:prstGeom prst="rect">
            <a:avLst/>
          </a:prstGeom>
          <a:noFill/>
          <a:ln w="9525">
            <a:noFill/>
            <a:miter lim="800000"/>
            <a:headEnd/>
            <a:tailEnd/>
          </a:ln>
          <a:effectLst/>
        </p:spPr>
        <p:txBody>
          <a:bodyPr vert="horz" wrap="square" lIns="91434" tIns="45716" rIns="91434" bIns="45716" numCol="1" anchor="t" anchorCtr="0" compatLnSpc="1">
            <a:prstTxWarp prst="textNoShape">
              <a:avLst/>
            </a:prstTxWarp>
          </a:bodyPr>
          <a:lstStyle>
            <a:lvl1pPr defTabSz="914683">
              <a:defRPr sz="1200">
                <a:cs typeface="+mn-cs"/>
              </a:defRPr>
            </a:lvl1pPr>
          </a:lstStyle>
          <a:p>
            <a:pPr>
              <a:defRPr/>
            </a:pPr>
            <a:endParaRPr lang="en-GB"/>
          </a:p>
        </p:txBody>
      </p:sp>
      <p:sp>
        <p:nvSpPr>
          <p:cNvPr id="19459" name="Rectangle 3">
            <a:extLst>
              <a:ext uri="{FF2B5EF4-FFF2-40B4-BE49-F238E27FC236}">
                <a16:creationId xmlns:a16="http://schemas.microsoft.com/office/drawing/2014/main" id="{7E931AD1-9A06-C583-29BF-BCCFD4413CC2}"/>
              </a:ext>
            </a:extLst>
          </p:cNvPr>
          <p:cNvSpPr>
            <a:spLocks noGrp="1" noChangeArrowheads="1"/>
          </p:cNvSpPr>
          <p:nvPr>
            <p:ph type="dt" idx="1"/>
          </p:nvPr>
        </p:nvSpPr>
        <p:spPr bwMode="auto">
          <a:xfrm>
            <a:off x="3814763" y="0"/>
            <a:ext cx="2916237" cy="492125"/>
          </a:xfrm>
          <a:prstGeom prst="rect">
            <a:avLst/>
          </a:prstGeom>
          <a:noFill/>
          <a:ln w="9525">
            <a:noFill/>
            <a:miter lim="800000"/>
            <a:headEnd/>
            <a:tailEnd/>
          </a:ln>
          <a:effectLst/>
        </p:spPr>
        <p:txBody>
          <a:bodyPr vert="horz" wrap="square" lIns="91434" tIns="45716" rIns="91434" bIns="45716" numCol="1" anchor="t" anchorCtr="0" compatLnSpc="1">
            <a:prstTxWarp prst="textNoShape">
              <a:avLst/>
            </a:prstTxWarp>
          </a:bodyPr>
          <a:lstStyle>
            <a:lvl1pPr algn="r" defTabSz="914683">
              <a:defRPr sz="1200">
                <a:cs typeface="+mn-cs"/>
              </a:defRPr>
            </a:lvl1pPr>
          </a:lstStyle>
          <a:p>
            <a:pPr>
              <a:defRPr/>
            </a:pPr>
            <a:endParaRPr lang="en-GB"/>
          </a:p>
        </p:txBody>
      </p:sp>
      <p:sp>
        <p:nvSpPr>
          <p:cNvPr id="89092" name="Rectangle 4">
            <a:extLst>
              <a:ext uri="{FF2B5EF4-FFF2-40B4-BE49-F238E27FC236}">
                <a16:creationId xmlns:a16="http://schemas.microsoft.com/office/drawing/2014/main" id="{9C9FE684-F303-A7E9-9BE9-DB46F3F05752}"/>
              </a:ext>
            </a:extLst>
          </p:cNvPr>
          <p:cNvSpPr>
            <a:spLocks noGrp="1" noRot="1" noChangeAspect="1" noChangeArrowheads="1" noTextEdit="1"/>
          </p:cNvSpPr>
          <p:nvPr>
            <p:ph type="sldImg" idx="2"/>
          </p:nvPr>
        </p:nvSpPr>
        <p:spPr bwMode="auto">
          <a:xfrm>
            <a:off x="901700" y="739775"/>
            <a:ext cx="4927600" cy="36957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1" name="Rectangle 5">
            <a:extLst>
              <a:ext uri="{FF2B5EF4-FFF2-40B4-BE49-F238E27FC236}">
                <a16:creationId xmlns:a16="http://schemas.microsoft.com/office/drawing/2014/main" id="{CA3E4F66-19F6-5A0F-4D4D-DE87D2DCD56D}"/>
              </a:ext>
            </a:extLst>
          </p:cNvPr>
          <p:cNvSpPr>
            <a:spLocks noGrp="1" noChangeArrowheads="1"/>
          </p:cNvSpPr>
          <p:nvPr>
            <p:ph type="body" sz="quarter" idx="3"/>
          </p:nvPr>
        </p:nvSpPr>
        <p:spPr bwMode="auto">
          <a:xfrm>
            <a:off x="896938" y="4681538"/>
            <a:ext cx="4937125" cy="4433887"/>
          </a:xfrm>
          <a:prstGeom prst="rect">
            <a:avLst/>
          </a:prstGeom>
          <a:noFill/>
          <a:ln w="9525">
            <a:noFill/>
            <a:miter lim="800000"/>
            <a:headEnd/>
            <a:tailEnd/>
          </a:ln>
          <a:effectLst/>
        </p:spPr>
        <p:txBody>
          <a:bodyPr vert="horz" wrap="square" lIns="91434" tIns="45716" rIns="91434" bIns="45716"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9462" name="Rectangle 6">
            <a:extLst>
              <a:ext uri="{FF2B5EF4-FFF2-40B4-BE49-F238E27FC236}">
                <a16:creationId xmlns:a16="http://schemas.microsoft.com/office/drawing/2014/main" id="{0EE19420-5959-2C96-1337-D948F78E0261}"/>
              </a:ext>
            </a:extLst>
          </p:cNvPr>
          <p:cNvSpPr>
            <a:spLocks noGrp="1" noChangeArrowheads="1"/>
          </p:cNvSpPr>
          <p:nvPr>
            <p:ph type="ftr" sz="quarter" idx="4"/>
          </p:nvPr>
        </p:nvSpPr>
        <p:spPr bwMode="auto">
          <a:xfrm>
            <a:off x="0" y="9363075"/>
            <a:ext cx="2916238" cy="492125"/>
          </a:xfrm>
          <a:prstGeom prst="rect">
            <a:avLst/>
          </a:prstGeom>
          <a:noFill/>
          <a:ln w="9525">
            <a:noFill/>
            <a:miter lim="800000"/>
            <a:headEnd/>
            <a:tailEnd/>
          </a:ln>
          <a:effectLst/>
        </p:spPr>
        <p:txBody>
          <a:bodyPr vert="horz" wrap="square" lIns="91434" tIns="45716" rIns="91434" bIns="45716" numCol="1" anchor="b" anchorCtr="0" compatLnSpc="1">
            <a:prstTxWarp prst="textNoShape">
              <a:avLst/>
            </a:prstTxWarp>
          </a:bodyPr>
          <a:lstStyle>
            <a:lvl1pPr defTabSz="914683">
              <a:defRPr sz="1200">
                <a:cs typeface="+mn-cs"/>
              </a:defRPr>
            </a:lvl1pPr>
          </a:lstStyle>
          <a:p>
            <a:pPr>
              <a:defRPr/>
            </a:pPr>
            <a:endParaRPr lang="en-GB"/>
          </a:p>
        </p:txBody>
      </p:sp>
      <p:sp>
        <p:nvSpPr>
          <p:cNvPr id="19463" name="Rectangle 7">
            <a:extLst>
              <a:ext uri="{FF2B5EF4-FFF2-40B4-BE49-F238E27FC236}">
                <a16:creationId xmlns:a16="http://schemas.microsoft.com/office/drawing/2014/main" id="{72B23D48-8A65-107C-15E8-A3FCE471ED65}"/>
              </a:ext>
            </a:extLst>
          </p:cNvPr>
          <p:cNvSpPr>
            <a:spLocks noGrp="1" noChangeArrowheads="1"/>
          </p:cNvSpPr>
          <p:nvPr>
            <p:ph type="sldNum" sz="quarter" idx="5"/>
          </p:nvPr>
        </p:nvSpPr>
        <p:spPr bwMode="auto">
          <a:xfrm>
            <a:off x="3814763" y="9363075"/>
            <a:ext cx="2916237" cy="492125"/>
          </a:xfrm>
          <a:prstGeom prst="rect">
            <a:avLst/>
          </a:prstGeom>
          <a:noFill/>
          <a:ln w="9525">
            <a:noFill/>
            <a:miter lim="800000"/>
            <a:headEnd/>
            <a:tailEnd/>
          </a:ln>
          <a:effectLst/>
        </p:spPr>
        <p:txBody>
          <a:bodyPr vert="horz" wrap="square" lIns="91434" tIns="45716" rIns="91434" bIns="45716" numCol="1" anchor="b" anchorCtr="0" compatLnSpc="1">
            <a:prstTxWarp prst="textNoShape">
              <a:avLst/>
            </a:prstTxWarp>
          </a:bodyPr>
          <a:lstStyle>
            <a:lvl1pPr algn="r">
              <a:defRPr sz="1200"/>
            </a:lvl1pPr>
          </a:lstStyle>
          <a:p>
            <a:fld id="{37DC498A-0384-4779-9771-E6A1D95DF599}"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8EC2B500-988B-B4FC-AA9E-D4A3109A9C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FDB82AB-D0F8-4C3B-9D1A-E6A909B05A97}" type="slidenum">
              <a:rPr lang="en-GB" altLang="en-US" sz="1200"/>
              <a:pPr eaLnBrk="1" hangingPunct="1"/>
              <a:t>1</a:t>
            </a:fld>
            <a:endParaRPr lang="en-GB" altLang="en-US" sz="1200"/>
          </a:p>
        </p:txBody>
      </p:sp>
      <p:sp>
        <p:nvSpPr>
          <p:cNvPr id="90115" name="Rectangle 2">
            <a:extLst>
              <a:ext uri="{FF2B5EF4-FFF2-40B4-BE49-F238E27FC236}">
                <a16:creationId xmlns:a16="http://schemas.microsoft.com/office/drawing/2014/main" id="{70B4C277-C065-7203-D283-552CFAC85438}"/>
              </a:ext>
            </a:extLst>
          </p:cNvPr>
          <p:cNvSpPr>
            <a:spLocks noGrp="1" noRot="1" noChangeAspect="1" noChangeArrowheads="1" noTextEdit="1"/>
          </p:cNvSpPr>
          <p:nvPr>
            <p:ph type="sldImg"/>
          </p:nvPr>
        </p:nvSpPr>
        <p:spPr>
          <a:xfrm>
            <a:off x="906463" y="744538"/>
            <a:ext cx="4916487" cy="3689350"/>
          </a:xfrm>
          <a:ln w="12700" cap="flat">
            <a:solidFill>
              <a:schemeClr val="tx1"/>
            </a:solidFill>
          </a:ln>
        </p:spPr>
      </p:sp>
      <p:sp>
        <p:nvSpPr>
          <p:cNvPr id="90116" name="Rectangle 3">
            <a:extLst>
              <a:ext uri="{FF2B5EF4-FFF2-40B4-BE49-F238E27FC236}">
                <a16:creationId xmlns:a16="http://schemas.microsoft.com/office/drawing/2014/main" id="{D6B8B8DD-7AC9-C96E-C8DD-1EF8C2B39BC7}"/>
              </a:ext>
            </a:extLst>
          </p:cNvPr>
          <p:cNvSpPr>
            <a:spLocks noGrp="1" noChangeArrowheads="1"/>
          </p:cNvSpPr>
          <p:nvPr>
            <p:ph type="body" idx="1"/>
          </p:nvPr>
        </p:nvSpPr>
        <p:spPr>
          <a:xfrm>
            <a:off x="858838" y="5080000"/>
            <a:ext cx="4933950" cy="4438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827" tIns="45913" rIns="91827" bIns="45913"/>
          <a:lstStyle/>
          <a:p>
            <a:r>
              <a:rPr lang="en-GB" altLang="en-US"/>
              <a:t>		Welcome</a:t>
            </a:r>
          </a:p>
          <a:p>
            <a:r>
              <a:rPr lang="en-GB" altLang="en-US"/>
              <a:t>Introductions</a:t>
            </a:r>
          </a:p>
          <a:p>
            <a:r>
              <a:rPr lang="en-GB" altLang="en-US"/>
              <a:t>Ice breaker</a:t>
            </a:r>
          </a:p>
          <a:p>
            <a:r>
              <a:rPr lang="en-GB" altLang="en-US"/>
              <a:t>Logistics – Breaks – Lunch – Question time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4F39694E-AF34-4BBE-41A4-721D6CD41FA6}"/>
              </a:ext>
            </a:extLst>
          </p:cNvPr>
          <p:cNvSpPr>
            <a:spLocks noGrp="1" noRot="1" noChangeAspect="1" noTextEdit="1"/>
          </p:cNvSpPr>
          <p:nvPr>
            <p:ph type="sldImg"/>
          </p:nvPr>
        </p:nvSpPr>
        <p:spPr>
          <a:ln/>
        </p:spPr>
      </p:sp>
      <p:sp>
        <p:nvSpPr>
          <p:cNvPr id="91139" name="Notes Placeholder 2">
            <a:extLst>
              <a:ext uri="{FF2B5EF4-FFF2-40B4-BE49-F238E27FC236}">
                <a16:creationId xmlns:a16="http://schemas.microsoft.com/office/drawing/2014/main" id="{A04F36CB-FEF6-A27E-1F2D-CE70933AB5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91140" name="Slide Number Placeholder 3">
            <a:extLst>
              <a:ext uri="{FF2B5EF4-FFF2-40B4-BE49-F238E27FC236}">
                <a16:creationId xmlns:a16="http://schemas.microsoft.com/office/drawing/2014/main" id="{5EB1C88C-55FD-43F6-7AE9-06DC796588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8FD2F22D-2A7C-47A7-8635-1B63B578FC7C}" type="slidenum">
              <a:rPr lang="en-GB" altLang="en-US" sz="1200"/>
              <a:pPr eaLnBrk="1" hangingPunct="1"/>
              <a:t>2</a:t>
            </a:fld>
            <a:endParaRPr lang="en-GB"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14E11DBF-5891-EED9-7E37-9E75A998EF3B}"/>
              </a:ext>
            </a:extLst>
          </p:cNvPr>
          <p:cNvSpPr>
            <a:spLocks noGrp="1" noRot="1" noChangeAspect="1" noTextEdit="1"/>
          </p:cNvSpPr>
          <p:nvPr>
            <p:ph type="sldImg"/>
          </p:nvPr>
        </p:nvSpPr>
        <p:spPr>
          <a:ln/>
        </p:spPr>
      </p:sp>
      <p:sp>
        <p:nvSpPr>
          <p:cNvPr id="92163" name="Notes Placeholder 2">
            <a:extLst>
              <a:ext uri="{FF2B5EF4-FFF2-40B4-BE49-F238E27FC236}">
                <a16:creationId xmlns:a16="http://schemas.microsoft.com/office/drawing/2014/main" id="{2F5AE8EE-9449-8234-187F-67A01CC03A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92164" name="Slide Number Placeholder 3">
            <a:extLst>
              <a:ext uri="{FF2B5EF4-FFF2-40B4-BE49-F238E27FC236}">
                <a16:creationId xmlns:a16="http://schemas.microsoft.com/office/drawing/2014/main" id="{AFF4D979-E049-6151-5DCE-3C67FB7CB00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087A0F1-CFCA-4156-AC27-F9BEAEA7A02A}" type="slidenum">
              <a:rPr lang="en-GB" altLang="en-US" sz="1200"/>
              <a:pPr eaLnBrk="1" hangingPunct="1"/>
              <a:t>3</a:t>
            </a:fld>
            <a:endParaRPr lang="en-GB"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13090206-BC09-8F30-88CA-5BD05ADAEF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BC11D097-4B82-42AF-8B97-A2AD8376081A}" type="slidenum">
              <a:rPr lang="en-GB" altLang="en-US" sz="1200"/>
              <a:pPr eaLnBrk="1" hangingPunct="1"/>
              <a:t>4</a:t>
            </a:fld>
            <a:endParaRPr lang="en-GB" altLang="en-US" sz="1200"/>
          </a:p>
        </p:txBody>
      </p:sp>
      <p:sp>
        <p:nvSpPr>
          <p:cNvPr id="93187" name="Rectangle 2">
            <a:extLst>
              <a:ext uri="{FF2B5EF4-FFF2-40B4-BE49-F238E27FC236}">
                <a16:creationId xmlns:a16="http://schemas.microsoft.com/office/drawing/2014/main" id="{D4CBFE08-F3A8-9D57-3C9A-3FDF4D18860C}"/>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F6A6972-D539-2518-2C53-768D444D49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OpenLink Endur is a front- to back-office trading and risk management tool.  It combines a service-based architecture with a client-server environment to value a variety of instruments in the energy and electricity markets.  The system is supported on Windows NT and UNIX operating systems and offers multiple database platforms (including Sybase and SQL Server). </a:t>
            </a:r>
            <a:r>
              <a:rPr lang="en-GB" altLang="en-US"/>
              <a:t>Endur’s Main functions are within the front, middle &amp; back office.</a:t>
            </a:r>
          </a:p>
          <a:p>
            <a:r>
              <a:rPr lang="en-GB" altLang="en-US"/>
              <a:t>These functions encompass the following:</a:t>
            </a:r>
          </a:p>
          <a:p>
            <a:pPr>
              <a:buFontTx/>
              <a:buChar char="•"/>
            </a:pPr>
            <a:r>
              <a:rPr lang="en-GB" altLang="en-US"/>
              <a:t>FO – trading processes e.g. deal capture, simulations etc</a:t>
            </a:r>
          </a:p>
          <a:p>
            <a:pPr>
              <a:buFontTx/>
              <a:buChar char="•"/>
            </a:pPr>
            <a:r>
              <a:rPr lang="en-GB" altLang="en-US"/>
              <a:t>MO – risk management e.g. </a:t>
            </a:r>
          </a:p>
          <a:p>
            <a:pPr>
              <a:buFontTx/>
              <a:buChar char="•"/>
            </a:pPr>
            <a:r>
              <a:rPr lang="en-GB" altLang="en-US"/>
              <a:t>BO – operations processing e.g. accounting processes, confirmations and other document management processes etc,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B09B360F-F379-C12E-3A3D-2DC9163B21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48C90ACF-7F23-4F3D-BB93-14C883D89663}" type="slidenum">
              <a:rPr lang="en-GB" altLang="en-US" sz="1200"/>
              <a:pPr eaLnBrk="1" hangingPunct="1"/>
              <a:t>5</a:t>
            </a:fld>
            <a:endParaRPr lang="en-GB" altLang="en-US" sz="1200"/>
          </a:p>
        </p:txBody>
      </p:sp>
      <p:sp>
        <p:nvSpPr>
          <p:cNvPr id="94211" name="Rectangle 2">
            <a:extLst>
              <a:ext uri="{FF2B5EF4-FFF2-40B4-BE49-F238E27FC236}">
                <a16:creationId xmlns:a16="http://schemas.microsoft.com/office/drawing/2014/main" id="{5285E52B-D85B-73EB-3166-B7B778E0CE28}"/>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6F459218-7FB5-12BD-0F37-69244714F5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Trade entry &amp; deal booking</a:t>
            </a:r>
          </a:p>
          <a:p>
            <a:pPr>
              <a:buFontTx/>
              <a:buChar char="•"/>
            </a:pPr>
            <a:r>
              <a:rPr lang="en-GB" altLang="en-US"/>
              <a:t>Trade pricing </a:t>
            </a:r>
          </a:p>
          <a:p>
            <a:pPr>
              <a:buFontTx/>
              <a:buChar char="•"/>
            </a:pPr>
            <a:r>
              <a:rPr lang="en-GB" altLang="en-US"/>
              <a:t>Position Management</a:t>
            </a:r>
          </a:p>
          <a:p>
            <a:pPr>
              <a:buFontTx/>
              <a:buChar char="•"/>
            </a:pPr>
            <a:r>
              <a:rPr lang="en-GB" altLang="en-US"/>
              <a:t>Portfolio revaluation &amp; simulations – MTM</a:t>
            </a:r>
          </a:p>
          <a:p>
            <a:pPr>
              <a:buFontTx/>
              <a:buChar char="•"/>
            </a:pPr>
            <a:r>
              <a:rPr lang="en-US" altLang="en-US"/>
              <a:t>Enter transactions into system</a:t>
            </a:r>
          </a:p>
          <a:p>
            <a:pPr>
              <a:buFontTx/>
              <a:buChar char="•"/>
            </a:pPr>
            <a:r>
              <a:rPr lang="en-US" altLang="en-US"/>
              <a:t>Profit making (Investment Banks)</a:t>
            </a:r>
          </a:p>
          <a:p>
            <a:pPr>
              <a:buFontTx/>
              <a:buChar char="•"/>
            </a:pPr>
            <a:r>
              <a:rPr lang="en-US" altLang="en-US"/>
              <a:t>Providing for needs of company (Utilities)</a:t>
            </a:r>
          </a:p>
          <a:p>
            <a:pPr>
              <a:buFontTx/>
              <a:buChar char="•"/>
            </a:pPr>
            <a:r>
              <a:rPr lang="en-US" altLang="en-US"/>
              <a:t>Selling products of company (Energy Producers)</a:t>
            </a:r>
          </a:p>
          <a:p>
            <a:pPr>
              <a:buFontTx/>
              <a:buChar char="•"/>
            </a:pPr>
            <a:r>
              <a:rPr lang="en-US" altLang="en-US"/>
              <a:t>Liquidity/Funding Providers (Central Banks)</a:t>
            </a:r>
          </a:p>
          <a:p>
            <a:pPr>
              <a:buFontTx/>
              <a:buChar char="•"/>
            </a:pPr>
            <a:r>
              <a:rPr lang="en-US" altLang="en-US"/>
              <a:t>Hedging (Trading Company)</a:t>
            </a:r>
          </a:p>
          <a:p>
            <a:pPr>
              <a:buFontTx/>
              <a:buChar char="•"/>
            </a:pPr>
            <a:r>
              <a:rPr lang="en-US" altLang="en-US"/>
              <a:t>Take advantage of market conditions/opportunities</a:t>
            </a:r>
          </a:p>
          <a:p>
            <a:pPr>
              <a:buFontTx/>
              <a:buChar char="•"/>
            </a:pPr>
            <a:r>
              <a:rPr lang="en-US" altLang="en-US"/>
              <a:t>Service clients</a:t>
            </a:r>
          </a:p>
          <a:p>
            <a:pPr>
              <a:buFontTx/>
              <a:buChar char="•"/>
            </a:pPr>
            <a:r>
              <a:rPr lang="en-GB" altLang="en-US"/>
              <a:t>Adhere to risk limits/positions</a:t>
            </a:r>
          </a:p>
          <a:p>
            <a:pPr>
              <a:buFontTx/>
              <a:buChar char="•"/>
            </a:pPr>
            <a:r>
              <a:rPr lang="en-GB" altLang="en-US"/>
              <a:t>Monitor the value of your books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53615EAC-BCC9-3A76-0781-985401CD2E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456B291-7988-4329-9255-34B029193B53}" type="slidenum">
              <a:rPr lang="en-GB" altLang="en-US" sz="1200"/>
              <a:pPr eaLnBrk="1" hangingPunct="1"/>
              <a:t>6</a:t>
            </a:fld>
            <a:endParaRPr lang="en-GB" altLang="en-US" sz="1200"/>
          </a:p>
        </p:txBody>
      </p:sp>
      <p:sp>
        <p:nvSpPr>
          <p:cNvPr id="95235" name="Rectangle 2">
            <a:extLst>
              <a:ext uri="{FF2B5EF4-FFF2-40B4-BE49-F238E27FC236}">
                <a16:creationId xmlns:a16="http://schemas.microsoft.com/office/drawing/2014/main" id="{BF8D3A6F-5C50-A80C-CE7A-D8D3FF41BF6F}"/>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F70C5DD1-3C96-F893-C430-D8BEA89C884C}"/>
              </a:ext>
            </a:extLst>
          </p:cNvPr>
          <p:cNvSpPr>
            <a:spLocks noGrp="1" noChangeArrowheads="1"/>
          </p:cNvSpPr>
          <p:nvPr>
            <p:ph type="body" idx="1"/>
          </p:nvPr>
        </p:nvSpPr>
        <p:spPr>
          <a:ln/>
        </p:spPr>
        <p:txBody>
          <a:bodyPr/>
          <a:lstStyle/>
          <a:p>
            <a:pPr>
              <a:buFontTx/>
              <a:buChar char="•"/>
              <a:defRPr/>
            </a:pPr>
            <a:r>
              <a:rPr lang="en-GB" dirty="0"/>
              <a:t>Credit &amp; market risk monitoring</a:t>
            </a:r>
          </a:p>
          <a:p>
            <a:pPr>
              <a:buFontTx/>
              <a:buChar char="•"/>
              <a:defRPr/>
            </a:pPr>
            <a:r>
              <a:rPr lang="en-GB" dirty="0"/>
              <a:t>Portfolio revaluation &amp; simulations</a:t>
            </a:r>
          </a:p>
          <a:p>
            <a:pPr>
              <a:buFontTx/>
              <a:buChar char="•"/>
              <a:defRPr/>
            </a:pPr>
            <a:r>
              <a:rPr lang="en-GB" dirty="0">
                <a:solidFill>
                  <a:srgbClr val="2F2F2F"/>
                </a:solidFill>
              </a:rPr>
              <a:t>Regulatory Reporting/Compliance</a:t>
            </a:r>
          </a:p>
          <a:p>
            <a:pPr>
              <a:buFontTx/>
              <a:buChar char="•"/>
              <a:defRPr/>
            </a:pPr>
            <a:r>
              <a:rPr lang="en-GB" dirty="0">
                <a:solidFill>
                  <a:srgbClr val="2F2F2F"/>
                </a:solidFill>
              </a:rPr>
              <a:t>Capital Requirements (banking)</a:t>
            </a:r>
          </a:p>
          <a:p>
            <a:pPr>
              <a:buFontTx/>
              <a:buChar char="•"/>
              <a:defRPr/>
            </a:pPr>
            <a:r>
              <a:rPr lang="en-GB" dirty="0">
                <a:solidFill>
                  <a:srgbClr val="2F2F2F"/>
                </a:solidFill>
              </a:rPr>
              <a:t>Investigate suspicious activity</a:t>
            </a:r>
          </a:p>
          <a:p>
            <a:pPr>
              <a:buFontTx/>
              <a:buChar char="•"/>
              <a:defRPr/>
            </a:pPr>
            <a:r>
              <a:rPr lang="en-GB" dirty="0">
                <a:solidFill>
                  <a:srgbClr val="2F2F2F"/>
                </a:solidFill>
              </a:rPr>
              <a:t>Look at what-if scenarios</a:t>
            </a:r>
            <a:endParaRPr lang="en-GB" dirty="0"/>
          </a:p>
          <a:p>
            <a:pPr>
              <a:buFontTx/>
              <a:buChar char="•"/>
              <a:defRPr/>
            </a:pPr>
            <a:r>
              <a:rPr lang="en-US" sz="2800" dirty="0">
                <a:solidFill>
                  <a:srgbClr val="2F2F2F"/>
                </a:solidFill>
              </a:rPr>
              <a:t>Monitor and control risk</a:t>
            </a:r>
          </a:p>
          <a:p>
            <a:pPr marL="736784" lvl="1" indent="-283378">
              <a:spcBef>
                <a:spcPct val="20000"/>
              </a:spcBef>
              <a:defRPr/>
            </a:pPr>
            <a:r>
              <a:rPr lang="en-GB" sz="2600" dirty="0">
                <a:solidFill>
                  <a:srgbClr val="002B6D"/>
                </a:solidFill>
              </a:rPr>
              <a:t>Credit</a:t>
            </a:r>
          </a:p>
          <a:p>
            <a:pPr marL="736784" lvl="1" indent="-283378">
              <a:spcBef>
                <a:spcPct val="20000"/>
              </a:spcBef>
              <a:defRPr/>
            </a:pPr>
            <a:r>
              <a:rPr lang="en-GB" sz="2600" dirty="0">
                <a:solidFill>
                  <a:srgbClr val="002B6D"/>
                </a:solidFill>
              </a:rPr>
              <a:t>Market</a:t>
            </a:r>
          </a:p>
          <a:p>
            <a:pPr marL="736784" lvl="1" indent="-283378">
              <a:spcBef>
                <a:spcPct val="20000"/>
              </a:spcBef>
              <a:defRPr/>
            </a:pPr>
            <a:r>
              <a:rPr lang="en-GB" sz="2600" dirty="0">
                <a:solidFill>
                  <a:srgbClr val="002B6D"/>
                </a:solidFill>
              </a:rPr>
              <a:t>Operational</a:t>
            </a:r>
          </a:p>
          <a:p>
            <a:pPr marL="340054" indent="-340054">
              <a:spcBef>
                <a:spcPct val="20000"/>
              </a:spcBef>
              <a:defRPr/>
            </a:pPr>
            <a:endParaRPr lang="en-GB" sz="2800" dirty="0">
              <a:solidFill>
                <a:srgbClr val="2F2F2F"/>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16AAC51E-7F1A-2032-2550-A3386D9DFC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C233EB4-503C-4895-AF0F-FA719E686671}" type="slidenum">
              <a:rPr lang="en-GB" altLang="en-US" sz="1200"/>
              <a:pPr eaLnBrk="1" hangingPunct="1"/>
              <a:t>7</a:t>
            </a:fld>
            <a:endParaRPr lang="en-GB" altLang="en-US" sz="1200"/>
          </a:p>
        </p:txBody>
      </p:sp>
      <p:sp>
        <p:nvSpPr>
          <p:cNvPr id="96259" name="Rectangle 2">
            <a:extLst>
              <a:ext uri="{FF2B5EF4-FFF2-40B4-BE49-F238E27FC236}">
                <a16:creationId xmlns:a16="http://schemas.microsoft.com/office/drawing/2014/main" id="{5ED207D4-FF1C-8A69-744A-407E19E3E368}"/>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506F5D3B-0E72-BA85-AF57-FAD7C39FB6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Confirmations &amp; invoicing</a:t>
            </a:r>
          </a:p>
          <a:p>
            <a:pPr>
              <a:buFontTx/>
              <a:buChar char="•"/>
            </a:pPr>
            <a:r>
              <a:rPr lang="en-GB" altLang="en-US"/>
              <a:t>Prices and rates fixed for deals</a:t>
            </a:r>
          </a:p>
          <a:p>
            <a:pPr>
              <a:buFontTx/>
              <a:buChar char="•"/>
            </a:pPr>
            <a:r>
              <a:rPr lang="en-GB" altLang="en-US"/>
              <a:t>Reports generated</a:t>
            </a:r>
          </a:p>
          <a:p>
            <a:pPr>
              <a:buFontTx/>
              <a:buChar char="•"/>
            </a:pPr>
            <a:r>
              <a:rPr lang="en-US" altLang="en-US">
                <a:solidFill>
                  <a:srgbClr val="2F2F2F"/>
                </a:solidFill>
              </a:rPr>
              <a:t>Support the front office</a:t>
            </a:r>
          </a:p>
          <a:p>
            <a:pPr>
              <a:buFontTx/>
              <a:buChar char="•"/>
            </a:pPr>
            <a:r>
              <a:rPr lang="en-GB" altLang="en-US">
                <a:solidFill>
                  <a:srgbClr val="2F2F2F"/>
                </a:solidFill>
              </a:rPr>
              <a:t>Maintaining static data</a:t>
            </a:r>
          </a:p>
          <a:p>
            <a:pPr>
              <a:buFontTx/>
              <a:buChar char="•"/>
            </a:pPr>
            <a:r>
              <a:rPr lang="en-GB" altLang="en-US">
                <a:solidFill>
                  <a:srgbClr val="2F2F2F"/>
                </a:solidFill>
              </a:rPr>
              <a:t>Deal enrichment</a:t>
            </a:r>
          </a:p>
          <a:p>
            <a:pPr>
              <a:buFontTx/>
              <a:buChar char="•"/>
            </a:pPr>
            <a:r>
              <a:rPr lang="en-GB" altLang="en-US">
                <a:solidFill>
                  <a:srgbClr val="2F2F2F"/>
                </a:solidFill>
              </a:rPr>
              <a:t>Controls and audit</a:t>
            </a:r>
          </a:p>
          <a:p>
            <a:pPr>
              <a:buFontTx/>
              <a:buChar char="•"/>
            </a:pPr>
            <a:r>
              <a:rPr lang="en-GB" altLang="en-US">
                <a:solidFill>
                  <a:srgbClr val="2F2F2F"/>
                </a:solidFill>
              </a:rPr>
              <a:t>Funding requirements</a:t>
            </a:r>
          </a:p>
          <a:p>
            <a:pPr>
              <a:buFontTx/>
              <a:buChar char="•"/>
            </a:pPr>
            <a:r>
              <a:rPr lang="en-GB" altLang="en-US">
                <a:solidFill>
                  <a:srgbClr val="2F2F2F"/>
                </a:solidFill>
              </a:rPr>
              <a:t>Making payments/deliveries</a:t>
            </a:r>
          </a:p>
          <a:p>
            <a:pPr>
              <a:buFontTx/>
              <a:buChar char="•"/>
            </a:pPr>
            <a:r>
              <a:rPr lang="en-GB" altLang="en-US">
                <a:solidFill>
                  <a:srgbClr val="2F2F2F"/>
                </a:solidFill>
              </a:rPr>
              <a:t>Confirming with counterparties</a:t>
            </a:r>
          </a:p>
          <a:p>
            <a:pPr>
              <a:buFontTx/>
              <a:buChar char="•"/>
            </a:pPr>
            <a:r>
              <a:rPr lang="en-GB" altLang="en-US">
                <a:solidFill>
                  <a:srgbClr val="2F2F2F"/>
                </a:solidFill>
              </a:rPr>
              <a:t>Maintain official prices</a:t>
            </a:r>
          </a:p>
          <a:p>
            <a:pPr>
              <a:buFontTx/>
              <a:buChar char="•"/>
            </a:pPr>
            <a:r>
              <a:rPr lang="en-GB" altLang="en-US">
                <a:solidFill>
                  <a:srgbClr val="2F2F2F"/>
                </a:solidFill>
              </a:rPr>
              <a:t>Fixings</a:t>
            </a:r>
          </a:p>
          <a:p>
            <a:pPr>
              <a:buFontTx/>
              <a:buChar char="•"/>
            </a:pPr>
            <a:r>
              <a:rPr lang="en-GB" altLang="en-US">
                <a:solidFill>
                  <a:srgbClr val="2F2F2F"/>
                </a:solidFill>
              </a:rPr>
              <a:t>Controlling/setting up workflows</a:t>
            </a:r>
          </a:p>
          <a:p>
            <a:pPr>
              <a:buFontTx/>
              <a:buChar char="•"/>
            </a:pPr>
            <a:r>
              <a:rPr lang="en-GB" altLang="en-US">
                <a:solidFill>
                  <a:srgbClr val="2F2F2F"/>
                </a:solidFill>
              </a:rPr>
              <a:t>Scheduling</a:t>
            </a:r>
          </a:p>
          <a:p>
            <a:pPr>
              <a:buFontTx/>
              <a:buChar char="•"/>
            </a:pPr>
            <a:r>
              <a:rPr lang="en-GB" altLang="en-US">
                <a:solidFill>
                  <a:srgbClr val="2F2F2F"/>
                </a:solidFill>
              </a:rPr>
              <a:t>Accounting</a:t>
            </a:r>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DA5B5315-7A5A-FA64-3F24-ACB9BF7047B6}"/>
              </a:ext>
            </a:extLst>
          </p:cNvPr>
          <p:cNvSpPr>
            <a:spLocks noGrp="1" noRot="1" noChangeAspect="1" noTextEdit="1"/>
          </p:cNvSpPr>
          <p:nvPr>
            <p:ph type="sldImg"/>
          </p:nvPr>
        </p:nvSpPr>
        <p:spPr>
          <a:ln/>
        </p:spPr>
      </p:sp>
      <p:sp>
        <p:nvSpPr>
          <p:cNvPr id="97283" name="Notes Placeholder 2">
            <a:extLst>
              <a:ext uri="{FF2B5EF4-FFF2-40B4-BE49-F238E27FC236}">
                <a16:creationId xmlns:a16="http://schemas.microsoft.com/office/drawing/2014/main" id="{3F9813EC-7EA4-9838-E9A8-0E14641735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90863B91-8522-ED57-830A-90EDE3F18DA0}"/>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F761294-D86D-459E-AD47-0C1C782EAD30}" type="slidenum">
              <a:rPr lang="en-GB" altLang="en-US" sz="1200"/>
              <a:pPr eaLnBrk="1" hangingPunct="1"/>
              <a:t>8</a:t>
            </a:fld>
            <a:endParaRPr lang="en-GB"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C720B048-231B-A121-CFA4-0FAC3772EB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5D7AE16-A7D1-415F-BB3D-7E805D4CC3CC}" type="slidenum">
              <a:rPr lang="en-GB" altLang="en-US" sz="1200"/>
              <a:pPr eaLnBrk="1" hangingPunct="1"/>
              <a:t>9</a:t>
            </a:fld>
            <a:endParaRPr lang="en-GB" altLang="en-US" sz="1200"/>
          </a:p>
        </p:txBody>
      </p:sp>
      <p:sp>
        <p:nvSpPr>
          <p:cNvPr id="98307" name="Rectangle 2">
            <a:extLst>
              <a:ext uri="{FF2B5EF4-FFF2-40B4-BE49-F238E27FC236}">
                <a16:creationId xmlns:a16="http://schemas.microsoft.com/office/drawing/2014/main" id="{EF668CF2-F7F3-7763-D54E-D67737C86E18}"/>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3A464AB8-0613-B259-F4EE-67A6755357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i="1"/>
              <a:t>OpenLink Central </a:t>
            </a:r>
            <a:r>
              <a:rPr lang="en-US" altLang="en-US"/>
              <a:t>is the master console that contains icons for the system functions (managers).  After logging in to the system, the </a:t>
            </a:r>
            <a:r>
              <a:rPr lang="en-US" altLang="en-US" i="1"/>
              <a:t>OpenLink Central </a:t>
            </a:r>
            <a:r>
              <a:rPr lang="en-US" altLang="en-US"/>
              <a:t>panel appears.  The icons represent the functions that users access specific to their job roles.  </a:t>
            </a:r>
            <a:endParaRPr lang="en-GB" altLang="en-US"/>
          </a:p>
          <a:p>
            <a:endParaRPr lang="en-GB" altLang="en-US"/>
          </a:p>
          <a:p>
            <a:pPr>
              <a:buFontTx/>
              <a:buChar char="•"/>
            </a:pPr>
            <a:r>
              <a:rPr lang="en-GB" altLang="en-US"/>
              <a:t>Endur has 8 managers</a:t>
            </a:r>
          </a:p>
          <a:p>
            <a:pPr>
              <a:buFontTx/>
              <a:buChar char="•"/>
            </a:pPr>
            <a:r>
              <a:rPr lang="en-GB" altLang="en-US"/>
              <a:t>Each manager is run as a separate module with its own functions</a:t>
            </a:r>
          </a:p>
          <a:p>
            <a:pPr>
              <a:buFontTx/>
              <a:buChar char="•"/>
            </a:pPr>
            <a:r>
              <a:rPr lang="en-GB" altLang="en-US"/>
              <a:t>Essential to understand interaction between managers</a:t>
            </a:r>
          </a:p>
          <a:p>
            <a:pPr>
              <a:buFontTx/>
              <a:buChar char="•"/>
            </a:pPr>
            <a:r>
              <a:rPr lang="en-GB" altLang="en-US"/>
              <a:t>Access </a:t>
            </a:r>
            <a:r>
              <a:rPr lang="en-US" altLang="en-US"/>
              <a:t>Server and Database Information</a:t>
            </a:r>
          </a:p>
          <a:p>
            <a:pPr>
              <a:buFontTx/>
              <a:buChar char="•"/>
            </a:pPr>
            <a:r>
              <a:rPr lang="en-US" altLang="en-US"/>
              <a:t>This view can be configured to suit the user in the Edit configuration screen.</a:t>
            </a:r>
          </a:p>
          <a:p>
            <a:pPr>
              <a:buFontTx/>
              <a:buChar char="•"/>
            </a:pPr>
            <a:r>
              <a:rPr lang="en-US" altLang="en-US"/>
              <a:t>Favorites items are located in the lower portion of </a:t>
            </a:r>
            <a:r>
              <a:rPr lang="en-US" altLang="en-US" i="1"/>
              <a:t>OpenLink Central</a:t>
            </a:r>
            <a:r>
              <a:rPr lang="en-US" altLang="en-US"/>
              <a:t> . Contains commonly used icons that can be established as Favorites.  Favorites are set up through </a:t>
            </a:r>
            <a:r>
              <a:rPr lang="en-US" altLang="en-US" i="1"/>
              <a:t>OpenLink Central’s</a:t>
            </a:r>
            <a:r>
              <a:rPr lang="en-US" altLang="en-US"/>
              <a:t> Configuration function.</a:t>
            </a:r>
            <a:endParaRPr lang="en-GB" altLang="en-US"/>
          </a:p>
          <a:p>
            <a:endParaRPr lang="en-GB" altLang="en-US"/>
          </a:p>
          <a:p>
            <a:pPr>
              <a:buFontTx/>
              <a:buChar char="•"/>
            </a:pPr>
            <a:endParaRPr lang="en-GB" altLang="en-US"/>
          </a:p>
          <a:p>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585FED3E-5A68-978F-0FEF-E45187690FD6}"/>
              </a:ext>
            </a:extLst>
          </p:cNvPr>
          <p:cNvSpPr>
            <a:spLocks noGrp="1" noRot="1" noChangeAspect="1" noTextEdit="1"/>
          </p:cNvSpPr>
          <p:nvPr>
            <p:ph type="sldImg"/>
          </p:nvPr>
        </p:nvSpPr>
        <p:spPr>
          <a:ln/>
        </p:spPr>
      </p:sp>
      <p:sp>
        <p:nvSpPr>
          <p:cNvPr id="99331" name="Notes Placeholder 2">
            <a:extLst>
              <a:ext uri="{FF2B5EF4-FFF2-40B4-BE49-F238E27FC236}">
                <a16:creationId xmlns:a16="http://schemas.microsoft.com/office/drawing/2014/main" id="{50EF2551-C71A-0797-B02A-36F7AA0DA1F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4" name="Slide Number Placeholder 3">
            <a:extLst>
              <a:ext uri="{FF2B5EF4-FFF2-40B4-BE49-F238E27FC236}">
                <a16:creationId xmlns:a16="http://schemas.microsoft.com/office/drawing/2014/main" id="{4B1B6E51-514A-D452-01A9-E58B67DF04EE}"/>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929A993-2CB6-47F7-82C5-9F3D9B3A7744}" type="slidenum">
              <a:rPr lang="en-GB" altLang="en-US" sz="1200"/>
              <a:pPr eaLnBrk="1" hangingPunct="1"/>
              <a:t>10</a:t>
            </a:fld>
            <a:endParaRPr lang="en-GB"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C3AA8C7E-D153-9DE5-FE12-19283954E870}"/>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DC60B805-ADB1-33AB-E302-A780C8E9F1DD}"/>
              </a:ext>
            </a:extLst>
          </p:cNvPr>
          <p:cNvSpPr>
            <a:spLocks noGrp="1"/>
          </p:cNvSpPr>
          <p:nvPr>
            <p:ph type="body" idx="1"/>
          </p:nvPr>
        </p:nvSpPr>
        <p:spPr/>
        <p:txBody>
          <a:bodyPr>
            <a:normAutofit fontScale="92500" lnSpcReduction="20000"/>
          </a:bodyPr>
          <a:lstStyle/>
          <a:p>
            <a:pPr lvl="1" eaLnBrk="1" hangingPunct="1">
              <a:defRPr/>
            </a:pPr>
            <a:r>
              <a:rPr lang="en-GB" sz="2200" b="1" dirty="0"/>
              <a:t>Multiple Admin Tasks</a:t>
            </a:r>
          </a:p>
          <a:p>
            <a:pPr lvl="1" eaLnBrk="1" hangingPunct="1">
              <a:buFont typeface="Arial" pitchFamily="34" charset="0"/>
              <a:buChar char="•"/>
              <a:defRPr/>
            </a:pPr>
            <a:r>
              <a:rPr lang="en-GB" sz="2200" dirty="0"/>
              <a:t>System configuration</a:t>
            </a:r>
          </a:p>
          <a:p>
            <a:pPr lvl="1" eaLnBrk="1" hangingPunct="1">
              <a:buFont typeface="Arial" pitchFamily="34" charset="0"/>
              <a:buChar char="•"/>
              <a:defRPr/>
            </a:pPr>
            <a:r>
              <a:rPr lang="en-GB" sz="2200" dirty="0"/>
              <a:t>Maintenance of static data</a:t>
            </a:r>
          </a:p>
          <a:p>
            <a:pPr lvl="1" eaLnBrk="1" hangingPunct="1">
              <a:buFont typeface="Arial" pitchFamily="34" charset="0"/>
              <a:buChar char="•"/>
              <a:defRPr/>
            </a:pPr>
            <a:r>
              <a:rPr lang="en-GB" sz="2200" dirty="0"/>
              <a:t>Security privileges</a:t>
            </a:r>
          </a:p>
          <a:p>
            <a:pPr lvl="1" eaLnBrk="1" hangingPunct="1">
              <a:buFont typeface="Arial" pitchFamily="34" charset="0"/>
              <a:buChar char="•"/>
              <a:defRPr/>
            </a:pPr>
            <a:r>
              <a:rPr lang="en-GB" sz="2200" dirty="0"/>
              <a:t>Data Model Extension</a:t>
            </a:r>
          </a:p>
          <a:p>
            <a:pPr lvl="1" eaLnBrk="1" hangingPunct="1">
              <a:buFont typeface="Arial" pitchFamily="34" charset="0"/>
              <a:buNone/>
              <a:defRPr/>
            </a:pPr>
            <a:endParaRPr lang="en-GB" sz="2200" dirty="0"/>
          </a:p>
          <a:p>
            <a:pPr lvl="1" eaLnBrk="1" hangingPunct="1">
              <a:defRPr/>
            </a:pPr>
            <a:r>
              <a:rPr lang="en-GB" sz="2200" b="1" dirty="0"/>
              <a:t>Static Data set-up</a:t>
            </a:r>
          </a:p>
          <a:p>
            <a:pPr lvl="1" eaLnBrk="1" hangingPunct="1">
              <a:buFont typeface="Arial" pitchFamily="34" charset="0"/>
              <a:buChar char="•"/>
              <a:defRPr/>
            </a:pPr>
            <a:r>
              <a:rPr lang="en-GB" dirty="0"/>
              <a:t>System wide configuration</a:t>
            </a:r>
          </a:p>
          <a:p>
            <a:pPr lvl="1" eaLnBrk="1" hangingPunct="1">
              <a:buFont typeface="Arial" pitchFamily="34" charset="0"/>
              <a:buChar char="•"/>
              <a:defRPr/>
            </a:pPr>
            <a:r>
              <a:rPr lang="en-GB" dirty="0"/>
              <a:t>Holiday calendars</a:t>
            </a:r>
          </a:p>
          <a:p>
            <a:pPr lvl="1" eaLnBrk="1" hangingPunct="1">
              <a:buFont typeface="Arial" pitchFamily="34" charset="0"/>
              <a:buChar char="•"/>
              <a:defRPr/>
            </a:pPr>
            <a:r>
              <a:rPr lang="en-GB" dirty="0"/>
              <a:t>Unit conversion</a:t>
            </a:r>
          </a:p>
          <a:p>
            <a:pPr lvl="1" eaLnBrk="1" hangingPunct="1">
              <a:buFont typeface="Arial" pitchFamily="34" charset="0"/>
              <a:buChar char="•"/>
              <a:defRPr/>
            </a:pPr>
            <a:r>
              <a:rPr lang="en-GB" dirty="0"/>
              <a:t>Pipeline/grid systems</a:t>
            </a:r>
          </a:p>
          <a:p>
            <a:pPr lvl="1" eaLnBrk="1" hangingPunct="1">
              <a:buFont typeface="Arial" pitchFamily="34" charset="0"/>
              <a:buChar char="•"/>
              <a:defRPr/>
            </a:pPr>
            <a:r>
              <a:rPr lang="en-GB" dirty="0"/>
              <a:t>Energy quality measures</a:t>
            </a:r>
          </a:p>
          <a:p>
            <a:pPr lvl="1" eaLnBrk="1" hangingPunct="1">
              <a:buFont typeface="Arial" pitchFamily="34" charset="0"/>
              <a:buChar char="•"/>
              <a:defRPr/>
            </a:pPr>
            <a:endParaRPr lang="en-GB" dirty="0"/>
          </a:p>
          <a:p>
            <a:pPr eaLnBrk="1" hangingPunct="1">
              <a:defRPr/>
            </a:pPr>
            <a:r>
              <a:rPr lang="en-GB" sz="2200" b="1" dirty="0"/>
              <a:t>          Security Administration</a:t>
            </a:r>
          </a:p>
          <a:p>
            <a:pPr lvl="1" eaLnBrk="1" hangingPunct="1">
              <a:buFont typeface="Arial" pitchFamily="34" charset="0"/>
              <a:buChar char="•"/>
              <a:defRPr/>
            </a:pPr>
            <a:r>
              <a:rPr lang="en-GB" dirty="0"/>
              <a:t>Users are set up in the Reference Manager</a:t>
            </a:r>
          </a:p>
          <a:p>
            <a:pPr lvl="1" eaLnBrk="1" hangingPunct="1">
              <a:buFont typeface="Arial" pitchFamily="34" charset="0"/>
              <a:buChar char="•"/>
              <a:defRPr/>
            </a:pPr>
            <a:r>
              <a:rPr lang="en-GB" dirty="0"/>
              <a:t>Security groups are set up in the Admin Manager</a:t>
            </a:r>
          </a:p>
          <a:p>
            <a:pPr lvl="1" eaLnBrk="1" hangingPunct="1">
              <a:buFont typeface="Arial" pitchFamily="34" charset="0"/>
              <a:buChar char="•"/>
              <a:defRPr/>
            </a:pPr>
            <a:r>
              <a:rPr lang="en-GB" dirty="0"/>
              <a:t>Security privileges are assigned in the Admin Manager</a:t>
            </a:r>
          </a:p>
          <a:p>
            <a:pPr lvl="1" eaLnBrk="1" hangingPunct="1">
              <a:defRPr/>
            </a:pPr>
            <a:endParaRPr lang="en-GB" dirty="0"/>
          </a:p>
          <a:p>
            <a:pPr eaLnBrk="1" hangingPunct="1">
              <a:defRPr/>
            </a:pPr>
            <a:r>
              <a:rPr lang="en-GB" dirty="0"/>
              <a:t>          </a:t>
            </a:r>
            <a:r>
              <a:rPr lang="en-GB" sz="2200" b="1" dirty="0"/>
              <a:t>Data Model Extension</a:t>
            </a:r>
          </a:p>
          <a:p>
            <a:pPr lvl="1" eaLnBrk="1" hangingPunct="1">
              <a:buFont typeface="Arial" pitchFamily="34" charset="0"/>
              <a:buChar char="•"/>
              <a:defRPr/>
            </a:pPr>
            <a:r>
              <a:rPr lang="en-GB" dirty="0"/>
              <a:t>Custom user-defined fields applied to:</a:t>
            </a:r>
          </a:p>
          <a:p>
            <a:pPr lvl="1" eaLnBrk="1" hangingPunct="1">
              <a:buFont typeface="Arial" pitchFamily="34" charset="0"/>
              <a:buChar char="•"/>
              <a:defRPr/>
            </a:pPr>
            <a:r>
              <a:rPr lang="en-GB" dirty="0"/>
              <a:t>Transactions - customized reference fields for use with trade</a:t>
            </a:r>
          </a:p>
          <a:p>
            <a:pPr lvl="1" eaLnBrk="1" hangingPunct="1">
              <a:buFont typeface="Arial" pitchFamily="34" charset="0"/>
              <a:buChar char="•"/>
              <a:defRPr/>
            </a:pPr>
            <a:r>
              <a:rPr lang="en-GB" dirty="0"/>
              <a:t>Parties, Personnel - customized ref fields for use with party groups/legal entities/business units, </a:t>
            </a:r>
            <a:r>
              <a:rPr lang="en-GB" dirty="0" err="1"/>
              <a:t>int</a:t>
            </a:r>
            <a:r>
              <a:rPr lang="en-GB" dirty="0"/>
              <a:t> or ext.</a:t>
            </a:r>
          </a:p>
          <a:p>
            <a:pPr lvl="1" eaLnBrk="1" hangingPunct="1">
              <a:buFont typeface="Arial" pitchFamily="34" charset="0"/>
              <a:buChar char="•"/>
              <a:defRPr/>
            </a:pPr>
            <a:r>
              <a:rPr lang="en-GB" dirty="0" err="1"/>
              <a:t>Subledger</a:t>
            </a:r>
            <a:r>
              <a:rPr lang="en-GB" dirty="0"/>
              <a:t> Accounts - create customized fields for use in accounting manager – text entry or </a:t>
            </a:r>
            <a:r>
              <a:rPr lang="en-GB" dirty="0" err="1"/>
              <a:t>picklists</a:t>
            </a:r>
            <a:endParaRPr lang="en-GB" dirty="0"/>
          </a:p>
          <a:p>
            <a:pPr lvl="1" eaLnBrk="1" hangingPunct="1">
              <a:buFont typeface="Arial" pitchFamily="34" charset="0"/>
              <a:buChar char="•"/>
              <a:defRPr/>
            </a:pPr>
            <a:r>
              <a:rPr lang="en-GB" dirty="0"/>
              <a:t>Party Agreements - customized ref fields for each document associated with an </a:t>
            </a:r>
            <a:r>
              <a:rPr lang="en-GB" dirty="0" err="1"/>
              <a:t>int</a:t>
            </a:r>
            <a:r>
              <a:rPr lang="en-GB" dirty="0"/>
              <a:t>/ext </a:t>
            </a:r>
            <a:r>
              <a:rPr lang="en-GB" dirty="0" err="1"/>
              <a:t>bu</a:t>
            </a:r>
            <a:r>
              <a:rPr lang="en-GB" dirty="0"/>
              <a:t> or le</a:t>
            </a:r>
          </a:p>
          <a:p>
            <a:pPr lvl="1" eaLnBrk="1" hangingPunct="1">
              <a:buFont typeface="Arial" pitchFamily="34" charset="0"/>
              <a:buChar char="•"/>
              <a:defRPr/>
            </a:pPr>
            <a:r>
              <a:rPr lang="en-GB" dirty="0"/>
              <a:t>Market Curves</a:t>
            </a:r>
          </a:p>
          <a:p>
            <a:pPr lvl="1" eaLnBrk="1" hangingPunct="1">
              <a:buFont typeface="Arial" pitchFamily="34" charset="0"/>
              <a:buNone/>
              <a:defRPr/>
            </a:pPr>
            <a:endParaRPr lang="en-GB" dirty="0"/>
          </a:p>
          <a:p>
            <a:pPr lvl="1" eaLnBrk="1" hangingPunct="1">
              <a:defRPr/>
            </a:pPr>
            <a:endParaRPr lang="en-GB" dirty="0"/>
          </a:p>
          <a:p>
            <a:pPr lvl="1" eaLnBrk="1" hangingPunct="1">
              <a:buFont typeface="Arial" pitchFamily="34" charset="0"/>
              <a:buChar char="•"/>
              <a:defRPr/>
            </a:pPr>
            <a:endParaRPr lang="en-GB" dirty="0"/>
          </a:p>
          <a:p>
            <a:pPr>
              <a:defRPr/>
            </a:pPr>
            <a:endParaRPr lang="en-GB" dirty="0"/>
          </a:p>
        </p:txBody>
      </p:sp>
      <p:sp>
        <p:nvSpPr>
          <p:cNvPr id="4" name="Slide Number Placeholder 3">
            <a:extLst>
              <a:ext uri="{FF2B5EF4-FFF2-40B4-BE49-F238E27FC236}">
                <a16:creationId xmlns:a16="http://schemas.microsoft.com/office/drawing/2014/main" id="{B16A69C9-556F-C52D-CAE6-ED1626486ED2}"/>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4F157C96-D223-4748-8CCD-92BB690D920B}" type="slidenum">
              <a:rPr lang="en-GB" altLang="en-US" sz="1200"/>
              <a:pPr eaLnBrk="1" hangingPunct="1"/>
              <a:t>11</a:t>
            </a:fld>
            <a:endParaRPr lang="en-GB"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C6CC0782-6DAF-4E7C-6148-FC461E2BFAD1}"/>
              </a:ext>
            </a:extLst>
          </p:cNvPr>
          <p:cNvSpPr>
            <a:spLocks noGrp="1" noRot="1" noChangeAspect="1" noTextEdit="1"/>
          </p:cNvSpPr>
          <p:nvPr>
            <p:ph type="sldImg"/>
          </p:nvPr>
        </p:nvSpPr>
        <p:spPr>
          <a:ln/>
        </p:spPr>
      </p:sp>
      <p:sp>
        <p:nvSpPr>
          <p:cNvPr id="101379" name="Notes Placeholder 2">
            <a:extLst>
              <a:ext uri="{FF2B5EF4-FFF2-40B4-BE49-F238E27FC236}">
                <a16:creationId xmlns:a16="http://schemas.microsoft.com/office/drawing/2014/main" id="{65C0B43A-7C1E-492D-5CB0-56ED995613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0E0D2513-A703-FD07-0498-260E3FF19361}"/>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7AA707D4-30AF-49EF-9424-06E3BCD4A9B1}" type="slidenum">
              <a:rPr lang="en-GB" altLang="en-US" sz="1200"/>
              <a:pPr eaLnBrk="1" hangingPunct="1"/>
              <a:t>12</a:t>
            </a:fld>
            <a:endParaRPr lang="en-GB"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a:extLst>
              <a:ext uri="{FF2B5EF4-FFF2-40B4-BE49-F238E27FC236}">
                <a16:creationId xmlns:a16="http://schemas.microsoft.com/office/drawing/2014/main" id="{FAE84BA1-3BCD-A2D9-513C-D74478B74170}"/>
              </a:ext>
            </a:extLst>
          </p:cNvPr>
          <p:cNvSpPr>
            <a:spLocks noGrp="1" noRot="1" noChangeAspect="1" noTextEdit="1"/>
          </p:cNvSpPr>
          <p:nvPr>
            <p:ph type="sldImg"/>
          </p:nvPr>
        </p:nvSpPr>
        <p:spPr>
          <a:ln/>
        </p:spPr>
      </p:sp>
      <p:sp>
        <p:nvSpPr>
          <p:cNvPr id="102403" name="Notes Placeholder 2">
            <a:extLst>
              <a:ext uri="{FF2B5EF4-FFF2-40B4-BE49-F238E27FC236}">
                <a16:creationId xmlns:a16="http://schemas.microsoft.com/office/drawing/2014/main" id="{C6C21A66-DE4C-813A-574D-58ACA81BCC1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8C402995-BB54-0816-A867-E59CA2A756E9}"/>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6E2D20BA-4F18-4D01-864C-CD844AC65208}" type="slidenum">
              <a:rPr lang="en-GB" altLang="en-US" sz="1200"/>
              <a:pPr eaLnBrk="1" hangingPunct="1"/>
              <a:t>13</a:t>
            </a:fld>
            <a:endParaRPr lang="en-GB"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a:extLst>
              <a:ext uri="{FF2B5EF4-FFF2-40B4-BE49-F238E27FC236}">
                <a16:creationId xmlns:a16="http://schemas.microsoft.com/office/drawing/2014/main" id="{354615E4-F5AB-4D38-068E-4B10F8B4074C}"/>
              </a:ext>
            </a:extLst>
          </p:cNvPr>
          <p:cNvSpPr>
            <a:spLocks noGrp="1" noRot="1" noChangeAspect="1" noTextEdit="1"/>
          </p:cNvSpPr>
          <p:nvPr>
            <p:ph type="sldImg"/>
          </p:nvPr>
        </p:nvSpPr>
        <p:spPr>
          <a:ln/>
        </p:spPr>
      </p:sp>
      <p:sp>
        <p:nvSpPr>
          <p:cNvPr id="103427" name="Notes Placeholder 2">
            <a:extLst>
              <a:ext uri="{FF2B5EF4-FFF2-40B4-BE49-F238E27FC236}">
                <a16:creationId xmlns:a16="http://schemas.microsoft.com/office/drawing/2014/main" id="{5E363B7B-20B4-EA50-0448-0A934E7576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FD1DA130-646F-206B-FF90-A32055F6827E}"/>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3D80229-F661-48D7-8F60-7C93FBCA722D}" type="slidenum">
              <a:rPr lang="en-GB" altLang="en-US" sz="1200"/>
              <a:pPr eaLnBrk="1" hangingPunct="1"/>
              <a:t>14</a:t>
            </a:fld>
            <a:endParaRPr lang="en-GB"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ADC8907F-814E-7795-96F8-56892FF1AD77}"/>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BACE10B8-5A71-125D-6C4B-BA8D839E5AAE}"/>
              </a:ext>
            </a:extLst>
          </p:cNvPr>
          <p:cNvSpPr>
            <a:spLocks noGrp="1"/>
          </p:cNvSpPr>
          <p:nvPr>
            <p:ph type="body" idx="1"/>
          </p:nvPr>
        </p:nvSpPr>
        <p:spPr/>
        <p:txBody>
          <a:bodyPr>
            <a:normAutofit fontScale="92500" lnSpcReduction="20000"/>
          </a:bodyPr>
          <a:lstStyle/>
          <a:p>
            <a:pPr eaLnBrk="1" hangingPunct="1">
              <a:defRPr/>
            </a:pPr>
            <a:r>
              <a:rPr lang="en-GB" sz="2400" b="1" dirty="0"/>
              <a:t>Performs multiple trade administration &amp; back office tasks:</a:t>
            </a:r>
          </a:p>
          <a:p>
            <a:pPr lvl="1" eaLnBrk="1" hangingPunct="1">
              <a:buFont typeface="Arial" pitchFamily="34" charset="0"/>
              <a:buChar char="•"/>
              <a:defRPr/>
            </a:pPr>
            <a:r>
              <a:rPr lang="en-GB" sz="2200" dirty="0"/>
              <a:t>Trade validation</a:t>
            </a:r>
          </a:p>
          <a:p>
            <a:pPr lvl="1" eaLnBrk="1" hangingPunct="1">
              <a:buFont typeface="Arial" pitchFamily="34" charset="0"/>
              <a:buChar char="•"/>
              <a:defRPr/>
            </a:pPr>
            <a:r>
              <a:rPr lang="en-GB" sz="2200" dirty="0"/>
              <a:t>Option Exercise</a:t>
            </a:r>
          </a:p>
          <a:p>
            <a:pPr lvl="1" eaLnBrk="1" hangingPunct="1">
              <a:buFont typeface="Arial" pitchFamily="34" charset="0"/>
              <a:buChar char="•"/>
              <a:defRPr/>
            </a:pPr>
            <a:r>
              <a:rPr lang="en-GB" sz="2200" dirty="0"/>
              <a:t>Settlements</a:t>
            </a:r>
          </a:p>
          <a:p>
            <a:pPr lvl="1" eaLnBrk="1" hangingPunct="1">
              <a:buFont typeface="Arial" pitchFamily="34" charset="0"/>
              <a:buChar char="•"/>
              <a:defRPr/>
            </a:pPr>
            <a:r>
              <a:rPr lang="en-GB" sz="2200" dirty="0"/>
              <a:t>Confirmations</a:t>
            </a:r>
          </a:p>
          <a:p>
            <a:pPr lvl="1" eaLnBrk="1" hangingPunct="1">
              <a:buFont typeface="Arial" pitchFamily="34" charset="0"/>
              <a:buChar char="•"/>
              <a:defRPr/>
            </a:pPr>
            <a:r>
              <a:rPr lang="en-GB" sz="2200" dirty="0"/>
              <a:t>Price fixings</a:t>
            </a:r>
          </a:p>
          <a:p>
            <a:pPr lvl="1" eaLnBrk="1" hangingPunct="1">
              <a:buFont typeface="Arial" pitchFamily="34" charset="0"/>
              <a:buChar char="•"/>
              <a:defRPr/>
            </a:pPr>
            <a:r>
              <a:rPr lang="en-GB" sz="2200" dirty="0"/>
              <a:t>Define automated checks and STP rules</a:t>
            </a:r>
          </a:p>
          <a:p>
            <a:pPr lvl="1" eaLnBrk="1" hangingPunct="1">
              <a:buFont typeface="Arial" pitchFamily="34" charset="0"/>
              <a:buNone/>
              <a:defRPr/>
            </a:pPr>
            <a:endParaRPr lang="en-GB" sz="2200" dirty="0"/>
          </a:p>
          <a:p>
            <a:pPr eaLnBrk="1" hangingPunct="1">
              <a:defRPr/>
            </a:pPr>
            <a:r>
              <a:rPr lang="en-US" b="1" dirty="0"/>
              <a:t>Settlements Desktop  - Settlement and Confirmation ++</a:t>
            </a:r>
          </a:p>
          <a:p>
            <a:pPr lvl="1" eaLnBrk="1" hangingPunct="1">
              <a:defRPr/>
            </a:pPr>
            <a:r>
              <a:rPr lang="en-US" dirty="0"/>
              <a:t>Create and Manage Documents:</a:t>
            </a:r>
          </a:p>
          <a:p>
            <a:pPr lvl="2" eaLnBrk="1" hangingPunct="1">
              <a:defRPr/>
            </a:pPr>
            <a:r>
              <a:rPr lang="en-US" dirty="0"/>
              <a:t>Preferred output method</a:t>
            </a:r>
          </a:p>
          <a:p>
            <a:pPr lvl="2" eaLnBrk="1" hangingPunct="1">
              <a:defRPr/>
            </a:pPr>
            <a:r>
              <a:rPr lang="en-US" dirty="0"/>
              <a:t>Information/data required</a:t>
            </a:r>
          </a:p>
          <a:p>
            <a:pPr lvl="2" eaLnBrk="1" hangingPunct="1">
              <a:defRPr/>
            </a:pPr>
            <a:r>
              <a:rPr lang="en-US" dirty="0"/>
              <a:t>Deal/event grouping</a:t>
            </a:r>
          </a:p>
          <a:p>
            <a:pPr lvl="2" eaLnBrk="1" hangingPunct="1">
              <a:defRPr/>
            </a:pPr>
            <a:r>
              <a:rPr lang="en-US" dirty="0"/>
              <a:t>Workflow and statuses</a:t>
            </a:r>
          </a:p>
          <a:p>
            <a:pPr lvl="2" eaLnBrk="1" hangingPunct="1">
              <a:defRPr/>
            </a:pPr>
            <a:endParaRPr lang="en-US" dirty="0"/>
          </a:p>
          <a:p>
            <a:pPr marL="342900" indent="-342900">
              <a:spcBef>
                <a:spcPct val="20000"/>
              </a:spcBef>
              <a:defRPr/>
            </a:pPr>
            <a:r>
              <a:rPr lang="en-GB" sz="2800" b="1" dirty="0">
                <a:solidFill>
                  <a:srgbClr val="2F2F2F"/>
                </a:solidFill>
                <a:latin typeface="Arial" pitchFamily="34" charset="0"/>
              </a:rPr>
              <a:t>Automation</a:t>
            </a:r>
          </a:p>
          <a:p>
            <a:pPr marL="742950" lvl="1" indent="-285750">
              <a:spcBef>
                <a:spcPct val="20000"/>
              </a:spcBef>
              <a:buFontTx/>
              <a:buChar char="•"/>
              <a:defRPr/>
            </a:pPr>
            <a:r>
              <a:rPr lang="en-GB" sz="2600" dirty="0">
                <a:solidFill>
                  <a:srgbClr val="002B6D"/>
                </a:solidFill>
                <a:latin typeface="Arial" pitchFamily="34" charset="0"/>
              </a:rPr>
              <a:t>Pre- and Post- processing</a:t>
            </a:r>
          </a:p>
          <a:p>
            <a:pPr marL="742950" lvl="1" indent="-285750">
              <a:spcBef>
                <a:spcPct val="20000"/>
              </a:spcBef>
              <a:buFontTx/>
              <a:buChar char="•"/>
              <a:defRPr/>
            </a:pPr>
            <a:r>
              <a:rPr lang="en-GB" sz="2600" dirty="0">
                <a:solidFill>
                  <a:srgbClr val="002B6D"/>
                </a:solidFill>
                <a:latin typeface="Arial" pitchFamily="34" charset="0"/>
              </a:rPr>
              <a:t>Services Manager – workflows and EOD</a:t>
            </a:r>
          </a:p>
          <a:p>
            <a:pPr marL="742950" lvl="1" indent="-285750">
              <a:spcBef>
                <a:spcPct val="20000"/>
              </a:spcBef>
              <a:buFontTx/>
              <a:buChar char="•"/>
              <a:defRPr/>
            </a:pPr>
            <a:r>
              <a:rPr lang="en-US" sz="2600" dirty="0">
                <a:solidFill>
                  <a:srgbClr val="002B6D"/>
                </a:solidFill>
                <a:latin typeface="Arial" pitchFamily="34" charset="0"/>
              </a:rPr>
              <a:t>STP</a:t>
            </a:r>
          </a:p>
          <a:p>
            <a:pPr marL="742950" lvl="1" indent="-285750">
              <a:spcBef>
                <a:spcPct val="20000"/>
              </a:spcBef>
              <a:buFontTx/>
              <a:buChar char="•"/>
              <a:defRPr/>
            </a:pPr>
            <a:r>
              <a:rPr lang="en-GB" sz="2600" dirty="0">
                <a:solidFill>
                  <a:srgbClr val="002B6D"/>
                </a:solidFill>
                <a:latin typeface="Arial" pitchFamily="34" charset="0"/>
              </a:rPr>
              <a:t>Credit/Risk/RTP Engines</a:t>
            </a:r>
          </a:p>
          <a:p>
            <a:pPr lvl="2" eaLnBrk="1" hangingPunct="1">
              <a:defRPr/>
            </a:pPr>
            <a:endParaRPr lang="en-US" dirty="0"/>
          </a:p>
          <a:p>
            <a:pPr lvl="1" eaLnBrk="1" hangingPunct="1">
              <a:buFont typeface="Arial" pitchFamily="34" charset="0"/>
              <a:buNone/>
              <a:defRPr/>
            </a:pPr>
            <a:endParaRPr lang="en-GB" sz="2200" dirty="0"/>
          </a:p>
          <a:p>
            <a:pPr>
              <a:defRPr/>
            </a:pPr>
            <a:endParaRPr lang="en-GB" dirty="0"/>
          </a:p>
        </p:txBody>
      </p:sp>
      <p:sp>
        <p:nvSpPr>
          <p:cNvPr id="4" name="Slide Number Placeholder 3">
            <a:extLst>
              <a:ext uri="{FF2B5EF4-FFF2-40B4-BE49-F238E27FC236}">
                <a16:creationId xmlns:a16="http://schemas.microsoft.com/office/drawing/2014/main" id="{D2E0359A-5BCF-F89D-AD96-8B4BA6CE4810}"/>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21D38479-E991-46B7-A9BE-394D0C9C2F4E}" type="slidenum">
              <a:rPr lang="en-GB" altLang="en-US" sz="1200"/>
              <a:pPr eaLnBrk="1" hangingPunct="1"/>
              <a:t>15</a:t>
            </a:fld>
            <a:endParaRPr lang="en-GB"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a:extLst>
              <a:ext uri="{FF2B5EF4-FFF2-40B4-BE49-F238E27FC236}">
                <a16:creationId xmlns:a16="http://schemas.microsoft.com/office/drawing/2014/main" id="{3053CAFC-43B2-0C4B-3AAF-0355F4EBED72}"/>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9A85261D-7E84-28C8-DFE9-A6D214ADD48A}"/>
              </a:ext>
            </a:extLst>
          </p:cNvPr>
          <p:cNvSpPr>
            <a:spLocks noGrp="1"/>
          </p:cNvSpPr>
          <p:nvPr>
            <p:ph type="body" idx="1"/>
          </p:nvPr>
        </p:nvSpPr>
        <p:spPr/>
        <p:txBody>
          <a:bodyPr>
            <a:normAutofit fontScale="70000" lnSpcReduction="20000"/>
          </a:bodyPr>
          <a:lstStyle/>
          <a:p>
            <a:pPr eaLnBrk="1" hangingPunct="1">
              <a:defRPr/>
            </a:pPr>
            <a:r>
              <a:rPr lang="en-GB" sz="2400" b="1" dirty="0"/>
              <a:t>Generates accounting data from transactions:</a:t>
            </a:r>
          </a:p>
          <a:p>
            <a:pPr lvl="1" eaLnBrk="1" hangingPunct="1">
              <a:defRPr/>
            </a:pPr>
            <a:r>
              <a:rPr lang="en-GB" sz="2200" dirty="0"/>
              <a:t>Chart of accounts</a:t>
            </a:r>
          </a:p>
          <a:p>
            <a:pPr lvl="1" eaLnBrk="1" hangingPunct="1">
              <a:defRPr/>
            </a:pPr>
            <a:r>
              <a:rPr lang="en-GB" sz="2200" dirty="0"/>
              <a:t>Posting rules</a:t>
            </a:r>
          </a:p>
          <a:p>
            <a:pPr lvl="1" eaLnBrk="1" hangingPunct="1">
              <a:defRPr/>
            </a:pPr>
            <a:r>
              <a:rPr lang="en-GB" sz="2200" dirty="0" err="1"/>
              <a:t>Subledger</a:t>
            </a:r>
            <a:r>
              <a:rPr lang="en-GB" sz="2200" dirty="0"/>
              <a:t> entries</a:t>
            </a:r>
          </a:p>
          <a:p>
            <a:pPr lvl="1" eaLnBrk="1" hangingPunct="1">
              <a:defRPr/>
            </a:pPr>
            <a:r>
              <a:rPr lang="en-GB" sz="2200" dirty="0" err="1"/>
              <a:t>Subledger</a:t>
            </a:r>
            <a:r>
              <a:rPr lang="en-GB" sz="2200" dirty="0"/>
              <a:t> balances</a:t>
            </a:r>
          </a:p>
          <a:p>
            <a:pPr lvl="1" eaLnBrk="1" hangingPunct="1">
              <a:defRPr/>
            </a:pPr>
            <a:endParaRPr lang="en-GB" sz="2200" dirty="0"/>
          </a:p>
          <a:p>
            <a:pPr eaLnBrk="1" hangingPunct="1">
              <a:defRPr/>
            </a:pPr>
            <a:r>
              <a:rPr lang="en-GB" sz="2400" b="1" dirty="0"/>
              <a:t>To extract information from the database &amp; insert it into the appropriate account at the appropriate time</a:t>
            </a:r>
          </a:p>
          <a:p>
            <a:pPr eaLnBrk="1" hangingPunct="1">
              <a:defRPr/>
            </a:pPr>
            <a:r>
              <a:rPr lang="en-GB" sz="2400" dirty="0"/>
              <a:t>To do this we must answer these questions:</a:t>
            </a:r>
          </a:p>
          <a:p>
            <a:pPr lvl="1" eaLnBrk="1" hangingPunct="1">
              <a:defRPr/>
            </a:pPr>
            <a:r>
              <a:rPr lang="en-GB" sz="2400" dirty="0"/>
              <a:t>WHEN do you wish to make a posting?</a:t>
            </a:r>
          </a:p>
          <a:p>
            <a:pPr lvl="1" eaLnBrk="1" hangingPunct="1">
              <a:defRPr/>
            </a:pPr>
            <a:r>
              <a:rPr lang="en-GB" sz="2400" dirty="0"/>
              <a:t>WHAT value do you wish to be posted?</a:t>
            </a:r>
          </a:p>
          <a:p>
            <a:pPr lvl="1" eaLnBrk="1" hangingPunct="1">
              <a:defRPr/>
            </a:pPr>
            <a:r>
              <a:rPr lang="en-GB" sz="2400" dirty="0"/>
              <a:t>WHERE, to which account, do you wish to post?</a:t>
            </a:r>
          </a:p>
          <a:p>
            <a:pPr eaLnBrk="1" hangingPunct="1">
              <a:defRPr/>
            </a:pPr>
            <a:r>
              <a:rPr lang="en-GB" sz="2400" dirty="0"/>
              <a:t>Accounting Manager provides the mechanism to answer these questions</a:t>
            </a:r>
          </a:p>
          <a:p>
            <a:pPr lvl="1" eaLnBrk="1" hangingPunct="1">
              <a:defRPr/>
            </a:pPr>
            <a:endParaRPr lang="en-GB" sz="2200" dirty="0"/>
          </a:p>
          <a:p>
            <a:pPr>
              <a:defRPr/>
            </a:pPr>
            <a:endParaRPr lang="en-GB" dirty="0"/>
          </a:p>
        </p:txBody>
      </p:sp>
      <p:sp>
        <p:nvSpPr>
          <p:cNvPr id="4" name="Slide Number Placeholder 3">
            <a:extLst>
              <a:ext uri="{FF2B5EF4-FFF2-40B4-BE49-F238E27FC236}">
                <a16:creationId xmlns:a16="http://schemas.microsoft.com/office/drawing/2014/main" id="{FF7D8A6F-141E-5308-1778-1BCBCAE29636}"/>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7C157E14-1C1E-45AF-83F7-2AC605062C67}" type="slidenum">
              <a:rPr lang="en-GB" altLang="en-US" sz="1200"/>
              <a:pPr eaLnBrk="1" hangingPunct="1"/>
              <a:t>16</a:t>
            </a:fld>
            <a:endParaRPr lang="en-GB"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C5C6C3A2-5E84-62A0-8996-09742EC1CF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7D5B99F-677C-446B-B81B-0AB0AC068AB9}" type="slidenum">
              <a:rPr lang="en-GB" altLang="en-US" sz="1200"/>
              <a:pPr eaLnBrk="1" hangingPunct="1"/>
              <a:t>17</a:t>
            </a:fld>
            <a:endParaRPr lang="en-GB" altLang="en-US" sz="1200"/>
          </a:p>
        </p:txBody>
      </p:sp>
      <p:sp>
        <p:nvSpPr>
          <p:cNvPr id="106499" name="Rectangle 2">
            <a:extLst>
              <a:ext uri="{FF2B5EF4-FFF2-40B4-BE49-F238E27FC236}">
                <a16:creationId xmlns:a16="http://schemas.microsoft.com/office/drawing/2014/main" id="{FA8AAA76-0E2C-E009-358A-555D03C1FC1A}"/>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22FFB1B5-D144-BDED-42D6-11C7654FA1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Endur Managers Represents functions that you can perform within the system.</a:t>
            </a:r>
          </a:p>
          <a:p>
            <a:r>
              <a:rPr lang="en-GB" altLang="en-US"/>
              <a:t>Trading Manager</a:t>
            </a:r>
          </a:p>
          <a:p>
            <a:pPr>
              <a:buFontTx/>
              <a:buChar char="•"/>
            </a:pPr>
            <a:r>
              <a:rPr lang="en-GB" altLang="en-US"/>
              <a:t>Master instruments</a:t>
            </a:r>
          </a:p>
          <a:p>
            <a:pPr>
              <a:buFontTx/>
              <a:buChar char="•"/>
            </a:pPr>
            <a:r>
              <a:rPr lang="en-GB" altLang="en-US"/>
              <a:t>Sharables</a:t>
            </a:r>
          </a:p>
          <a:p>
            <a:pPr>
              <a:buFontTx/>
              <a:buChar char="•"/>
            </a:pPr>
            <a:r>
              <a:rPr lang="en-GB" altLang="en-US"/>
              <a:t>Trade entry blotters/Trader Desktop</a:t>
            </a:r>
          </a:p>
          <a:p>
            <a:pPr>
              <a:buFontTx/>
              <a:buChar char="•"/>
            </a:pPr>
            <a:r>
              <a:rPr lang="en-GB" altLang="en-US"/>
              <a:t>Templates for uniques</a:t>
            </a:r>
          </a:p>
          <a:p>
            <a:endParaRPr lang="en-GB" altLang="en-US"/>
          </a:p>
          <a:p>
            <a:r>
              <a:rPr lang="en-GB" altLang="en-US"/>
              <a:t>Admin Manager</a:t>
            </a:r>
          </a:p>
          <a:p>
            <a:pPr>
              <a:buFontTx/>
              <a:buChar char="•"/>
            </a:pPr>
            <a:r>
              <a:rPr lang="en-GB" altLang="en-US"/>
              <a:t>Global system set-up</a:t>
            </a:r>
          </a:p>
          <a:p>
            <a:pPr>
              <a:buFontTx/>
              <a:buChar char="•"/>
            </a:pPr>
            <a:r>
              <a:rPr lang="en-GB" altLang="en-US"/>
              <a:t>Static data maintenance</a:t>
            </a:r>
          </a:p>
          <a:p>
            <a:pPr>
              <a:buFontTx/>
              <a:buChar char="•"/>
            </a:pPr>
            <a:r>
              <a:rPr lang="en-GB" altLang="en-US"/>
              <a:t>Security privileges Client Data modelling – Tran Info, Ins Info, Party Info, Personnel Info</a:t>
            </a:r>
          </a:p>
          <a:p>
            <a:pPr>
              <a:buFontTx/>
              <a:buChar char="•"/>
            </a:pPr>
            <a:endParaRPr lang="en-GB" altLang="en-US"/>
          </a:p>
          <a:p>
            <a:r>
              <a:rPr lang="en-GB" altLang="en-US"/>
              <a:t>Reference Manager</a:t>
            </a:r>
          </a:p>
          <a:p>
            <a:pPr>
              <a:buFontTx/>
              <a:buChar char="•"/>
            </a:pPr>
            <a:r>
              <a:rPr lang="en-GB" altLang="en-US"/>
              <a:t>Book structure – info, broker fee structure, settlement terms, agreements, etc</a:t>
            </a:r>
          </a:p>
          <a:p>
            <a:pPr>
              <a:buFontTx/>
              <a:buChar char="•"/>
            </a:pPr>
            <a:r>
              <a:rPr lang="en-GB" altLang="en-US"/>
              <a:t>Personnel – portfolios, security privileges</a:t>
            </a:r>
          </a:p>
          <a:p>
            <a:endParaRPr lang="en-GB" altLang="en-US"/>
          </a:p>
          <a:p>
            <a:r>
              <a:rPr lang="en-GB" altLang="en-US"/>
              <a:t>Credit &amp; Risk Managers</a:t>
            </a:r>
          </a:p>
          <a:p>
            <a:pPr>
              <a:buFontTx/>
              <a:buChar char="•"/>
            </a:pPr>
            <a:r>
              <a:rPr lang="en-GB" altLang="en-US"/>
              <a:t>Check counterparty credit limit</a:t>
            </a:r>
          </a:p>
          <a:p>
            <a:pPr>
              <a:buFontTx/>
              <a:buChar char="•"/>
            </a:pPr>
            <a:r>
              <a:rPr lang="en-GB" altLang="en-US"/>
              <a:t>Market risk e.g. MTM, trader limits</a:t>
            </a:r>
          </a:p>
          <a:p>
            <a:r>
              <a:rPr lang="en-GB" altLang="en-US"/>
              <a:t>Operations Manager</a:t>
            </a:r>
          </a:p>
          <a:p>
            <a:pPr>
              <a:buFontTx/>
              <a:buChar char="•"/>
            </a:pPr>
            <a:r>
              <a:rPr lang="en-GB" altLang="en-US"/>
              <a:t>Mini-modules controlling transaction events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a:extLst>
              <a:ext uri="{FF2B5EF4-FFF2-40B4-BE49-F238E27FC236}">
                <a16:creationId xmlns:a16="http://schemas.microsoft.com/office/drawing/2014/main" id="{BF968A20-EA56-4B53-C94C-0BA209ECDFA2}"/>
              </a:ext>
            </a:extLst>
          </p:cNvPr>
          <p:cNvSpPr>
            <a:spLocks noGrp="1" noRot="1" noChangeAspect="1" noTextEdit="1"/>
          </p:cNvSpPr>
          <p:nvPr>
            <p:ph type="sldImg"/>
          </p:nvPr>
        </p:nvSpPr>
        <p:spPr>
          <a:ln/>
        </p:spPr>
      </p:sp>
      <p:sp>
        <p:nvSpPr>
          <p:cNvPr id="107523" name="Notes Placeholder 2">
            <a:extLst>
              <a:ext uri="{FF2B5EF4-FFF2-40B4-BE49-F238E27FC236}">
                <a16:creationId xmlns:a16="http://schemas.microsoft.com/office/drawing/2014/main" id="{B3032858-572B-118C-8379-3B1B51FA70F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Recap – Endur has 8 managers split into 3 areas within which the user can perform various functions.</a:t>
            </a:r>
          </a:p>
          <a:p>
            <a:r>
              <a:rPr lang="en-GB" altLang="en-US"/>
              <a:t>Three areas – Front, Middle, Back</a:t>
            </a:r>
          </a:p>
          <a:p>
            <a:endParaRPr lang="en-GB" altLang="en-US"/>
          </a:p>
          <a:p>
            <a:r>
              <a:rPr lang="en-GB" altLang="en-US"/>
              <a:t>So far we have:</a:t>
            </a:r>
          </a:p>
          <a:p>
            <a:pPr>
              <a:buFontTx/>
              <a:buChar char="•"/>
            </a:pPr>
            <a:r>
              <a:rPr lang="en-GB" altLang="en-US"/>
              <a:t>Introduced Endur system</a:t>
            </a:r>
          </a:p>
          <a:p>
            <a:pPr>
              <a:buFontTx/>
              <a:buChar char="•"/>
            </a:pPr>
            <a:r>
              <a:rPr lang="en-GB" altLang="en-US"/>
              <a:t>Briefly described each manager in scope– Please note that there are also other managers such as services manager which is outside the scope of this training course</a:t>
            </a:r>
          </a:p>
          <a:p>
            <a:pPr>
              <a:buFontTx/>
              <a:buChar char="•"/>
            </a:pPr>
            <a:r>
              <a:rPr lang="en-GB" altLang="en-US"/>
              <a:t>Discussed interaction &amp; relationships between managers</a:t>
            </a:r>
          </a:p>
          <a:p>
            <a:endParaRPr lang="en-GB" altLang="en-US"/>
          </a:p>
        </p:txBody>
      </p:sp>
      <p:sp>
        <p:nvSpPr>
          <p:cNvPr id="107524" name="Slide Number Placeholder 3">
            <a:extLst>
              <a:ext uri="{FF2B5EF4-FFF2-40B4-BE49-F238E27FC236}">
                <a16:creationId xmlns:a16="http://schemas.microsoft.com/office/drawing/2014/main" id="{FD261229-3A86-DF5C-F18A-05462D1855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ACB303A1-3FF1-42C2-A33D-36F080FA7A11}" type="slidenum">
              <a:rPr lang="en-GB" altLang="en-US" sz="1200"/>
              <a:pPr eaLnBrk="1" hangingPunct="1"/>
              <a:t>18</a:t>
            </a:fld>
            <a:endParaRPr lang="en-GB" alt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F446632E-EDAC-5BF6-FC10-21E0951C48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7258AAE8-1E10-448E-B0F8-2D1B273947D6}" type="slidenum">
              <a:rPr lang="en-GB" altLang="en-US" sz="1200"/>
              <a:pPr eaLnBrk="1" hangingPunct="1"/>
              <a:t>19</a:t>
            </a:fld>
            <a:endParaRPr lang="en-GB" altLang="en-US" sz="1200"/>
          </a:p>
        </p:txBody>
      </p:sp>
      <p:sp>
        <p:nvSpPr>
          <p:cNvPr id="108547" name="Rectangle 2">
            <a:extLst>
              <a:ext uri="{FF2B5EF4-FFF2-40B4-BE49-F238E27FC236}">
                <a16:creationId xmlns:a16="http://schemas.microsoft.com/office/drawing/2014/main" id="{949330B1-F23C-B7E7-7CF1-47480B54AFA1}"/>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69227B2B-912A-AC82-40D9-12BE231DE4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We will look at:</a:t>
            </a:r>
          </a:p>
          <a:p>
            <a:pPr>
              <a:buFontTx/>
              <a:buChar char="•"/>
            </a:pPr>
            <a:r>
              <a:rPr lang="en-GB" altLang="en-US"/>
              <a:t>The browser</a:t>
            </a:r>
          </a:p>
          <a:p>
            <a:pPr>
              <a:buFontTx/>
              <a:buChar char="•"/>
            </a:pPr>
            <a:r>
              <a:rPr lang="en-GB" altLang="en-US"/>
              <a:t>Time/Date conventions and Amount Conventions</a:t>
            </a:r>
          </a:p>
          <a:p>
            <a:pPr>
              <a:buFontTx/>
              <a:buChar char="•"/>
            </a:pPr>
            <a:r>
              <a:rPr lang="en-GB" altLang="en-US"/>
              <a:t>The Table Viewer</a:t>
            </a:r>
          </a:p>
          <a:p>
            <a:pPr>
              <a:buFontTx/>
              <a:buChar char="•"/>
            </a:pPr>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a:extLst>
              <a:ext uri="{FF2B5EF4-FFF2-40B4-BE49-F238E27FC236}">
                <a16:creationId xmlns:a16="http://schemas.microsoft.com/office/drawing/2014/main" id="{83335DA3-937B-199C-4F8E-7FEEAD6B47A9}"/>
              </a:ext>
            </a:extLst>
          </p:cNvPr>
          <p:cNvSpPr>
            <a:spLocks noGrp="1" noRot="1" noChangeAspect="1" noTextEdit="1"/>
          </p:cNvSpPr>
          <p:nvPr>
            <p:ph type="sldImg"/>
          </p:nvPr>
        </p:nvSpPr>
        <p:spPr>
          <a:ln/>
        </p:spPr>
      </p:sp>
      <p:sp>
        <p:nvSpPr>
          <p:cNvPr id="109571" name="Notes Placeholder 2">
            <a:extLst>
              <a:ext uri="{FF2B5EF4-FFF2-40B4-BE49-F238E27FC236}">
                <a16:creationId xmlns:a16="http://schemas.microsoft.com/office/drawing/2014/main" id="{450F4727-4962-A9A2-6BF3-83C28548FF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Browser Window is a graphical depiction of the results of a query.  </a:t>
            </a:r>
          </a:p>
          <a:p>
            <a:r>
              <a:rPr lang="en-US" altLang="en-US"/>
              <a:t>The Browser Window functionality is consistent across the Endur system.  </a:t>
            </a:r>
          </a:p>
          <a:p>
            <a:r>
              <a:rPr lang="en-US" altLang="en-US"/>
              <a:t>It is available in applications such as the </a:t>
            </a:r>
            <a:r>
              <a:rPr lang="en-US" altLang="en-US" i="1"/>
              <a:t>Reference Manager, Trading Manager, Market Manager</a:t>
            </a:r>
            <a:r>
              <a:rPr lang="en-US" altLang="en-US"/>
              <a:t> and </a:t>
            </a:r>
            <a:r>
              <a:rPr lang="en-US" altLang="en-US" i="1"/>
              <a:t>Accounting Manager</a:t>
            </a:r>
            <a:r>
              <a:rPr lang="en-US" altLang="en-US"/>
              <a:t>.</a:t>
            </a:r>
          </a:p>
          <a:p>
            <a:endParaRPr lang="en-US" altLang="en-US"/>
          </a:p>
          <a:p>
            <a:r>
              <a:rPr lang="en-US" altLang="en-US"/>
              <a:t>Screen shot </a:t>
            </a:r>
            <a:r>
              <a:rPr lang="en-US" altLang="en-US" b="1"/>
              <a:t>A </a:t>
            </a:r>
            <a:r>
              <a:rPr lang="en-US" altLang="en-US"/>
              <a:t>displays the Trading Manager prior to running a query.  Screen shot </a:t>
            </a:r>
            <a:r>
              <a:rPr lang="en-US" altLang="en-US" b="1"/>
              <a:t>B</a:t>
            </a:r>
            <a:r>
              <a:rPr lang="en-US" altLang="en-US"/>
              <a:t> displays the result of a query in the Browser Window that has been run for all Validated ComSwap deals</a:t>
            </a:r>
            <a:endParaRPr lang="en-GB" altLang="en-US"/>
          </a:p>
          <a:p>
            <a:endParaRPr lang="en-GB" altLang="en-US"/>
          </a:p>
        </p:txBody>
      </p:sp>
      <p:sp>
        <p:nvSpPr>
          <p:cNvPr id="109572" name="Slide Number Placeholder 3">
            <a:extLst>
              <a:ext uri="{FF2B5EF4-FFF2-40B4-BE49-F238E27FC236}">
                <a16:creationId xmlns:a16="http://schemas.microsoft.com/office/drawing/2014/main" id="{0BB39F00-D1E9-7E09-DC14-5A234275E3A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7603A6C6-819B-45BB-B992-2A2155CD07EB}" type="slidenum">
              <a:rPr lang="en-GB" altLang="en-US" sz="1200"/>
              <a:pPr eaLnBrk="1" hangingPunct="1"/>
              <a:t>20</a:t>
            </a:fld>
            <a:endParaRPr lang="en-GB" alt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08FFF24F-18D9-9D7B-0D1C-E2D02FCEF1FE}"/>
              </a:ext>
            </a:extLst>
          </p:cNvPr>
          <p:cNvSpPr>
            <a:spLocks noGrp="1" noRot="1" noChangeAspect="1" noTextEdit="1"/>
          </p:cNvSpPr>
          <p:nvPr>
            <p:ph type="sldImg"/>
          </p:nvPr>
        </p:nvSpPr>
        <p:spPr>
          <a:ln/>
        </p:spPr>
      </p:sp>
      <p:sp>
        <p:nvSpPr>
          <p:cNvPr id="110595" name="Notes Placeholder 2">
            <a:extLst>
              <a:ext uri="{FF2B5EF4-FFF2-40B4-BE49-F238E27FC236}">
                <a16:creationId xmlns:a16="http://schemas.microsoft.com/office/drawing/2014/main" id="{7A931254-F614-9257-2E04-6C7727781C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Why do we use queries? – to interrogate the database to retrieve information/data</a:t>
            </a:r>
          </a:p>
          <a:p>
            <a:endParaRPr lang="en-US" altLang="en-US"/>
          </a:p>
          <a:p>
            <a:r>
              <a:rPr lang="en-US" altLang="en-US"/>
              <a:t>When “querying” a database, the user specifies the criteria to search for.  The system searches the database for the fields and values requested, and returns those results in a Browser Window view. </a:t>
            </a:r>
            <a:endParaRPr lang="en-GB" altLang="en-US"/>
          </a:p>
          <a:p>
            <a:r>
              <a:rPr lang="en-US" altLang="en-US" i="1"/>
              <a:t>An example would be when a trader is searching their “book” for a list of all New deals, as in the above screen shot B.</a:t>
            </a:r>
            <a:endParaRPr lang="en-US" altLang="en-US"/>
          </a:p>
          <a:p>
            <a:endParaRPr lang="en-GB" altLang="en-US"/>
          </a:p>
        </p:txBody>
      </p:sp>
      <p:sp>
        <p:nvSpPr>
          <p:cNvPr id="110596" name="Slide Number Placeholder 3">
            <a:extLst>
              <a:ext uri="{FF2B5EF4-FFF2-40B4-BE49-F238E27FC236}">
                <a16:creationId xmlns:a16="http://schemas.microsoft.com/office/drawing/2014/main" id="{79EB87E8-0C54-AF4A-4A58-B514030EB6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237E6696-398C-4090-844A-606E5D1F0D94}" type="slidenum">
              <a:rPr lang="en-GB" altLang="en-US" sz="1200"/>
              <a:pPr eaLnBrk="1" hangingPunct="1"/>
              <a:t>21</a:t>
            </a:fld>
            <a:endParaRPr lang="en-GB" alt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id="{15280E3E-E3BD-C2C5-029E-90E4E5F6F6A5}"/>
              </a:ext>
            </a:extLst>
          </p:cNvPr>
          <p:cNvSpPr>
            <a:spLocks noGrp="1" noRot="1" noChangeAspect="1" noTextEdit="1"/>
          </p:cNvSpPr>
          <p:nvPr>
            <p:ph type="sldImg"/>
          </p:nvPr>
        </p:nvSpPr>
        <p:spPr>
          <a:ln/>
        </p:spPr>
      </p:sp>
      <p:sp>
        <p:nvSpPr>
          <p:cNvPr id="111619" name="Notes Placeholder 2">
            <a:extLst>
              <a:ext uri="{FF2B5EF4-FFF2-40B4-BE49-F238E27FC236}">
                <a16:creationId xmlns:a16="http://schemas.microsoft.com/office/drawing/2014/main" id="{15099A4E-9555-18D9-C0A3-948DCC98CC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 do we use queries in the system?</a:t>
            </a:r>
          </a:p>
          <a:p>
            <a:pPr>
              <a:buFontTx/>
              <a:buChar char="•"/>
            </a:pPr>
            <a:r>
              <a:rPr lang="en-US" altLang="en-US"/>
              <a:t>Click icon or File-Query</a:t>
            </a:r>
          </a:p>
          <a:p>
            <a:pPr>
              <a:buFontTx/>
              <a:buChar char="•"/>
            </a:pPr>
            <a:r>
              <a:rPr lang="en-US" altLang="en-US"/>
              <a:t>The query Window pops up</a:t>
            </a:r>
            <a:endParaRPr lang="en-GB" altLang="en-US" i="1"/>
          </a:p>
          <a:p>
            <a:endParaRPr lang="en-GB" altLang="en-US"/>
          </a:p>
          <a:p>
            <a:endParaRPr lang="en-GB" altLang="en-US"/>
          </a:p>
        </p:txBody>
      </p:sp>
      <p:sp>
        <p:nvSpPr>
          <p:cNvPr id="111620" name="Slide Number Placeholder 3">
            <a:extLst>
              <a:ext uri="{FF2B5EF4-FFF2-40B4-BE49-F238E27FC236}">
                <a16:creationId xmlns:a16="http://schemas.microsoft.com/office/drawing/2014/main" id="{9B9E7336-37BE-8249-3AE2-E6840B4B26D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CC8CA1E-2E35-4785-BB45-AE438796DFC5}" type="slidenum">
              <a:rPr lang="en-GB" altLang="en-US" sz="1200"/>
              <a:pPr eaLnBrk="1" hangingPunct="1"/>
              <a:t>22</a:t>
            </a:fld>
            <a:endParaRPr lang="en-GB" alt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A1E2EFA9-386F-6D7F-3B36-1DEB9FED54F7}"/>
              </a:ext>
            </a:extLst>
          </p:cNvPr>
          <p:cNvSpPr>
            <a:spLocks noGrp="1" noRot="1" noChangeAspect="1" noTextEdit="1"/>
          </p:cNvSpPr>
          <p:nvPr>
            <p:ph type="sldImg"/>
          </p:nvPr>
        </p:nvSpPr>
        <p:spPr>
          <a:ln/>
        </p:spPr>
      </p:sp>
      <p:sp>
        <p:nvSpPr>
          <p:cNvPr id="112643" name="Notes Placeholder 2">
            <a:extLst>
              <a:ext uri="{FF2B5EF4-FFF2-40B4-BE49-F238E27FC236}">
                <a16:creationId xmlns:a16="http://schemas.microsoft.com/office/drawing/2014/main" id="{D5E796E8-28C9-4E1B-298B-533B98E61E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en-US"/>
              <a:t>Explain that data is stored in tables.</a:t>
            </a:r>
          </a:p>
          <a:p>
            <a:endParaRPr lang="en-US" altLang="en-US"/>
          </a:p>
          <a:p>
            <a:r>
              <a:rPr lang="en-GB" altLang="en-US"/>
              <a:t>Example – A Trading Manager query</a:t>
            </a:r>
            <a:endParaRPr lang="en-US" altLang="en-US"/>
          </a:p>
          <a:p>
            <a:r>
              <a:rPr lang="en-US" altLang="en-US"/>
              <a:t>A query consists of specifying the </a:t>
            </a:r>
            <a:r>
              <a:rPr lang="en-US" altLang="en-US" i="1"/>
              <a:t>Table(s), Field(s) and Value(s).</a:t>
            </a:r>
            <a:r>
              <a:rPr lang="en-US" altLang="en-US"/>
              <a:t>  A user may request information from more than one table pertaining to the Manager in which the user is running the query.  Within the table, the user may specify value(s) for one or more fields of information.  </a:t>
            </a:r>
            <a:endParaRPr lang="en-GB" altLang="en-US" b="1"/>
          </a:p>
          <a:p>
            <a:r>
              <a:rPr lang="en-US" altLang="en-US" b="1"/>
              <a:t>In this scenario, the user is searching for all Validated ComSwap deals.</a:t>
            </a:r>
          </a:p>
          <a:p>
            <a:endParaRPr lang="en-US" altLang="en-US" b="1"/>
          </a:p>
          <a:p>
            <a:r>
              <a:rPr lang="en-US" altLang="en-US"/>
              <a:t>Click the check mark </a:t>
            </a:r>
            <a:r>
              <a:rPr lang="en-US" altLang="en-US" b="1">
                <a:sym typeface="Wingdings" panose="05000000000000000000" pitchFamily="2" charset="2"/>
              </a:rPr>
              <a:t></a:t>
            </a:r>
            <a:r>
              <a:rPr lang="en-US" altLang="en-US"/>
              <a:t>or select &lt;F1&gt; to execute the query.   The query results display in the Browser window format as discussed on the previous page.</a:t>
            </a:r>
          </a:p>
          <a:p>
            <a:endParaRPr lang="en-GB" altLang="en-US"/>
          </a:p>
          <a:p>
            <a:endParaRPr lang="en-US" altLang="en-US"/>
          </a:p>
          <a:p>
            <a:endParaRPr lang="en-GB" altLang="en-US"/>
          </a:p>
        </p:txBody>
      </p:sp>
      <p:sp>
        <p:nvSpPr>
          <p:cNvPr id="112644" name="Slide Number Placeholder 3">
            <a:extLst>
              <a:ext uri="{FF2B5EF4-FFF2-40B4-BE49-F238E27FC236}">
                <a16:creationId xmlns:a16="http://schemas.microsoft.com/office/drawing/2014/main" id="{3E738956-07B2-8DB2-C7FF-D39EBBC771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FF04BFD-D84F-4B9F-ABAF-0A2CEC7C9A75}" type="slidenum">
              <a:rPr lang="en-GB" altLang="en-US" sz="1200"/>
              <a:pPr eaLnBrk="1" hangingPunct="1"/>
              <a:t>23</a:t>
            </a:fld>
            <a:endParaRPr lang="en-GB" alt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a:extLst>
              <a:ext uri="{FF2B5EF4-FFF2-40B4-BE49-F238E27FC236}">
                <a16:creationId xmlns:a16="http://schemas.microsoft.com/office/drawing/2014/main" id="{57246D1B-F721-87F6-7792-EC360A559F10}"/>
              </a:ext>
            </a:extLst>
          </p:cNvPr>
          <p:cNvSpPr>
            <a:spLocks noGrp="1" noRot="1" noChangeAspect="1" noTextEdit="1"/>
          </p:cNvSpPr>
          <p:nvPr>
            <p:ph type="sldImg"/>
          </p:nvPr>
        </p:nvSpPr>
        <p:spPr>
          <a:ln/>
        </p:spPr>
      </p:sp>
      <p:sp>
        <p:nvSpPr>
          <p:cNvPr id="113667" name="Notes Placeholder 2">
            <a:extLst>
              <a:ext uri="{FF2B5EF4-FFF2-40B4-BE49-F238E27FC236}">
                <a16:creationId xmlns:a16="http://schemas.microsoft.com/office/drawing/2014/main" id="{B00D6DAF-1FAA-64D9-F938-425B6E2EC1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Note to class that we did not specify that the query should return validated deals – This is because by default the system will return validated deals. If you require deals in other statuses such as New, Pending etc, then you must specify this.</a:t>
            </a:r>
          </a:p>
        </p:txBody>
      </p:sp>
      <p:sp>
        <p:nvSpPr>
          <p:cNvPr id="113668" name="Slide Number Placeholder 3">
            <a:extLst>
              <a:ext uri="{FF2B5EF4-FFF2-40B4-BE49-F238E27FC236}">
                <a16:creationId xmlns:a16="http://schemas.microsoft.com/office/drawing/2014/main" id="{324C9C2D-F4DE-6C26-D9FE-A7619E7A02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5C1C3158-859C-4579-A201-724CE8A8AA87}" type="slidenum">
              <a:rPr lang="en-GB" altLang="en-US" sz="1200"/>
              <a:pPr eaLnBrk="1" hangingPunct="1"/>
              <a:t>24</a:t>
            </a:fld>
            <a:endParaRPr lang="en-GB" altLang="en-US"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90B612B2-C57C-3A57-CB7C-25F5AB2B6BEA}"/>
              </a:ext>
            </a:extLst>
          </p:cNvPr>
          <p:cNvSpPr>
            <a:spLocks noGrp="1" noRot="1" noChangeAspect="1" noTextEdit="1"/>
          </p:cNvSpPr>
          <p:nvPr>
            <p:ph type="sldImg"/>
          </p:nvPr>
        </p:nvSpPr>
        <p:spPr>
          <a:ln/>
        </p:spPr>
      </p:sp>
      <p:sp>
        <p:nvSpPr>
          <p:cNvPr id="114691" name="Notes Placeholder 2">
            <a:extLst>
              <a:ext uri="{FF2B5EF4-FFF2-40B4-BE49-F238E27FC236}">
                <a16:creationId xmlns:a16="http://schemas.microsoft.com/office/drawing/2014/main" id="{87FDFA06-0785-E307-2DC5-42BC1C9AB7E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Additional query criteria that are currently not available in the pick lists may be added using SQL or AVS scripts.</a:t>
            </a:r>
            <a:endParaRPr lang="en-GB" altLang="en-US" b="1"/>
          </a:p>
          <a:p>
            <a:r>
              <a:rPr lang="en-US" altLang="en-US"/>
              <a:t>Click the drop down arrow located on the far left-hand corner of the Query window.  A separate window displays.  This is a free-format field where the SQL can be entered.</a:t>
            </a:r>
            <a:endParaRPr lang="en-GB" altLang="en-US" b="1"/>
          </a:p>
          <a:p>
            <a:r>
              <a:rPr lang="en-US" altLang="en-US"/>
              <a:t>Type the SQL in the field provided on the right.  Click the check mark to run the query.</a:t>
            </a:r>
            <a:endParaRPr lang="en-GB" altLang="en-US" b="1"/>
          </a:p>
          <a:p>
            <a:endParaRPr lang="en-GB" altLang="en-US"/>
          </a:p>
        </p:txBody>
      </p:sp>
      <p:sp>
        <p:nvSpPr>
          <p:cNvPr id="114692" name="Slide Number Placeholder 3">
            <a:extLst>
              <a:ext uri="{FF2B5EF4-FFF2-40B4-BE49-F238E27FC236}">
                <a16:creationId xmlns:a16="http://schemas.microsoft.com/office/drawing/2014/main" id="{E988CE53-0E02-5931-F37D-DB493512FFF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4FFBA1BD-4E33-4514-8F63-8D1C6389BC0E}" type="slidenum">
              <a:rPr lang="en-GB" altLang="en-US" sz="1200"/>
              <a:pPr eaLnBrk="1" hangingPunct="1"/>
              <a:t>25</a:t>
            </a:fld>
            <a:endParaRPr lang="en-GB" alt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id="{639540A0-9A3D-B247-1A69-9BFFE23170F1}"/>
              </a:ext>
            </a:extLst>
          </p:cNvPr>
          <p:cNvSpPr>
            <a:spLocks noGrp="1" noRot="1" noChangeAspect="1" noTextEdit="1"/>
          </p:cNvSpPr>
          <p:nvPr>
            <p:ph type="sldImg"/>
          </p:nvPr>
        </p:nvSpPr>
        <p:spPr>
          <a:ln/>
        </p:spPr>
      </p:sp>
      <p:sp>
        <p:nvSpPr>
          <p:cNvPr id="115715" name="Notes Placeholder 2">
            <a:extLst>
              <a:ext uri="{FF2B5EF4-FFF2-40B4-BE49-F238E27FC236}">
                <a16:creationId xmlns:a16="http://schemas.microsoft.com/office/drawing/2014/main" id="{B1491F09-45F2-3F88-3788-E53FEC8F001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These are effectively shortcuts.</a:t>
            </a:r>
          </a:p>
        </p:txBody>
      </p:sp>
      <p:sp>
        <p:nvSpPr>
          <p:cNvPr id="4" name="Slide Number Placeholder 3">
            <a:extLst>
              <a:ext uri="{FF2B5EF4-FFF2-40B4-BE49-F238E27FC236}">
                <a16:creationId xmlns:a16="http://schemas.microsoft.com/office/drawing/2014/main" id="{94ABC732-243B-7A14-5414-44688B65425E}"/>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583ACE1-0822-4841-971E-940A45FC2594}" type="slidenum">
              <a:rPr lang="en-GB" altLang="en-US" sz="1200"/>
              <a:pPr eaLnBrk="1" hangingPunct="1"/>
              <a:t>26</a:t>
            </a:fld>
            <a:endParaRPr lang="en-GB" altLang="en-US"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6D449BEB-B8EF-8651-B92B-453581FB7354}"/>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4B8462D0-899F-0344-836E-10938B683ECB}"/>
              </a:ext>
            </a:extLst>
          </p:cNvPr>
          <p:cNvSpPr>
            <a:spLocks noGrp="1"/>
          </p:cNvSpPr>
          <p:nvPr>
            <p:ph type="body" idx="1"/>
          </p:nvPr>
        </p:nvSpPr>
        <p:spPr/>
        <p:txBody>
          <a:bodyPr>
            <a:normAutofit fontScale="92500" lnSpcReduction="20000"/>
          </a:bodyPr>
          <a:lstStyle/>
          <a:p>
            <a:pPr>
              <a:defRPr/>
            </a:pPr>
            <a:r>
              <a:rPr lang="en-US" dirty="0"/>
              <a:t>Several modules within the system use the </a:t>
            </a:r>
            <a:r>
              <a:rPr lang="en-US" i="1" dirty="0"/>
              <a:t>Table Viewer</a:t>
            </a:r>
            <a:r>
              <a:rPr lang="en-US" dirty="0"/>
              <a:t> to display data. The </a:t>
            </a:r>
            <a:r>
              <a:rPr lang="en-US" i="1" dirty="0"/>
              <a:t>Table Viewer</a:t>
            </a:r>
            <a:r>
              <a:rPr lang="en-US" dirty="0"/>
              <a:t> is a listing of information.  You may modify the table setup (i.e. sort, filter, sum, and group sum).  The table contains data fields (columns) and data records (rows).  </a:t>
            </a:r>
          </a:p>
          <a:p>
            <a:pPr>
              <a:defRPr/>
            </a:pPr>
            <a:endParaRPr lang="en-GB" b="1" dirty="0"/>
          </a:p>
          <a:p>
            <a:pPr>
              <a:defRPr/>
            </a:pPr>
            <a:r>
              <a:rPr lang="en-US" b="1" dirty="0"/>
              <a:t>To access the Table Viewer:</a:t>
            </a:r>
            <a:endParaRPr lang="en-GB" b="1" dirty="0"/>
          </a:p>
          <a:p>
            <a:pPr>
              <a:defRPr/>
            </a:pPr>
            <a:r>
              <a:rPr lang="en-US" dirty="0"/>
              <a:t>Run a query.  Once the query results display, hold your mouse over the four boxes        on the query nodes until it changes to a piece of paper.  </a:t>
            </a:r>
            <a:endParaRPr lang="en-GB" dirty="0"/>
          </a:p>
          <a:p>
            <a:pPr>
              <a:defRPr/>
            </a:pPr>
            <a:r>
              <a:rPr lang="en-US" dirty="0"/>
              <a:t>Left click the box to launch the table. </a:t>
            </a:r>
            <a:endParaRPr lang="en-GB" dirty="0"/>
          </a:p>
          <a:p>
            <a:pPr>
              <a:defRPr/>
            </a:pPr>
            <a:endParaRPr lang="en-US" dirty="0"/>
          </a:p>
          <a:p>
            <a:pPr>
              <a:defRPr/>
            </a:pPr>
            <a:r>
              <a:rPr lang="en-US" b="1" dirty="0"/>
              <a:t>To sort or filter the Table Viewer:</a:t>
            </a:r>
            <a:endParaRPr lang="en-GB" b="1" dirty="0"/>
          </a:p>
          <a:p>
            <a:pPr>
              <a:defRPr/>
            </a:pPr>
            <a:r>
              <a:rPr lang="en-US" dirty="0"/>
              <a:t>Right-click a blue column heading to sort or filter by that column. A separate menu displays.  </a:t>
            </a:r>
            <a:endParaRPr lang="en-GB" dirty="0"/>
          </a:p>
          <a:p>
            <a:pPr>
              <a:defRPr/>
            </a:pPr>
            <a:r>
              <a:rPr lang="en-US" dirty="0"/>
              <a:t>Select </a:t>
            </a:r>
            <a:r>
              <a:rPr lang="en-US" b="1" dirty="0"/>
              <a:t>Sort Ascending </a:t>
            </a:r>
            <a:r>
              <a:rPr lang="en-US" dirty="0"/>
              <a:t>or</a:t>
            </a:r>
            <a:r>
              <a:rPr lang="en-US" b="1" dirty="0"/>
              <a:t> Sort Descending</a:t>
            </a:r>
            <a:r>
              <a:rPr lang="en-US" dirty="0"/>
              <a:t> to sort the table by the column, or </a:t>
            </a:r>
            <a:r>
              <a:rPr lang="en-US" b="1" dirty="0"/>
              <a:t>Filter Col </a:t>
            </a:r>
            <a:r>
              <a:rPr lang="en-US" dirty="0"/>
              <a:t>to limit the selection criteria. An example would be to sort the transaction list results by </a:t>
            </a:r>
            <a:r>
              <a:rPr lang="en-US" b="1" dirty="0"/>
              <a:t>Trade Date</a:t>
            </a:r>
            <a:r>
              <a:rPr lang="en-US" dirty="0"/>
              <a:t> descending.</a:t>
            </a:r>
            <a:endParaRPr lang="en-GB" dirty="0"/>
          </a:p>
        </p:txBody>
      </p:sp>
      <p:sp>
        <p:nvSpPr>
          <p:cNvPr id="116740" name="Slide Number Placeholder 3">
            <a:extLst>
              <a:ext uri="{FF2B5EF4-FFF2-40B4-BE49-F238E27FC236}">
                <a16:creationId xmlns:a16="http://schemas.microsoft.com/office/drawing/2014/main" id="{EC06F2A1-8C31-DF34-84A4-9AA8364DE56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BC31FE3-352A-476B-BE6F-1FB7B25CFCFD}" type="slidenum">
              <a:rPr lang="en-GB" altLang="en-US" sz="1200"/>
              <a:pPr eaLnBrk="1" hangingPunct="1"/>
              <a:t>27</a:t>
            </a:fld>
            <a:endParaRPr lang="en-GB" altLang="en-US"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a:extLst>
              <a:ext uri="{FF2B5EF4-FFF2-40B4-BE49-F238E27FC236}">
                <a16:creationId xmlns:a16="http://schemas.microsoft.com/office/drawing/2014/main" id="{50EAE6E9-8509-8E63-09EB-18BAACEE2929}"/>
              </a:ext>
            </a:extLst>
          </p:cNvPr>
          <p:cNvSpPr>
            <a:spLocks noGrp="1" noRot="1" noChangeAspect="1" noTextEdit="1"/>
          </p:cNvSpPr>
          <p:nvPr>
            <p:ph type="sldImg"/>
          </p:nvPr>
        </p:nvSpPr>
        <p:spPr>
          <a:ln/>
        </p:spPr>
      </p:sp>
      <p:sp>
        <p:nvSpPr>
          <p:cNvPr id="117763" name="Notes Placeholder 2">
            <a:extLst>
              <a:ext uri="{FF2B5EF4-FFF2-40B4-BE49-F238E27FC236}">
                <a16:creationId xmlns:a16="http://schemas.microsoft.com/office/drawing/2014/main" id="{7890283E-2E49-D5E7-A25D-412CAAE939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Exporting Table Viewer Data into an Excel Spreadsheet:</a:t>
            </a:r>
            <a:endParaRPr lang="en-GB" altLang="en-US" b="1"/>
          </a:p>
          <a:p>
            <a:r>
              <a:rPr lang="en-US" altLang="en-US"/>
              <a:t>Users have the ability to export data from the </a:t>
            </a:r>
            <a:r>
              <a:rPr lang="en-US" altLang="en-US" i="1"/>
              <a:t>Table Viewer </a:t>
            </a:r>
            <a:r>
              <a:rPr lang="en-US" altLang="en-US"/>
              <a:t>directly into an MS Excel Spreadsheet.</a:t>
            </a:r>
            <a:endParaRPr lang="en-GB" altLang="en-US" b="1"/>
          </a:p>
          <a:p>
            <a:r>
              <a:rPr lang="en-US" altLang="en-US"/>
              <a:t>Select </a:t>
            </a:r>
            <a:r>
              <a:rPr lang="en-US" altLang="en-US" b="1"/>
              <a:t>Reporting </a:t>
            </a:r>
            <a:r>
              <a:rPr lang="en-US" altLang="en-US" b="1">
                <a:sym typeface="Symbol" panose="05050102010706020507" pitchFamily="18" charset="2"/>
              </a:rPr>
              <a:t></a:t>
            </a:r>
            <a:r>
              <a:rPr lang="en-US" altLang="en-US" b="1"/>
              <a:t> MS Excel</a:t>
            </a:r>
            <a:r>
              <a:rPr lang="en-US" altLang="en-US"/>
              <a:t> from the </a:t>
            </a:r>
            <a:r>
              <a:rPr lang="en-US" altLang="en-US" i="1"/>
              <a:t>Table Viewer</a:t>
            </a:r>
            <a:r>
              <a:rPr lang="en-US" altLang="en-US"/>
              <a:t> menu bar.  The </a:t>
            </a:r>
            <a:r>
              <a:rPr lang="en-US" altLang="en-US" i="1"/>
              <a:t>Excel Interface</a:t>
            </a:r>
            <a:r>
              <a:rPr lang="en-US" altLang="en-US"/>
              <a:t> window displays.</a:t>
            </a:r>
            <a:endParaRPr lang="en-GB" altLang="en-US"/>
          </a:p>
          <a:p>
            <a:r>
              <a:rPr lang="en-US" altLang="en-US"/>
              <a:t>Select either </a:t>
            </a:r>
            <a:r>
              <a:rPr lang="en-US" altLang="en-US" b="1"/>
              <a:t>Export to New Workbook, Export to Open Workbook, Export to Existing File</a:t>
            </a:r>
            <a:r>
              <a:rPr lang="en-US" altLang="en-US"/>
              <a:t>, and click &lt;OK&gt;.  Excel will open as a separate window, and the data from the </a:t>
            </a:r>
            <a:r>
              <a:rPr lang="en-US" altLang="en-US" i="1"/>
              <a:t>Transaction Listing </a:t>
            </a:r>
            <a:r>
              <a:rPr lang="en-US" altLang="en-US"/>
              <a:t>table is automatically formatted within an Excel worksheet.</a:t>
            </a:r>
            <a:endParaRPr lang="en-GB" altLang="en-US"/>
          </a:p>
          <a:p>
            <a:endParaRPr lang="en-GB" altLang="en-US"/>
          </a:p>
        </p:txBody>
      </p:sp>
      <p:sp>
        <p:nvSpPr>
          <p:cNvPr id="117764" name="Slide Number Placeholder 3">
            <a:extLst>
              <a:ext uri="{FF2B5EF4-FFF2-40B4-BE49-F238E27FC236}">
                <a16:creationId xmlns:a16="http://schemas.microsoft.com/office/drawing/2014/main" id="{32A79096-71FC-FBA3-55D4-378EA3676DC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C6F5BA5-292A-47BC-88C1-24C762D55E25}" type="slidenum">
              <a:rPr lang="en-GB" altLang="en-US" sz="1200"/>
              <a:pPr eaLnBrk="1" hangingPunct="1"/>
              <a:t>28</a:t>
            </a:fld>
            <a:endParaRPr lang="en-GB" altLang="en-US"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E826956A-F58F-7854-E646-0B60D81F1F24}"/>
              </a:ext>
            </a:extLst>
          </p:cNvPr>
          <p:cNvSpPr>
            <a:spLocks noGrp="1" noRot="1" noChangeAspect="1" noTextEdit="1"/>
          </p:cNvSpPr>
          <p:nvPr>
            <p:ph type="sldImg"/>
          </p:nvPr>
        </p:nvSpPr>
        <p:spPr>
          <a:ln/>
        </p:spPr>
      </p:sp>
      <p:sp>
        <p:nvSpPr>
          <p:cNvPr id="118787" name="Notes Placeholder 2">
            <a:extLst>
              <a:ext uri="{FF2B5EF4-FFF2-40B4-BE49-F238E27FC236}">
                <a16:creationId xmlns:a16="http://schemas.microsoft.com/office/drawing/2014/main" id="{4CBD36EB-AD25-5ECC-0086-A15058A730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Searching the Table Viewer for specific data fields:</a:t>
            </a:r>
            <a:endParaRPr lang="en-GB" altLang="en-US" b="1"/>
          </a:p>
          <a:p>
            <a:r>
              <a:rPr lang="en-US" altLang="en-US"/>
              <a:t>The Search feature helps users identify a specific value within the lines of data listed in the </a:t>
            </a:r>
            <a:r>
              <a:rPr lang="en-US" altLang="en-US" i="1"/>
              <a:t>Table Viewer</a:t>
            </a:r>
            <a:r>
              <a:rPr lang="en-US" altLang="en-US"/>
              <a:t>.</a:t>
            </a:r>
            <a:endParaRPr lang="en-GB" altLang="en-US" b="1"/>
          </a:p>
          <a:p>
            <a:r>
              <a:rPr lang="en-US" altLang="en-US"/>
              <a:t>Select </a:t>
            </a:r>
            <a:r>
              <a:rPr lang="en-US" altLang="en-US" b="1"/>
              <a:t>Search</a:t>
            </a:r>
            <a:r>
              <a:rPr lang="en-US" altLang="en-US"/>
              <a:t> from the </a:t>
            </a:r>
            <a:r>
              <a:rPr lang="en-US" altLang="en-US" i="1"/>
              <a:t>Table Viewer</a:t>
            </a:r>
            <a:r>
              <a:rPr lang="en-US" altLang="en-US"/>
              <a:t> menu bar, or select &lt;F3&gt;.  Both functions generate the </a:t>
            </a:r>
            <a:r>
              <a:rPr lang="en-US" altLang="en-US" i="1"/>
              <a:t>Search Window</a:t>
            </a:r>
            <a:r>
              <a:rPr lang="en-US" altLang="en-US"/>
              <a:t>.</a:t>
            </a:r>
            <a:endParaRPr lang="en-GB" altLang="en-US"/>
          </a:p>
          <a:p>
            <a:r>
              <a:rPr lang="en-US" altLang="en-US"/>
              <a:t>Enter the word or group of words in the </a:t>
            </a:r>
            <a:r>
              <a:rPr lang="en-US" altLang="en-US" b="1"/>
              <a:t>Search String</a:t>
            </a:r>
            <a:r>
              <a:rPr lang="en-US" altLang="en-US"/>
              <a:t> entry field.  Select &lt;Enter&gt; on your keyboard, or click the </a:t>
            </a:r>
            <a:r>
              <a:rPr lang="en-US" altLang="en-US" b="1"/>
              <a:t>Search &lt;F3&gt;</a:t>
            </a:r>
            <a:r>
              <a:rPr lang="en-US" altLang="en-US"/>
              <a:t> button.  </a:t>
            </a:r>
            <a:endParaRPr lang="en-GB" altLang="en-US"/>
          </a:p>
          <a:p>
            <a:r>
              <a:rPr lang="en-US" altLang="en-US"/>
              <a:t>The system will move through the lines of data and highlight the values that match your search string.  In the example below we searched for </a:t>
            </a:r>
            <a:r>
              <a:rPr lang="en-US" altLang="en-US" i="1"/>
              <a:t>Tran# 21372.</a:t>
            </a:r>
            <a:endParaRPr lang="en-GB" altLang="en-US"/>
          </a:p>
        </p:txBody>
      </p:sp>
      <p:sp>
        <p:nvSpPr>
          <p:cNvPr id="118788" name="Slide Number Placeholder 3">
            <a:extLst>
              <a:ext uri="{FF2B5EF4-FFF2-40B4-BE49-F238E27FC236}">
                <a16:creationId xmlns:a16="http://schemas.microsoft.com/office/drawing/2014/main" id="{18F6645B-EF2C-58E7-7C71-B282F54CF2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5E21C01E-5856-471E-A590-FF1E30F1B3D6}" type="slidenum">
              <a:rPr lang="en-GB" altLang="en-US" sz="1200"/>
              <a:pPr eaLnBrk="1" hangingPunct="1"/>
              <a:t>29</a:t>
            </a:fld>
            <a:endParaRPr lang="en-GB" altLang="en-US"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a:extLst>
              <a:ext uri="{FF2B5EF4-FFF2-40B4-BE49-F238E27FC236}">
                <a16:creationId xmlns:a16="http://schemas.microsoft.com/office/drawing/2014/main" id="{CDE40A8A-4AF8-4F8C-B360-6EE7A590A9AB}"/>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CAC2F86D-606F-E98A-0EF5-0B471742EEE9}"/>
              </a:ext>
            </a:extLst>
          </p:cNvPr>
          <p:cNvSpPr>
            <a:spLocks noGrp="1"/>
          </p:cNvSpPr>
          <p:nvPr>
            <p:ph type="body" idx="1"/>
          </p:nvPr>
        </p:nvSpPr>
        <p:spPr/>
        <p:txBody>
          <a:bodyPr>
            <a:normAutofit fontScale="85000" lnSpcReduction="10000"/>
          </a:bodyPr>
          <a:lstStyle/>
          <a:p>
            <a:pPr>
              <a:buFont typeface="Arial" pitchFamily="34" charset="0"/>
              <a:buChar char="•"/>
              <a:defRPr/>
            </a:pPr>
            <a:r>
              <a:rPr lang="en-US" dirty="0"/>
              <a:t>Group, sub-total and format the table to meet their viewing requirements. </a:t>
            </a:r>
          </a:p>
          <a:p>
            <a:pPr>
              <a:buFont typeface="Arial" pitchFamily="34" charset="0"/>
              <a:buChar char="•"/>
              <a:defRPr/>
            </a:pPr>
            <a:r>
              <a:rPr lang="en-US" dirty="0"/>
              <a:t>Note that only numeric fields may be summed or totaled by group.  </a:t>
            </a:r>
          </a:p>
          <a:p>
            <a:pPr>
              <a:buFont typeface="Arial" pitchFamily="34" charset="0"/>
              <a:buChar char="•"/>
              <a:defRPr/>
            </a:pPr>
            <a:r>
              <a:rPr lang="en-US" dirty="0"/>
              <a:t>Modifications to the </a:t>
            </a:r>
            <a:r>
              <a:rPr lang="en-US" i="1" dirty="0"/>
              <a:t>Configure View </a:t>
            </a:r>
            <a:r>
              <a:rPr lang="en-US" dirty="0"/>
              <a:t>window may be saved as the default and applied each time the window is opened.  </a:t>
            </a:r>
            <a:endParaRPr lang="en-GB" dirty="0"/>
          </a:p>
        </p:txBody>
      </p:sp>
      <p:sp>
        <p:nvSpPr>
          <p:cNvPr id="119812" name="Slide Number Placeholder 3">
            <a:extLst>
              <a:ext uri="{FF2B5EF4-FFF2-40B4-BE49-F238E27FC236}">
                <a16:creationId xmlns:a16="http://schemas.microsoft.com/office/drawing/2014/main" id="{785D5FEB-0681-CC4E-F5BA-83500F787F0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6CCE181D-28E6-4119-9588-BFFD3076ACC8}" type="slidenum">
              <a:rPr lang="en-GB" altLang="en-US" sz="1200"/>
              <a:pPr eaLnBrk="1" hangingPunct="1"/>
              <a:t>30</a:t>
            </a:fld>
            <a:endParaRPr lang="en-GB" altLang="en-US"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F4AEDF95-AAE5-F128-E6C0-92FCB8E63EE3}"/>
              </a:ext>
            </a:extLst>
          </p:cNvPr>
          <p:cNvSpPr>
            <a:spLocks noGrp="1" noRot="1" noChangeAspect="1" noTextEdit="1"/>
          </p:cNvSpPr>
          <p:nvPr>
            <p:ph type="sldImg"/>
          </p:nvPr>
        </p:nvSpPr>
        <p:spPr>
          <a:ln/>
        </p:spPr>
      </p:sp>
      <p:sp>
        <p:nvSpPr>
          <p:cNvPr id="120835" name="Notes Placeholder 2">
            <a:extLst>
              <a:ext uri="{FF2B5EF4-FFF2-40B4-BE49-F238E27FC236}">
                <a16:creationId xmlns:a16="http://schemas.microsoft.com/office/drawing/2014/main" id="{CE02D240-7FBB-1F9E-06A3-D2F5CBECBF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E0794F6F-51F0-6C04-FE8E-5CD2CB1C2046}"/>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59298E9-E9D2-48C5-808D-F93486B31284}" type="slidenum">
              <a:rPr lang="en-GB" altLang="en-US" sz="1200"/>
              <a:pPr eaLnBrk="1" hangingPunct="1"/>
              <a:t>31</a:t>
            </a:fld>
            <a:endParaRPr lang="en-GB" altLang="en-US"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4E1D6659-D85F-9052-6164-E02605F45B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6F28D2B-6EDA-4E02-818D-946E4B168017}" type="slidenum">
              <a:rPr lang="en-GB" altLang="en-US" sz="1200"/>
              <a:pPr eaLnBrk="1" hangingPunct="1"/>
              <a:t>32</a:t>
            </a:fld>
            <a:endParaRPr lang="en-GB" altLang="en-US" sz="1200"/>
          </a:p>
        </p:txBody>
      </p:sp>
      <p:sp>
        <p:nvSpPr>
          <p:cNvPr id="121859" name="Rectangle 2">
            <a:extLst>
              <a:ext uri="{FF2B5EF4-FFF2-40B4-BE49-F238E27FC236}">
                <a16:creationId xmlns:a16="http://schemas.microsoft.com/office/drawing/2014/main" id="{0043763C-0763-0709-E28B-590BFAF6D7B7}"/>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8715636B-A403-97FA-BB80-B1B567E3CD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Any questions</a:t>
            </a:r>
          </a:p>
          <a:p>
            <a:pPr>
              <a:buFontTx/>
              <a:buChar char="•"/>
            </a:pPr>
            <a:r>
              <a:rPr lang="en-GB" altLang="en-US"/>
              <a:t>Now going to discuss static data and Transportation Network</a:t>
            </a:r>
          </a:p>
          <a:p>
            <a:pPr>
              <a:buFontTx/>
              <a:buChar char="•"/>
            </a:pPr>
            <a:r>
              <a:rPr lang="en-GB" altLang="en-US"/>
              <a:t>Introduce key concepts &amp; terminology</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BC8DAE3C-9135-B8B4-2E98-5BBE8B964BD2}"/>
              </a:ext>
            </a:extLst>
          </p:cNvPr>
          <p:cNvSpPr>
            <a:spLocks noGrp="1" noRot="1" noChangeAspect="1" noTextEdit="1"/>
          </p:cNvSpPr>
          <p:nvPr>
            <p:ph type="sldImg"/>
          </p:nvPr>
        </p:nvSpPr>
        <p:spPr>
          <a:ln/>
        </p:spPr>
      </p:sp>
      <p:sp>
        <p:nvSpPr>
          <p:cNvPr id="122883" name="Notes Placeholder 2">
            <a:extLst>
              <a:ext uri="{FF2B5EF4-FFF2-40B4-BE49-F238E27FC236}">
                <a16:creationId xmlns:a16="http://schemas.microsoft.com/office/drawing/2014/main" id="{5410858D-8B71-0CA3-E02E-E6B76A1A60A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used to set up and configure system and user defaults</a:t>
            </a:r>
          </a:p>
          <a:p>
            <a:pPr>
              <a:buFontTx/>
              <a:buChar char="•"/>
            </a:pPr>
            <a:r>
              <a:rPr lang="en-GB" altLang="en-US"/>
              <a:t>establish user security access.</a:t>
            </a:r>
          </a:p>
          <a:p>
            <a:pPr>
              <a:buFontTx/>
              <a:buChar char="•"/>
            </a:pPr>
            <a:r>
              <a:rPr lang="en-GB" altLang="en-US"/>
              <a:t>Maintain Static data</a:t>
            </a:r>
          </a:p>
          <a:p>
            <a:pPr>
              <a:buFontTx/>
              <a:buChar char="•"/>
            </a:pPr>
            <a:r>
              <a:rPr lang="en-GB" altLang="en-US"/>
              <a:t>Data Modelling</a:t>
            </a:r>
          </a:p>
          <a:p>
            <a:pPr>
              <a:buFontTx/>
              <a:buChar char="•"/>
            </a:pPr>
            <a:r>
              <a:rPr lang="en-GB" altLang="en-US"/>
              <a:t> This configuration process is typically done during implementation. Once system configuration has been completed, users or system administrators would only access these functions to make modifications or updates to the original configurations. </a:t>
            </a:r>
          </a:p>
        </p:txBody>
      </p:sp>
      <p:sp>
        <p:nvSpPr>
          <p:cNvPr id="122884" name="Slide Number Placeholder 3">
            <a:extLst>
              <a:ext uri="{FF2B5EF4-FFF2-40B4-BE49-F238E27FC236}">
                <a16:creationId xmlns:a16="http://schemas.microsoft.com/office/drawing/2014/main" id="{1A77CA74-4161-8240-2975-5EC9A34F67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15012E3-5B6A-46D8-B9C0-A0EDED708FAF}" type="slidenum">
              <a:rPr lang="en-GB" altLang="en-US" sz="1200"/>
              <a:pPr eaLnBrk="1" hangingPunct="1"/>
              <a:t>33</a:t>
            </a:fld>
            <a:endParaRPr lang="en-GB" alt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a:extLst>
              <a:ext uri="{FF2B5EF4-FFF2-40B4-BE49-F238E27FC236}">
                <a16:creationId xmlns:a16="http://schemas.microsoft.com/office/drawing/2014/main" id="{C71342F4-9CD5-3C71-209B-808D4C23663F}"/>
              </a:ext>
            </a:extLst>
          </p:cNvPr>
          <p:cNvSpPr>
            <a:spLocks noGrp="1" noRot="1" noChangeAspect="1" noTextEdit="1"/>
          </p:cNvSpPr>
          <p:nvPr>
            <p:ph type="sldImg"/>
          </p:nvPr>
        </p:nvSpPr>
        <p:spPr>
          <a:ln/>
        </p:spPr>
      </p:sp>
      <p:sp>
        <p:nvSpPr>
          <p:cNvPr id="123907" name="Notes Placeholder 2">
            <a:extLst>
              <a:ext uri="{FF2B5EF4-FFF2-40B4-BE49-F238E27FC236}">
                <a16:creationId xmlns:a16="http://schemas.microsoft.com/office/drawing/2014/main" id="{2E3443A4-4F7B-F3D5-16F4-36BDD84633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4" name="Slide Number Placeholder 3">
            <a:extLst>
              <a:ext uri="{FF2B5EF4-FFF2-40B4-BE49-F238E27FC236}">
                <a16:creationId xmlns:a16="http://schemas.microsoft.com/office/drawing/2014/main" id="{BC3D0C91-3A30-AC5F-DF6E-6EFB643E98FE}"/>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0C3542B-F9F6-4931-980E-7D43206AE4AC}" type="slidenum">
              <a:rPr lang="en-GB" altLang="en-US" sz="1200"/>
              <a:pPr eaLnBrk="1" hangingPunct="1"/>
              <a:t>34</a:t>
            </a:fld>
            <a:endParaRPr lang="en-GB" altLang="en-US"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a:extLst>
              <a:ext uri="{FF2B5EF4-FFF2-40B4-BE49-F238E27FC236}">
                <a16:creationId xmlns:a16="http://schemas.microsoft.com/office/drawing/2014/main" id="{918C87C9-6855-A754-8E3F-04FB86FF1ACF}"/>
              </a:ext>
            </a:extLst>
          </p:cNvPr>
          <p:cNvSpPr>
            <a:spLocks noGrp="1" noRot="1" noChangeAspect="1" noTextEdit="1"/>
          </p:cNvSpPr>
          <p:nvPr>
            <p:ph type="sldImg"/>
          </p:nvPr>
        </p:nvSpPr>
        <p:spPr>
          <a:ln/>
        </p:spPr>
      </p:sp>
      <p:sp>
        <p:nvSpPr>
          <p:cNvPr id="124931" name="Notes Placeholder 2">
            <a:extLst>
              <a:ext uri="{FF2B5EF4-FFF2-40B4-BE49-F238E27FC236}">
                <a16:creationId xmlns:a16="http://schemas.microsoft.com/office/drawing/2014/main" id="{FD17AF9C-A0EC-AFAB-C7C8-D9690A5632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a:p>
            <a:r>
              <a:rPr lang="en-GB" altLang="en-US" b="1"/>
              <a:t>Admin Manager Tab Descriptions 	</a:t>
            </a:r>
          </a:p>
          <a:p>
            <a:endParaRPr lang="en-GB" altLang="en-US" b="1"/>
          </a:p>
          <a:p>
            <a:r>
              <a:rPr lang="en-GB" altLang="en-US" b="1"/>
              <a:t>Although not all features may be presented in the training class, this training workbook discusses the more commonly used Administration functions in the General Administration, Security/System Administration, and Data Model Extension tabs. </a:t>
            </a:r>
          </a:p>
        </p:txBody>
      </p:sp>
      <p:sp>
        <p:nvSpPr>
          <p:cNvPr id="124932" name="Slide Number Placeholder 3">
            <a:extLst>
              <a:ext uri="{FF2B5EF4-FFF2-40B4-BE49-F238E27FC236}">
                <a16:creationId xmlns:a16="http://schemas.microsoft.com/office/drawing/2014/main" id="{7DC4F838-CD43-ACC9-5C6C-1B0419D700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3581135-3E01-4677-814D-B24341CA7FAC}" type="slidenum">
              <a:rPr lang="en-GB" altLang="en-US" sz="1200"/>
              <a:pPr eaLnBrk="1" hangingPunct="1"/>
              <a:t>35</a:t>
            </a:fld>
            <a:endParaRPr lang="en-GB" altLang="en-US"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a:extLst>
              <a:ext uri="{FF2B5EF4-FFF2-40B4-BE49-F238E27FC236}">
                <a16:creationId xmlns:a16="http://schemas.microsoft.com/office/drawing/2014/main" id="{579E11BD-CF3B-2B0A-2E96-2FC865FFF3D3}"/>
              </a:ext>
            </a:extLst>
          </p:cNvPr>
          <p:cNvSpPr>
            <a:spLocks noGrp="1" noRot="1" noChangeAspect="1" noTextEdit="1"/>
          </p:cNvSpPr>
          <p:nvPr>
            <p:ph type="sldImg"/>
          </p:nvPr>
        </p:nvSpPr>
        <p:spPr>
          <a:ln/>
        </p:spPr>
      </p:sp>
      <p:sp>
        <p:nvSpPr>
          <p:cNvPr id="125955" name="Notes Placeholder 2">
            <a:extLst>
              <a:ext uri="{FF2B5EF4-FFF2-40B4-BE49-F238E27FC236}">
                <a16:creationId xmlns:a16="http://schemas.microsoft.com/office/drawing/2014/main" id="{68257E52-B6F1-9DD1-C816-F00BEAAD2B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Broadcast Channel - Create channels through which the different system users can communicate.</a:t>
            </a:r>
          </a:p>
          <a:p>
            <a:endParaRPr lang="en-GB" altLang="en-US"/>
          </a:p>
          <a:p>
            <a:r>
              <a:rPr lang="en-GB" altLang="en-US"/>
              <a:t>Date Sequence - Create, view, and modify customized date sequences to establish “good trade days” within the system. A date sequence is a periodic sequence of dates generated by formulas as defined by system users. Modifying date sequences impacts market indexes and system pricing. Lets see page 6</a:t>
            </a:r>
          </a:p>
          <a:p>
            <a:endParaRPr lang="en-GB" altLang="en-US"/>
          </a:p>
          <a:p>
            <a:r>
              <a:rPr lang="en-GB" altLang="en-US"/>
              <a:t>Portfolio Groups - Portfolio Groups facilitate the authorization of instruments. Instruments are authorized for specific portfolio groups. When a new portfolio is added to a portfolio group, it may trade the instruments authorized for that portfolio group.</a:t>
            </a:r>
          </a:p>
          <a:p>
            <a:endParaRPr lang="en-GB" altLang="en-US"/>
          </a:p>
          <a:p>
            <a:r>
              <a:rPr lang="en-GB" altLang="en-US"/>
              <a:t>Printer Set-up - Users may set default printers which  system generated reports and other files will print to. </a:t>
            </a:r>
          </a:p>
          <a:p>
            <a:endParaRPr lang="en-GB" altLang="en-US"/>
          </a:p>
          <a:p>
            <a:r>
              <a:rPr lang="en-GB" altLang="en-US"/>
              <a:t>Purge Configuration - designed to enable clients to maintain as much or as little data necessary to meet their business needs. </a:t>
            </a:r>
          </a:p>
          <a:p>
            <a:endParaRPr lang="en-GB" altLang="en-US"/>
          </a:p>
          <a:p>
            <a:r>
              <a:rPr lang="en-GB" altLang="en-US"/>
              <a:t>Static Data - allows users to view and set up pick lists within the system. Lets see page 9</a:t>
            </a:r>
          </a:p>
          <a:p>
            <a:endParaRPr lang="en-GB" altLang="en-US"/>
          </a:p>
          <a:p>
            <a:r>
              <a:rPr lang="en-GB" altLang="en-US"/>
              <a:t>System Wide Configuration - allows a user to configure the environment variables for each user. </a:t>
            </a:r>
          </a:p>
          <a:p>
            <a:endParaRPr lang="en-GB" altLang="en-US"/>
          </a:p>
          <a:p>
            <a:r>
              <a:rPr lang="en-GB" altLang="en-US"/>
              <a:t>Unit conversion - converts units of weight, measure, or amounts. For example, gallons may be converted to barrels and vice versa. Both the units and the conversion rates are set up in the Admin Manager. Units are used in market price curves (projection indexes). Lets see page 12</a:t>
            </a:r>
          </a:p>
        </p:txBody>
      </p:sp>
      <p:sp>
        <p:nvSpPr>
          <p:cNvPr id="125956" name="Slide Number Placeholder 3">
            <a:extLst>
              <a:ext uri="{FF2B5EF4-FFF2-40B4-BE49-F238E27FC236}">
                <a16:creationId xmlns:a16="http://schemas.microsoft.com/office/drawing/2014/main" id="{8F09740B-1838-28EB-D0AC-8E555FB9EE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234D0BE9-44D5-463B-BA06-35C30C9CB9D1}" type="slidenum">
              <a:rPr lang="en-GB" altLang="en-US" sz="1200"/>
              <a:pPr eaLnBrk="1" hangingPunct="1"/>
              <a:t>36</a:t>
            </a:fld>
            <a:endParaRPr lang="en-GB" altLang="en-US"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a:extLst>
              <a:ext uri="{FF2B5EF4-FFF2-40B4-BE49-F238E27FC236}">
                <a16:creationId xmlns:a16="http://schemas.microsoft.com/office/drawing/2014/main" id="{6FAEE128-7645-226E-26C7-4120943A3BF2}"/>
              </a:ext>
            </a:extLst>
          </p:cNvPr>
          <p:cNvSpPr>
            <a:spLocks noGrp="1" noRot="1" noChangeAspect="1" noTextEdit="1"/>
          </p:cNvSpPr>
          <p:nvPr>
            <p:ph type="sldImg"/>
          </p:nvPr>
        </p:nvSpPr>
        <p:spPr>
          <a:ln/>
        </p:spPr>
      </p:sp>
      <p:sp>
        <p:nvSpPr>
          <p:cNvPr id="126979" name="Notes Placeholder 2">
            <a:extLst>
              <a:ext uri="{FF2B5EF4-FFF2-40B4-BE49-F238E27FC236}">
                <a16:creationId xmlns:a16="http://schemas.microsoft.com/office/drawing/2014/main" id="{B1A8E4A7-ADAD-F9EA-9CED-F715EB065DC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Activity Audit - allows administrators to log and view all activities performed in the System by its users. </a:t>
            </a:r>
          </a:p>
          <a:p>
            <a:endParaRPr lang="en-GB" altLang="en-US"/>
          </a:p>
          <a:p>
            <a:r>
              <a:rPr lang="en-GB" altLang="en-US"/>
              <a:t>Error Log &amp; Console Viewer -  allows users to track errors encountered while using Endur. This module is helpful in troubleshooting technical problems. </a:t>
            </a:r>
          </a:p>
          <a:p>
            <a:endParaRPr lang="en-GB" altLang="en-US"/>
          </a:p>
          <a:p>
            <a:r>
              <a:rPr lang="en-GB" altLang="en-US"/>
              <a:t>Password Modification – allows users to modify and expire passwords. </a:t>
            </a:r>
          </a:p>
          <a:p>
            <a:endParaRPr lang="en-GB" altLang="en-US"/>
          </a:p>
          <a:p>
            <a:r>
              <a:rPr lang="en-GB" altLang="en-US"/>
              <a:t>Security Groups – Maintains users’ access to system features and functions.  Lets see page 21.</a:t>
            </a:r>
          </a:p>
          <a:p>
            <a:endParaRPr lang="en-GB" altLang="en-US"/>
          </a:p>
          <a:p>
            <a:r>
              <a:rPr lang="en-GB" altLang="en-US"/>
              <a:t>System Shutdown - allows authorized users to shut down the system. </a:t>
            </a:r>
          </a:p>
          <a:p>
            <a:endParaRPr lang="en-GB" altLang="en-US"/>
          </a:p>
        </p:txBody>
      </p:sp>
      <p:sp>
        <p:nvSpPr>
          <p:cNvPr id="126980" name="Slide Number Placeholder 3">
            <a:extLst>
              <a:ext uri="{FF2B5EF4-FFF2-40B4-BE49-F238E27FC236}">
                <a16:creationId xmlns:a16="http://schemas.microsoft.com/office/drawing/2014/main" id="{81A3EA31-EEA1-3BAF-36EB-A020C411B0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F44F38E8-646D-4262-86D1-C48ECE068202}" type="slidenum">
              <a:rPr lang="en-GB" altLang="en-US" sz="1200"/>
              <a:pPr eaLnBrk="1" hangingPunct="1"/>
              <a:t>37</a:t>
            </a:fld>
            <a:endParaRPr lang="en-GB" altLang="en-US"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a:extLst>
              <a:ext uri="{FF2B5EF4-FFF2-40B4-BE49-F238E27FC236}">
                <a16:creationId xmlns:a16="http://schemas.microsoft.com/office/drawing/2014/main" id="{6BDE798E-4F00-F414-4537-BC0EEC14353D}"/>
              </a:ext>
            </a:extLst>
          </p:cNvPr>
          <p:cNvSpPr>
            <a:spLocks noGrp="1" noRot="1" noChangeAspect="1" noTextEdit="1"/>
          </p:cNvSpPr>
          <p:nvPr>
            <p:ph type="sldImg"/>
          </p:nvPr>
        </p:nvSpPr>
        <p:spPr>
          <a:ln/>
        </p:spPr>
      </p:sp>
      <p:sp>
        <p:nvSpPr>
          <p:cNvPr id="128003" name="Notes Placeholder 2">
            <a:extLst>
              <a:ext uri="{FF2B5EF4-FFF2-40B4-BE49-F238E27FC236}">
                <a16:creationId xmlns:a16="http://schemas.microsoft.com/office/drawing/2014/main" id="{F6A230AE-1514-DB69-D25C-1A97E14AC0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Adhoc Query - displays system data or user data, stored in database tables. It also shows the structure of the tables, including key fields and indexes. </a:t>
            </a:r>
          </a:p>
          <a:p>
            <a:endParaRPr lang="en-GB" altLang="en-US"/>
          </a:p>
          <a:p>
            <a:r>
              <a:rPr lang="en-GB" altLang="en-US"/>
              <a:t>Index Info - user-defined fields that feed to the Market Manager. They may apply to all curves types or specific markets. </a:t>
            </a:r>
          </a:p>
          <a:p>
            <a:endParaRPr lang="en-GB" altLang="en-US"/>
          </a:p>
          <a:p>
            <a:r>
              <a:rPr lang="en-GB" altLang="en-US"/>
              <a:t>Instrument Builder - allows authorized users to create customized reference fields for use with trades. These new fields may be used on a transaction or on an instrument basis.</a:t>
            </a:r>
          </a:p>
          <a:p>
            <a:pPr lvl="1">
              <a:buFontTx/>
              <a:buChar char="•"/>
            </a:pPr>
            <a:r>
              <a:rPr lang="en-GB" altLang="en-US"/>
              <a:t>Tran Info Fields - define custom field labels for specific instruments and toolsets 	</a:t>
            </a:r>
          </a:p>
          <a:p>
            <a:pPr lvl="1">
              <a:buFontTx/>
              <a:buChar char="•"/>
            </a:pPr>
            <a:r>
              <a:rPr lang="en-GB" altLang="en-US"/>
              <a:t>Tran Field Notifications - add custom logic on specified fields on a transaction 	</a:t>
            </a:r>
          </a:p>
          <a:p>
            <a:pPr lvl="1">
              <a:buFontTx/>
              <a:buChar char="•"/>
            </a:pPr>
            <a:r>
              <a:rPr lang="en-GB" altLang="en-US"/>
              <a:t>User Defined Instruments  - define your own instrument type 	</a:t>
            </a:r>
          </a:p>
          <a:p>
            <a:pPr lvl="1">
              <a:buFontTx/>
              <a:buChar char="•"/>
            </a:pPr>
            <a:r>
              <a:rPr lang="en-GB" altLang="en-US"/>
              <a:t>User Defined Events  - create a custom event 	</a:t>
            </a:r>
          </a:p>
          <a:p>
            <a:pPr lvl="1">
              <a:buFontTx/>
              <a:buChar char="•"/>
            </a:pPr>
            <a:r>
              <a:rPr lang="en-GB" altLang="en-US"/>
              <a:t>Operation Services  - Customize the processing of transactions. </a:t>
            </a:r>
          </a:p>
          <a:p>
            <a:r>
              <a:rPr lang="en-GB" altLang="en-US"/>
              <a:t>Let’s see page 26.</a:t>
            </a:r>
          </a:p>
          <a:p>
            <a:endParaRPr lang="en-GB" altLang="en-US"/>
          </a:p>
        </p:txBody>
      </p:sp>
      <p:sp>
        <p:nvSpPr>
          <p:cNvPr id="128004" name="Slide Number Placeholder 3">
            <a:extLst>
              <a:ext uri="{FF2B5EF4-FFF2-40B4-BE49-F238E27FC236}">
                <a16:creationId xmlns:a16="http://schemas.microsoft.com/office/drawing/2014/main" id="{A7BB7DB0-C4BD-9CD7-492F-22E2E8DD80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2F35293-526E-4DFB-A1D4-7FEA04BFE22B}" type="slidenum">
              <a:rPr lang="en-GB" altLang="en-US" sz="1200"/>
              <a:pPr eaLnBrk="1" hangingPunct="1"/>
              <a:t>38</a:t>
            </a:fld>
            <a:endParaRPr lang="en-GB" altLang="en-US"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a:extLst>
              <a:ext uri="{FF2B5EF4-FFF2-40B4-BE49-F238E27FC236}">
                <a16:creationId xmlns:a16="http://schemas.microsoft.com/office/drawing/2014/main" id="{0434CE4C-363F-F024-89F3-D1C6A5520A11}"/>
              </a:ext>
            </a:extLst>
          </p:cNvPr>
          <p:cNvSpPr>
            <a:spLocks noGrp="1" noRot="1" noChangeAspect="1" noTextEdit="1"/>
          </p:cNvSpPr>
          <p:nvPr>
            <p:ph type="sldImg"/>
          </p:nvPr>
        </p:nvSpPr>
        <p:spPr>
          <a:ln/>
        </p:spPr>
      </p:sp>
      <p:sp>
        <p:nvSpPr>
          <p:cNvPr id="129027" name="Notes Placeholder 2">
            <a:extLst>
              <a:ext uri="{FF2B5EF4-FFF2-40B4-BE49-F238E27FC236}">
                <a16:creationId xmlns:a16="http://schemas.microsoft.com/office/drawing/2014/main" id="{C87BD288-8416-9318-8222-05460BEAAE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129028" name="Slide Number Placeholder 3">
            <a:extLst>
              <a:ext uri="{FF2B5EF4-FFF2-40B4-BE49-F238E27FC236}">
                <a16:creationId xmlns:a16="http://schemas.microsoft.com/office/drawing/2014/main" id="{175ACAD8-090C-6551-7A35-A871182BE3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BE5DAEA3-1BC3-467B-8116-6F28C9413D60}" type="slidenum">
              <a:rPr lang="en-GB" altLang="en-US" sz="1200"/>
              <a:pPr eaLnBrk="1" hangingPunct="1"/>
              <a:t>39</a:t>
            </a:fld>
            <a:endParaRPr lang="en-GB" altLang="en-US"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E8209615-7FB0-B643-9C9B-0F63DAD400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0DC6E29D-9E99-410A-90A7-184CA0AD8D70}" type="slidenum">
              <a:rPr lang="en-GB" altLang="en-US" sz="1200"/>
              <a:pPr eaLnBrk="1" hangingPunct="1"/>
              <a:t>40</a:t>
            </a:fld>
            <a:endParaRPr lang="en-GB" altLang="en-US" sz="1200"/>
          </a:p>
        </p:txBody>
      </p:sp>
      <p:sp>
        <p:nvSpPr>
          <p:cNvPr id="130051" name="Rectangle 2">
            <a:extLst>
              <a:ext uri="{FF2B5EF4-FFF2-40B4-BE49-F238E27FC236}">
                <a16:creationId xmlns:a16="http://schemas.microsoft.com/office/drawing/2014/main" id="{23DD9EA6-7DCF-C757-77FA-1A44321BDF65}"/>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78DA82B7-821F-624A-374F-21E544EB3F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endParaRPr lang="en-GB"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a:extLst>
              <a:ext uri="{FF2B5EF4-FFF2-40B4-BE49-F238E27FC236}">
                <a16:creationId xmlns:a16="http://schemas.microsoft.com/office/drawing/2014/main" id="{92D54F88-7F7A-E559-D408-5A10A746EE23}"/>
              </a:ext>
            </a:extLst>
          </p:cNvPr>
          <p:cNvSpPr>
            <a:spLocks noGrp="1" noRot="1" noChangeAspect="1" noTextEdit="1"/>
          </p:cNvSpPr>
          <p:nvPr>
            <p:ph type="sldImg"/>
          </p:nvPr>
        </p:nvSpPr>
        <p:spPr>
          <a:ln/>
        </p:spPr>
      </p:sp>
      <p:sp>
        <p:nvSpPr>
          <p:cNvPr id="131075" name="Notes Placeholder 2">
            <a:extLst>
              <a:ext uri="{FF2B5EF4-FFF2-40B4-BE49-F238E27FC236}">
                <a16:creationId xmlns:a16="http://schemas.microsoft.com/office/drawing/2014/main" id="{0DBBA2B0-A2AD-0DAC-0BAE-C70F11CC97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a:p>
            <a:r>
              <a:rPr lang="en-GB" altLang="en-US"/>
              <a:t>1 Party - Represents the internal groups within your organization and the external ones such as counterparties or brokers </a:t>
            </a:r>
          </a:p>
          <a:p>
            <a:endParaRPr lang="en-GB" altLang="en-US"/>
          </a:p>
          <a:p>
            <a:r>
              <a:rPr lang="en-GB" altLang="en-US"/>
              <a:t>2 Personnel - Employees within a party </a:t>
            </a:r>
          </a:p>
          <a:p>
            <a:endParaRPr lang="en-GB" altLang="en-US"/>
          </a:p>
          <a:p>
            <a:r>
              <a:rPr lang="en-GB" altLang="en-US"/>
              <a:t>3 Portfolios - Books which the internal parties trade for. </a:t>
            </a:r>
          </a:p>
          <a:p>
            <a:endParaRPr lang="en-GB" altLang="en-US"/>
          </a:p>
        </p:txBody>
      </p:sp>
      <p:sp>
        <p:nvSpPr>
          <p:cNvPr id="4" name="Slide Number Placeholder 3">
            <a:extLst>
              <a:ext uri="{FF2B5EF4-FFF2-40B4-BE49-F238E27FC236}">
                <a16:creationId xmlns:a16="http://schemas.microsoft.com/office/drawing/2014/main" id="{B35D9E5F-4F54-B6EA-C3D3-E9841BFC4726}"/>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D60A9B1-4543-4276-813A-AAD0520DD8B3}" type="slidenum">
              <a:rPr lang="en-GB" altLang="en-US" sz="1200"/>
              <a:pPr eaLnBrk="1" hangingPunct="1"/>
              <a:t>41</a:t>
            </a:fld>
            <a:endParaRPr lang="en-GB" altLang="en-US"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126A59F7-4167-6858-D7FE-1FEBB6B638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2D8DA759-6349-4B65-A523-F26E61F8F0E8}" type="slidenum">
              <a:rPr lang="en-GB" altLang="en-US" sz="1200"/>
              <a:pPr eaLnBrk="1" hangingPunct="1"/>
              <a:t>42</a:t>
            </a:fld>
            <a:endParaRPr lang="en-GB" altLang="en-US" sz="1200"/>
          </a:p>
        </p:txBody>
      </p:sp>
      <p:sp>
        <p:nvSpPr>
          <p:cNvPr id="132099" name="Rectangle 2">
            <a:extLst>
              <a:ext uri="{FF2B5EF4-FFF2-40B4-BE49-F238E27FC236}">
                <a16:creationId xmlns:a16="http://schemas.microsoft.com/office/drawing/2014/main" id="{E438B73C-E474-546A-9A43-A1A85F7508DE}"/>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CDF8F5AB-77FF-5D68-E13E-BC02875D7F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Portfolios represent a Trader’s “book” structure. Once portfolios are created, they are linked to both personnel and the Business Unit and Legal Entity of the Party Group. Let’s see page 2.</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4E3B2513-2CCF-2A83-FAED-48E7E2C80D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801426A2-FB40-46C5-8D3C-3BAFFA0D6104}" type="slidenum">
              <a:rPr lang="en-GB" altLang="en-US" sz="1200"/>
              <a:pPr eaLnBrk="1" hangingPunct="1"/>
              <a:t>43</a:t>
            </a:fld>
            <a:endParaRPr lang="en-GB" altLang="en-US" sz="1200"/>
          </a:p>
        </p:txBody>
      </p:sp>
      <p:sp>
        <p:nvSpPr>
          <p:cNvPr id="133123" name="Rectangle 2">
            <a:extLst>
              <a:ext uri="{FF2B5EF4-FFF2-40B4-BE49-F238E27FC236}">
                <a16:creationId xmlns:a16="http://schemas.microsoft.com/office/drawing/2014/main" id="{FA6777A3-1F27-F104-A9C3-707512A0B023}"/>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1ECA22F7-9E76-8B56-983C-F341DC5FD9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 next step in the trading process is to grant personnel access to trade within the party groups and portfolios. There are three types of users in the system: external, internal and licensed users.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a:extLst>
              <a:ext uri="{FF2B5EF4-FFF2-40B4-BE49-F238E27FC236}">
                <a16:creationId xmlns:a16="http://schemas.microsoft.com/office/drawing/2014/main" id="{88DBAFD4-C388-4E16-EC2D-8FE0C187F98B}"/>
              </a:ext>
            </a:extLst>
          </p:cNvPr>
          <p:cNvSpPr>
            <a:spLocks noGrp="1" noRot="1" noChangeAspect="1" noTextEdit="1"/>
          </p:cNvSpPr>
          <p:nvPr>
            <p:ph type="sldImg"/>
          </p:nvPr>
        </p:nvSpPr>
        <p:spPr>
          <a:ln/>
        </p:spPr>
      </p:sp>
      <p:sp>
        <p:nvSpPr>
          <p:cNvPr id="134147" name="Notes Placeholder 2">
            <a:extLst>
              <a:ext uri="{FF2B5EF4-FFF2-40B4-BE49-F238E27FC236}">
                <a16:creationId xmlns:a16="http://schemas.microsoft.com/office/drawing/2014/main" id="{6A467A33-7537-4019-C040-09640D3DF1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4" name="Slide Number Placeholder 3">
            <a:extLst>
              <a:ext uri="{FF2B5EF4-FFF2-40B4-BE49-F238E27FC236}">
                <a16:creationId xmlns:a16="http://schemas.microsoft.com/office/drawing/2014/main" id="{BAC655E6-2730-0BAF-8609-4EE394EB5E4F}"/>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67513563-527A-499A-A68F-401AA675D42E}" type="slidenum">
              <a:rPr lang="en-GB" altLang="en-US" sz="1200"/>
              <a:pPr eaLnBrk="1" hangingPunct="1"/>
              <a:t>44</a:t>
            </a:fld>
            <a:endParaRPr lang="en-GB" altLang="en-US"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a:extLst>
              <a:ext uri="{FF2B5EF4-FFF2-40B4-BE49-F238E27FC236}">
                <a16:creationId xmlns:a16="http://schemas.microsoft.com/office/drawing/2014/main" id="{5C15FBD8-974C-3492-51E2-1B03F81539E7}"/>
              </a:ext>
            </a:extLst>
          </p:cNvPr>
          <p:cNvSpPr>
            <a:spLocks noGrp="1" noRot="1" noChangeAspect="1" noTextEdit="1"/>
          </p:cNvSpPr>
          <p:nvPr>
            <p:ph type="sldImg"/>
          </p:nvPr>
        </p:nvSpPr>
        <p:spPr>
          <a:ln/>
        </p:spPr>
      </p:sp>
      <p:sp>
        <p:nvSpPr>
          <p:cNvPr id="135171" name="Notes Placeholder 2">
            <a:extLst>
              <a:ext uri="{FF2B5EF4-FFF2-40B4-BE49-F238E27FC236}">
                <a16:creationId xmlns:a16="http://schemas.microsoft.com/office/drawing/2014/main" id="{73A49565-8DB6-44DB-473A-2E120CEF0B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a:r>
              <a:rPr lang="en-GB" altLang="en-US"/>
              <a:t>Party Group - Represents the entire corporate structure. It is the parent of the legal entities and business units. Party Groups are created individually within the system. They can be internal or external. The internal party group is the structure of your organization while external party groups might be counterparties or brokers. Party groups are made up of :</a:t>
            </a:r>
          </a:p>
          <a:p>
            <a:endParaRPr lang="en-GB" altLang="en-US"/>
          </a:p>
          <a:p>
            <a:pPr lvl="1"/>
            <a:r>
              <a:rPr lang="en-GB" altLang="en-US"/>
              <a:t>Legal Entity - Handles the legal aspects of the organization, such as contractual obligations and party agreements. </a:t>
            </a:r>
          </a:p>
          <a:p>
            <a:pPr lvl="1"/>
            <a:r>
              <a:rPr lang="en-GB" altLang="en-US"/>
              <a:t>Business Unit - Represents the functional area of the party group (such as a trading desk, settlement office, bank branch, or exchange pit). </a:t>
            </a:r>
          </a:p>
          <a:p>
            <a:pPr lvl="1"/>
            <a:r>
              <a:rPr lang="en-GB" altLang="en-US"/>
              <a:t>Let’s see page 13. Please note that a default BU &amp; LE is automatically created when creating a Party group if the ‘</a:t>
            </a:r>
            <a:r>
              <a:rPr lang="en-GB" altLang="en-US" b="1"/>
              <a:t>Create Default BU &amp; LE’ </a:t>
            </a:r>
            <a:r>
              <a:rPr lang="en-GB" altLang="en-US"/>
              <a:t>option is selected</a:t>
            </a:r>
            <a:r>
              <a:rPr lang="en-GB" altLang="en-US" b="1" i="1"/>
              <a:t>. </a:t>
            </a:r>
            <a:r>
              <a:rPr lang="en-GB" altLang="en-US"/>
              <a:t> </a:t>
            </a:r>
          </a:p>
          <a:p>
            <a:endParaRPr lang="en-GB" altLang="en-US"/>
          </a:p>
        </p:txBody>
      </p:sp>
      <p:sp>
        <p:nvSpPr>
          <p:cNvPr id="4" name="Slide Number Placeholder 3">
            <a:extLst>
              <a:ext uri="{FF2B5EF4-FFF2-40B4-BE49-F238E27FC236}">
                <a16:creationId xmlns:a16="http://schemas.microsoft.com/office/drawing/2014/main" id="{BB5C5820-1FCA-927F-6A87-6F63C1A0CE38}"/>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D7A27F1A-E30B-4BF5-95AC-185CD1E2A3F2}" type="slidenum">
              <a:rPr lang="en-GB" altLang="en-US" sz="1200"/>
              <a:pPr eaLnBrk="1" hangingPunct="1"/>
              <a:t>45</a:t>
            </a:fld>
            <a:endParaRPr lang="en-GB" altLang="en-US"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a:extLst>
              <a:ext uri="{FF2B5EF4-FFF2-40B4-BE49-F238E27FC236}">
                <a16:creationId xmlns:a16="http://schemas.microsoft.com/office/drawing/2014/main" id="{8395F372-75C7-2730-DFEF-4301921512E9}"/>
              </a:ext>
            </a:extLst>
          </p:cNvPr>
          <p:cNvSpPr>
            <a:spLocks noGrp="1" noRot="1" noChangeAspect="1" noTextEdit="1"/>
          </p:cNvSpPr>
          <p:nvPr>
            <p:ph type="sldImg"/>
          </p:nvPr>
        </p:nvSpPr>
        <p:spPr>
          <a:ln/>
        </p:spPr>
      </p:sp>
      <p:sp>
        <p:nvSpPr>
          <p:cNvPr id="136195" name="Notes Placeholder 2">
            <a:extLst>
              <a:ext uri="{FF2B5EF4-FFF2-40B4-BE49-F238E27FC236}">
                <a16:creationId xmlns:a16="http://schemas.microsoft.com/office/drawing/2014/main" id="{586CEFE6-FC30-7481-0394-76407C9270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32B503AE-99A6-91D9-9593-065342E13033}"/>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4DA5E870-9A09-4562-84E7-FA7CCABEDED6}" type="slidenum">
              <a:rPr lang="en-GB" altLang="en-US" sz="1200"/>
              <a:pPr eaLnBrk="1" hangingPunct="1"/>
              <a:t>46</a:t>
            </a:fld>
            <a:endParaRPr lang="en-GB" altLang="en-US" sz="12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FCC467EB-7321-633F-CD2C-45CB6056CD4D}"/>
              </a:ext>
            </a:extLst>
          </p:cNvPr>
          <p:cNvSpPr>
            <a:spLocks noGrp="1" noRot="1" noChangeAspect="1" noTextEdit="1"/>
          </p:cNvSpPr>
          <p:nvPr>
            <p:ph type="sldImg"/>
          </p:nvPr>
        </p:nvSpPr>
        <p:spPr>
          <a:ln/>
        </p:spPr>
      </p:sp>
      <p:sp>
        <p:nvSpPr>
          <p:cNvPr id="137219" name="Notes Placeholder 2">
            <a:extLst>
              <a:ext uri="{FF2B5EF4-FFF2-40B4-BE49-F238E27FC236}">
                <a16:creationId xmlns:a16="http://schemas.microsoft.com/office/drawing/2014/main" id="{4B1AD9AA-5069-6933-6EF0-FC0EFF6043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In order for trading to occur, several pieces of information must be established within the Party Group. Each one of these components will be linked to the Party Group:</a:t>
            </a:r>
          </a:p>
          <a:p>
            <a:r>
              <a:rPr lang="en-GB" altLang="en-US"/>
              <a:t>Creating a Account </a:t>
            </a:r>
          </a:p>
          <a:p>
            <a:endParaRPr lang="en-GB" altLang="en-US"/>
          </a:p>
          <a:p>
            <a:r>
              <a:rPr lang="en-GB" altLang="en-US"/>
              <a:t>Creating Settlement Instructions </a:t>
            </a:r>
          </a:p>
          <a:p>
            <a:endParaRPr lang="en-GB" altLang="en-US"/>
          </a:p>
          <a:p>
            <a:r>
              <a:rPr lang="en-GB" altLang="en-US"/>
              <a:t>Creating a Party Agreement and Agreement Conditions </a:t>
            </a:r>
          </a:p>
          <a:p>
            <a:endParaRPr lang="en-GB" altLang="en-US"/>
          </a:p>
          <a:p>
            <a:r>
              <a:rPr lang="en-GB" altLang="en-US"/>
              <a:t>Let’s see pages 14-20</a:t>
            </a:r>
          </a:p>
        </p:txBody>
      </p:sp>
      <p:sp>
        <p:nvSpPr>
          <p:cNvPr id="4" name="Slide Number Placeholder 3">
            <a:extLst>
              <a:ext uri="{FF2B5EF4-FFF2-40B4-BE49-F238E27FC236}">
                <a16:creationId xmlns:a16="http://schemas.microsoft.com/office/drawing/2014/main" id="{5C914A6D-251D-6D2D-18FE-1D45E30F568F}"/>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085A24B-38F4-4BEC-8ABC-3F4F90FAE8D9}" type="slidenum">
              <a:rPr lang="en-GB" altLang="en-US" sz="1200"/>
              <a:pPr eaLnBrk="1" hangingPunct="1"/>
              <a:t>47</a:t>
            </a:fld>
            <a:endParaRPr lang="en-GB" altLang="en-US" sz="12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a16="http://schemas.microsoft.com/office/drawing/2014/main" id="{8ED939E3-6883-23BC-CC93-E64490A123F1}"/>
              </a:ext>
            </a:extLst>
          </p:cNvPr>
          <p:cNvSpPr>
            <a:spLocks noGrp="1" noRot="1" noChangeAspect="1" noTextEdit="1"/>
          </p:cNvSpPr>
          <p:nvPr>
            <p:ph type="sldImg"/>
          </p:nvPr>
        </p:nvSpPr>
        <p:spPr>
          <a:ln/>
        </p:spPr>
      </p:sp>
      <p:sp>
        <p:nvSpPr>
          <p:cNvPr id="138243" name="Notes Placeholder 2">
            <a:extLst>
              <a:ext uri="{FF2B5EF4-FFF2-40B4-BE49-F238E27FC236}">
                <a16:creationId xmlns:a16="http://schemas.microsoft.com/office/drawing/2014/main" id="{9ADA2F91-6BC1-7346-D000-4F119370D3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 Business Unit is the functional areas within a firm, such as a trading desk, settlement office, bank branch, or exchange pit. The business unit must be Linked or assigned to settlement instructions, accounts, portfolio information, business unit personnel, legal entity, third party delivery codes, and events documents. </a:t>
            </a:r>
          </a:p>
          <a:p>
            <a:endParaRPr lang="en-GB" altLang="en-US"/>
          </a:p>
          <a:p>
            <a:pPr>
              <a:buFontTx/>
              <a:buChar char="•"/>
            </a:pPr>
            <a:r>
              <a:rPr lang="en-GB" altLang="en-US"/>
              <a:t>Address </a:t>
            </a:r>
          </a:p>
          <a:p>
            <a:pPr>
              <a:buFontTx/>
              <a:buChar char="•"/>
            </a:pPr>
            <a:r>
              <a:rPr lang="en-GB" altLang="en-US"/>
              <a:t>Notes </a:t>
            </a:r>
          </a:p>
          <a:p>
            <a:pPr>
              <a:buFontTx/>
              <a:buChar char="•"/>
            </a:pPr>
            <a:r>
              <a:rPr lang="en-GB" altLang="en-US"/>
              <a:t>Settlement Instructions </a:t>
            </a:r>
          </a:p>
          <a:p>
            <a:pPr>
              <a:buFontTx/>
              <a:buChar char="•"/>
            </a:pPr>
            <a:r>
              <a:rPr lang="en-GB" altLang="en-US"/>
              <a:t>Portfolios</a:t>
            </a:r>
          </a:p>
          <a:p>
            <a:pPr>
              <a:buFontTx/>
              <a:buChar char="•"/>
            </a:pPr>
            <a:r>
              <a:rPr lang="en-GB" altLang="en-US"/>
              <a:t>Authorized users</a:t>
            </a:r>
          </a:p>
          <a:p>
            <a:pPr>
              <a:buFontTx/>
              <a:buChar char="•"/>
            </a:pPr>
            <a:r>
              <a:rPr lang="en-GB" altLang="en-US"/>
              <a:t>Accounts</a:t>
            </a:r>
          </a:p>
          <a:p>
            <a:pPr>
              <a:buFontTx/>
              <a:buChar char="•"/>
            </a:pPr>
            <a:r>
              <a:rPr lang="en-GB" altLang="en-US"/>
              <a:t>Legal entities</a:t>
            </a:r>
          </a:p>
          <a:p>
            <a:pPr>
              <a:buFontTx/>
              <a:buChar char="•"/>
            </a:pPr>
            <a:r>
              <a:rPr lang="en-GB" altLang="en-US"/>
              <a:t>Third party delivery codes</a:t>
            </a:r>
          </a:p>
          <a:p>
            <a:pPr>
              <a:buFontTx/>
              <a:buChar char="•"/>
            </a:pPr>
            <a:r>
              <a:rPr lang="en-GB" altLang="en-US"/>
              <a:t>Broker Commissions</a:t>
            </a:r>
          </a:p>
          <a:p>
            <a:endParaRPr lang="en-GB" altLang="en-US"/>
          </a:p>
          <a:p>
            <a:r>
              <a:rPr lang="en-GB" altLang="en-US"/>
              <a:t>Let’s see page 21</a:t>
            </a:r>
          </a:p>
        </p:txBody>
      </p:sp>
      <p:sp>
        <p:nvSpPr>
          <p:cNvPr id="4" name="Slide Number Placeholder 3">
            <a:extLst>
              <a:ext uri="{FF2B5EF4-FFF2-40B4-BE49-F238E27FC236}">
                <a16:creationId xmlns:a16="http://schemas.microsoft.com/office/drawing/2014/main" id="{86CE2BF8-EC34-D992-9270-88ED8B552164}"/>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518C774-B37A-47DC-8941-181D89ECDA9A}" type="slidenum">
              <a:rPr lang="en-GB" altLang="en-US" sz="1200"/>
              <a:pPr eaLnBrk="1" hangingPunct="1"/>
              <a:t>48</a:t>
            </a:fld>
            <a:endParaRPr lang="en-GB" altLang="en-US" sz="12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a:extLst>
              <a:ext uri="{FF2B5EF4-FFF2-40B4-BE49-F238E27FC236}">
                <a16:creationId xmlns:a16="http://schemas.microsoft.com/office/drawing/2014/main" id="{F4F1A793-A7AF-DD8C-D880-C796B033D5E8}"/>
              </a:ext>
            </a:extLst>
          </p:cNvPr>
          <p:cNvSpPr>
            <a:spLocks noGrp="1" noRot="1" noChangeAspect="1" noTextEdit="1"/>
          </p:cNvSpPr>
          <p:nvPr>
            <p:ph type="sldImg"/>
          </p:nvPr>
        </p:nvSpPr>
        <p:spPr>
          <a:ln/>
        </p:spPr>
      </p:sp>
      <p:sp>
        <p:nvSpPr>
          <p:cNvPr id="139267" name="Notes Placeholder 2">
            <a:extLst>
              <a:ext uri="{FF2B5EF4-FFF2-40B4-BE49-F238E27FC236}">
                <a16:creationId xmlns:a16="http://schemas.microsoft.com/office/drawing/2014/main" id="{E05F4296-6DAA-11C1-3937-75C09262DFA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 Legal Entity handles the contractual obligations of the Party Group.</a:t>
            </a:r>
          </a:p>
          <a:p>
            <a:pPr>
              <a:buFontTx/>
              <a:buChar char="•"/>
            </a:pPr>
            <a:r>
              <a:rPr lang="en-GB" altLang="en-US"/>
              <a:t> Address </a:t>
            </a:r>
          </a:p>
          <a:p>
            <a:pPr>
              <a:buFontTx/>
              <a:buChar char="•"/>
            </a:pPr>
            <a:r>
              <a:rPr lang="en-GB" altLang="en-US"/>
              <a:t>Notes </a:t>
            </a:r>
          </a:p>
          <a:p>
            <a:pPr>
              <a:buFontTx/>
              <a:buChar char="•"/>
            </a:pPr>
            <a:r>
              <a:rPr lang="en-GB" altLang="en-US"/>
              <a:t>Personnel</a:t>
            </a:r>
          </a:p>
          <a:p>
            <a:pPr>
              <a:buFontTx/>
              <a:buChar char="•"/>
            </a:pPr>
            <a:r>
              <a:rPr lang="en-GB" altLang="en-US"/>
              <a:t>Party Agreement</a:t>
            </a:r>
          </a:p>
          <a:p>
            <a:pPr>
              <a:buFontTx/>
              <a:buChar char="•"/>
            </a:pPr>
            <a:r>
              <a:rPr lang="en-GB" altLang="en-US"/>
              <a:t>Credit Information</a:t>
            </a:r>
          </a:p>
          <a:p>
            <a:pPr>
              <a:buFontTx/>
              <a:buChar char="•"/>
            </a:pPr>
            <a:r>
              <a:rPr lang="en-GB" altLang="en-US"/>
              <a:t>Credit Rating</a:t>
            </a:r>
          </a:p>
          <a:p>
            <a:pPr>
              <a:buFontTx/>
              <a:buChar char="•"/>
            </a:pPr>
            <a:r>
              <a:rPr lang="en-GB" altLang="en-US"/>
              <a:t>Business units</a:t>
            </a:r>
          </a:p>
          <a:p>
            <a:pPr>
              <a:buFontTx/>
              <a:buChar char="•"/>
            </a:pPr>
            <a:r>
              <a:rPr lang="en-GB" altLang="en-US"/>
              <a:t>Delivery code</a:t>
            </a:r>
          </a:p>
          <a:p>
            <a:pPr>
              <a:buFontTx/>
              <a:buChar char="•"/>
            </a:pPr>
            <a:r>
              <a:rPr lang="en-GB" altLang="en-US"/>
              <a:t>Party information</a:t>
            </a:r>
          </a:p>
          <a:p>
            <a:endParaRPr lang="en-GB" altLang="en-US"/>
          </a:p>
          <a:p>
            <a:r>
              <a:rPr lang="en-GB" altLang="en-US"/>
              <a:t>Lets see page 27</a:t>
            </a:r>
          </a:p>
        </p:txBody>
      </p:sp>
      <p:sp>
        <p:nvSpPr>
          <p:cNvPr id="4" name="Slide Number Placeholder 3">
            <a:extLst>
              <a:ext uri="{FF2B5EF4-FFF2-40B4-BE49-F238E27FC236}">
                <a16:creationId xmlns:a16="http://schemas.microsoft.com/office/drawing/2014/main" id="{92EF088D-EAC4-6611-A1DC-29EF569DECE1}"/>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4410EC3-C782-4873-987F-8C11888555C9}" type="slidenum">
              <a:rPr lang="en-GB" altLang="en-US" sz="1200"/>
              <a:pPr eaLnBrk="1" hangingPunct="1"/>
              <a:t>49</a:t>
            </a:fld>
            <a:endParaRPr lang="en-GB" altLang="en-US" sz="12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a:extLst>
              <a:ext uri="{FF2B5EF4-FFF2-40B4-BE49-F238E27FC236}">
                <a16:creationId xmlns:a16="http://schemas.microsoft.com/office/drawing/2014/main" id="{E97ED61F-5426-7A74-244E-77D3F51FCABD}"/>
              </a:ext>
            </a:extLst>
          </p:cNvPr>
          <p:cNvSpPr>
            <a:spLocks noGrp="1" noRot="1" noChangeAspect="1" noTextEdit="1"/>
          </p:cNvSpPr>
          <p:nvPr>
            <p:ph type="sldImg"/>
          </p:nvPr>
        </p:nvSpPr>
        <p:spPr>
          <a:ln/>
        </p:spPr>
      </p:sp>
      <p:sp>
        <p:nvSpPr>
          <p:cNvPr id="140291" name="Notes Placeholder 2">
            <a:extLst>
              <a:ext uri="{FF2B5EF4-FFF2-40B4-BE49-F238E27FC236}">
                <a16:creationId xmlns:a16="http://schemas.microsoft.com/office/drawing/2014/main" id="{8B3EB4AF-D799-50DE-9164-03ACBFDB619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62DCC55B-F749-4E28-76A5-E891983AEA92}"/>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604FFF36-DC79-4E5B-AA15-C6E574A3CDF7}" type="slidenum">
              <a:rPr lang="en-GB" altLang="en-US" sz="1200"/>
              <a:pPr eaLnBrk="1" hangingPunct="1"/>
              <a:t>50</a:t>
            </a:fld>
            <a:endParaRPr lang="en-GB" altLang="en-US" sz="12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5CDA7DBE-0F44-5968-854E-7773D5D0D0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EE1D40B-D895-4393-AC3E-07B7F4D3456C}" type="slidenum">
              <a:rPr lang="en-GB" altLang="en-US" sz="1200"/>
              <a:pPr eaLnBrk="1" hangingPunct="1"/>
              <a:t>51</a:t>
            </a:fld>
            <a:endParaRPr lang="en-GB" altLang="en-US" sz="1200"/>
          </a:p>
        </p:txBody>
      </p:sp>
      <p:sp>
        <p:nvSpPr>
          <p:cNvPr id="141315" name="Rectangle 2">
            <a:extLst>
              <a:ext uri="{FF2B5EF4-FFF2-40B4-BE49-F238E27FC236}">
                <a16:creationId xmlns:a16="http://schemas.microsoft.com/office/drawing/2014/main" id="{563BD203-5F7C-BE13-4F33-9DAD5BC6A97A}"/>
              </a:ext>
            </a:extLst>
          </p:cNvPr>
          <p:cNvSpPr>
            <a:spLocks noGrp="1" noRot="1" noChangeAspect="1" noChangeArrowheads="1" noTextEdit="1"/>
          </p:cNvSpPr>
          <p:nvPr>
            <p:ph type="sldImg"/>
          </p:nvPr>
        </p:nvSpPr>
        <p:spPr>
          <a:ln/>
        </p:spPr>
      </p:sp>
      <p:sp>
        <p:nvSpPr>
          <p:cNvPr id="141316" name="Rectangle 3">
            <a:extLst>
              <a:ext uri="{FF2B5EF4-FFF2-40B4-BE49-F238E27FC236}">
                <a16:creationId xmlns:a16="http://schemas.microsoft.com/office/drawing/2014/main" id="{4DEA809D-D2A1-6699-C6AA-427AD92C28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Any questions</a:t>
            </a:r>
          </a:p>
          <a:p>
            <a:pPr>
              <a:buFontTx/>
              <a:buChar char="•"/>
            </a:pPr>
            <a:r>
              <a:rPr lang="en-GB" altLang="en-US"/>
              <a:t>Now going to discuss each area of the system relevant to accounting in more detail</a:t>
            </a:r>
          </a:p>
          <a:p>
            <a:pPr>
              <a:buFontTx/>
              <a:buChar char="•"/>
            </a:pPr>
            <a:r>
              <a:rPr lang="en-GB" altLang="en-US"/>
              <a:t>Introduce key concepts &amp; terminology</a:t>
            </a:r>
          </a:p>
          <a:p>
            <a:pPr>
              <a:buFontTx/>
              <a:buChar char="•"/>
            </a:pPr>
            <a:r>
              <a:rPr lang="en-GB" altLang="en-US"/>
              <a:t>Starting with trading manager</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a:extLst>
              <a:ext uri="{FF2B5EF4-FFF2-40B4-BE49-F238E27FC236}">
                <a16:creationId xmlns:a16="http://schemas.microsoft.com/office/drawing/2014/main" id="{D26209D3-A95B-0116-8346-5A51BEBD8909}"/>
              </a:ext>
            </a:extLst>
          </p:cNvPr>
          <p:cNvSpPr>
            <a:spLocks noGrp="1" noRot="1" noChangeAspect="1" noTextEdit="1"/>
          </p:cNvSpPr>
          <p:nvPr>
            <p:ph type="sldImg"/>
          </p:nvPr>
        </p:nvSpPr>
        <p:spPr>
          <a:ln/>
        </p:spPr>
      </p:sp>
      <p:sp>
        <p:nvSpPr>
          <p:cNvPr id="142339" name="Notes Placeholder 2">
            <a:extLst>
              <a:ext uri="{FF2B5EF4-FFF2-40B4-BE49-F238E27FC236}">
                <a16:creationId xmlns:a16="http://schemas.microsoft.com/office/drawing/2014/main" id="{4473BC9D-1944-D473-2340-CC24DDD5BC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Market Manager -  is used to define, modify, and view prices, rates, volatilities, and correlations. It contains index, or curve, definitions used in the system. </a:t>
            </a:r>
          </a:p>
          <a:p>
            <a:r>
              <a:rPr lang="en-GB" altLang="en-US"/>
              <a:t>Curves are composed of grid points. Each grid point represents a price or rate for different time periods. </a:t>
            </a:r>
          </a:p>
          <a:p>
            <a:r>
              <a:rPr lang="en-GB" altLang="en-US"/>
              <a:t>Indexes are composed of grid points, prices, or rates for different time periods (with the exception of the Spot FX curve where the grid points represent currencies). These items can be obtained from market feeds entered manually, or calculated via internal or user-supplied logic. </a:t>
            </a:r>
          </a:p>
          <a:p>
            <a:endParaRPr lang="en-GB" altLang="en-US"/>
          </a:p>
          <a:p>
            <a:r>
              <a:rPr lang="en-GB" altLang="en-US"/>
              <a:t>Let’s see page 2 of our workbook for how to load Indexes and what the symbols/colour conventions mean.</a:t>
            </a:r>
          </a:p>
        </p:txBody>
      </p:sp>
      <p:sp>
        <p:nvSpPr>
          <p:cNvPr id="4" name="Slide Number Placeholder 3">
            <a:extLst>
              <a:ext uri="{FF2B5EF4-FFF2-40B4-BE49-F238E27FC236}">
                <a16:creationId xmlns:a16="http://schemas.microsoft.com/office/drawing/2014/main" id="{52E0135A-33EE-0661-11CE-928EAA91AD88}"/>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47EDCA7-9CFB-43E1-9332-46106289E8AB}" type="slidenum">
              <a:rPr lang="en-GB" altLang="en-US" sz="1200"/>
              <a:pPr eaLnBrk="1" hangingPunct="1"/>
              <a:t>52</a:t>
            </a:fld>
            <a:endParaRPr lang="en-GB" altLang="en-US" sz="12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90046A9D-E408-953D-1AEA-3491B4960EB1}"/>
              </a:ext>
            </a:extLst>
          </p:cNvPr>
          <p:cNvSpPr>
            <a:spLocks noGrp="1" noRot="1" noChangeAspect="1" noTextEdit="1"/>
          </p:cNvSpPr>
          <p:nvPr>
            <p:ph type="sldImg"/>
          </p:nvPr>
        </p:nvSpPr>
        <p:spPr>
          <a:ln/>
        </p:spPr>
      </p:sp>
      <p:sp>
        <p:nvSpPr>
          <p:cNvPr id="143363" name="Notes Placeholder 2">
            <a:extLst>
              <a:ext uri="{FF2B5EF4-FFF2-40B4-BE49-F238E27FC236}">
                <a16:creationId xmlns:a16="http://schemas.microsoft.com/office/drawing/2014/main" id="{73CAC088-D664-3E68-A1BB-0B6D83FC2D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Indexes - holds prices, rates and other information. They are used to price deals. </a:t>
            </a:r>
          </a:p>
          <a:p>
            <a:endParaRPr lang="en-GB" altLang="en-US"/>
          </a:p>
          <a:p>
            <a:r>
              <a:rPr lang="en-GB" altLang="en-US"/>
              <a:t>Indexes must have three or more grid points associated with them; the only exceptions to this rule are composite indexes (which do not contain grid points). </a:t>
            </a:r>
          </a:p>
          <a:p>
            <a:r>
              <a:rPr lang="en-GB" altLang="en-US"/>
              <a:t>For example, an “O/N” grid point represents the over night rate or price. For certain markets such as Natural Gas, date sequences may be used to set up grid points. Date sequences are set up in the Admin Manager as discussed earlier.</a:t>
            </a:r>
          </a:p>
        </p:txBody>
      </p:sp>
      <p:sp>
        <p:nvSpPr>
          <p:cNvPr id="4" name="Slide Number Placeholder 3">
            <a:extLst>
              <a:ext uri="{FF2B5EF4-FFF2-40B4-BE49-F238E27FC236}">
                <a16:creationId xmlns:a16="http://schemas.microsoft.com/office/drawing/2014/main" id="{E9FD22BD-CBD4-D57A-0151-32BFE3CE411E}"/>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88CC53FD-3E39-4623-8460-C8D8C6E7ADCA}" type="slidenum">
              <a:rPr lang="en-GB" altLang="en-US" sz="1200"/>
              <a:pPr eaLnBrk="1" hangingPunct="1"/>
              <a:t>53</a:t>
            </a:fld>
            <a:endParaRPr lang="en-GB" altLang="en-US" sz="120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9ECCEEFD-FAFE-B245-92B3-3FFBD09B1DB4}"/>
              </a:ext>
            </a:extLst>
          </p:cNvPr>
          <p:cNvSpPr>
            <a:spLocks noGrp="1" noRot="1" noChangeAspect="1" noTextEdit="1"/>
          </p:cNvSpPr>
          <p:nvPr>
            <p:ph type="sldImg"/>
          </p:nvPr>
        </p:nvSpPr>
        <p:spPr>
          <a:ln/>
        </p:spPr>
      </p:sp>
      <p:sp>
        <p:nvSpPr>
          <p:cNvPr id="144387" name="Notes Placeholder 2">
            <a:extLst>
              <a:ext uri="{FF2B5EF4-FFF2-40B4-BE49-F238E27FC236}">
                <a16:creationId xmlns:a16="http://schemas.microsoft.com/office/drawing/2014/main" id="{C85C73C3-0562-DE57-BF89-6B22155A13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4" name="Slide Number Placeholder 3">
            <a:extLst>
              <a:ext uri="{FF2B5EF4-FFF2-40B4-BE49-F238E27FC236}">
                <a16:creationId xmlns:a16="http://schemas.microsoft.com/office/drawing/2014/main" id="{A96C9604-B784-B2BF-9A01-2DCD27028EAC}"/>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268B8B60-05BB-464C-83CA-B622DC24CB1A}" type="slidenum">
              <a:rPr lang="en-GB" altLang="en-US" sz="1200"/>
              <a:pPr eaLnBrk="1" hangingPunct="1"/>
              <a:t>54</a:t>
            </a:fld>
            <a:endParaRPr lang="en-GB" altLang="en-US"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a:extLst>
              <a:ext uri="{FF2B5EF4-FFF2-40B4-BE49-F238E27FC236}">
                <a16:creationId xmlns:a16="http://schemas.microsoft.com/office/drawing/2014/main" id="{5149A02D-8570-2687-5819-615042F9022D}"/>
              </a:ext>
            </a:extLst>
          </p:cNvPr>
          <p:cNvSpPr>
            <a:spLocks noGrp="1" noRot="1" noChangeAspect="1" noTextEdit="1"/>
          </p:cNvSpPr>
          <p:nvPr>
            <p:ph type="sldImg"/>
          </p:nvPr>
        </p:nvSpPr>
        <p:spPr>
          <a:ln/>
        </p:spPr>
      </p:sp>
      <p:sp>
        <p:nvSpPr>
          <p:cNvPr id="145411" name="Notes Placeholder 2">
            <a:extLst>
              <a:ext uri="{FF2B5EF4-FFF2-40B4-BE49-F238E27FC236}">
                <a16:creationId xmlns:a16="http://schemas.microsoft.com/office/drawing/2014/main" id="{FD34FA63-10E2-1393-0FEB-5D2E21232A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Index definitions - specify relevant attributes of market indexes, used to structure instruments and deals. Two levels – Index level definition and Grid points definition (prices for points in time). </a:t>
            </a:r>
          </a:p>
          <a:p>
            <a:r>
              <a:rPr lang="en-GB" altLang="en-US"/>
              <a:t>Indexes are defined in the Standard Official/Custom Index window. Please note that there are two ways of creating an Index:</a:t>
            </a:r>
          </a:p>
          <a:p>
            <a:pPr>
              <a:buFontTx/>
              <a:buChar char="•"/>
            </a:pPr>
            <a:r>
              <a:rPr lang="en-GB" altLang="en-US"/>
              <a:t>Copy and modify an existing Index</a:t>
            </a:r>
          </a:p>
          <a:p>
            <a:pPr>
              <a:buFontTx/>
              <a:buChar char="•"/>
            </a:pPr>
            <a:r>
              <a:rPr lang="en-GB" altLang="en-US"/>
              <a:t>Define a new one from the Index definition window</a:t>
            </a:r>
          </a:p>
          <a:p>
            <a:r>
              <a:rPr lang="en-GB" altLang="en-US"/>
              <a:t> Let’s see page 7</a:t>
            </a:r>
          </a:p>
          <a:p>
            <a:endParaRPr lang="en-GB" altLang="en-US"/>
          </a:p>
        </p:txBody>
      </p:sp>
      <p:sp>
        <p:nvSpPr>
          <p:cNvPr id="4" name="Slide Number Placeholder 3">
            <a:extLst>
              <a:ext uri="{FF2B5EF4-FFF2-40B4-BE49-F238E27FC236}">
                <a16:creationId xmlns:a16="http://schemas.microsoft.com/office/drawing/2014/main" id="{766FDA7E-80C0-D158-87E6-BAB5BC46F455}"/>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BF05D270-54EF-4AC7-B040-2CEE78DACA13}" type="slidenum">
              <a:rPr lang="en-GB" altLang="en-US" sz="1200"/>
              <a:pPr eaLnBrk="1" hangingPunct="1"/>
              <a:t>55</a:t>
            </a:fld>
            <a:endParaRPr lang="en-GB" altLang="en-US" sz="120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a:extLst>
              <a:ext uri="{FF2B5EF4-FFF2-40B4-BE49-F238E27FC236}">
                <a16:creationId xmlns:a16="http://schemas.microsoft.com/office/drawing/2014/main" id="{5A4A76B2-FE0A-76A1-A8D0-E6FCB9F0FDB2}"/>
              </a:ext>
            </a:extLst>
          </p:cNvPr>
          <p:cNvSpPr>
            <a:spLocks noGrp="1" noRot="1" noChangeAspect="1" noTextEdit="1"/>
          </p:cNvSpPr>
          <p:nvPr>
            <p:ph type="sldImg"/>
          </p:nvPr>
        </p:nvSpPr>
        <p:spPr>
          <a:ln/>
        </p:spPr>
      </p:sp>
      <p:sp>
        <p:nvSpPr>
          <p:cNvPr id="146435" name="Notes Placeholder 2">
            <a:extLst>
              <a:ext uri="{FF2B5EF4-FFF2-40B4-BE49-F238E27FC236}">
                <a16:creationId xmlns:a16="http://schemas.microsoft.com/office/drawing/2014/main" id="{85654E6A-902C-8256-FD69-238BE1A4895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Data sets, market rates or prices for a standard index (or a user’s view of the market for a custom index) are displayed in the Index Input window. Once a curve is created, the Input Window data can be saved in different forms: Universal, Close, Personal and Historical.</a:t>
            </a:r>
          </a:p>
          <a:p>
            <a:r>
              <a:rPr lang="en-GB" altLang="en-US"/>
              <a:t>Let’s see page 19</a:t>
            </a:r>
          </a:p>
        </p:txBody>
      </p:sp>
      <p:sp>
        <p:nvSpPr>
          <p:cNvPr id="4" name="Slide Number Placeholder 3">
            <a:extLst>
              <a:ext uri="{FF2B5EF4-FFF2-40B4-BE49-F238E27FC236}">
                <a16:creationId xmlns:a16="http://schemas.microsoft.com/office/drawing/2014/main" id="{BB35C2AF-5453-BE3E-4972-D09B70598632}"/>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76D05E0-E7B7-4D4D-A3AD-B05BB005CCE8}" type="slidenum">
              <a:rPr lang="en-GB" altLang="en-US" sz="1200"/>
              <a:pPr eaLnBrk="1" hangingPunct="1"/>
              <a:t>56</a:t>
            </a:fld>
            <a:endParaRPr lang="en-GB" altLang="en-US" sz="120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a:extLst>
              <a:ext uri="{FF2B5EF4-FFF2-40B4-BE49-F238E27FC236}">
                <a16:creationId xmlns:a16="http://schemas.microsoft.com/office/drawing/2014/main" id="{D3D51510-6F0C-C455-C8EA-3C0E40D8EEE8}"/>
              </a:ext>
            </a:extLst>
          </p:cNvPr>
          <p:cNvSpPr>
            <a:spLocks noGrp="1" noRot="1" noChangeAspect="1" noTextEdit="1"/>
          </p:cNvSpPr>
          <p:nvPr>
            <p:ph type="sldImg"/>
          </p:nvPr>
        </p:nvSpPr>
        <p:spPr>
          <a:ln/>
        </p:spPr>
      </p:sp>
      <p:sp>
        <p:nvSpPr>
          <p:cNvPr id="147459" name="Notes Placeholder 2">
            <a:extLst>
              <a:ext uri="{FF2B5EF4-FFF2-40B4-BE49-F238E27FC236}">
                <a16:creationId xmlns:a16="http://schemas.microsoft.com/office/drawing/2014/main" id="{97E1B1DF-8B63-8BC3-3A03-295D7E1312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Data set input displays the grid point dates and marks the activated ones. The output displays the grid point’s rate/price using the calculation specified in the definition. </a:t>
            </a:r>
          </a:p>
          <a:p>
            <a:r>
              <a:rPr lang="en-GB" altLang="en-US"/>
              <a:t>To view the input or output of a data set: </a:t>
            </a:r>
          </a:p>
          <a:p>
            <a:r>
              <a:rPr lang="en-GB" altLang="en-US"/>
              <a:t>Select View from the Standard Official Index window menu bar and choose the appropriate sub-menu item: </a:t>
            </a:r>
          </a:p>
          <a:p>
            <a:endParaRPr lang="en-GB" altLang="en-US"/>
          </a:p>
          <a:p>
            <a:r>
              <a:rPr lang="en-GB" altLang="en-US"/>
              <a:t>• Output: Rates or discount factors (as defined in the Definition window) </a:t>
            </a:r>
          </a:p>
          <a:p>
            <a:endParaRPr lang="en-GB" altLang="en-US"/>
          </a:p>
          <a:p>
            <a:r>
              <a:rPr lang="en-GB" altLang="en-US"/>
              <a:t>• Grid Point Data: List of grid point input and definition information </a:t>
            </a:r>
          </a:p>
          <a:p>
            <a:endParaRPr lang="en-GB" altLang="en-US"/>
          </a:p>
          <a:p>
            <a:pPr>
              <a:buFontTx/>
              <a:buChar char="•"/>
            </a:pPr>
            <a:r>
              <a:rPr lang="en-GB" altLang="en-US"/>
              <a:t>Graph: A pictorial representation of the output over the time period specified (The x-axis represents the month/year and the y-axis represents the market rates/prices). </a:t>
            </a:r>
          </a:p>
          <a:p>
            <a:pPr>
              <a:buFontTx/>
              <a:buChar char="•"/>
            </a:pPr>
            <a:endParaRPr lang="en-GB" altLang="en-US"/>
          </a:p>
          <a:p>
            <a:r>
              <a:rPr lang="en-GB" altLang="en-US"/>
              <a:t>Let’s see page 20</a:t>
            </a:r>
          </a:p>
          <a:p>
            <a:endParaRPr lang="en-GB" altLang="en-US"/>
          </a:p>
        </p:txBody>
      </p:sp>
      <p:sp>
        <p:nvSpPr>
          <p:cNvPr id="4" name="Slide Number Placeholder 3">
            <a:extLst>
              <a:ext uri="{FF2B5EF4-FFF2-40B4-BE49-F238E27FC236}">
                <a16:creationId xmlns:a16="http://schemas.microsoft.com/office/drawing/2014/main" id="{1A00234F-D8EC-0C00-6105-61DACA92DAFF}"/>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6386A45-2E6A-428E-A28A-B277BF5A5E7B}" type="slidenum">
              <a:rPr lang="en-GB" altLang="en-US" sz="1200"/>
              <a:pPr eaLnBrk="1" hangingPunct="1"/>
              <a:t>57</a:t>
            </a:fld>
            <a:endParaRPr lang="en-GB" altLang="en-US"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C352294C-5867-E1C4-822B-B87E672B83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612E10BC-5B88-4E49-B45B-8E6644B6DC1E}" type="slidenum">
              <a:rPr lang="en-GB" altLang="en-US" sz="1200"/>
              <a:pPr eaLnBrk="1" hangingPunct="1"/>
              <a:t>58</a:t>
            </a:fld>
            <a:endParaRPr lang="en-GB" altLang="en-US" sz="1200"/>
          </a:p>
        </p:txBody>
      </p:sp>
      <p:sp>
        <p:nvSpPr>
          <p:cNvPr id="148483" name="Rectangle 2">
            <a:extLst>
              <a:ext uri="{FF2B5EF4-FFF2-40B4-BE49-F238E27FC236}">
                <a16:creationId xmlns:a16="http://schemas.microsoft.com/office/drawing/2014/main" id="{0D8008C4-2F4D-3C35-A109-4C5697F05CA2}"/>
              </a:ext>
            </a:extLst>
          </p:cNvPr>
          <p:cNvSpPr>
            <a:spLocks noGrp="1" noRot="1" noChangeAspect="1" noChangeArrowheads="1" noTextEdit="1"/>
          </p:cNvSpPr>
          <p:nvPr>
            <p:ph type="sldImg"/>
          </p:nvPr>
        </p:nvSpPr>
        <p:spPr>
          <a:ln/>
        </p:spPr>
      </p:sp>
      <p:sp>
        <p:nvSpPr>
          <p:cNvPr id="148484" name="Rectangle 3">
            <a:extLst>
              <a:ext uri="{FF2B5EF4-FFF2-40B4-BE49-F238E27FC236}">
                <a16:creationId xmlns:a16="http://schemas.microsoft.com/office/drawing/2014/main" id="{7E9B11C4-90F2-8007-3C36-836DC20B7E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a:extLst>
              <a:ext uri="{FF2B5EF4-FFF2-40B4-BE49-F238E27FC236}">
                <a16:creationId xmlns:a16="http://schemas.microsoft.com/office/drawing/2014/main" id="{2D99827B-35F8-479A-73D7-98189962A4B2}"/>
              </a:ext>
            </a:extLst>
          </p:cNvPr>
          <p:cNvSpPr>
            <a:spLocks noGrp="1" noRot="1" noChangeAspect="1" noTextEdit="1"/>
          </p:cNvSpPr>
          <p:nvPr>
            <p:ph type="sldImg"/>
          </p:nvPr>
        </p:nvSpPr>
        <p:spPr>
          <a:ln/>
        </p:spPr>
      </p:sp>
      <p:sp>
        <p:nvSpPr>
          <p:cNvPr id="149507" name="Notes Placeholder 2">
            <a:extLst>
              <a:ext uri="{FF2B5EF4-FFF2-40B4-BE49-F238E27FC236}">
                <a16:creationId xmlns:a16="http://schemas.microsoft.com/office/drawing/2014/main" id="{6FE8E62C-FE56-EA72-EB24-61F41945E4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Trading manager is used for capturing trades</a:t>
            </a:r>
          </a:p>
        </p:txBody>
      </p:sp>
      <p:sp>
        <p:nvSpPr>
          <p:cNvPr id="149508" name="Slide Number Placeholder 3">
            <a:extLst>
              <a:ext uri="{FF2B5EF4-FFF2-40B4-BE49-F238E27FC236}">
                <a16:creationId xmlns:a16="http://schemas.microsoft.com/office/drawing/2014/main" id="{45DDB263-C53C-9F35-053B-80D7DCA3EFD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0103E19D-8E05-415D-B6F7-65228EFF7992}" type="slidenum">
              <a:rPr lang="en-GB" altLang="en-US" sz="1200"/>
              <a:pPr eaLnBrk="1" hangingPunct="1"/>
              <a:t>59</a:t>
            </a:fld>
            <a:endParaRPr lang="en-GB" altLang="en-US" sz="120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a:extLst>
              <a:ext uri="{FF2B5EF4-FFF2-40B4-BE49-F238E27FC236}">
                <a16:creationId xmlns:a16="http://schemas.microsoft.com/office/drawing/2014/main" id="{B35BCB3C-AE10-A1B4-8D7D-4E71310E2E6C}"/>
              </a:ext>
            </a:extLst>
          </p:cNvPr>
          <p:cNvSpPr>
            <a:spLocks noGrp="1" noRot="1" noChangeAspect="1" noTextEdit="1"/>
          </p:cNvSpPr>
          <p:nvPr>
            <p:ph type="sldImg"/>
          </p:nvPr>
        </p:nvSpPr>
        <p:spPr>
          <a:ln/>
        </p:spPr>
      </p:sp>
      <p:sp>
        <p:nvSpPr>
          <p:cNvPr id="150531" name="Notes Placeholder 2">
            <a:extLst>
              <a:ext uri="{FF2B5EF4-FFF2-40B4-BE49-F238E27FC236}">
                <a16:creationId xmlns:a16="http://schemas.microsoft.com/office/drawing/2014/main" id="{9DD55BA7-97F9-612C-1F05-315BF95A25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4036014F-D65A-6598-CDF4-F4B6668D85CC}"/>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E36D345-DF44-47F2-AE86-2E30F4A5E85C}" type="slidenum">
              <a:rPr lang="en-GB" altLang="en-US" sz="1200"/>
              <a:pPr eaLnBrk="1" hangingPunct="1"/>
              <a:t>60</a:t>
            </a:fld>
            <a:endParaRPr lang="en-GB" altLang="en-US" sz="120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6BD6A184-59D9-E11B-152F-BA7D1E18BDC3}"/>
              </a:ext>
            </a:extLst>
          </p:cNvPr>
          <p:cNvSpPr>
            <a:spLocks noGrp="1" noRot="1" noChangeAspect="1" noTextEdit="1"/>
          </p:cNvSpPr>
          <p:nvPr>
            <p:ph type="sldImg"/>
          </p:nvPr>
        </p:nvSpPr>
        <p:spPr>
          <a:ln/>
        </p:spPr>
      </p:sp>
      <p:sp>
        <p:nvSpPr>
          <p:cNvPr id="151555" name="Notes Placeholder 2">
            <a:extLst>
              <a:ext uri="{FF2B5EF4-FFF2-40B4-BE49-F238E27FC236}">
                <a16:creationId xmlns:a16="http://schemas.microsoft.com/office/drawing/2014/main" id="{47A47155-A694-ADED-427E-E22AAE6E41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A deal has:</a:t>
            </a:r>
          </a:p>
          <a:p>
            <a:r>
              <a:rPr lang="en-GB" altLang="en-US"/>
              <a:t>Instrument number – Relates to the instrument type. </a:t>
            </a:r>
          </a:p>
          <a:p>
            <a:r>
              <a:rPr lang="en-GB" altLang="en-US"/>
              <a:t>Deal Number – Remains constant</a:t>
            </a:r>
          </a:p>
          <a:p>
            <a:r>
              <a:rPr lang="en-GB" altLang="en-US"/>
              <a:t>Transaction Number – Changes when the deal is modified and saved</a:t>
            </a:r>
          </a:p>
        </p:txBody>
      </p:sp>
      <p:sp>
        <p:nvSpPr>
          <p:cNvPr id="4" name="Slide Number Placeholder 3">
            <a:extLst>
              <a:ext uri="{FF2B5EF4-FFF2-40B4-BE49-F238E27FC236}">
                <a16:creationId xmlns:a16="http://schemas.microsoft.com/office/drawing/2014/main" id="{53C2B540-74B0-D40F-29AE-8E8892A52926}"/>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BF7FEDE1-D656-449E-AC28-BFAFC01BCB14}" type="slidenum">
              <a:rPr lang="en-GB" altLang="en-US" sz="1200"/>
              <a:pPr eaLnBrk="1" hangingPunct="1"/>
              <a:t>61</a:t>
            </a:fld>
            <a:endParaRPr lang="en-GB" altLang="en-US" sz="12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a:extLst>
              <a:ext uri="{FF2B5EF4-FFF2-40B4-BE49-F238E27FC236}">
                <a16:creationId xmlns:a16="http://schemas.microsoft.com/office/drawing/2014/main" id="{93AC37CC-158E-142C-0AE1-F0D880FE8094}"/>
              </a:ext>
            </a:extLst>
          </p:cNvPr>
          <p:cNvSpPr>
            <a:spLocks noGrp="1" noRot="1" noChangeAspect="1" noTextEdit="1"/>
          </p:cNvSpPr>
          <p:nvPr>
            <p:ph type="sldImg"/>
          </p:nvPr>
        </p:nvSpPr>
        <p:spPr>
          <a:ln/>
        </p:spPr>
      </p:sp>
      <p:sp>
        <p:nvSpPr>
          <p:cNvPr id="152579" name="Notes Placeholder 2">
            <a:extLst>
              <a:ext uri="{FF2B5EF4-FFF2-40B4-BE49-F238E27FC236}">
                <a16:creationId xmlns:a16="http://schemas.microsoft.com/office/drawing/2014/main" id="{1EAB2B68-5A31-0C92-5DFF-992A23CCD58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Both the Input Date and Trade Date are recorded for each transaction: </a:t>
            </a:r>
          </a:p>
          <a:p>
            <a:r>
              <a:rPr lang="en-GB" altLang="en-US"/>
              <a:t>Input Date - Generated by the system. Cannot be modified by the user. 	</a:t>
            </a:r>
          </a:p>
          <a:p>
            <a:r>
              <a:rPr lang="en-GB" altLang="en-US"/>
              <a:t>Trade Date 	Is the date the trade occurred. Defaults to the Input Date but can be modified. 	</a:t>
            </a:r>
          </a:p>
          <a:p>
            <a:endParaRPr lang="en-GB" altLang="en-US"/>
          </a:p>
        </p:txBody>
      </p:sp>
      <p:sp>
        <p:nvSpPr>
          <p:cNvPr id="4" name="Slide Number Placeholder 3">
            <a:extLst>
              <a:ext uri="{FF2B5EF4-FFF2-40B4-BE49-F238E27FC236}">
                <a16:creationId xmlns:a16="http://schemas.microsoft.com/office/drawing/2014/main" id="{27504F00-DF27-E232-CC28-3A1DEF6B2507}"/>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890BAC1-CFF2-4D0A-B3A7-24DC64271967}" type="slidenum">
              <a:rPr lang="en-GB" altLang="en-US" sz="1200"/>
              <a:pPr eaLnBrk="1" hangingPunct="1"/>
              <a:t>62</a:t>
            </a:fld>
            <a:endParaRPr lang="en-GB" altLang="en-US" sz="120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60555C66-0A18-A4CB-A6B5-CAEDDEF246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FE9114A-96C7-4674-875C-ACB1BAF37B69}" type="slidenum">
              <a:rPr lang="en-GB" altLang="en-US" sz="1200"/>
              <a:pPr eaLnBrk="1" hangingPunct="1"/>
              <a:t>63</a:t>
            </a:fld>
            <a:endParaRPr lang="en-GB" altLang="en-US" sz="1200"/>
          </a:p>
        </p:txBody>
      </p:sp>
      <p:sp>
        <p:nvSpPr>
          <p:cNvPr id="153603" name="Rectangle 2">
            <a:extLst>
              <a:ext uri="{FF2B5EF4-FFF2-40B4-BE49-F238E27FC236}">
                <a16:creationId xmlns:a16="http://schemas.microsoft.com/office/drawing/2014/main" id="{D460C168-0F95-95B1-7706-0E2E90108BE8}"/>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341E9A8E-1986-2D5B-C433-DECDB482E4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buFontTx/>
              <a:buChar char="•"/>
            </a:pPr>
            <a:r>
              <a:rPr lang="en-GB" altLang="en-US"/>
              <a:t>Consists of a browser window interface</a:t>
            </a:r>
          </a:p>
          <a:p>
            <a:pPr lvl="1">
              <a:buFontTx/>
              <a:buChar char="•"/>
            </a:pPr>
            <a:r>
              <a:rPr lang="en-GB" altLang="en-US"/>
              <a:t>Provides query tool for retrieving trades</a:t>
            </a:r>
          </a:p>
          <a:p>
            <a:pPr lvl="1">
              <a:buFontTx/>
              <a:buChar char="•"/>
            </a:pPr>
            <a:r>
              <a:rPr lang="en-GB" altLang="en-US"/>
              <a:t>Customisable browser desktop to view trades</a:t>
            </a:r>
          </a:p>
          <a:p>
            <a:pPr lvl="1">
              <a:buFontTx/>
              <a:buChar char="•"/>
            </a:pPr>
            <a:r>
              <a:rPr lang="en-GB" altLang="en-US"/>
              <a:t>Trade information consists of</a:t>
            </a:r>
          </a:p>
          <a:p>
            <a:pPr lvl="2">
              <a:buFontTx/>
              <a:buChar char="•"/>
            </a:pPr>
            <a:r>
              <a:rPr lang="en-GB" altLang="en-US"/>
              <a:t>Numbers</a:t>
            </a:r>
          </a:p>
          <a:p>
            <a:pPr lvl="3">
              <a:buFontTx/>
              <a:buChar char="•"/>
            </a:pPr>
            <a:r>
              <a:rPr lang="en-GB" altLang="en-US"/>
              <a:t>Instrument – relates to instrument type </a:t>
            </a:r>
          </a:p>
          <a:p>
            <a:pPr lvl="3">
              <a:buFontTx/>
              <a:buChar char="•"/>
            </a:pPr>
            <a:r>
              <a:rPr lang="en-GB" altLang="en-US"/>
              <a:t>Deal – unique number assigned to deal – does not change</a:t>
            </a:r>
          </a:p>
          <a:p>
            <a:pPr lvl="3">
              <a:buFontTx/>
              <a:buChar char="•"/>
            </a:pPr>
            <a:r>
              <a:rPr lang="en-GB" altLang="en-US"/>
              <a:t>Tran – transaction number, can change through deal’s life cycle</a:t>
            </a:r>
          </a:p>
          <a:p>
            <a:pPr lvl="2">
              <a:buFontTx/>
              <a:buChar char="•"/>
            </a:pPr>
            <a:r>
              <a:rPr lang="en-GB" altLang="en-US"/>
              <a:t>Dates</a:t>
            </a:r>
          </a:p>
          <a:p>
            <a:pPr lvl="3">
              <a:buFontTx/>
              <a:buChar char="•"/>
            </a:pPr>
            <a:r>
              <a:rPr lang="en-GB" altLang="en-US"/>
              <a:t>Input – system generated date when trade entered</a:t>
            </a:r>
          </a:p>
          <a:p>
            <a:pPr lvl="3">
              <a:buFontTx/>
              <a:buChar char="•"/>
            </a:pPr>
            <a:r>
              <a:rPr lang="en-GB" altLang="en-US"/>
              <a:t>Trade – date trade occurred – defaults to input date but can be changed</a:t>
            </a:r>
          </a:p>
          <a:p>
            <a:pPr lvl="3">
              <a:buFontTx/>
              <a:buChar char="•"/>
            </a:pPr>
            <a:r>
              <a:rPr lang="en-GB" altLang="en-US"/>
              <a:t>Settlement – date on which settlement occurs (mainly related to financial toolsets)</a:t>
            </a:r>
          </a:p>
          <a:p>
            <a:endParaRPr lang="en-GB"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F42B484D-2F03-C9CA-7C8B-4251B1AB48DC}"/>
              </a:ext>
            </a:extLst>
          </p:cNvPr>
          <p:cNvSpPr>
            <a:spLocks noGrp="1" noChangeArrowheads="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57C6C183-ED61-4993-B5A7-B4CED691DA3A}" type="slidenum">
              <a:rPr lang="en-GB" altLang="en-US" sz="1200"/>
              <a:pPr eaLnBrk="1" hangingPunct="1"/>
              <a:t>64</a:t>
            </a:fld>
            <a:endParaRPr lang="en-GB" altLang="en-US" sz="1200"/>
          </a:p>
        </p:txBody>
      </p:sp>
      <p:sp>
        <p:nvSpPr>
          <p:cNvPr id="154627" name="Rectangle 2">
            <a:extLst>
              <a:ext uri="{FF2B5EF4-FFF2-40B4-BE49-F238E27FC236}">
                <a16:creationId xmlns:a16="http://schemas.microsoft.com/office/drawing/2014/main" id="{119246AA-A7E7-DD1B-616E-173D3D752362}"/>
              </a:ext>
            </a:extLst>
          </p:cNvPr>
          <p:cNvSpPr>
            <a:spLocks noGrp="1" noRot="1" noChangeAspect="1" noChangeArrowheads="1" noTextEdit="1"/>
          </p:cNvSpPr>
          <p:nvPr>
            <p:ph type="sldImg"/>
          </p:nvPr>
        </p:nvSpPr>
        <p:spPr>
          <a:ln/>
        </p:spPr>
      </p:sp>
      <p:sp>
        <p:nvSpPr>
          <p:cNvPr id="154628" name="Rectangle 3">
            <a:extLst>
              <a:ext uri="{FF2B5EF4-FFF2-40B4-BE49-F238E27FC236}">
                <a16:creationId xmlns:a16="http://schemas.microsoft.com/office/drawing/2014/main" id="{30487983-01D7-C0B4-4AD7-88209B959B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Transaction life cycle</a:t>
            </a:r>
          </a:p>
          <a:p>
            <a:pPr lvl="1">
              <a:buFontTx/>
              <a:buChar char="•"/>
            </a:pPr>
            <a:r>
              <a:rPr lang="en-GB" altLang="en-US"/>
              <a:t>Deals  commence life with status of pending, no events associated with the transaction</a:t>
            </a:r>
          </a:p>
          <a:p>
            <a:pPr lvl="1">
              <a:buFontTx/>
              <a:buChar char="•"/>
            </a:pPr>
            <a:r>
              <a:rPr lang="en-GB" altLang="en-US"/>
              <a:t>Trade can be processed to status of new, and is given a deal and transaction num at this stage, however still not a ‘live’ trade and can be altered without affecting any processing events</a:t>
            </a:r>
          </a:p>
          <a:p>
            <a:pPr lvl="1">
              <a:buFontTx/>
              <a:buChar char="•"/>
            </a:pPr>
            <a:r>
              <a:rPr lang="en-GB" altLang="en-US"/>
              <a:t>Trade can then be validated – transaction events now become associated with it – any alterations will create new tran num.</a:t>
            </a:r>
          </a:p>
          <a:p>
            <a:pPr lvl="1">
              <a:buFontTx/>
              <a:buChar char="•"/>
            </a:pPr>
            <a:r>
              <a:rPr lang="en-GB" altLang="en-US"/>
              <a:t>Matured trades indicate the deal is complete and there are no more events for it.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B7E6A567-A3CE-997D-BC75-72E5D4B5999F}"/>
              </a:ext>
            </a:extLst>
          </p:cNvPr>
          <p:cNvSpPr>
            <a:spLocks noGrp="1" noChangeArrowheads="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86A1235-30C4-44AF-88A9-E54211B4FF56}" type="slidenum">
              <a:rPr lang="en-GB" altLang="en-US" sz="1200"/>
              <a:pPr eaLnBrk="1" hangingPunct="1"/>
              <a:t>65</a:t>
            </a:fld>
            <a:endParaRPr lang="en-GB" altLang="en-US" sz="1200"/>
          </a:p>
        </p:txBody>
      </p:sp>
      <p:sp>
        <p:nvSpPr>
          <p:cNvPr id="155651" name="Rectangle 2">
            <a:extLst>
              <a:ext uri="{FF2B5EF4-FFF2-40B4-BE49-F238E27FC236}">
                <a16:creationId xmlns:a16="http://schemas.microsoft.com/office/drawing/2014/main" id="{3E5DADB6-6A9C-C26F-156B-0A26ACAF671C}"/>
              </a:ext>
            </a:extLst>
          </p:cNvPr>
          <p:cNvSpPr>
            <a:spLocks noGrp="1" noRot="1" noChangeAspect="1" noChangeArrowheads="1" noTextEdit="1"/>
          </p:cNvSpPr>
          <p:nvPr>
            <p:ph type="sldImg"/>
          </p:nvPr>
        </p:nvSpPr>
        <p:spPr>
          <a:ln/>
        </p:spPr>
      </p:sp>
      <p:sp>
        <p:nvSpPr>
          <p:cNvPr id="155652" name="Rectangle 3">
            <a:extLst>
              <a:ext uri="{FF2B5EF4-FFF2-40B4-BE49-F238E27FC236}">
                <a16:creationId xmlns:a16="http://schemas.microsoft.com/office/drawing/2014/main" id="{68474AB1-4236-2656-14FB-34B5E728DA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All trades have exactly one "Open" type event.  The exact Open type event depends on how the trade was processed to its current status. </a:t>
            </a:r>
          </a:p>
          <a:p>
            <a:pPr>
              <a:buFontTx/>
              <a:buChar char="•"/>
            </a:pPr>
            <a:r>
              <a:rPr lang="en-GB" altLang="en-US"/>
              <a:t>The "Open" type event will have an "Event Date" equal to the current date of the system when the deal was booked. </a:t>
            </a:r>
          </a:p>
          <a:p>
            <a:endParaRPr lang="en-GB"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a:extLst>
              <a:ext uri="{FF2B5EF4-FFF2-40B4-BE49-F238E27FC236}">
                <a16:creationId xmlns:a16="http://schemas.microsoft.com/office/drawing/2014/main" id="{42E1BC99-63DA-2C6E-F8C2-E9A7EDA74425}"/>
              </a:ext>
            </a:extLst>
          </p:cNvPr>
          <p:cNvSpPr>
            <a:spLocks noGrp="1" noRot="1" noChangeAspect="1" noTextEdit="1"/>
          </p:cNvSpPr>
          <p:nvPr>
            <p:ph type="sldImg"/>
          </p:nvPr>
        </p:nvSpPr>
        <p:spPr>
          <a:ln/>
        </p:spPr>
      </p:sp>
      <p:sp>
        <p:nvSpPr>
          <p:cNvPr id="156675" name="Notes Placeholder 2">
            <a:extLst>
              <a:ext uri="{FF2B5EF4-FFF2-40B4-BE49-F238E27FC236}">
                <a16:creationId xmlns:a16="http://schemas.microsoft.com/office/drawing/2014/main" id="{CF2D45DA-EB4F-9FE7-D4E6-4D69F37E4B3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255CF98F-4A8B-A835-1F3D-21BC638F21C2}"/>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7F7E4F9E-D193-4F05-AA9F-58D5AE61D6B6}" type="slidenum">
              <a:rPr lang="en-GB" altLang="en-US" sz="1200"/>
              <a:pPr eaLnBrk="1" hangingPunct="1"/>
              <a:t>66</a:t>
            </a:fld>
            <a:endParaRPr lang="en-GB" altLang="en-US" sz="120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59A3E00E-82A9-CDBF-4FEA-60DE6F0A952B}"/>
              </a:ext>
            </a:extLst>
          </p:cNvPr>
          <p:cNvSpPr>
            <a:spLocks noGrp="1" noRot="1" noChangeAspect="1" noTextEdit="1"/>
          </p:cNvSpPr>
          <p:nvPr>
            <p:ph type="sldImg"/>
          </p:nvPr>
        </p:nvSpPr>
        <p:spPr>
          <a:ln/>
        </p:spPr>
      </p:sp>
      <p:sp>
        <p:nvSpPr>
          <p:cNvPr id="157699" name="Notes Placeholder 2">
            <a:extLst>
              <a:ext uri="{FF2B5EF4-FFF2-40B4-BE49-F238E27FC236}">
                <a16:creationId xmlns:a16="http://schemas.microsoft.com/office/drawing/2014/main" id="{4CFFB758-7182-2E42-BC88-EA0C38046A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4" name="Slide Number Placeholder 3">
            <a:extLst>
              <a:ext uri="{FF2B5EF4-FFF2-40B4-BE49-F238E27FC236}">
                <a16:creationId xmlns:a16="http://schemas.microsoft.com/office/drawing/2014/main" id="{FCC611AB-E785-E175-9BA3-B79A3238556F}"/>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68F7CE7E-D6F1-45D1-AE48-1FAE2B4DA259}" type="slidenum">
              <a:rPr lang="en-GB" altLang="en-US" sz="1200"/>
              <a:pPr eaLnBrk="1" hangingPunct="1"/>
              <a:t>67</a:t>
            </a:fld>
            <a:endParaRPr lang="en-GB" altLang="en-US" sz="120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AFE6B3C6-15C7-350C-DB4C-D63FC40B8DF2}"/>
              </a:ext>
            </a:extLst>
          </p:cNvPr>
          <p:cNvSpPr>
            <a:spLocks noGrp="1" noRot="1" noChangeAspect="1" noTextEdit="1"/>
          </p:cNvSpPr>
          <p:nvPr>
            <p:ph type="sldImg"/>
          </p:nvPr>
        </p:nvSpPr>
        <p:spPr>
          <a:ln/>
        </p:spPr>
      </p:sp>
      <p:sp>
        <p:nvSpPr>
          <p:cNvPr id="158723" name="Notes Placeholder 2">
            <a:extLst>
              <a:ext uri="{FF2B5EF4-FFF2-40B4-BE49-F238E27FC236}">
                <a16:creationId xmlns:a16="http://schemas.microsoft.com/office/drawing/2014/main" id="{F8C045A4-F0AE-9A7A-13DF-E767F72AE3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a:p>
            <a:r>
              <a:rPr lang="en-GB" altLang="en-US"/>
              <a:t>Each power-pricing curve has a price band. Price bands are client-defined, and represent different price categories of power (e.g., peak, off-peak, etc.). The valuation curve includes the Peak, Off-Peak and Hourly power price curves. </a:t>
            </a:r>
          </a:p>
          <a:p>
            <a:r>
              <a:rPr lang="en-GB" altLang="en-US"/>
              <a:t>Price bands are also used to build the power products. The valuation product is a twenty-four hour a day, seven day a week matrix that has a price band defined for every hour. </a:t>
            </a:r>
          </a:p>
          <a:p>
            <a:r>
              <a:rPr lang="en-GB" altLang="en-US"/>
              <a:t>The electricity delivery location is linked to a valuation index and a valuation product. The power product, electricity delivery location and valuation curve are components of the deal. 	</a:t>
            </a:r>
          </a:p>
          <a:p>
            <a:endParaRPr lang="en-GB" altLang="en-US"/>
          </a:p>
        </p:txBody>
      </p:sp>
      <p:sp>
        <p:nvSpPr>
          <p:cNvPr id="4" name="Slide Number Placeholder 3">
            <a:extLst>
              <a:ext uri="{FF2B5EF4-FFF2-40B4-BE49-F238E27FC236}">
                <a16:creationId xmlns:a16="http://schemas.microsoft.com/office/drawing/2014/main" id="{DFAB239D-F531-1A9B-4456-1D68EE36DBCB}"/>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F406875-6660-406E-97E1-0B2092DDFCAB}" type="slidenum">
              <a:rPr lang="en-GB" altLang="en-US" sz="1200"/>
              <a:pPr eaLnBrk="1" hangingPunct="1"/>
              <a:t>68</a:t>
            </a:fld>
            <a:endParaRPr lang="en-GB" altLang="en-US" sz="120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a:extLst>
              <a:ext uri="{FF2B5EF4-FFF2-40B4-BE49-F238E27FC236}">
                <a16:creationId xmlns:a16="http://schemas.microsoft.com/office/drawing/2014/main" id="{3B9783E9-9EC4-07E7-F779-6C763C96B4FD}"/>
              </a:ext>
            </a:extLst>
          </p:cNvPr>
          <p:cNvSpPr>
            <a:spLocks noGrp="1" noRot="1" noChangeAspect="1" noTextEdit="1"/>
          </p:cNvSpPr>
          <p:nvPr>
            <p:ph type="sldImg"/>
          </p:nvPr>
        </p:nvSpPr>
        <p:spPr>
          <a:ln/>
        </p:spPr>
      </p:sp>
      <p:sp>
        <p:nvSpPr>
          <p:cNvPr id="159747" name="Notes Placeholder 2">
            <a:extLst>
              <a:ext uri="{FF2B5EF4-FFF2-40B4-BE49-F238E27FC236}">
                <a16:creationId xmlns:a16="http://schemas.microsoft.com/office/drawing/2014/main" id="{4B364F93-307C-ADAA-BA74-6B81C09776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A variety of power trades can be captured using the power toolset:</a:t>
            </a:r>
          </a:p>
          <a:p>
            <a:pPr>
              <a:buFontTx/>
              <a:buChar char="•"/>
            </a:pPr>
            <a:r>
              <a:rPr lang="en-GB" altLang="en-US"/>
              <a:t>Physical Power deals</a:t>
            </a:r>
          </a:p>
          <a:p>
            <a:pPr>
              <a:buFontTx/>
              <a:buChar char="•"/>
            </a:pPr>
            <a:r>
              <a:rPr lang="en-GB" altLang="en-US"/>
              <a:t>Power options</a:t>
            </a:r>
          </a:p>
          <a:p>
            <a:pPr>
              <a:buFontTx/>
              <a:buChar char="•"/>
            </a:pPr>
            <a:r>
              <a:rPr lang="en-GB" altLang="en-US"/>
              <a:t>Power swaps</a:t>
            </a:r>
          </a:p>
          <a:p>
            <a:pPr>
              <a:buFontTx/>
              <a:buChar char="•"/>
            </a:pPr>
            <a:endParaRPr lang="en-GB" altLang="en-US"/>
          </a:p>
          <a:p>
            <a:r>
              <a:rPr lang="en-GB" altLang="en-US"/>
              <a:t>The Input Screen</a:t>
            </a:r>
          </a:p>
          <a:p>
            <a:pPr>
              <a:buFontTx/>
              <a:buChar char="•"/>
            </a:pPr>
            <a:r>
              <a:rPr lang="en-GB" altLang="en-US"/>
              <a:t>Primary Input – Main Fields used in the toolset. Contains deal information</a:t>
            </a:r>
          </a:p>
          <a:p>
            <a:pPr>
              <a:buFontTx/>
              <a:buChar char="•"/>
            </a:pPr>
            <a:r>
              <a:rPr lang="en-GB" altLang="en-US"/>
              <a:t>Secondary Input – Transaction level information</a:t>
            </a:r>
          </a:p>
          <a:p>
            <a:pPr>
              <a:buFontTx/>
              <a:buChar char="•"/>
            </a:pPr>
            <a:r>
              <a:rPr lang="en-GB" altLang="en-US"/>
              <a:t>Profile – Information relating to how payments are calculated, view cash payments and scheduled delivery dates.</a:t>
            </a:r>
          </a:p>
          <a:p>
            <a:pPr>
              <a:buFontTx/>
              <a:buChar char="•"/>
            </a:pPr>
            <a:r>
              <a:rPr lang="en-GB" altLang="en-US"/>
              <a:t>Reset – Reset Dates and rates for floating side of the deal (Rates from the associated curve/index)</a:t>
            </a:r>
          </a:p>
          <a:p>
            <a:pPr>
              <a:buFontTx/>
              <a:buChar char="•"/>
            </a:pPr>
            <a:r>
              <a:rPr lang="en-GB" altLang="en-US"/>
              <a:t>Cashflow – Miscellaneous cashflows associated with the transaction</a:t>
            </a:r>
          </a:p>
          <a:p>
            <a:pPr>
              <a:buFontTx/>
              <a:buChar char="•"/>
            </a:pPr>
            <a:endParaRPr lang="en-GB" altLang="en-US"/>
          </a:p>
          <a:p>
            <a:pPr>
              <a:buFontTx/>
              <a:buChar char="•"/>
            </a:pPr>
            <a:endParaRPr lang="en-GB" altLang="en-US"/>
          </a:p>
          <a:p>
            <a:r>
              <a:rPr lang="en-GB" altLang="en-US"/>
              <a:t>This section is very interactive.</a:t>
            </a:r>
          </a:p>
          <a:p>
            <a:r>
              <a:rPr lang="en-GB" altLang="en-US"/>
              <a:t>Let’s turn to page 2 of our workbook.</a:t>
            </a:r>
          </a:p>
        </p:txBody>
      </p:sp>
      <p:sp>
        <p:nvSpPr>
          <p:cNvPr id="4" name="Slide Number Placeholder 3">
            <a:extLst>
              <a:ext uri="{FF2B5EF4-FFF2-40B4-BE49-F238E27FC236}">
                <a16:creationId xmlns:a16="http://schemas.microsoft.com/office/drawing/2014/main" id="{E0D33BF7-066D-453E-839C-BA1BA9637342}"/>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BC468E58-68D2-4B72-88A8-0FA5C53249D3}" type="slidenum">
              <a:rPr lang="en-GB" altLang="en-US" sz="1200"/>
              <a:pPr eaLnBrk="1" hangingPunct="1"/>
              <a:t>69</a:t>
            </a:fld>
            <a:endParaRPr lang="en-GB" altLang="en-US" sz="120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id="{EDCCB39F-24A2-E57E-F356-583AC0671ACA}"/>
              </a:ext>
            </a:extLst>
          </p:cNvPr>
          <p:cNvSpPr>
            <a:spLocks noGrp="1" noRot="1" noChangeAspect="1" noTextEdit="1"/>
          </p:cNvSpPr>
          <p:nvPr>
            <p:ph type="sldImg"/>
          </p:nvPr>
        </p:nvSpPr>
        <p:spPr>
          <a:ln/>
        </p:spPr>
      </p:sp>
      <p:sp>
        <p:nvSpPr>
          <p:cNvPr id="160771" name="Notes Placeholder 2">
            <a:extLst>
              <a:ext uri="{FF2B5EF4-FFF2-40B4-BE49-F238E27FC236}">
                <a16:creationId xmlns:a16="http://schemas.microsoft.com/office/drawing/2014/main" id="{88C8BE29-47A8-3FA9-D289-C81AFC1884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AD78CB06-D346-ACB9-278D-3239AB5CE998}"/>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47920A3D-DD58-438B-A744-E9583B08209D}" type="slidenum">
              <a:rPr lang="en-GB" altLang="en-US" sz="1200"/>
              <a:pPr eaLnBrk="1" hangingPunct="1"/>
              <a:t>70</a:t>
            </a:fld>
            <a:endParaRPr lang="en-GB" altLang="en-US" sz="120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536EC158-C5FF-5C31-8EF5-1B1812497A97}"/>
              </a:ext>
            </a:extLst>
          </p:cNvPr>
          <p:cNvSpPr>
            <a:spLocks noGrp="1" noRot="1" noChangeAspect="1" noTextEdit="1"/>
          </p:cNvSpPr>
          <p:nvPr>
            <p:ph type="sldImg"/>
          </p:nvPr>
        </p:nvSpPr>
        <p:spPr>
          <a:ln/>
        </p:spPr>
      </p:sp>
      <p:sp>
        <p:nvSpPr>
          <p:cNvPr id="161795" name="Notes Placeholder 2">
            <a:extLst>
              <a:ext uri="{FF2B5EF4-FFF2-40B4-BE49-F238E27FC236}">
                <a16:creationId xmlns:a16="http://schemas.microsoft.com/office/drawing/2014/main" id="{41C2EA16-2535-345A-4962-EF18306BD9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488A9C1D-E43C-94BC-CDAB-B4075C871EF2}"/>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D09C6BC6-CAC8-4F89-90DF-5FA697DD524E}" type="slidenum">
              <a:rPr lang="en-GB" altLang="en-US" sz="1200"/>
              <a:pPr eaLnBrk="1" hangingPunct="1"/>
              <a:t>71</a:t>
            </a:fld>
            <a:endParaRPr lang="en-GB" altLang="en-US" sz="120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a:extLst>
              <a:ext uri="{FF2B5EF4-FFF2-40B4-BE49-F238E27FC236}">
                <a16:creationId xmlns:a16="http://schemas.microsoft.com/office/drawing/2014/main" id="{D16313B8-F806-9893-F883-75234E25396E}"/>
              </a:ext>
            </a:extLst>
          </p:cNvPr>
          <p:cNvSpPr>
            <a:spLocks noGrp="1" noRot="1" noChangeAspect="1" noTextEdit="1"/>
          </p:cNvSpPr>
          <p:nvPr>
            <p:ph type="sldImg"/>
          </p:nvPr>
        </p:nvSpPr>
        <p:spPr>
          <a:ln/>
        </p:spPr>
      </p:sp>
      <p:sp>
        <p:nvSpPr>
          <p:cNvPr id="162819" name="Notes Placeholder 2">
            <a:extLst>
              <a:ext uri="{FF2B5EF4-FFF2-40B4-BE49-F238E27FC236}">
                <a16:creationId xmlns:a16="http://schemas.microsoft.com/office/drawing/2014/main" id="{5E4AE8D9-6944-BDF2-5827-337E37F672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84E887DA-47FC-6A70-7E59-F57F68F39557}"/>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DCE8B1E0-8FC6-4413-92BD-1787F5DB48C8}" type="slidenum">
              <a:rPr lang="en-GB" altLang="en-US" sz="1200"/>
              <a:pPr eaLnBrk="1" hangingPunct="1"/>
              <a:t>72</a:t>
            </a:fld>
            <a:endParaRPr lang="en-GB" altLang="en-US" sz="120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05A60122-406A-A0B6-93F5-0D1E110A140F}"/>
              </a:ext>
            </a:extLst>
          </p:cNvPr>
          <p:cNvSpPr>
            <a:spLocks noGrp="1" noRot="1" noChangeAspect="1" noTextEdit="1"/>
          </p:cNvSpPr>
          <p:nvPr>
            <p:ph type="sldImg"/>
          </p:nvPr>
        </p:nvSpPr>
        <p:spPr>
          <a:ln/>
        </p:spPr>
      </p:sp>
      <p:sp>
        <p:nvSpPr>
          <p:cNvPr id="163843" name="Notes Placeholder 2">
            <a:extLst>
              <a:ext uri="{FF2B5EF4-FFF2-40B4-BE49-F238E27FC236}">
                <a16:creationId xmlns:a16="http://schemas.microsoft.com/office/drawing/2014/main" id="{DF067E71-25C3-7C22-C5C2-138D5D0932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FC7AEA1C-9587-37CB-8410-F98663F461CD}"/>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AD0895D-7440-4BF2-B845-6051CE056F4E}" type="slidenum">
              <a:rPr lang="en-GB" altLang="en-US" sz="1200"/>
              <a:pPr eaLnBrk="1" hangingPunct="1"/>
              <a:t>73</a:t>
            </a:fld>
            <a:endParaRPr lang="en-GB" altLang="en-US" sz="120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a:extLst>
              <a:ext uri="{FF2B5EF4-FFF2-40B4-BE49-F238E27FC236}">
                <a16:creationId xmlns:a16="http://schemas.microsoft.com/office/drawing/2014/main" id="{483A37F1-DE2D-6AD7-BB08-59E341700F70}"/>
              </a:ext>
            </a:extLst>
          </p:cNvPr>
          <p:cNvSpPr>
            <a:spLocks noGrp="1" noRot="1" noChangeAspect="1" noTextEdit="1"/>
          </p:cNvSpPr>
          <p:nvPr>
            <p:ph type="sldImg"/>
          </p:nvPr>
        </p:nvSpPr>
        <p:spPr>
          <a:ln/>
        </p:spPr>
      </p:sp>
      <p:sp>
        <p:nvSpPr>
          <p:cNvPr id="164867" name="Notes Placeholder 2">
            <a:extLst>
              <a:ext uri="{FF2B5EF4-FFF2-40B4-BE49-F238E27FC236}">
                <a16:creationId xmlns:a16="http://schemas.microsoft.com/office/drawing/2014/main" id="{1FCC9DF5-765B-3A73-ADA5-EF5AD2500A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B2FB6234-F26C-492C-B2C8-F24044F08985}"/>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8D23A4AB-577C-465A-91F9-F65D3234C495}" type="slidenum">
              <a:rPr lang="en-GB" altLang="en-US" sz="1200"/>
              <a:pPr eaLnBrk="1" hangingPunct="1"/>
              <a:t>74</a:t>
            </a:fld>
            <a:endParaRPr lang="en-GB" altLang="en-US" sz="120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C6713BB7-F0FF-535C-515A-184CF303B5DA}"/>
              </a:ext>
            </a:extLst>
          </p:cNvPr>
          <p:cNvSpPr>
            <a:spLocks noGrp="1" noRot="1" noChangeAspect="1" noTextEdit="1"/>
          </p:cNvSpPr>
          <p:nvPr>
            <p:ph type="sldImg"/>
          </p:nvPr>
        </p:nvSpPr>
        <p:spPr>
          <a:ln/>
        </p:spPr>
      </p:sp>
      <p:sp>
        <p:nvSpPr>
          <p:cNvPr id="165891" name="Notes Placeholder 2">
            <a:extLst>
              <a:ext uri="{FF2B5EF4-FFF2-40B4-BE49-F238E27FC236}">
                <a16:creationId xmlns:a16="http://schemas.microsoft.com/office/drawing/2014/main" id="{96E7E1D0-A3BC-C79D-34DB-9A4BA16C7C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Let’s turn to page 4 of our workbook.</a:t>
            </a:r>
          </a:p>
          <a:p>
            <a:r>
              <a:rPr lang="en-GB" altLang="en-US"/>
              <a:t>We will look at how the system arrived at these calculations</a:t>
            </a:r>
          </a:p>
          <a:p>
            <a:endParaRPr lang="en-GB" altLang="en-US"/>
          </a:p>
        </p:txBody>
      </p:sp>
      <p:sp>
        <p:nvSpPr>
          <p:cNvPr id="4" name="Slide Number Placeholder 3">
            <a:extLst>
              <a:ext uri="{FF2B5EF4-FFF2-40B4-BE49-F238E27FC236}">
                <a16:creationId xmlns:a16="http://schemas.microsoft.com/office/drawing/2014/main" id="{37F497B5-C23E-6726-E71F-FCDF02CA31AF}"/>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533A0D1E-8AAB-4252-A489-7F7111E18347}" type="slidenum">
              <a:rPr lang="en-GB" altLang="en-US" sz="1200"/>
              <a:pPr eaLnBrk="1" hangingPunct="1"/>
              <a:t>75</a:t>
            </a:fld>
            <a:endParaRPr lang="en-GB" altLang="en-US" sz="120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a:extLst>
              <a:ext uri="{FF2B5EF4-FFF2-40B4-BE49-F238E27FC236}">
                <a16:creationId xmlns:a16="http://schemas.microsoft.com/office/drawing/2014/main" id="{7D7AAE9F-6E22-0AFF-AD10-998392018935}"/>
              </a:ext>
            </a:extLst>
          </p:cNvPr>
          <p:cNvSpPr>
            <a:spLocks noGrp="1" noRot="1" noChangeAspect="1" noTextEdit="1"/>
          </p:cNvSpPr>
          <p:nvPr>
            <p:ph type="sldImg"/>
          </p:nvPr>
        </p:nvSpPr>
        <p:spPr>
          <a:ln/>
        </p:spPr>
      </p:sp>
      <p:sp>
        <p:nvSpPr>
          <p:cNvPr id="166915" name="Notes Placeholder 2">
            <a:extLst>
              <a:ext uri="{FF2B5EF4-FFF2-40B4-BE49-F238E27FC236}">
                <a16:creationId xmlns:a16="http://schemas.microsoft.com/office/drawing/2014/main" id="{A3F07029-DB8A-DA30-0686-C58EB66E60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C06DC90D-B329-43C6-642E-F99E2D52048A}"/>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241450C-96FA-4F61-B5BB-EA3337F34B44}" type="slidenum">
              <a:rPr lang="en-GB" altLang="en-US" sz="1200"/>
              <a:pPr eaLnBrk="1" hangingPunct="1"/>
              <a:t>76</a:t>
            </a:fld>
            <a:endParaRPr lang="en-GB" altLang="en-US" sz="120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BFC7B1DB-AFB6-9E8B-89D9-2450C1E9FD5A}"/>
              </a:ext>
            </a:extLst>
          </p:cNvPr>
          <p:cNvSpPr>
            <a:spLocks noGrp="1" noRot="1" noChangeAspect="1" noTextEdit="1"/>
          </p:cNvSpPr>
          <p:nvPr>
            <p:ph type="sldImg"/>
          </p:nvPr>
        </p:nvSpPr>
        <p:spPr>
          <a:ln/>
        </p:spPr>
      </p:sp>
      <p:sp>
        <p:nvSpPr>
          <p:cNvPr id="167939" name="Notes Placeholder 2">
            <a:extLst>
              <a:ext uri="{FF2B5EF4-FFF2-40B4-BE49-F238E27FC236}">
                <a16:creationId xmlns:a16="http://schemas.microsoft.com/office/drawing/2014/main" id="{ABD142E7-74FD-0695-B545-F6659C73B4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4" name="Slide Number Placeholder 3">
            <a:extLst>
              <a:ext uri="{FF2B5EF4-FFF2-40B4-BE49-F238E27FC236}">
                <a16:creationId xmlns:a16="http://schemas.microsoft.com/office/drawing/2014/main" id="{28A2C842-C627-2528-A79F-5EF652631EB0}"/>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2931EA59-852A-440B-9F5F-803A09F150FC}" type="slidenum">
              <a:rPr lang="en-GB" altLang="en-US" sz="1200"/>
              <a:pPr eaLnBrk="1" hangingPunct="1"/>
              <a:t>77</a:t>
            </a:fld>
            <a:endParaRPr lang="en-GB" altLang="en-US" sz="120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a:extLst>
              <a:ext uri="{FF2B5EF4-FFF2-40B4-BE49-F238E27FC236}">
                <a16:creationId xmlns:a16="http://schemas.microsoft.com/office/drawing/2014/main" id="{7FDFEA9F-AACD-0DF9-56F3-78E532B488B4}"/>
              </a:ext>
            </a:extLst>
          </p:cNvPr>
          <p:cNvSpPr>
            <a:spLocks noGrp="1" noRot="1" noChangeAspect="1" noTextEdit="1"/>
          </p:cNvSpPr>
          <p:nvPr>
            <p:ph type="sldImg"/>
          </p:nvPr>
        </p:nvSpPr>
        <p:spPr>
          <a:ln/>
        </p:spPr>
      </p:sp>
      <p:sp>
        <p:nvSpPr>
          <p:cNvPr id="168963" name="Notes Placeholder 2">
            <a:extLst>
              <a:ext uri="{FF2B5EF4-FFF2-40B4-BE49-F238E27FC236}">
                <a16:creationId xmlns:a16="http://schemas.microsoft.com/office/drawing/2014/main" id="{8FDC0430-3C72-55C9-CF31-7CF295309F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Notice how changes to Volume and price affects the NPV</a:t>
            </a:r>
          </a:p>
          <a:p>
            <a:pPr>
              <a:buFontTx/>
              <a:buChar char="•"/>
            </a:pPr>
            <a:r>
              <a:rPr lang="en-GB" altLang="en-US"/>
              <a:t>What do you have to change to break-even on your deal?</a:t>
            </a:r>
          </a:p>
          <a:p>
            <a:pPr>
              <a:buFontTx/>
              <a:buChar char="•"/>
            </a:pPr>
            <a:endParaRPr lang="en-GB" altLang="en-US"/>
          </a:p>
          <a:p>
            <a:endParaRPr lang="en-GB" altLang="en-US"/>
          </a:p>
        </p:txBody>
      </p:sp>
      <p:sp>
        <p:nvSpPr>
          <p:cNvPr id="4" name="Slide Number Placeholder 3">
            <a:extLst>
              <a:ext uri="{FF2B5EF4-FFF2-40B4-BE49-F238E27FC236}">
                <a16:creationId xmlns:a16="http://schemas.microsoft.com/office/drawing/2014/main" id="{5BF2628E-0699-27A8-36F7-F3703099F763}"/>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5F3B0C63-EB82-4790-87E1-580E60E9FC3B}" type="slidenum">
              <a:rPr lang="en-GB" altLang="en-US" sz="1200"/>
              <a:pPr eaLnBrk="1" hangingPunct="1"/>
              <a:t>78</a:t>
            </a:fld>
            <a:endParaRPr lang="en-GB" altLang="en-US" sz="120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a:extLst>
              <a:ext uri="{FF2B5EF4-FFF2-40B4-BE49-F238E27FC236}">
                <a16:creationId xmlns:a16="http://schemas.microsoft.com/office/drawing/2014/main" id="{86EBE5D9-67CA-D5A3-6AB8-B037610AB020}"/>
              </a:ext>
            </a:extLst>
          </p:cNvPr>
          <p:cNvSpPr>
            <a:spLocks noGrp="1" noRot="1" noChangeAspect="1" noTextEdit="1"/>
          </p:cNvSpPr>
          <p:nvPr>
            <p:ph type="sldImg"/>
          </p:nvPr>
        </p:nvSpPr>
        <p:spPr>
          <a:ln/>
        </p:spPr>
      </p:sp>
      <p:sp>
        <p:nvSpPr>
          <p:cNvPr id="169987" name="Notes Placeholder 2">
            <a:extLst>
              <a:ext uri="{FF2B5EF4-FFF2-40B4-BE49-F238E27FC236}">
                <a16:creationId xmlns:a16="http://schemas.microsoft.com/office/drawing/2014/main" id="{639553A4-38AC-C643-FABD-1C7B32F733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4" name="Slide Number Placeholder 3">
            <a:extLst>
              <a:ext uri="{FF2B5EF4-FFF2-40B4-BE49-F238E27FC236}">
                <a16:creationId xmlns:a16="http://schemas.microsoft.com/office/drawing/2014/main" id="{8C69BE77-E2A5-A328-FEE9-DC68849E186C}"/>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0AE4D53A-4D09-4440-92C3-EEF57F7091C1}" type="slidenum">
              <a:rPr lang="en-GB" altLang="en-US" sz="1200"/>
              <a:pPr eaLnBrk="1" hangingPunct="1"/>
              <a:t>79</a:t>
            </a:fld>
            <a:endParaRPr lang="en-GB" altLang="en-US" sz="120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a:extLst>
              <a:ext uri="{FF2B5EF4-FFF2-40B4-BE49-F238E27FC236}">
                <a16:creationId xmlns:a16="http://schemas.microsoft.com/office/drawing/2014/main" id="{BCBAC57E-A9A2-901E-0A1A-647FDEA0E64F}"/>
              </a:ext>
            </a:extLst>
          </p:cNvPr>
          <p:cNvSpPr>
            <a:spLocks noGrp="1" noRot="1" noChangeAspect="1" noTextEdit="1"/>
          </p:cNvSpPr>
          <p:nvPr>
            <p:ph type="sldImg"/>
          </p:nvPr>
        </p:nvSpPr>
        <p:spPr>
          <a:ln/>
        </p:spPr>
      </p:sp>
      <p:sp>
        <p:nvSpPr>
          <p:cNvPr id="171011" name="Notes Placeholder 2">
            <a:extLst>
              <a:ext uri="{FF2B5EF4-FFF2-40B4-BE49-F238E27FC236}">
                <a16:creationId xmlns:a16="http://schemas.microsoft.com/office/drawing/2014/main" id="{AA2FC983-CB09-14B9-339A-FE690A9E53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6BAB2243-CA83-F0AD-3425-EE98ED5DA644}"/>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BC3F86E-3F1A-4E6E-9CBC-BD529121B38F}" type="slidenum">
              <a:rPr lang="en-GB" altLang="en-US" sz="1200"/>
              <a:pPr eaLnBrk="1" hangingPunct="1"/>
              <a:t>80</a:t>
            </a:fld>
            <a:endParaRPr lang="en-GB" altLang="en-US" sz="120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F7F738AC-99C4-D528-86C3-BF37B1AB4D22}"/>
              </a:ext>
            </a:extLst>
          </p:cNvPr>
          <p:cNvSpPr>
            <a:spLocks noGrp="1" noChangeArrowheads="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203E7834-9DC8-448E-A8C4-0FFB501C461C}" type="slidenum">
              <a:rPr lang="en-GB" altLang="en-US" sz="1200"/>
              <a:pPr eaLnBrk="1" hangingPunct="1"/>
              <a:t>81</a:t>
            </a:fld>
            <a:endParaRPr lang="en-GB" altLang="en-US" sz="1200"/>
          </a:p>
        </p:txBody>
      </p:sp>
      <p:sp>
        <p:nvSpPr>
          <p:cNvPr id="172035" name="Rectangle 2">
            <a:extLst>
              <a:ext uri="{FF2B5EF4-FFF2-40B4-BE49-F238E27FC236}">
                <a16:creationId xmlns:a16="http://schemas.microsoft.com/office/drawing/2014/main" id="{BF9FADBE-4385-DCD6-3D05-A15755A3432F}"/>
              </a:ext>
            </a:extLst>
          </p:cNvPr>
          <p:cNvSpPr>
            <a:spLocks noGrp="1" noRot="1" noChangeAspect="1" noChangeArrowheads="1" noTextEdit="1"/>
          </p:cNvSpPr>
          <p:nvPr>
            <p:ph type="sldImg"/>
          </p:nvPr>
        </p:nvSpPr>
        <p:spPr>
          <a:ln/>
        </p:spPr>
      </p:sp>
      <p:sp>
        <p:nvSpPr>
          <p:cNvPr id="172036" name="Rectangle 3">
            <a:extLst>
              <a:ext uri="{FF2B5EF4-FFF2-40B4-BE49-F238E27FC236}">
                <a16:creationId xmlns:a16="http://schemas.microsoft.com/office/drawing/2014/main" id="{5BE3FFAF-9291-7E19-3A8D-2842A3A48A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GB" altLang="en-US"/>
              <a:t>Trade entry – toolset</a:t>
            </a:r>
          </a:p>
          <a:p>
            <a:pPr lvl="1">
              <a:buFontTx/>
              <a:buChar char="•"/>
            </a:pPr>
            <a:r>
              <a:rPr lang="en-GB" altLang="en-US"/>
              <a:t>For a specific instrument or type of deal</a:t>
            </a:r>
          </a:p>
          <a:p>
            <a:pPr lvl="1">
              <a:buFontTx/>
              <a:buChar char="•"/>
            </a:pPr>
            <a:r>
              <a:rPr lang="en-GB" altLang="en-US"/>
              <a:t>Only one deal at a time can be entered</a:t>
            </a:r>
          </a:p>
          <a:p>
            <a:pPr lvl="1">
              <a:buFontTx/>
              <a:buChar char="•"/>
            </a:pPr>
            <a:r>
              <a:rPr lang="en-GB" altLang="en-US"/>
              <a:t>Allows entry of multiple fields</a:t>
            </a:r>
          </a:p>
          <a:p>
            <a:pPr lvl="1">
              <a:buFontTx/>
              <a:buChar char="•"/>
            </a:pPr>
            <a:r>
              <a:rPr lang="en-GB" altLang="en-US"/>
              <a:t>Default values can be entered</a:t>
            </a:r>
          </a:p>
          <a:p>
            <a:pPr lvl="1">
              <a:buFontTx/>
              <a:buChar char="•"/>
            </a:pPr>
            <a:endParaRPr lang="en-GB" altLang="en-US"/>
          </a:p>
          <a:p>
            <a:pPr>
              <a:buFontTx/>
              <a:buChar char="•"/>
            </a:pPr>
            <a:r>
              <a:rPr lang="en-GB" altLang="en-US"/>
              <a:t>Trade entry – Trader desktop</a:t>
            </a:r>
          </a:p>
          <a:p>
            <a:pPr lvl="1">
              <a:buFontTx/>
              <a:buChar char="•"/>
            </a:pPr>
            <a:r>
              <a:rPr lang="en-GB" altLang="en-US"/>
              <a:t>Generic or a specific instrument or type of deal</a:t>
            </a:r>
          </a:p>
          <a:p>
            <a:pPr lvl="1">
              <a:buFontTx/>
              <a:buChar char="•"/>
            </a:pPr>
            <a:r>
              <a:rPr lang="en-GB" altLang="en-US"/>
              <a:t>Multiple deals can be entered at once</a:t>
            </a:r>
          </a:p>
          <a:p>
            <a:pPr lvl="1">
              <a:buFontTx/>
              <a:buChar char="•"/>
            </a:pPr>
            <a:r>
              <a:rPr lang="en-GB" altLang="en-US"/>
              <a:t>User configurable</a:t>
            </a:r>
          </a:p>
          <a:p>
            <a:pPr lvl="1">
              <a:buFontTx/>
              <a:buChar char="•"/>
            </a:pPr>
            <a:r>
              <a:rPr lang="en-GB" altLang="en-US"/>
              <a:t>Default values can be entered</a:t>
            </a:r>
          </a:p>
          <a:p>
            <a:endParaRPr lang="en-GB"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E68DD4F2-E8CE-6B76-7B39-C21BF09FD89C}"/>
              </a:ext>
            </a:extLst>
          </p:cNvPr>
          <p:cNvSpPr>
            <a:spLocks noGrp="1" noRot="1" noChangeAspect="1" noTextEdit="1"/>
          </p:cNvSpPr>
          <p:nvPr>
            <p:ph type="sldImg"/>
          </p:nvPr>
        </p:nvSpPr>
        <p:spPr>
          <a:ln/>
        </p:spPr>
      </p:sp>
      <p:sp>
        <p:nvSpPr>
          <p:cNvPr id="173059" name="Notes Placeholder 2">
            <a:extLst>
              <a:ext uri="{FF2B5EF4-FFF2-40B4-BE49-F238E27FC236}">
                <a16:creationId xmlns:a16="http://schemas.microsoft.com/office/drawing/2014/main" id="{5E051D55-50B8-3DCD-C54D-9FA5F533CF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Power deals can be entered through the Trader Desktop as well as the Trade Blotter. Below we will configure a power physical deal entry panel for the Trader Desktop. </a:t>
            </a:r>
          </a:p>
          <a:p>
            <a:r>
              <a:rPr lang="en-GB" altLang="en-US"/>
              <a:t>Now lets turn to Page 37 of our workbook</a:t>
            </a:r>
          </a:p>
          <a:p>
            <a:endParaRPr lang="en-GB" altLang="en-US"/>
          </a:p>
          <a:p>
            <a:endParaRPr lang="en-GB" altLang="en-US"/>
          </a:p>
          <a:p>
            <a:r>
              <a:rPr lang="en-GB" altLang="en-US"/>
              <a:t>Power Physical deals can now be processed via the Trader Desktop. The templates display on the upper portion of the screen and allow for deal entry. </a:t>
            </a:r>
          </a:p>
          <a:p>
            <a:r>
              <a:rPr lang="en-GB" altLang="en-US"/>
              <a:t>The lower portion of the screen displays the trades that match the criteria as defined in the query we selected during configuration. 	</a:t>
            </a:r>
          </a:p>
          <a:p>
            <a:endParaRPr lang="en-GB" altLang="en-US"/>
          </a:p>
          <a:p>
            <a:endParaRPr lang="en-GB" altLang="en-US"/>
          </a:p>
        </p:txBody>
      </p:sp>
      <p:sp>
        <p:nvSpPr>
          <p:cNvPr id="4" name="Slide Number Placeholder 3">
            <a:extLst>
              <a:ext uri="{FF2B5EF4-FFF2-40B4-BE49-F238E27FC236}">
                <a16:creationId xmlns:a16="http://schemas.microsoft.com/office/drawing/2014/main" id="{1498B31E-E4E8-854F-C3A1-BD849C0EBA88}"/>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77ED5DA-6E14-4B41-AF27-3DCC9445553F}" type="slidenum">
              <a:rPr lang="en-GB" altLang="en-US" sz="1200"/>
              <a:pPr eaLnBrk="1" hangingPunct="1"/>
              <a:t>82</a:t>
            </a:fld>
            <a:endParaRPr lang="en-GB" altLang="en-US" sz="120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a:extLst>
              <a:ext uri="{FF2B5EF4-FFF2-40B4-BE49-F238E27FC236}">
                <a16:creationId xmlns:a16="http://schemas.microsoft.com/office/drawing/2014/main" id="{5402C853-DDBF-0058-C565-FD8FCEC43414}"/>
              </a:ext>
            </a:extLst>
          </p:cNvPr>
          <p:cNvSpPr>
            <a:spLocks noGrp="1" noRot="1" noChangeAspect="1" noTextEdit="1"/>
          </p:cNvSpPr>
          <p:nvPr>
            <p:ph type="sldImg"/>
          </p:nvPr>
        </p:nvSpPr>
        <p:spPr>
          <a:ln/>
        </p:spPr>
      </p:sp>
      <p:sp>
        <p:nvSpPr>
          <p:cNvPr id="174083" name="Notes Placeholder 2">
            <a:extLst>
              <a:ext uri="{FF2B5EF4-FFF2-40B4-BE49-F238E27FC236}">
                <a16:creationId xmlns:a16="http://schemas.microsoft.com/office/drawing/2014/main" id="{9B880E75-CD12-8BD9-4D05-EFED6FD59B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177D8EA1-E2BD-9827-9893-30A39C0D82C2}"/>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0FA14ED-342D-4042-970A-B5074A635CC0}" type="slidenum">
              <a:rPr lang="en-GB" altLang="en-US" sz="1200"/>
              <a:pPr eaLnBrk="1" hangingPunct="1"/>
              <a:t>83</a:t>
            </a:fld>
            <a:endParaRPr lang="en-GB" altLang="en-US" sz="120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917BF0B1-6C22-6570-557D-F0CA95064DF9}"/>
              </a:ext>
            </a:extLst>
          </p:cNvPr>
          <p:cNvSpPr>
            <a:spLocks noGrp="1" noRot="1" noChangeAspect="1" noTextEdit="1"/>
          </p:cNvSpPr>
          <p:nvPr>
            <p:ph type="sldImg"/>
          </p:nvPr>
        </p:nvSpPr>
        <p:spPr>
          <a:ln/>
        </p:spPr>
      </p:sp>
      <p:sp>
        <p:nvSpPr>
          <p:cNvPr id="175107" name="Notes Placeholder 2">
            <a:extLst>
              <a:ext uri="{FF2B5EF4-FFF2-40B4-BE49-F238E27FC236}">
                <a16:creationId xmlns:a16="http://schemas.microsoft.com/office/drawing/2014/main" id="{54AF8DC2-E29B-8E35-69E3-2A7C6B0DC8B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 name="Slide Number Placeholder 3">
            <a:extLst>
              <a:ext uri="{FF2B5EF4-FFF2-40B4-BE49-F238E27FC236}">
                <a16:creationId xmlns:a16="http://schemas.microsoft.com/office/drawing/2014/main" id="{3D9C984A-8028-7121-4821-DB38FAFA0243}"/>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9DED7EC-4E99-45D2-9307-2943E6F015FC}" type="slidenum">
              <a:rPr lang="en-GB" altLang="en-US" sz="1200"/>
              <a:pPr eaLnBrk="1" hangingPunct="1"/>
              <a:t>84</a:t>
            </a:fld>
            <a:endParaRPr lang="en-GB" altLang="en-US" sz="120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a:extLst>
              <a:ext uri="{FF2B5EF4-FFF2-40B4-BE49-F238E27FC236}">
                <a16:creationId xmlns:a16="http://schemas.microsoft.com/office/drawing/2014/main" id="{AECDBCED-4C8D-4713-B0F2-8EBC320F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F28B396F-2F4F-43ED-B423-21751AD37368}" type="slidenum">
              <a:rPr lang="en-GB" altLang="en-US" sz="1200"/>
              <a:pPr eaLnBrk="1" hangingPunct="1"/>
              <a:t>85</a:t>
            </a:fld>
            <a:endParaRPr lang="en-GB" altLang="en-US" sz="1200"/>
          </a:p>
        </p:txBody>
      </p:sp>
      <p:sp>
        <p:nvSpPr>
          <p:cNvPr id="176131" name="Rectangle 2">
            <a:extLst>
              <a:ext uri="{FF2B5EF4-FFF2-40B4-BE49-F238E27FC236}">
                <a16:creationId xmlns:a16="http://schemas.microsoft.com/office/drawing/2014/main" id="{8D4DB0FB-E33C-56D1-7577-14BBA80004EF}"/>
              </a:ext>
            </a:extLst>
          </p:cNvPr>
          <p:cNvSpPr>
            <a:spLocks noGrp="1" noRot="1" noChangeAspect="1" noChangeArrowheads="1" noTextEdit="1"/>
          </p:cNvSpPr>
          <p:nvPr>
            <p:ph type="sldImg"/>
          </p:nvPr>
        </p:nvSpPr>
        <p:spPr>
          <a:ln/>
        </p:spPr>
      </p:sp>
      <p:sp>
        <p:nvSpPr>
          <p:cNvPr id="176132" name="Rectangle 3">
            <a:extLst>
              <a:ext uri="{FF2B5EF4-FFF2-40B4-BE49-F238E27FC236}">
                <a16:creationId xmlns:a16="http://schemas.microsoft.com/office/drawing/2014/main" id="{EF6CD529-D130-9A4F-690E-AB724D74CD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Endur Managers Represents functions that you can perform within the system.</a:t>
            </a:r>
          </a:p>
          <a:p>
            <a:r>
              <a:rPr lang="en-GB" altLang="en-US"/>
              <a:t>Trading Manager</a:t>
            </a:r>
          </a:p>
          <a:p>
            <a:pPr>
              <a:buFontTx/>
              <a:buChar char="•"/>
            </a:pPr>
            <a:r>
              <a:rPr lang="en-GB" altLang="en-US"/>
              <a:t>Master instruments</a:t>
            </a:r>
          </a:p>
          <a:p>
            <a:pPr>
              <a:buFontTx/>
              <a:buChar char="•"/>
            </a:pPr>
            <a:r>
              <a:rPr lang="en-GB" altLang="en-US"/>
              <a:t>Sharables</a:t>
            </a:r>
          </a:p>
          <a:p>
            <a:pPr>
              <a:buFontTx/>
              <a:buChar char="•"/>
            </a:pPr>
            <a:r>
              <a:rPr lang="en-GB" altLang="en-US"/>
              <a:t>Trade entry blotters/Trader Desktop</a:t>
            </a:r>
          </a:p>
          <a:p>
            <a:pPr>
              <a:buFontTx/>
              <a:buChar char="•"/>
            </a:pPr>
            <a:r>
              <a:rPr lang="en-GB" altLang="en-US"/>
              <a:t>Templates for uniques</a:t>
            </a:r>
          </a:p>
          <a:p>
            <a:endParaRPr lang="en-GB" altLang="en-US"/>
          </a:p>
          <a:p>
            <a:r>
              <a:rPr lang="en-GB" altLang="en-US"/>
              <a:t>Admin Manager</a:t>
            </a:r>
          </a:p>
          <a:p>
            <a:pPr>
              <a:buFontTx/>
              <a:buChar char="•"/>
            </a:pPr>
            <a:r>
              <a:rPr lang="en-GB" altLang="en-US"/>
              <a:t>Global system set-up</a:t>
            </a:r>
          </a:p>
          <a:p>
            <a:pPr>
              <a:buFontTx/>
              <a:buChar char="•"/>
            </a:pPr>
            <a:r>
              <a:rPr lang="en-GB" altLang="en-US"/>
              <a:t>Static data maintenance</a:t>
            </a:r>
          </a:p>
          <a:p>
            <a:pPr>
              <a:buFontTx/>
              <a:buChar char="•"/>
            </a:pPr>
            <a:r>
              <a:rPr lang="en-GB" altLang="en-US"/>
              <a:t>Security privileges Client Data modelling – Tran Info, Ins Info, Party Info, Personnel Info</a:t>
            </a:r>
          </a:p>
          <a:p>
            <a:pPr>
              <a:buFontTx/>
              <a:buChar char="•"/>
            </a:pPr>
            <a:endParaRPr lang="en-GB" altLang="en-US"/>
          </a:p>
          <a:p>
            <a:r>
              <a:rPr lang="en-GB" altLang="en-US"/>
              <a:t>Reference Manager</a:t>
            </a:r>
          </a:p>
          <a:p>
            <a:pPr>
              <a:buFontTx/>
              <a:buChar char="•"/>
            </a:pPr>
            <a:r>
              <a:rPr lang="en-GB" altLang="en-US"/>
              <a:t>Book structure – info, broker fee structure, settlement terms, agreements, etc</a:t>
            </a:r>
          </a:p>
          <a:p>
            <a:pPr>
              <a:buFontTx/>
              <a:buChar char="•"/>
            </a:pPr>
            <a:r>
              <a:rPr lang="en-GB" altLang="en-US"/>
              <a:t>Personnel – portfolios, security privileges</a:t>
            </a:r>
          </a:p>
          <a:p>
            <a:endParaRPr lang="en-GB" altLang="en-US"/>
          </a:p>
          <a:p>
            <a:r>
              <a:rPr lang="en-GB" altLang="en-US"/>
              <a:t>Credit &amp; Risk Managers</a:t>
            </a:r>
          </a:p>
          <a:p>
            <a:pPr>
              <a:buFontTx/>
              <a:buChar char="•"/>
            </a:pPr>
            <a:r>
              <a:rPr lang="en-GB" altLang="en-US"/>
              <a:t>Check counterparty credit limit</a:t>
            </a:r>
          </a:p>
          <a:p>
            <a:pPr>
              <a:buFontTx/>
              <a:buChar char="•"/>
            </a:pPr>
            <a:r>
              <a:rPr lang="en-GB" altLang="en-US"/>
              <a:t>Market risk e.g. MTM, trader limits</a:t>
            </a:r>
          </a:p>
          <a:p>
            <a:r>
              <a:rPr lang="en-GB" altLang="en-US"/>
              <a:t>Operations Manager</a:t>
            </a:r>
          </a:p>
          <a:p>
            <a:pPr>
              <a:buFontTx/>
              <a:buChar char="•"/>
            </a:pPr>
            <a:r>
              <a:rPr lang="en-GB" altLang="en-US"/>
              <a:t>Mini-modules controlling transaction events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28596" y="928670"/>
            <a:ext cx="8358246" cy="1143000"/>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428596" y="2214553"/>
            <a:ext cx="8358246" cy="407196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459092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856364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11163"/>
            <a:ext cx="8229600" cy="1143000"/>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457200" y="1736725"/>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6147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11163"/>
            <a:ext cx="8229600" cy="1143000"/>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717945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
            <a:ext cx="7772400" cy="1143000"/>
          </a:xfrm>
          <a:prstGeom prst="rect">
            <a:avLst/>
          </a:prstGeom>
        </p:spPr>
        <p:txBody>
          <a:bodyPr/>
          <a:lstStyle/>
          <a:p>
            <a:r>
              <a:rPr lang="en-US"/>
              <a:t>Click to edit Master title style</a:t>
            </a:r>
            <a:endParaRPr lang="en-GB"/>
          </a:p>
        </p:txBody>
      </p:sp>
      <p:sp>
        <p:nvSpPr>
          <p:cNvPr id="3" name="Chart Placeholder 2"/>
          <p:cNvSpPr>
            <a:spLocks noGrp="1"/>
          </p:cNvSpPr>
          <p:nvPr>
            <p:ph type="chart" sz="half" idx="1"/>
          </p:nvPr>
        </p:nvSpPr>
        <p:spPr>
          <a:xfrm>
            <a:off x="685800" y="1905000"/>
            <a:ext cx="3810000" cy="4114800"/>
          </a:xfrm>
          <a:prstGeom prst="rect">
            <a:avLst/>
          </a:prstGeom>
        </p:spPr>
        <p:txBody>
          <a:bodyPr/>
          <a:lstStyle/>
          <a:p>
            <a:pPr lvl="0"/>
            <a:endParaRPr lang="en-GB" noProof="0" dirty="0"/>
          </a:p>
        </p:txBody>
      </p:sp>
      <p:sp>
        <p:nvSpPr>
          <p:cNvPr id="4" name="Text Placeholder 3"/>
          <p:cNvSpPr>
            <a:spLocks noGrp="1"/>
          </p:cNvSpPr>
          <p:nvPr>
            <p:ph type="body" sz="half" idx="2"/>
          </p:nvPr>
        </p:nvSpPr>
        <p:spPr>
          <a:xfrm>
            <a:off x="4648200" y="1905000"/>
            <a:ext cx="38100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93017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
            <a:ext cx="7772400" cy="1143000"/>
          </a:xfrm>
          <a:prstGeom prst="rect">
            <a:avLst/>
          </a:prstGeom>
        </p:spPr>
        <p:txBody>
          <a:bodyPr/>
          <a:lstStyle/>
          <a:p>
            <a:r>
              <a:rPr lang="en-US"/>
              <a:t>Click to edit Master title style</a:t>
            </a:r>
            <a:endParaRPr lang="en-GB"/>
          </a:p>
        </p:txBody>
      </p:sp>
      <p:sp>
        <p:nvSpPr>
          <p:cNvPr id="3" name="SmartArt Placeholder 2"/>
          <p:cNvSpPr>
            <a:spLocks noGrp="1"/>
          </p:cNvSpPr>
          <p:nvPr>
            <p:ph type="dgm" idx="1"/>
          </p:nvPr>
        </p:nvSpPr>
        <p:spPr>
          <a:xfrm>
            <a:off x="685800" y="1905000"/>
            <a:ext cx="7772400" cy="4114800"/>
          </a:xfrm>
          <a:prstGeom prst="rect">
            <a:avLst/>
          </a:prstGeom>
        </p:spPr>
        <p:txBody>
          <a:bodyPr/>
          <a:lstStyle/>
          <a:p>
            <a:pPr lvl="0"/>
            <a:endParaRPr lang="en-GB" noProof="0" dirty="0"/>
          </a:p>
        </p:txBody>
      </p:sp>
    </p:spTree>
    <p:extLst>
      <p:ext uri="{BB962C8B-B14F-4D97-AF65-F5344CB8AC3E}">
        <p14:creationId xmlns:p14="http://schemas.microsoft.com/office/powerpoint/2010/main" val="3158325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23" name="Text Box 7">
            <a:extLst>
              <a:ext uri="{FF2B5EF4-FFF2-40B4-BE49-F238E27FC236}">
                <a16:creationId xmlns:a16="http://schemas.microsoft.com/office/drawing/2014/main" id="{30C117FC-3413-99AA-BA83-301218A9E63E}"/>
              </a:ext>
            </a:extLst>
          </p:cNvPr>
          <p:cNvSpPr txBox="1">
            <a:spLocks noChangeArrowheads="1"/>
          </p:cNvSpPr>
          <p:nvPr/>
        </p:nvSpPr>
        <p:spPr bwMode="auto">
          <a:xfrm>
            <a:off x="2667000" y="6400800"/>
            <a:ext cx="6781800" cy="244475"/>
          </a:xfrm>
          <a:prstGeom prst="rect">
            <a:avLst/>
          </a:prstGeom>
          <a:noFill/>
          <a:ln w="9525">
            <a:noFill/>
            <a:miter lim="800000"/>
            <a:headEnd/>
            <a:tailEnd/>
          </a:ln>
          <a:effectLst/>
        </p:spPr>
        <p:txBody>
          <a:bodyPr>
            <a:spAutoFit/>
          </a:bodyPr>
          <a:lstStyle/>
          <a:p>
            <a:pPr>
              <a:spcBef>
                <a:spcPct val="50000"/>
              </a:spcBef>
              <a:defRPr/>
            </a:pPr>
            <a:r>
              <a:rPr lang="en-GB" sz="1000" b="1" dirty="0">
                <a:solidFill>
                  <a:srgbClr val="494949"/>
                </a:solidFill>
                <a:latin typeface="Verdana" pitchFamily="34" charset="0"/>
                <a:cs typeface="+mn-cs"/>
              </a:rPr>
              <a:t>                  New York </a:t>
            </a:r>
            <a:r>
              <a:rPr lang="en-GB" sz="600" b="1" baseline="30000" dirty="0">
                <a:solidFill>
                  <a:srgbClr val="494949"/>
                </a:solidFill>
                <a:latin typeface="Frutiger 55 Roman" pitchFamily="34" charset="0"/>
                <a:cs typeface="+mn-cs"/>
              </a:rPr>
              <a:t></a:t>
            </a:r>
            <a:r>
              <a:rPr lang="en-GB" sz="1000" b="1" dirty="0">
                <a:solidFill>
                  <a:srgbClr val="494949"/>
                </a:solidFill>
                <a:latin typeface="Verdana" pitchFamily="34" charset="0"/>
                <a:cs typeface="+mn-cs"/>
              </a:rPr>
              <a:t> London </a:t>
            </a:r>
            <a:r>
              <a:rPr lang="en-GB" sz="600" b="1" baseline="30000" dirty="0">
                <a:solidFill>
                  <a:srgbClr val="494949"/>
                </a:solidFill>
                <a:latin typeface="Frutiger 55 Roman" pitchFamily="34" charset="0"/>
                <a:cs typeface="+mn-cs"/>
              </a:rPr>
              <a:t></a:t>
            </a:r>
            <a:r>
              <a:rPr lang="en-GB" sz="1000" b="1" dirty="0">
                <a:solidFill>
                  <a:srgbClr val="494949"/>
                </a:solidFill>
                <a:latin typeface="Verdana" pitchFamily="34" charset="0"/>
                <a:cs typeface="+mn-cs"/>
              </a:rPr>
              <a:t> Houston </a:t>
            </a:r>
            <a:r>
              <a:rPr lang="en-GB" sz="600" b="1" baseline="30000" dirty="0">
                <a:solidFill>
                  <a:srgbClr val="494949"/>
                </a:solidFill>
                <a:latin typeface="Frutiger 55 Roman" pitchFamily="34" charset="0"/>
                <a:cs typeface="+mn-cs"/>
              </a:rPr>
              <a:t></a:t>
            </a:r>
            <a:r>
              <a:rPr lang="en-GB" sz="1000" b="1" dirty="0">
                <a:solidFill>
                  <a:srgbClr val="494949"/>
                </a:solidFill>
                <a:latin typeface="Verdana" pitchFamily="34" charset="0"/>
                <a:cs typeface="+mn-cs"/>
              </a:rPr>
              <a:t> Berlin </a:t>
            </a:r>
            <a:r>
              <a:rPr lang="en-GB" sz="600" b="1" baseline="30000" dirty="0">
                <a:solidFill>
                  <a:srgbClr val="494949"/>
                </a:solidFill>
                <a:latin typeface="Frutiger 55 Roman" pitchFamily="34" charset="0"/>
                <a:cs typeface="+mn-cs"/>
              </a:rPr>
              <a:t></a:t>
            </a:r>
            <a:r>
              <a:rPr lang="en-GB" sz="1000" b="1" dirty="0">
                <a:solidFill>
                  <a:srgbClr val="494949"/>
                </a:solidFill>
                <a:latin typeface="Verdana" pitchFamily="34" charset="0"/>
                <a:cs typeface="+mn-cs"/>
              </a:rPr>
              <a:t> Sydney </a:t>
            </a:r>
            <a:r>
              <a:rPr lang="en-GB" sz="600" b="1" baseline="30000" dirty="0">
                <a:solidFill>
                  <a:srgbClr val="494949"/>
                </a:solidFill>
                <a:latin typeface="Frutiger 55 Roman" pitchFamily="34" charset="0"/>
                <a:cs typeface="+mn-cs"/>
              </a:rPr>
              <a:t></a:t>
            </a:r>
            <a:r>
              <a:rPr lang="en-GB" sz="1000" b="1" dirty="0">
                <a:solidFill>
                  <a:srgbClr val="494949"/>
                </a:solidFill>
                <a:latin typeface="Verdana" pitchFamily="34" charset="0"/>
                <a:cs typeface="+mn-cs"/>
              </a:rPr>
              <a:t> </a:t>
            </a:r>
            <a:r>
              <a:rPr lang="en-GB" sz="1000" b="1" dirty="0">
                <a:solidFill>
                  <a:srgbClr val="494949"/>
                </a:solidFill>
                <a:latin typeface="Verdana" pitchFamily="34" charset="0"/>
                <a:cs typeface="Times New Roman" pitchFamily="18" charset="0"/>
              </a:rPr>
              <a:t>São Paulo</a:t>
            </a:r>
            <a:r>
              <a:rPr lang="en-GB" sz="1000" b="1" dirty="0">
                <a:solidFill>
                  <a:srgbClr val="494949"/>
                </a:solidFill>
                <a:latin typeface="Verdana" pitchFamily="34" charset="0"/>
                <a:cs typeface="+mn-cs"/>
              </a:rPr>
              <a:t>           www.olf.com</a:t>
            </a:r>
          </a:p>
        </p:txBody>
      </p:sp>
      <p:sp>
        <p:nvSpPr>
          <p:cNvPr id="9224" name="Line 8">
            <a:extLst>
              <a:ext uri="{FF2B5EF4-FFF2-40B4-BE49-F238E27FC236}">
                <a16:creationId xmlns:a16="http://schemas.microsoft.com/office/drawing/2014/main" id="{5947EA57-2B15-745E-1511-B9F773D7B73C}"/>
              </a:ext>
            </a:extLst>
          </p:cNvPr>
          <p:cNvSpPr>
            <a:spLocks noChangeAspect="1" noChangeShapeType="1"/>
          </p:cNvSpPr>
          <p:nvPr/>
        </p:nvSpPr>
        <p:spPr bwMode="auto">
          <a:xfrm>
            <a:off x="7747000" y="6413500"/>
            <a:ext cx="1588" cy="255588"/>
          </a:xfrm>
          <a:prstGeom prst="line">
            <a:avLst/>
          </a:prstGeom>
          <a:noFill/>
          <a:ln w="12700">
            <a:solidFill>
              <a:srgbClr val="494949"/>
            </a:solidFill>
            <a:round/>
            <a:headEnd/>
            <a:tailEnd/>
          </a:ln>
          <a:effectLst/>
        </p:spPr>
        <p:txBody>
          <a:bodyPr anchor="ctr"/>
          <a:lstStyle/>
          <a:p>
            <a:pPr>
              <a:defRPr/>
            </a:pPr>
            <a:endParaRPr lang="en-GB" dirty="0">
              <a:cs typeface="+mn-cs"/>
            </a:endParaRPr>
          </a:p>
        </p:txBody>
      </p:sp>
      <p:pic>
        <p:nvPicPr>
          <p:cNvPr id="2052" name="Picture 10" descr="openlink">
            <a:extLst>
              <a:ext uri="{FF2B5EF4-FFF2-40B4-BE49-F238E27FC236}">
                <a16:creationId xmlns:a16="http://schemas.microsoft.com/office/drawing/2014/main" id="{44C92384-F8A0-9511-4F91-BB820343EB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3675063"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rial" pitchFamily="34" charset="0"/>
        </a:defRPr>
      </a:lvl2pPr>
      <a:lvl3pPr algn="ctr" rtl="0" eaLnBrk="0" fontAlgn="base" hangingPunct="0">
        <a:spcBef>
          <a:spcPct val="0"/>
        </a:spcBef>
        <a:spcAft>
          <a:spcPct val="0"/>
        </a:spcAft>
        <a:defRPr sz="4400">
          <a:solidFill>
            <a:schemeClr val="tx2"/>
          </a:solidFill>
          <a:latin typeface="Arial" pitchFamily="34" charset="0"/>
          <a:cs typeface="Arial" pitchFamily="34" charset="0"/>
        </a:defRPr>
      </a:lvl3pPr>
      <a:lvl4pPr algn="ctr" rtl="0" eaLnBrk="0" fontAlgn="base" hangingPunct="0">
        <a:spcBef>
          <a:spcPct val="0"/>
        </a:spcBef>
        <a:spcAft>
          <a:spcPct val="0"/>
        </a:spcAft>
        <a:defRPr sz="4400">
          <a:solidFill>
            <a:schemeClr val="tx2"/>
          </a:solidFill>
          <a:latin typeface="Arial" pitchFamily="34" charset="0"/>
          <a:cs typeface="Arial" pitchFamily="34" charset="0"/>
        </a:defRPr>
      </a:lvl4pPr>
      <a:lvl5pPr algn="ctr" rtl="0" eaLnBrk="0" fontAlgn="base" hangingPunct="0">
        <a:spcBef>
          <a:spcPct val="0"/>
        </a:spcBef>
        <a:spcAft>
          <a:spcPct val="0"/>
        </a:spcAft>
        <a:defRPr sz="4400">
          <a:solidFill>
            <a:schemeClr val="tx2"/>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2"/>
          </a:solidFill>
          <a:latin typeface="Arial" pitchFamily="34" charset="0"/>
          <a:cs typeface="Arial" pitchFamily="34" charset="0"/>
        </a:defRPr>
      </a:lvl6pPr>
      <a:lvl7pPr marL="914400" algn="ctr" rtl="0" eaLnBrk="1" fontAlgn="base" hangingPunct="1">
        <a:spcBef>
          <a:spcPct val="0"/>
        </a:spcBef>
        <a:spcAft>
          <a:spcPct val="0"/>
        </a:spcAft>
        <a:defRPr sz="4400">
          <a:solidFill>
            <a:schemeClr val="tx2"/>
          </a:solidFill>
          <a:latin typeface="Arial" pitchFamily="34" charset="0"/>
          <a:cs typeface="Arial" pitchFamily="34" charset="0"/>
        </a:defRPr>
      </a:lvl7pPr>
      <a:lvl8pPr marL="1371600" algn="ctr" rtl="0" eaLnBrk="1" fontAlgn="base" hangingPunct="1">
        <a:spcBef>
          <a:spcPct val="0"/>
        </a:spcBef>
        <a:spcAft>
          <a:spcPct val="0"/>
        </a:spcAft>
        <a:defRPr sz="4400">
          <a:solidFill>
            <a:schemeClr val="tx2"/>
          </a:solidFill>
          <a:latin typeface="Arial" pitchFamily="34" charset="0"/>
          <a:cs typeface="Arial" pitchFamily="34" charset="0"/>
        </a:defRPr>
      </a:lvl8pPr>
      <a:lvl9pPr marL="1828800" algn="ctr" rtl="0" eaLnBrk="1" fontAlgn="base" hangingPunct="1">
        <a:spcBef>
          <a:spcPct val="0"/>
        </a:spcBef>
        <a:spcAft>
          <a:spcPct val="0"/>
        </a:spcAft>
        <a:defRPr sz="4400">
          <a:solidFill>
            <a:schemeClr val="tx2"/>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7.xml"/><Relationship Id="rId1" Type="http://schemas.openxmlformats.org/officeDocument/2006/relationships/slideLayout" Target="../slideLayouts/slideLayout5.xml"/><Relationship Id="rId5" Type="http://schemas.openxmlformats.org/officeDocument/2006/relationships/image" Target="../media/image47.png"/><Relationship Id="rId4" Type="http://schemas.openxmlformats.org/officeDocument/2006/relationships/image" Target="../media/image46.png"/></Relationships>
</file>

<file path=ppt/slides/_rels/slide5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6.xml"/><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6.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7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7.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6CBDEC2-8ED8-4E00-C8C1-147265076520}"/>
              </a:ext>
            </a:extLst>
          </p:cNvPr>
          <p:cNvSpPr>
            <a:spLocks noChangeArrowheads="1"/>
          </p:cNvSpPr>
          <p:nvPr/>
        </p:nvSpPr>
        <p:spPr bwMode="auto">
          <a:xfrm>
            <a:off x="228600" y="0"/>
            <a:ext cx="86868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tabLst>
                <a:tab pos="4170363" algn="l"/>
              </a:tabLst>
              <a:defRPr sz="2400">
                <a:solidFill>
                  <a:schemeClr val="tx1"/>
                </a:solidFill>
                <a:latin typeface="Times New Roman" panose="02020603050405020304" pitchFamily="18" charset="0"/>
                <a:cs typeface="Arial" panose="020B0604020202020204" pitchFamily="34" charset="0"/>
              </a:defRPr>
            </a:lvl1pPr>
            <a:lvl2pPr marL="742950" indent="-285750" eaLnBrk="0" hangingPunct="0">
              <a:tabLst>
                <a:tab pos="4170363" algn="l"/>
              </a:tabLst>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tabLst>
                <a:tab pos="4170363" algn="l"/>
              </a:tabLst>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tabLst>
                <a:tab pos="4170363" algn="l"/>
              </a:tabLst>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tabLst>
                <a:tab pos="4170363" algn="l"/>
              </a:tabLst>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tabLst>
                <a:tab pos="4170363" algn="l"/>
              </a:tabLs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tabLst>
                <a:tab pos="4170363" algn="l"/>
              </a:tabLs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tabLst>
                <a:tab pos="4170363" algn="l"/>
              </a:tabLs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tabLst>
                <a:tab pos="4170363" algn="l"/>
              </a:tabLst>
              <a:defRPr sz="2400">
                <a:solidFill>
                  <a:schemeClr val="tx1"/>
                </a:solidFill>
                <a:latin typeface="Times New Roman" panose="02020603050405020304" pitchFamily="18" charset="0"/>
                <a:cs typeface="Arial" panose="020B0604020202020204" pitchFamily="34" charset="0"/>
              </a:defRPr>
            </a:lvl9pPr>
          </a:lstStyle>
          <a:p>
            <a:pPr algn="ctr"/>
            <a:r>
              <a:rPr lang="en-US" altLang="en-US" sz="4400" b="1">
                <a:solidFill>
                  <a:schemeClr val="bg1"/>
                </a:solidFill>
                <a:latin typeface="Verdana" panose="020B0604030504040204" pitchFamily="34" charset="0"/>
              </a:rPr>
              <a:t>Introduction to </a:t>
            </a:r>
          </a:p>
          <a:p>
            <a:pPr algn="ctr"/>
            <a:r>
              <a:rPr lang="en-US" altLang="en-US" sz="4400" b="1">
                <a:solidFill>
                  <a:schemeClr val="bg1"/>
                </a:solidFill>
                <a:latin typeface="Verdana" panose="020B0604030504040204" pitchFamily="34" charset="0"/>
              </a:rPr>
              <a:t>OpenLink and Endur</a:t>
            </a:r>
          </a:p>
          <a:p>
            <a:pPr algn="ctr"/>
            <a:endParaRPr lang="en-US" altLang="en-US" sz="4400" b="1">
              <a:solidFill>
                <a:schemeClr val="bg1"/>
              </a:solidFill>
              <a:latin typeface="Verdana" panose="020B0604030504040204" pitchFamily="34" charset="0"/>
            </a:endParaRPr>
          </a:p>
        </p:txBody>
      </p:sp>
      <p:pic>
        <p:nvPicPr>
          <p:cNvPr id="3075" name="Picture 3" descr="powerpoint screen">
            <a:extLst>
              <a:ext uri="{FF2B5EF4-FFF2-40B4-BE49-F238E27FC236}">
                <a16:creationId xmlns:a16="http://schemas.microsoft.com/office/drawing/2014/main" id="{5C3E29A5-F0AD-A01A-78DA-6B83EE2A6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6021"/>
          <a:stretch>
            <a:fillRect/>
          </a:stretch>
        </p:blipFill>
        <p:spPr bwMode="auto">
          <a:xfrm>
            <a:off x="4191000" y="457200"/>
            <a:ext cx="473710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openlink_logo_wtagline">
            <a:extLst>
              <a:ext uri="{FF2B5EF4-FFF2-40B4-BE49-F238E27FC236}">
                <a16:creationId xmlns:a16="http://schemas.microsoft.com/office/drawing/2014/main" id="{53691E10-60C9-451E-1B25-A503B3114F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0088" y="5641975"/>
            <a:ext cx="18653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a:extLst>
              <a:ext uri="{FF2B5EF4-FFF2-40B4-BE49-F238E27FC236}">
                <a16:creationId xmlns:a16="http://schemas.microsoft.com/office/drawing/2014/main" id="{F6F87BFD-F436-62C7-E539-7956AEFE0AF6}"/>
              </a:ext>
            </a:extLst>
          </p:cNvPr>
          <p:cNvSpPr>
            <a:spLocks noGrp="1" noChangeArrowheads="1"/>
          </p:cNvSpPr>
          <p:nvPr>
            <p:ph type="subTitle" idx="1"/>
          </p:nvPr>
        </p:nvSpPr>
        <p:spPr bwMode="auto">
          <a:xfrm>
            <a:off x="3857625" y="3643313"/>
            <a:ext cx="4857750" cy="175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600" b="1" i="1">
                <a:solidFill>
                  <a:srgbClr val="002B6D"/>
                </a:solidFill>
              </a:rPr>
              <a:t>Endur Training</a:t>
            </a:r>
            <a:br>
              <a:rPr lang="en-US" altLang="en-US" sz="3600" b="1" i="1">
                <a:solidFill>
                  <a:srgbClr val="002B6D"/>
                </a:solidFill>
              </a:rPr>
            </a:br>
            <a:endParaRPr lang="en-GB" altLang="en-US" sz="3600" b="1" i="1">
              <a:solidFill>
                <a:srgbClr val="002B6D"/>
              </a:solidFill>
            </a:endParaRPr>
          </a:p>
        </p:txBody>
      </p:sp>
      <p:pic>
        <p:nvPicPr>
          <p:cNvPr id="3078" name="Picture 12" descr="Corporate Image_2006_reduced">
            <a:extLst>
              <a:ext uri="{FF2B5EF4-FFF2-40B4-BE49-F238E27FC236}">
                <a16:creationId xmlns:a16="http://schemas.microsoft.com/office/drawing/2014/main" id="{BCA53967-BE7F-AA3A-A056-B3A5055DEB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214438"/>
            <a:ext cx="4214813"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88D6AE0-F2CC-9CC3-6BB7-20489DDBAB59}"/>
              </a:ext>
            </a:extLst>
          </p:cNvPr>
          <p:cNvSpPr>
            <a:spLocks noGrp="1" noChangeArrowheads="1"/>
          </p:cNvSpPr>
          <p:nvPr>
            <p:ph type="title"/>
          </p:nvPr>
        </p:nvSpPr>
        <p:spPr bwMode="auto">
          <a:xfrm>
            <a:off x="428625" y="92868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INTRODUCTION TO ENDUR</a:t>
            </a:r>
          </a:p>
        </p:txBody>
      </p:sp>
      <p:sp>
        <p:nvSpPr>
          <p:cNvPr id="8196" name="Rectangle 4">
            <a:extLst>
              <a:ext uri="{FF2B5EF4-FFF2-40B4-BE49-F238E27FC236}">
                <a16:creationId xmlns:a16="http://schemas.microsoft.com/office/drawing/2014/main" id="{0BBD126B-2099-13BA-763B-8F6FBED8FC7D}"/>
              </a:ext>
            </a:extLst>
          </p:cNvPr>
          <p:cNvSpPr>
            <a:spLocks noChangeArrowheads="1"/>
          </p:cNvSpPr>
          <p:nvPr/>
        </p:nvSpPr>
        <p:spPr bwMode="auto">
          <a:xfrm>
            <a:off x="2000250" y="2500313"/>
            <a:ext cx="5545138"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sz="3600">
                <a:solidFill>
                  <a:srgbClr val="2F2F2F"/>
                </a:solidFill>
                <a:latin typeface="Tahoma" panose="020B0604030504040204" pitchFamily="34" charset="0"/>
              </a:rPr>
              <a:t>Our Aim for today:</a:t>
            </a:r>
          </a:p>
          <a:p>
            <a:pPr algn="ctr" eaLnBrk="1" hangingPunct="1"/>
            <a:endParaRPr lang="en-GB" altLang="en-US" sz="3600">
              <a:solidFill>
                <a:srgbClr val="2F2F2F"/>
              </a:solidFill>
              <a:latin typeface="Tahoma" panose="020B0604030504040204" pitchFamily="34" charset="0"/>
            </a:endParaRPr>
          </a:p>
          <a:p>
            <a:pPr algn="ctr" eaLnBrk="1" hangingPunct="1"/>
            <a:r>
              <a:rPr lang="en-GB" altLang="en-US" sz="3600">
                <a:solidFill>
                  <a:srgbClr val="2F2F2F"/>
                </a:solidFill>
                <a:latin typeface="Tahoma" panose="020B0604030504040204" pitchFamily="34" charset="0"/>
              </a:rPr>
              <a:t>To provide an overview of OpenLink Endur processes, terminology and key functionality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1+#ppt_w/2"/>
                                          </p:val>
                                        </p:tav>
                                        <p:tav tm="100000">
                                          <p:val>
                                            <p:strVal val="#ppt_x"/>
                                          </p:val>
                                        </p:tav>
                                      </p:tavLst>
                                    </p:anim>
                                    <p:anim calcmode="lin" valueType="num">
                                      <p:cBhvr additive="base">
                                        <p:cTn id="8" dur="500" fill="hold"/>
                                        <p:tgtEl>
                                          <p:spTgt spid="819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0" fill="hold" nodeType="afterEffect">
                                  <p:stCondLst>
                                    <p:cond delay="0"/>
                                  </p:stCondLst>
                                  <p:childTnLst>
                                    <p:set>
                                      <p:cBhvr>
                                        <p:cTn id="11" dur="1" fill="hold">
                                          <p:stCondLst>
                                            <p:cond delay="0"/>
                                          </p:stCondLst>
                                        </p:cTn>
                                        <p:tgtEl>
                                          <p:spTgt spid="8196"/>
                                        </p:tgtEl>
                                        <p:attrNameLst>
                                          <p:attrName>style.visibility</p:attrName>
                                        </p:attrNameLst>
                                      </p:cBhvr>
                                      <p:to>
                                        <p:strVal val="visible"/>
                                      </p:to>
                                    </p:set>
                                    <p:anim calcmode="lin" valueType="num">
                                      <p:cBhvr>
                                        <p:cTn id="12" dur="500" fill="hold"/>
                                        <p:tgtEl>
                                          <p:spTgt spid="8196"/>
                                        </p:tgtEl>
                                        <p:attrNameLst>
                                          <p:attrName>ppt_w</p:attrName>
                                        </p:attrNameLst>
                                      </p:cBhvr>
                                      <p:tavLst>
                                        <p:tav tm="0">
                                          <p:val>
                                            <p:fltVal val="0"/>
                                          </p:val>
                                        </p:tav>
                                        <p:tav tm="100000">
                                          <p:val>
                                            <p:strVal val="#ppt_w"/>
                                          </p:val>
                                        </p:tav>
                                      </p:tavLst>
                                    </p:anim>
                                    <p:anim calcmode="lin" valueType="num">
                                      <p:cBhvr>
                                        <p:cTn id="13" dur="500" fill="hold"/>
                                        <p:tgtEl>
                                          <p:spTgt spid="8196"/>
                                        </p:tgtEl>
                                        <p:attrNameLst>
                                          <p:attrName>ppt_h</p:attrName>
                                        </p:attrNameLst>
                                      </p:cBhvr>
                                      <p:tavLst>
                                        <p:tav tm="0">
                                          <p:val>
                                            <p:fltVal val="0"/>
                                          </p:val>
                                        </p:tav>
                                        <p:tav tm="100000">
                                          <p:val>
                                            <p:strVal val="#ppt_h"/>
                                          </p:val>
                                        </p:tav>
                                      </p:tavLst>
                                    </p:anim>
                                    <p:animEffect transition="in" filter="fade">
                                      <p:cBhvr>
                                        <p:cTn id="14"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819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748802E4-2F22-AD27-1325-2BD3C80A22FB}"/>
              </a:ext>
            </a:extLst>
          </p:cNvPr>
          <p:cNvSpPr>
            <a:spLocks noGrp="1" noChangeArrowheads="1"/>
          </p:cNvSpPr>
          <p:nvPr>
            <p:ph type="ctrTitle"/>
          </p:nvPr>
        </p:nvSpPr>
        <p:spPr bwMode="auto">
          <a:xfrm>
            <a:off x="714375" y="3214688"/>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Overview of Endur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256002"/>
                                        </p:tgtEl>
                                        <p:attrNameLst>
                                          <p:attrName>style.visibility</p:attrName>
                                        </p:attrNameLst>
                                      </p:cBhvr>
                                      <p:to>
                                        <p:strVal val="visible"/>
                                      </p:to>
                                    </p:set>
                                    <p:anim calcmode="lin" valueType="num">
                                      <p:cBhvr>
                                        <p:cTn id="7" dur="500" fill="hold"/>
                                        <p:tgtEl>
                                          <p:spTgt spid="256002"/>
                                        </p:tgtEl>
                                        <p:attrNameLst>
                                          <p:attrName>ppt_w</p:attrName>
                                        </p:attrNameLst>
                                      </p:cBhvr>
                                      <p:tavLst>
                                        <p:tav tm="0">
                                          <p:val>
                                            <p:fltVal val="0"/>
                                          </p:val>
                                        </p:tav>
                                        <p:tav tm="100000">
                                          <p:val>
                                            <p:strVal val="#ppt_w"/>
                                          </p:val>
                                        </p:tav>
                                      </p:tavLst>
                                    </p:anim>
                                    <p:anim calcmode="lin" valueType="num">
                                      <p:cBhvr>
                                        <p:cTn id="8" dur="500" fill="hold"/>
                                        <p:tgtEl>
                                          <p:spTgt spid="256002"/>
                                        </p:tgtEl>
                                        <p:attrNameLst>
                                          <p:attrName>ppt_h</p:attrName>
                                        </p:attrNameLst>
                                      </p:cBhvr>
                                      <p:tavLst>
                                        <p:tav tm="0">
                                          <p:val>
                                            <p:fltVal val="0"/>
                                          </p:val>
                                        </p:tav>
                                        <p:tav tm="100000">
                                          <p:val>
                                            <p:strVal val="#ppt_h"/>
                                          </p:val>
                                        </p:tav>
                                      </p:tavLst>
                                    </p:anim>
                                    <p:animEffect transition="in" filter="fade">
                                      <p:cBhvr>
                                        <p:cTn id="9" dur="500"/>
                                        <p:tgtEl>
                                          <p:spTgt spid="256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CA09299-55C9-DA32-E630-1F299FABB0AD}"/>
              </a:ext>
            </a:extLst>
          </p:cNvPr>
          <p:cNvSpPr>
            <a:spLocks noGrp="1" noChangeArrowheads="1"/>
          </p:cNvSpPr>
          <p:nvPr>
            <p:ph type="title"/>
          </p:nvPr>
        </p:nvSpPr>
        <p:spPr bwMode="auto">
          <a:xfrm>
            <a:off x="3286125" y="411163"/>
            <a:ext cx="54006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Overview of Endur</a:t>
            </a:r>
          </a:p>
        </p:txBody>
      </p:sp>
      <p:grpSp>
        <p:nvGrpSpPr>
          <p:cNvPr id="6147" name="Group 13">
            <a:extLst>
              <a:ext uri="{FF2B5EF4-FFF2-40B4-BE49-F238E27FC236}">
                <a16:creationId xmlns:a16="http://schemas.microsoft.com/office/drawing/2014/main" id="{1924EDE6-5C10-95BD-E6DA-4DFC4338A383}"/>
              </a:ext>
            </a:extLst>
          </p:cNvPr>
          <p:cNvGrpSpPr>
            <a:grpSpLocks/>
          </p:cNvGrpSpPr>
          <p:nvPr/>
        </p:nvGrpSpPr>
        <p:grpSpPr bwMode="auto">
          <a:xfrm>
            <a:off x="2928938" y="1357313"/>
            <a:ext cx="5486400" cy="4786312"/>
            <a:chOff x="2895600" y="990600"/>
            <a:chExt cx="5486400" cy="5029200"/>
          </a:xfrm>
        </p:grpSpPr>
        <p:grpSp>
          <p:nvGrpSpPr>
            <p:cNvPr id="6150" name="Group 18">
              <a:extLst>
                <a:ext uri="{FF2B5EF4-FFF2-40B4-BE49-F238E27FC236}">
                  <a16:creationId xmlns:a16="http://schemas.microsoft.com/office/drawing/2014/main" id="{413B71DF-E613-4AA1-3C93-1FCD59D12732}"/>
                </a:ext>
              </a:extLst>
            </p:cNvPr>
            <p:cNvGrpSpPr>
              <a:grpSpLocks/>
            </p:cNvGrpSpPr>
            <p:nvPr/>
          </p:nvGrpSpPr>
          <p:grpSpPr bwMode="auto">
            <a:xfrm>
              <a:off x="4876800" y="2362200"/>
              <a:ext cx="3505200" cy="3657600"/>
              <a:chOff x="3072" y="1488"/>
              <a:chExt cx="2208" cy="2304"/>
            </a:xfrm>
          </p:grpSpPr>
          <p:sp>
            <p:nvSpPr>
              <p:cNvPr id="6157" name="Oval 4">
                <a:extLst>
                  <a:ext uri="{FF2B5EF4-FFF2-40B4-BE49-F238E27FC236}">
                    <a16:creationId xmlns:a16="http://schemas.microsoft.com/office/drawing/2014/main" id="{C028B716-BCDC-F376-35B2-E6F0E1D3E959}"/>
                  </a:ext>
                </a:extLst>
              </p:cNvPr>
              <p:cNvSpPr>
                <a:spLocks noChangeArrowheads="1"/>
              </p:cNvSpPr>
              <p:nvPr/>
            </p:nvSpPr>
            <p:spPr bwMode="auto">
              <a:xfrm>
                <a:off x="3072" y="1488"/>
                <a:ext cx="2208" cy="2304"/>
              </a:xfrm>
              <a:prstGeom prst="ellipse">
                <a:avLst/>
              </a:prstGeom>
              <a:noFill/>
              <a:ln w="2857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rIns="126000" anchor="b"/>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r>
                  <a:rPr lang="en-GB" altLang="en-US" b="1">
                    <a:solidFill>
                      <a:srgbClr val="FF5050"/>
                    </a:solidFill>
                  </a:rPr>
                  <a:t>Middle</a:t>
                </a:r>
              </a:p>
              <a:p>
                <a:pPr algn="r" eaLnBrk="1" hangingPunct="1"/>
                <a:r>
                  <a:rPr lang="en-GB" altLang="en-US" b="1">
                    <a:solidFill>
                      <a:srgbClr val="FF5050"/>
                    </a:solidFill>
                  </a:rPr>
                  <a:t>Office</a:t>
                </a:r>
              </a:p>
            </p:txBody>
          </p:sp>
          <p:sp>
            <p:nvSpPr>
              <p:cNvPr id="6158" name="Text Box 7">
                <a:extLst>
                  <a:ext uri="{FF2B5EF4-FFF2-40B4-BE49-F238E27FC236}">
                    <a16:creationId xmlns:a16="http://schemas.microsoft.com/office/drawing/2014/main" id="{0C2AC7A4-091D-5A77-2C47-7F72F80C29F5}"/>
                  </a:ext>
                </a:extLst>
              </p:cNvPr>
              <p:cNvSpPr txBox="1">
                <a:spLocks noChangeArrowheads="1"/>
              </p:cNvSpPr>
              <p:nvPr/>
            </p:nvSpPr>
            <p:spPr bwMode="auto">
              <a:xfrm>
                <a:off x="4464" y="2544"/>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FF5050"/>
                    </a:solidFill>
                    <a:latin typeface="Arial" panose="020B0604020202020204" pitchFamily="34" charset="0"/>
                  </a:rPr>
                  <a:t>Risk Management</a:t>
                </a:r>
              </a:p>
            </p:txBody>
          </p:sp>
        </p:grpSp>
        <p:grpSp>
          <p:nvGrpSpPr>
            <p:cNvPr id="6151" name="Group 16">
              <a:extLst>
                <a:ext uri="{FF2B5EF4-FFF2-40B4-BE49-F238E27FC236}">
                  <a16:creationId xmlns:a16="http://schemas.microsoft.com/office/drawing/2014/main" id="{68912884-B9D1-5772-49A9-B51726DCE8AC}"/>
                </a:ext>
              </a:extLst>
            </p:cNvPr>
            <p:cNvGrpSpPr>
              <a:grpSpLocks/>
            </p:cNvGrpSpPr>
            <p:nvPr/>
          </p:nvGrpSpPr>
          <p:grpSpPr bwMode="auto">
            <a:xfrm>
              <a:off x="3886200" y="990600"/>
              <a:ext cx="3505200" cy="3657600"/>
              <a:chOff x="2448" y="624"/>
              <a:chExt cx="2208" cy="2304"/>
            </a:xfrm>
          </p:grpSpPr>
          <p:sp>
            <p:nvSpPr>
              <p:cNvPr id="6155" name="Oval 6">
                <a:extLst>
                  <a:ext uri="{FF2B5EF4-FFF2-40B4-BE49-F238E27FC236}">
                    <a16:creationId xmlns:a16="http://schemas.microsoft.com/office/drawing/2014/main" id="{7D625525-5614-C410-5911-9226114E5977}"/>
                  </a:ext>
                </a:extLst>
              </p:cNvPr>
              <p:cNvSpPr>
                <a:spLocks noChangeArrowheads="1"/>
              </p:cNvSpPr>
              <p:nvPr/>
            </p:nvSpPr>
            <p:spPr bwMode="auto">
              <a:xfrm>
                <a:off x="2448" y="624"/>
                <a:ext cx="2208" cy="2304"/>
              </a:xfrm>
              <a:prstGeom prst="ellipse">
                <a:avLst/>
              </a:prstGeom>
              <a:noFill/>
              <a:ln w="28575">
                <a:solidFill>
                  <a:srgbClr val="3366CC"/>
                </a:solidFill>
                <a:round/>
                <a:headEnd/>
                <a:tailEnd/>
              </a:ln>
              <a:extLst>
                <a:ext uri="{909E8E84-426E-40DD-AFC4-6F175D3DCCD1}">
                  <a14:hiddenFill xmlns:a14="http://schemas.microsoft.com/office/drawing/2010/main">
                    <a:solidFill>
                      <a:srgbClr val="FFFFFF"/>
                    </a:solidFill>
                  </a14:hiddenFill>
                </a:ext>
              </a:extLst>
            </p:spPr>
            <p:txBody>
              <a:bodyPr wrap="none" tIns="0"/>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rgbClr val="3366CC"/>
                    </a:solidFill>
                  </a:rPr>
                  <a:t>Front Office</a:t>
                </a:r>
              </a:p>
            </p:txBody>
          </p:sp>
          <p:sp>
            <p:nvSpPr>
              <p:cNvPr id="6156" name="Text Box 8">
                <a:extLst>
                  <a:ext uri="{FF2B5EF4-FFF2-40B4-BE49-F238E27FC236}">
                    <a16:creationId xmlns:a16="http://schemas.microsoft.com/office/drawing/2014/main" id="{3029EB63-ED44-A081-57FF-D31EAF1F5836}"/>
                  </a:ext>
                </a:extLst>
              </p:cNvPr>
              <p:cNvSpPr txBox="1">
                <a:spLocks noChangeArrowheads="1"/>
              </p:cNvSpPr>
              <p:nvPr/>
            </p:nvSpPr>
            <p:spPr bwMode="auto">
              <a:xfrm>
                <a:off x="3216" y="1296"/>
                <a:ext cx="7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3366CC"/>
                    </a:solidFill>
                    <a:latin typeface="Arial" panose="020B0604020202020204" pitchFamily="34" charset="0"/>
                  </a:rPr>
                  <a:t>Trading</a:t>
                </a:r>
              </a:p>
            </p:txBody>
          </p:sp>
        </p:grpSp>
        <p:grpSp>
          <p:nvGrpSpPr>
            <p:cNvPr id="6152" name="Group 17">
              <a:extLst>
                <a:ext uri="{FF2B5EF4-FFF2-40B4-BE49-F238E27FC236}">
                  <a16:creationId xmlns:a16="http://schemas.microsoft.com/office/drawing/2014/main" id="{B3E12B94-210A-5F31-510D-763DF7B7BBFE}"/>
                </a:ext>
              </a:extLst>
            </p:cNvPr>
            <p:cNvGrpSpPr>
              <a:grpSpLocks/>
            </p:cNvGrpSpPr>
            <p:nvPr/>
          </p:nvGrpSpPr>
          <p:grpSpPr bwMode="auto">
            <a:xfrm>
              <a:off x="2895600" y="2362200"/>
              <a:ext cx="3717925" cy="3657600"/>
              <a:chOff x="1824" y="1488"/>
              <a:chExt cx="2342" cy="2304"/>
            </a:xfrm>
          </p:grpSpPr>
          <p:sp>
            <p:nvSpPr>
              <p:cNvPr id="6153" name="Oval 5">
                <a:extLst>
                  <a:ext uri="{FF2B5EF4-FFF2-40B4-BE49-F238E27FC236}">
                    <a16:creationId xmlns:a16="http://schemas.microsoft.com/office/drawing/2014/main" id="{5EDE58E0-65FB-0203-D013-26757F38844C}"/>
                  </a:ext>
                </a:extLst>
              </p:cNvPr>
              <p:cNvSpPr>
                <a:spLocks noChangeArrowheads="1"/>
              </p:cNvSpPr>
              <p:nvPr/>
            </p:nvSpPr>
            <p:spPr bwMode="auto">
              <a:xfrm>
                <a:off x="1824" y="1488"/>
                <a:ext cx="2342" cy="2304"/>
              </a:xfrm>
              <a:prstGeom prst="ellipse">
                <a:avLst/>
              </a:prstGeom>
              <a:noFill/>
              <a:ln w="28575">
                <a:solidFill>
                  <a:srgbClr val="00CC00"/>
                </a:solidFill>
                <a:round/>
                <a:headEnd/>
                <a:tailEnd/>
              </a:ln>
              <a:extLst>
                <a:ext uri="{909E8E84-426E-40DD-AFC4-6F175D3DCCD1}">
                  <a14:hiddenFill xmlns:a14="http://schemas.microsoft.com/office/drawing/2010/main">
                    <a:solidFill>
                      <a:srgbClr val="FFFFFF"/>
                    </a:solidFill>
                  </a14:hiddenFill>
                </a:ext>
              </a:extLst>
            </p:spPr>
            <p:txBody>
              <a:bodyPr wrap="none" lIns="126000" anchor="b"/>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solidFill>
                      <a:srgbClr val="00CC00"/>
                    </a:solidFill>
                  </a:rPr>
                  <a:t>Back</a:t>
                </a:r>
              </a:p>
              <a:p>
                <a:pPr eaLnBrk="1" hangingPunct="1"/>
                <a:r>
                  <a:rPr lang="en-GB" altLang="en-US" b="1">
                    <a:solidFill>
                      <a:srgbClr val="00CC00"/>
                    </a:solidFill>
                  </a:rPr>
                  <a:t>Office</a:t>
                </a:r>
              </a:p>
            </p:txBody>
          </p:sp>
          <p:sp>
            <p:nvSpPr>
              <p:cNvPr id="6154" name="Text Box 9">
                <a:extLst>
                  <a:ext uri="{FF2B5EF4-FFF2-40B4-BE49-F238E27FC236}">
                    <a16:creationId xmlns:a16="http://schemas.microsoft.com/office/drawing/2014/main" id="{C00509B1-54A5-84AB-CF4B-BDC789CE9D4C}"/>
                  </a:ext>
                </a:extLst>
              </p:cNvPr>
              <p:cNvSpPr txBox="1">
                <a:spLocks noChangeArrowheads="1"/>
              </p:cNvSpPr>
              <p:nvPr/>
            </p:nvSpPr>
            <p:spPr bwMode="auto">
              <a:xfrm>
                <a:off x="1968" y="2544"/>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00CC00"/>
                    </a:solidFill>
                    <a:latin typeface="Arial" panose="020B0604020202020204" pitchFamily="34" charset="0"/>
                  </a:rPr>
                  <a:t>Operations Processes</a:t>
                </a:r>
              </a:p>
            </p:txBody>
          </p:sp>
        </p:grpSp>
      </p:grpSp>
      <p:sp>
        <p:nvSpPr>
          <p:cNvPr id="23566" name="Rectangle 14">
            <a:extLst>
              <a:ext uri="{FF2B5EF4-FFF2-40B4-BE49-F238E27FC236}">
                <a16:creationId xmlns:a16="http://schemas.microsoft.com/office/drawing/2014/main" id="{501A5016-8D3A-466F-1A40-6A3BCF09CE4F}"/>
              </a:ext>
            </a:extLst>
          </p:cNvPr>
          <p:cNvSpPr>
            <a:spLocks noChangeArrowheads="1"/>
          </p:cNvSpPr>
          <p:nvPr/>
        </p:nvSpPr>
        <p:spPr bwMode="auto">
          <a:xfrm>
            <a:off x="558800" y="1919288"/>
            <a:ext cx="2816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2800" b="1">
                <a:solidFill>
                  <a:srgbClr val="2F2F2F"/>
                </a:solidFill>
                <a:latin typeface="Arial" panose="020B0604020202020204" pitchFamily="34" charset="0"/>
              </a:rPr>
              <a:t>Main functions:</a:t>
            </a:r>
          </a:p>
        </p:txBody>
      </p:sp>
      <p:sp>
        <p:nvSpPr>
          <p:cNvPr id="23571" name="Text Box 19">
            <a:extLst>
              <a:ext uri="{FF2B5EF4-FFF2-40B4-BE49-F238E27FC236}">
                <a16:creationId xmlns:a16="http://schemas.microsoft.com/office/drawing/2014/main" id="{E87090F0-3214-EA8B-F664-34C87310D319}"/>
              </a:ext>
            </a:extLst>
          </p:cNvPr>
          <p:cNvSpPr txBox="1">
            <a:spLocks noChangeArrowheads="1"/>
          </p:cNvSpPr>
          <p:nvPr/>
        </p:nvSpPr>
        <p:spPr bwMode="auto">
          <a:xfrm>
            <a:off x="5076825" y="3644900"/>
            <a:ext cx="1295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b="1">
                <a:latin typeface="Arial" panose="020B0604020202020204" pitchFamily="34" charset="0"/>
              </a:rPr>
              <a:t>Transactions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additive="base">
                                        <p:cTn id="7" dur="500" fill="hold"/>
                                        <p:tgtEl>
                                          <p:spTgt spid="23554"/>
                                        </p:tgtEl>
                                        <p:attrNameLst>
                                          <p:attrName>ppt_x</p:attrName>
                                        </p:attrNameLst>
                                      </p:cBhvr>
                                      <p:tavLst>
                                        <p:tav tm="0">
                                          <p:val>
                                            <p:strVal val="1+#ppt_w/2"/>
                                          </p:val>
                                        </p:tav>
                                        <p:tav tm="100000">
                                          <p:val>
                                            <p:strVal val="#ppt_x"/>
                                          </p:val>
                                        </p:tav>
                                      </p:tavLst>
                                    </p:anim>
                                    <p:anim calcmode="lin" valueType="num">
                                      <p:cBhvr additive="base">
                                        <p:cTn id="8" dur="500" fill="hold"/>
                                        <p:tgtEl>
                                          <p:spTgt spid="2355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4" fill="hold" nodeType="afterEffect">
                                  <p:stCondLst>
                                    <p:cond delay="0"/>
                                  </p:stCondLst>
                                  <p:childTnLst>
                                    <p:set>
                                      <p:cBhvr>
                                        <p:cTn id="11" dur="1" fill="hold">
                                          <p:stCondLst>
                                            <p:cond delay="0"/>
                                          </p:stCondLst>
                                        </p:cTn>
                                        <p:tgtEl>
                                          <p:spTgt spid="23566"/>
                                        </p:tgtEl>
                                        <p:attrNameLst>
                                          <p:attrName>style.visibility</p:attrName>
                                        </p:attrNameLst>
                                      </p:cBhvr>
                                      <p:to>
                                        <p:strVal val="visible"/>
                                      </p:to>
                                    </p:set>
                                    <p:animEffect transition="in" filter="wipe(down)">
                                      <p:cBhvr>
                                        <p:cTn id="12" dur="500"/>
                                        <p:tgtEl>
                                          <p:spTgt spid="23566"/>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23571"/>
                                        </p:tgtEl>
                                        <p:attrNameLst>
                                          <p:attrName>style.visibility</p:attrName>
                                        </p:attrNameLst>
                                      </p:cBhvr>
                                      <p:to>
                                        <p:strVal val="visible"/>
                                      </p:to>
                                    </p:set>
                                    <p:animEffect transition="in" filter="fade">
                                      <p:cBhvr>
                                        <p:cTn id="16" dur="500"/>
                                        <p:tgtEl>
                                          <p:spTgt spid="23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P spid="23566" grpId="0"/>
      <p:bldP spid="23571"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FE908F4-7420-9321-60F3-22D727B1B4D1}"/>
              </a:ext>
            </a:extLst>
          </p:cNvPr>
          <p:cNvSpPr>
            <a:spLocks noGrp="1" noChangeArrowheads="1"/>
          </p:cNvSpPr>
          <p:nvPr>
            <p:ph type="title"/>
          </p:nvPr>
        </p:nvSpPr>
        <p:spPr bwMode="auto">
          <a:xfrm>
            <a:off x="3857625" y="714375"/>
            <a:ext cx="52863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b="1"/>
              <a:t>Overview of Endur Front Office</a:t>
            </a:r>
          </a:p>
        </p:txBody>
      </p:sp>
      <p:sp>
        <p:nvSpPr>
          <p:cNvPr id="15379" name="Rectangle 19">
            <a:extLst>
              <a:ext uri="{FF2B5EF4-FFF2-40B4-BE49-F238E27FC236}">
                <a16:creationId xmlns:a16="http://schemas.microsoft.com/office/drawing/2014/main" id="{FC661BC0-2306-79C1-006F-094E52752403}"/>
              </a:ext>
            </a:extLst>
          </p:cNvPr>
          <p:cNvSpPr>
            <a:spLocks noGrp="1" noChangeArrowheads="1"/>
          </p:cNvSpPr>
          <p:nvPr>
            <p:ph idx="1"/>
          </p:nvPr>
        </p:nvSpPr>
        <p:spPr bwMode="auto">
          <a:xfrm>
            <a:off x="5929313" y="2000250"/>
            <a:ext cx="2819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800"/>
              <a:t>Enter trades</a:t>
            </a:r>
          </a:p>
          <a:p>
            <a:pPr eaLnBrk="1" hangingPunct="1"/>
            <a:r>
              <a:rPr lang="en-GB" altLang="en-US" sz="2800"/>
              <a:t>Price Trades</a:t>
            </a:r>
          </a:p>
          <a:p>
            <a:pPr eaLnBrk="1" hangingPunct="1"/>
            <a:r>
              <a:rPr lang="en-GB" altLang="en-US" sz="2800"/>
              <a:t>Revalue portfolios</a:t>
            </a:r>
          </a:p>
          <a:p>
            <a:pPr eaLnBrk="1" hangingPunct="1"/>
            <a:r>
              <a:rPr lang="en-GB" altLang="en-US" sz="2800"/>
              <a:t>Run scenario reports</a:t>
            </a:r>
          </a:p>
          <a:p>
            <a:pPr eaLnBrk="1" hangingPunct="1"/>
            <a:r>
              <a:rPr lang="en-GB" altLang="en-US" sz="2800"/>
              <a:t>View position reports</a:t>
            </a:r>
          </a:p>
        </p:txBody>
      </p:sp>
      <p:grpSp>
        <p:nvGrpSpPr>
          <p:cNvPr id="7172" name="Group 21">
            <a:extLst>
              <a:ext uri="{FF2B5EF4-FFF2-40B4-BE49-F238E27FC236}">
                <a16:creationId xmlns:a16="http://schemas.microsoft.com/office/drawing/2014/main" id="{8CF9D420-9D3F-BE15-43BB-7E993A1BBEEC}"/>
              </a:ext>
            </a:extLst>
          </p:cNvPr>
          <p:cNvGrpSpPr>
            <a:grpSpLocks/>
          </p:cNvGrpSpPr>
          <p:nvPr/>
        </p:nvGrpSpPr>
        <p:grpSpPr bwMode="auto">
          <a:xfrm>
            <a:off x="2357438" y="2643188"/>
            <a:ext cx="3505200" cy="3657600"/>
            <a:chOff x="1536" y="1344"/>
            <a:chExt cx="2208" cy="2304"/>
          </a:xfrm>
        </p:grpSpPr>
        <p:sp>
          <p:nvSpPr>
            <p:cNvPr id="7179" name="Oval 7">
              <a:extLst>
                <a:ext uri="{FF2B5EF4-FFF2-40B4-BE49-F238E27FC236}">
                  <a16:creationId xmlns:a16="http://schemas.microsoft.com/office/drawing/2014/main" id="{2E2D4014-6D37-C735-4650-5C49E1809A53}"/>
                </a:ext>
              </a:extLst>
            </p:cNvPr>
            <p:cNvSpPr>
              <a:spLocks noChangeArrowheads="1"/>
            </p:cNvSpPr>
            <p:nvPr/>
          </p:nvSpPr>
          <p:spPr bwMode="auto">
            <a:xfrm>
              <a:off x="1536" y="1344"/>
              <a:ext cx="2208" cy="2304"/>
            </a:xfrm>
            <a:prstGeom prst="ellipse">
              <a:avLst/>
            </a:prstGeom>
            <a:noFill/>
            <a:ln w="28575">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rIns="126000" anchor="b"/>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r>
                <a:rPr lang="en-GB" altLang="en-US" b="1">
                  <a:solidFill>
                    <a:srgbClr val="FF5050"/>
                  </a:solidFill>
                </a:rPr>
                <a:t>Middle</a:t>
              </a:r>
            </a:p>
            <a:p>
              <a:pPr algn="r" eaLnBrk="1" hangingPunct="1"/>
              <a:r>
                <a:rPr lang="en-GB" altLang="en-US" b="1">
                  <a:solidFill>
                    <a:srgbClr val="FF5050"/>
                  </a:solidFill>
                </a:rPr>
                <a:t>Office</a:t>
              </a:r>
            </a:p>
          </p:txBody>
        </p:sp>
        <p:sp>
          <p:nvSpPr>
            <p:cNvPr id="7180" name="Text Box 12">
              <a:extLst>
                <a:ext uri="{FF2B5EF4-FFF2-40B4-BE49-F238E27FC236}">
                  <a16:creationId xmlns:a16="http://schemas.microsoft.com/office/drawing/2014/main" id="{95E305CC-CA7E-07E5-A19F-CDD2C8B687F1}"/>
                </a:ext>
              </a:extLst>
            </p:cNvPr>
            <p:cNvSpPr txBox="1">
              <a:spLocks noChangeArrowheads="1"/>
            </p:cNvSpPr>
            <p:nvPr/>
          </p:nvSpPr>
          <p:spPr bwMode="auto">
            <a:xfrm>
              <a:off x="2928" y="2400"/>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FF5050"/>
                  </a:solidFill>
                  <a:latin typeface="Arial" panose="020B0604020202020204" pitchFamily="34" charset="0"/>
                </a:rPr>
                <a:t>Risk Management</a:t>
              </a:r>
            </a:p>
          </p:txBody>
        </p:sp>
      </p:grpSp>
      <p:grpSp>
        <p:nvGrpSpPr>
          <p:cNvPr id="7173" name="Group 20">
            <a:extLst>
              <a:ext uri="{FF2B5EF4-FFF2-40B4-BE49-F238E27FC236}">
                <a16:creationId xmlns:a16="http://schemas.microsoft.com/office/drawing/2014/main" id="{7B7763DB-EE80-0E5D-8381-62DD588B45B4}"/>
              </a:ext>
            </a:extLst>
          </p:cNvPr>
          <p:cNvGrpSpPr>
            <a:grpSpLocks/>
          </p:cNvGrpSpPr>
          <p:nvPr/>
        </p:nvGrpSpPr>
        <p:grpSpPr bwMode="auto">
          <a:xfrm>
            <a:off x="357188" y="2714625"/>
            <a:ext cx="3717925" cy="3657600"/>
            <a:chOff x="288" y="1344"/>
            <a:chExt cx="2342" cy="2304"/>
          </a:xfrm>
        </p:grpSpPr>
        <p:sp>
          <p:nvSpPr>
            <p:cNvPr id="2" name="Oval 6">
              <a:extLst>
                <a:ext uri="{FF2B5EF4-FFF2-40B4-BE49-F238E27FC236}">
                  <a16:creationId xmlns:a16="http://schemas.microsoft.com/office/drawing/2014/main" id="{9D9F07D4-D071-4588-8DD2-4B43CB0FA7EF}"/>
                </a:ext>
              </a:extLst>
            </p:cNvPr>
            <p:cNvSpPr>
              <a:spLocks noChangeArrowheads="1"/>
            </p:cNvSpPr>
            <p:nvPr/>
          </p:nvSpPr>
          <p:spPr bwMode="auto">
            <a:xfrm>
              <a:off x="288" y="1344"/>
              <a:ext cx="2342" cy="2304"/>
            </a:xfrm>
            <a:prstGeom prst="ellipse">
              <a:avLst/>
            </a:prstGeom>
            <a:noFill/>
            <a:ln w="28575">
              <a:solidFill>
                <a:srgbClr val="00CC00"/>
              </a:solidFill>
              <a:round/>
              <a:headEnd/>
              <a:tailEnd/>
            </a:ln>
            <a:extLst>
              <a:ext uri="{909E8E84-426E-40DD-AFC4-6F175D3DCCD1}">
                <a14:hiddenFill xmlns:a14="http://schemas.microsoft.com/office/drawing/2010/main">
                  <a:solidFill>
                    <a:srgbClr val="FFFFFF"/>
                  </a:solidFill>
                </a14:hiddenFill>
              </a:ext>
            </a:extLst>
          </p:spPr>
          <p:txBody>
            <a:bodyPr wrap="none" lIns="126000" anchor="b"/>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solidFill>
                    <a:srgbClr val="00CC00"/>
                  </a:solidFill>
                </a:rPr>
                <a:t>Back</a:t>
              </a:r>
            </a:p>
            <a:p>
              <a:pPr eaLnBrk="1" hangingPunct="1"/>
              <a:r>
                <a:rPr lang="en-GB" altLang="en-US" b="1">
                  <a:solidFill>
                    <a:srgbClr val="00CC00"/>
                  </a:solidFill>
                </a:rPr>
                <a:t>Office</a:t>
              </a:r>
            </a:p>
          </p:txBody>
        </p:sp>
        <p:sp>
          <p:nvSpPr>
            <p:cNvPr id="7178" name="Text Box 14">
              <a:extLst>
                <a:ext uri="{FF2B5EF4-FFF2-40B4-BE49-F238E27FC236}">
                  <a16:creationId xmlns:a16="http://schemas.microsoft.com/office/drawing/2014/main" id="{9EF88734-13E1-047E-6673-384931A32C2C}"/>
                </a:ext>
              </a:extLst>
            </p:cNvPr>
            <p:cNvSpPr txBox="1">
              <a:spLocks noChangeArrowheads="1"/>
            </p:cNvSpPr>
            <p:nvPr/>
          </p:nvSpPr>
          <p:spPr bwMode="auto">
            <a:xfrm>
              <a:off x="432" y="2400"/>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00CC00"/>
                  </a:solidFill>
                  <a:latin typeface="Arial" panose="020B0604020202020204" pitchFamily="34" charset="0"/>
                </a:rPr>
                <a:t>Operations Services</a:t>
              </a:r>
            </a:p>
          </p:txBody>
        </p:sp>
      </p:grpSp>
      <p:sp>
        <p:nvSpPr>
          <p:cNvPr id="7177" name="Oval 5">
            <a:extLst>
              <a:ext uri="{FF2B5EF4-FFF2-40B4-BE49-F238E27FC236}">
                <a16:creationId xmlns:a16="http://schemas.microsoft.com/office/drawing/2014/main" id="{C2AD9D16-9AC7-B3DE-0BF4-E318CADCF8CC}"/>
              </a:ext>
            </a:extLst>
          </p:cNvPr>
          <p:cNvSpPr>
            <a:spLocks noChangeArrowheads="1"/>
          </p:cNvSpPr>
          <p:nvPr/>
        </p:nvSpPr>
        <p:spPr bwMode="auto">
          <a:xfrm>
            <a:off x="1357313" y="1285875"/>
            <a:ext cx="3505200" cy="3657600"/>
          </a:xfrm>
          <a:prstGeom prst="ellipse">
            <a:avLst/>
          </a:prstGeom>
          <a:gradFill rotWithShape="0">
            <a:gsLst>
              <a:gs pos="0">
                <a:schemeClr val="bg1"/>
              </a:gs>
              <a:gs pos="100000">
                <a:srgbClr val="3366CC"/>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tIns="0"/>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rgbClr val="3366CC"/>
                </a:solidFill>
              </a:rPr>
              <a:t>Front Office</a:t>
            </a:r>
          </a:p>
        </p:txBody>
      </p:sp>
      <p:sp>
        <p:nvSpPr>
          <p:cNvPr id="15373" name="Text Box 13">
            <a:extLst>
              <a:ext uri="{FF2B5EF4-FFF2-40B4-BE49-F238E27FC236}">
                <a16:creationId xmlns:a16="http://schemas.microsoft.com/office/drawing/2014/main" id="{56B6F525-24F5-CEC3-9EC7-7B4D81232531}"/>
              </a:ext>
            </a:extLst>
          </p:cNvPr>
          <p:cNvSpPr txBox="1">
            <a:spLocks noChangeArrowheads="1"/>
          </p:cNvSpPr>
          <p:nvPr/>
        </p:nvSpPr>
        <p:spPr bwMode="auto">
          <a:xfrm>
            <a:off x="2500313" y="2643188"/>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3366CC"/>
                </a:solidFill>
                <a:latin typeface="Arial" panose="020B0604020202020204" pitchFamily="34" charset="0"/>
              </a:rPr>
              <a:t>Trading</a:t>
            </a:r>
          </a:p>
        </p:txBody>
      </p:sp>
      <p:sp>
        <p:nvSpPr>
          <p:cNvPr id="15375" name="Text Box 15">
            <a:extLst>
              <a:ext uri="{FF2B5EF4-FFF2-40B4-BE49-F238E27FC236}">
                <a16:creationId xmlns:a16="http://schemas.microsoft.com/office/drawing/2014/main" id="{E7B0703D-D4AF-5349-13E7-1C26CB8C2598}"/>
              </a:ext>
            </a:extLst>
          </p:cNvPr>
          <p:cNvSpPr txBox="1">
            <a:spLocks noChangeArrowheads="1"/>
          </p:cNvSpPr>
          <p:nvPr/>
        </p:nvSpPr>
        <p:spPr bwMode="auto">
          <a:xfrm>
            <a:off x="2500313" y="3429000"/>
            <a:ext cx="1295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b="1">
                <a:latin typeface="Arial" panose="020B0604020202020204" pitchFamily="34" charset="0"/>
              </a:rPr>
              <a:t>Transactions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1+#ppt_w/2"/>
                                          </p:val>
                                        </p:tav>
                                        <p:tav tm="100000">
                                          <p:val>
                                            <p:strVal val="#ppt_x"/>
                                          </p:val>
                                        </p:tav>
                                      </p:tavLst>
                                    </p:anim>
                                    <p:anim calcmode="lin" valueType="num">
                                      <p:cBhvr additive="base">
                                        <p:cTn id="8" dur="500" fill="hold"/>
                                        <p:tgtEl>
                                          <p:spTgt spid="15362"/>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379">
                                            <p:txEl>
                                              <p:pRg st="0" end="0"/>
                                            </p:txEl>
                                          </p:spTgt>
                                        </p:tgtEl>
                                        <p:attrNameLst>
                                          <p:attrName>style.visibility</p:attrName>
                                        </p:attrNameLst>
                                      </p:cBhvr>
                                      <p:to>
                                        <p:strVal val="visible"/>
                                      </p:to>
                                    </p:set>
                                    <p:anim calcmode="lin" valueType="num">
                                      <p:cBhvr additive="base">
                                        <p:cTn id="11" dur="500" fill="hold"/>
                                        <p:tgtEl>
                                          <p:spTgt spid="15379">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379">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379">
                                            <p:txEl>
                                              <p:pRg st="1" end="1"/>
                                            </p:txEl>
                                          </p:spTgt>
                                        </p:tgtEl>
                                        <p:attrNameLst>
                                          <p:attrName>style.visibility</p:attrName>
                                        </p:attrNameLst>
                                      </p:cBhvr>
                                      <p:to>
                                        <p:strVal val="visible"/>
                                      </p:to>
                                    </p:set>
                                    <p:anim calcmode="lin" valueType="num">
                                      <p:cBhvr additive="base">
                                        <p:cTn id="15" dur="500" fill="hold"/>
                                        <p:tgtEl>
                                          <p:spTgt spid="15379">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379">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5379">
                                            <p:txEl>
                                              <p:pRg st="2" end="2"/>
                                            </p:txEl>
                                          </p:spTgt>
                                        </p:tgtEl>
                                        <p:attrNameLst>
                                          <p:attrName>style.visibility</p:attrName>
                                        </p:attrNameLst>
                                      </p:cBhvr>
                                      <p:to>
                                        <p:strVal val="visible"/>
                                      </p:to>
                                    </p:set>
                                    <p:anim calcmode="lin" valueType="num">
                                      <p:cBhvr additive="base">
                                        <p:cTn id="19" dur="500" fill="hold"/>
                                        <p:tgtEl>
                                          <p:spTgt spid="153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79">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5379">
                                            <p:txEl>
                                              <p:pRg st="3" end="3"/>
                                            </p:txEl>
                                          </p:spTgt>
                                        </p:tgtEl>
                                        <p:attrNameLst>
                                          <p:attrName>style.visibility</p:attrName>
                                        </p:attrNameLst>
                                      </p:cBhvr>
                                      <p:to>
                                        <p:strVal val="visible"/>
                                      </p:to>
                                    </p:set>
                                    <p:anim calcmode="lin" valueType="num">
                                      <p:cBhvr additive="base">
                                        <p:cTn id="23" dur="500" fill="hold"/>
                                        <p:tgtEl>
                                          <p:spTgt spid="1537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37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5379">
                                            <p:txEl>
                                              <p:pRg st="4" end="4"/>
                                            </p:txEl>
                                          </p:spTgt>
                                        </p:tgtEl>
                                        <p:attrNameLst>
                                          <p:attrName>style.visibility</p:attrName>
                                        </p:attrNameLst>
                                      </p:cBhvr>
                                      <p:to>
                                        <p:strVal val="visible"/>
                                      </p:to>
                                    </p:set>
                                    <p:anim calcmode="lin" valueType="num">
                                      <p:cBhvr additive="base">
                                        <p:cTn id="27" dur="500" fill="hold"/>
                                        <p:tgtEl>
                                          <p:spTgt spid="1537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3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7177">
                                            <p:bg/>
                                          </p:spTgt>
                                        </p:tgtEl>
                                        <p:attrNameLst>
                                          <p:attrName>style.visibility</p:attrName>
                                        </p:attrNameLst>
                                      </p:cBhvr>
                                      <p:to>
                                        <p:strVal val="visible"/>
                                      </p:to>
                                    </p:set>
                                    <p:animEffect transition="in" filter="fade">
                                      <p:cBhvr>
                                        <p:cTn id="33" dur="2000"/>
                                        <p:tgtEl>
                                          <p:spTgt spid="7177">
                                            <p:bg/>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7177">
                                            <p:txEl>
                                              <p:pRg st="0" end="0"/>
                                            </p:txEl>
                                          </p:spTgt>
                                        </p:tgtEl>
                                        <p:attrNameLst>
                                          <p:attrName>style.visibility</p:attrName>
                                        </p:attrNameLst>
                                      </p:cBhvr>
                                      <p:to>
                                        <p:strVal val="visible"/>
                                      </p:to>
                                    </p:set>
                                    <p:animEffect transition="in" filter="fade">
                                      <p:cBhvr>
                                        <p:cTn id="36" dur="2000"/>
                                        <p:tgtEl>
                                          <p:spTgt spid="7177">
                                            <p:txEl>
                                              <p:pRg st="0" end="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5373">
                                            <p:txEl>
                                              <p:pRg st="0" end="0"/>
                                            </p:txEl>
                                          </p:spTgt>
                                        </p:tgtEl>
                                        <p:attrNameLst>
                                          <p:attrName>style.visibility</p:attrName>
                                        </p:attrNameLst>
                                      </p:cBhvr>
                                      <p:to>
                                        <p:strVal val="visible"/>
                                      </p:to>
                                    </p:set>
                                    <p:animEffect transition="in" filter="fade">
                                      <p:cBhvr>
                                        <p:cTn id="39" dur="2000"/>
                                        <p:tgtEl>
                                          <p:spTgt spid="15373">
                                            <p:txEl>
                                              <p:pRg st="0" end="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5375">
                                            <p:txEl>
                                              <p:pRg st="0" end="0"/>
                                            </p:txEl>
                                          </p:spTgt>
                                        </p:tgtEl>
                                        <p:attrNameLst>
                                          <p:attrName>style.visibility</p:attrName>
                                        </p:attrNameLst>
                                      </p:cBhvr>
                                      <p:to>
                                        <p:strVal val="visible"/>
                                      </p:to>
                                    </p:set>
                                    <p:animEffect transition="in" filter="fade">
                                      <p:cBhvr>
                                        <p:cTn id="42" dur="2000"/>
                                        <p:tgtEl>
                                          <p:spTgt spid="153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79" grpId="0" build="p"/>
      <p:bldP spid="7177" grpId="0" build="allAtOnce" animBg="1"/>
      <p:bldP spid="15373" grpId="0" build="allAtOnce"/>
      <p:bldP spid="15375"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2" name="Rectangle 4">
            <a:extLst>
              <a:ext uri="{FF2B5EF4-FFF2-40B4-BE49-F238E27FC236}">
                <a16:creationId xmlns:a16="http://schemas.microsoft.com/office/drawing/2014/main" id="{C3A00BA8-6249-3EE9-EA0A-FB3C2FD7533C}"/>
              </a:ext>
            </a:extLst>
          </p:cNvPr>
          <p:cNvSpPr>
            <a:spLocks noGrp="1" noChangeArrowheads="1"/>
          </p:cNvSpPr>
          <p:nvPr>
            <p:ph type="title"/>
          </p:nvPr>
        </p:nvSpPr>
        <p:spPr bwMode="auto">
          <a:xfrm>
            <a:off x="3429000" y="214313"/>
            <a:ext cx="57150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b="1"/>
              <a:t>Overview of Endur Middle Office</a:t>
            </a:r>
          </a:p>
        </p:txBody>
      </p:sp>
      <p:sp>
        <p:nvSpPr>
          <p:cNvPr id="17421" name="Rectangle 13">
            <a:extLst>
              <a:ext uri="{FF2B5EF4-FFF2-40B4-BE49-F238E27FC236}">
                <a16:creationId xmlns:a16="http://schemas.microsoft.com/office/drawing/2014/main" id="{5A892A80-55E4-DFCC-BF79-4CC9DD790D54}"/>
              </a:ext>
            </a:extLst>
          </p:cNvPr>
          <p:cNvSpPr>
            <a:spLocks noGrp="1" noChangeArrowheads="1"/>
          </p:cNvSpPr>
          <p:nvPr>
            <p:ph idx="1"/>
          </p:nvPr>
        </p:nvSpPr>
        <p:spPr bwMode="auto">
          <a:xfrm>
            <a:off x="6019800" y="1905000"/>
            <a:ext cx="2819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800"/>
              <a:t>Monitor credit &amp; market risks</a:t>
            </a:r>
          </a:p>
          <a:p>
            <a:pPr eaLnBrk="1" hangingPunct="1"/>
            <a:r>
              <a:rPr lang="en-GB" altLang="en-US" sz="2800"/>
              <a:t>Revalue portfolios</a:t>
            </a:r>
          </a:p>
          <a:p>
            <a:pPr eaLnBrk="1" hangingPunct="1"/>
            <a:r>
              <a:rPr lang="en-GB" altLang="en-US" sz="2800"/>
              <a:t>Run scenarios</a:t>
            </a:r>
          </a:p>
          <a:p>
            <a:pPr eaLnBrk="1" hangingPunct="1"/>
            <a:r>
              <a:rPr lang="en-GB" altLang="en-US" sz="2800"/>
              <a:t>Position and Price Analysis</a:t>
            </a:r>
          </a:p>
          <a:p>
            <a:pPr eaLnBrk="1" hangingPunct="1"/>
            <a:r>
              <a:rPr lang="en-GB" altLang="en-US" sz="2800"/>
              <a:t>VaR</a:t>
            </a:r>
          </a:p>
        </p:txBody>
      </p:sp>
      <p:grpSp>
        <p:nvGrpSpPr>
          <p:cNvPr id="8196" name="Group 14">
            <a:extLst>
              <a:ext uri="{FF2B5EF4-FFF2-40B4-BE49-F238E27FC236}">
                <a16:creationId xmlns:a16="http://schemas.microsoft.com/office/drawing/2014/main" id="{43F2702E-BD04-0D13-5B5A-CE25E684191C}"/>
              </a:ext>
            </a:extLst>
          </p:cNvPr>
          <p:cNvGrpSpPr>
            <a:grpSpLocks/>
          </p:cNvGrpSpPr>
          <p:nvPr/>
        </p:nvGrpSpPr>
        <p:grpSpPr bwMode="auto">
          <a:xfrm>
            <a:off x="214313" y="1285875"/>
            <a:ext cx="4495800" cy="5029200"/>
            <a:chOff x="240" y="480"/>
            <a:chExt cx="2832" cy="3168"/>
          </a:xfrm>
        </p:grpSpPr>
        <p:sp>
          <p:nvSpPr>
            <p:cNvPr id="8201" name="Oval 3">
              <a:extLst>
                <a:ext uri="{FF2B5EF4-FFF2-40B4-BE49-F238E27FC236}">
                  <a16:creationId xmlns:a16="http://schemas.microsoft.com/office/drawing/2014/main" id="{AD920CDF-06B6-2DC1-2928-44F128F50834}"/>
                </a:ext>
              </a:extLst>
            </p:cNvPr>
            <p:cNvSpPr>
              <a:spLocks noChangeArrowheads="1"/>
            </p:cNvSpPr>
            <p:nvPr/>
          </p:nvSpPr>
          <p:spPr bwMode="auto">
            <a:xfrm>
              <a:off x="240" y="1344"/>
              <a:ext cx="2342" cy="2304"/>
            </a:xfrm>
            <a:prstGeom prst="ellipse">
              <a:avLst/>
            </a:prstGeom>
            <a:noFill/>
            <a:ln w="28575">
              <a:solidFill>
                <a:srgbClr val="00CC00"/>
              </a:solidFill>
              <a:round/>
              <a:headEnd/>
              <a:tailEnd/>
            </a:ln>
            <a:extLst>
              <a:ext uri="{909E8E84-426E-40DD-AFC4-6F175D3DCCD1}">
                <a14:hiddenFill xmlns:a14="http://schemas.microsoft.com/office/drawing/2010/main">
                  <a:solidFill>
                    <a:srgbClr val="FFFFFF"/>
                  </a:solidFill>
                </a14:hiddenFill>
              </a:ext>
            </a:extLst>
          </p:spPr>
          <p:txBody>
            <a:bodyPr wrap="none" lIns="126000" anchor="b"/>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solidFill>
                    <a:srgbClr val="00CC00"/>
                  </a:solidFill>
                </a:rPr>
                <a:t>Back</a:t>
              </a:r>
            </a:p>
            <a:p>
              <a:pPr eaLnBrk="1" hangingPunct="1"/>
              <a:r>
                <a:rPr lang="en-GB" altLang="en-US" b="1">
                  <a:solidFill>
                    <a:srgbClr val="00CC00"/>
                  </a:solidFill>
                </a:rPr>
                <a:t>Office</a:t>
              </a:r>
            </a:p>
          </p:txBody>
        </p:sp>
        <p:sp>
          <p:nvSpPr>
            <p:cNvPr id="8202" name="Oval 5">
              <a:extLst>
                <a:ext uri="{FF2B5EF4-FFF2-40B4-BE49-F238E27FC236}">
                  <a16:creationId xmlns:a16="http://schemas.microsoft.com/office/drawing/2014/main" id="{48B7DCD2-E41F-F53E-7183-327E0754F1AC}"/>
                </a:ext>
              </a:extLst>
            </p:cNvPr>
            <p:cNvSpPr>
              <a:spLocks noChangeArrowheads="1"/>
            </p:cNvSpPr>
            <p:nvPr/>
          </p:nvSpPr>
          <p:spPr bwMode="auto">
            <a:xfrm>
              <a:off x="864" y="480"/>
              <a:ext cx="2208" cy="2304"/>
            </a:xfrm>
            <a:prstGeom prst="ellipse">
              <a:avLst/>
            </a:prstGeom>
            <a:noFill/>
            <a:ln w="28575">
              <a:solidFill>
                <a:srgbClr val="3366CC"/>
              </a:solidFill>
              <a:round/>
              <a:headEnd/>
              <a:tailEnd/>
            </a:ln>
            <a:extLst>
              <a:ext uri="{909E8E84-426E-40DD-AFC4-6F175D3DCCD1}">
                <a14:hiddenFill xmlns:a14="http://schemas.microsoft.com/office/drawing/2010/main">
                  <a:solidFill>
                    <a:srgbClr val="FFFFFF"/>
                  </a:solidFill>
                </a14:hiddenFill>
              </a:ext>
            </a:extLst>
          </p:spPr>
          <p:txBody>
            <a:bodyPr wrap="none" tIns="0"/>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rgbClr val="3366CC"/>
                  </a:solidFill>
                </a:rPr>
                <a:t>Front Office</a:t>
              </a:r>
            </a:p>
          </p:txBody>
        </p:sp>
        <p:sp>
          <p:nvSpPr>
            <p:cNvPr id="8203" name="Text Box 7">
              <a:extLst>
                <a:ext uri="{FF2B5EF4-FFF2-40B4-BE49-F238E27FC236}">
                  <a16:creationId xmlns:a16="http://schemas.microsoft.com/office/drawing/2014/main" id="{C7BDD002-4833-D592-FB11-892FA5660FBA}"/>
                </a:ext>
              </a:extLst>
            </p:cNvPr>
            <p:cNvSpPr txBox="1">
              <a:spLocks noChangeArrowheads="1"/>
            </p:cNvSpPr>
            <p:nvPr/>
          </p:nvSpPr>
          <p:spPr bwMode="auto">
            <a:xfrm>
              <a:off x="1632" y="1152"/>
              <a:ext cx="7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3366CC"/>
                  </a:solidFill>
                  <a:latin typeface="Arial" panose="020B0604020202020204" pitchFamily="34" charset="0"/>
                </a:rPr>
                <a:t>Trading</a:t>
              </a:r>
            </a:p>
          </p:txBody>
        </p:sp>
        <p:sp>
          <p:nvSpPr>
            <p:cNvPr id="8204" name="Text Box 8">
              <a:extLst>
                <a:ext uri="{FF2B5EF4-FFF2-40B4-BE49-F238E27FC236}">
                  <a16:creationId xmlns:a16="http://schemas.microsoft.com/office/drawing/2014/main" id="{76B6D8A8-7BF5-84B0-FFB9-B161BC31D20B}"/>
                </a:ext>
              </a:extLst>
            </p:cNvPr>
            <p:cNvSpPr txBox="1">
              <a:spLocks noChangeArrowheads="1"/>
            </p:cNvSpPr>
            <p:nvPr/>
          </p:nvSpPr>
          <p:spPr bwMode="auto">
            <a:xfrm>
              <a:off x="384" y="2400"/>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00CC00"/>
                  </a:solidFill>
                  <a:latin typeface="Arial" panose="020B0604020202020204" pitchFamily="34" charset="0"/>
                </a:rPr>
                <a:t>Operations Services</a:t>
              </a:r>
            </a:p>
          </p:txBody>
        </p:sp>
      </p:grpSp>
      <p:grpSp>
        <p:nvGrpSpPr>
          <p:cNvPr id="3" name="Group 15">
            <a:extLst>
              <a:ext uri="{FF2B5EF4-FFF2-40B4-BE49-F238E27FC236}">
                <a16:creationId xmlns:a16="http://schemas.microsoft.com/office/drawing/2014/main" id="{597AE77A-9243-48FF-693F-DFA5B510A4E4}"/>
              </a:ext>
            </a:extLst>
          </p:cNvPr>
          <p:cNvGrpSpPr>
            <a:grpSpLocks/>
          </p:cNvGrpSpPr>
          <p:nvPr/>
        </p:nvGrpSpPr>
        <p:grpSpPr bwMode="auto">
          <a:xfrm>
            <a:off x="2071688" y="2714625"/>
            <a:ext cx="3505200" cy="3657600"/>
            <a:chOff x="1488" y="1344"/>
            <a:chExt cx="2208" cy="2304"/>
          </a:xfrm>
        </p:grpSpPr>
        <p:sp>
          <p:nvSpPr>
            <p:cNvPr id="8198" name="Oval 2">
              <a:extLst>
                <a:ext uri="{FF2B5EF4-FFF2-40B4-BE49-F238E27FC236}">
                  <a16:creationId xmlns:a16="http://schemas.microsoft.com/office/drawing/2014/main" id="{A55D5A41-27F9-4743-DBCD-F40722218FC3}"/>
                </a:ext>
              </a:extLst>
            </p:cNvPr>
            <p:cNvSpPr>
              <a:spLocks noChangeArrowheads="1"/>
            </p:cNvSpPr>
            <p:nvPr/>
          </p:nvSpPr>
          <p:spPr bwMode="auto">
            <a:xfrm>
              <a:off x="1488" y="1344"/>
              <a:ext cx="2208" cy="2304"/>
            </a:xfrm>
            <a:prstGeom prst="ellipse">
              <a:avLst/>
            </a:prstGeom>
            <a:gradFill rotWithShape="0">
              <a:gsLst>
                <a:gs pos="0">
                  <a:srgbClr val="FF5050"/>
                </a:gs>
                <a:gs pos="100000">
                  <a:schemeClr val="bg1"/>
                </a:gs>
              </a:gsLst>
              <a:lin ang="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rIns="126000" anchor="b"/>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r>
                <a:rPr lang="en-GB" altLang="en-US" b="1">
                  <a:solidFill>
                    <a:srgbClr val="FF5050"/>
                  </a:solidFill>
                </a:rPr>
                <a:t>Middle</a:t>
              </a:r>
            </a:p>
            <a:p>
              <a:pPr algn="r" eaLnBrk="1" hangingPunct="1"/>
              <a:r>
                <a:rPr lang="en-GB" altLang="en-US" b="1">
                  <a:solidFill>
                    <a:srgbClr val="FF5050"/>
                  </a:solidFill>
                </a:rPr>
                <a:t>Office</a:t>
              </a:r>
            </a:p>
          </p:txBody>
        </p:sp>
        <p:sp>
          <p:nvSpPr>
            <p:cNvPr id="8199" name="Text Box 6">
              <a:extLst>
                <a:ext uri="{FF2B5EF4-FFF2-40B4-BE49-F238E27FC236}">
                  <a16:creationId xmlns:a16="http://schemas.microsoft.com/office/drawing/2014/main" id="{1EFCB997-421D-5327-BEF5-E5CA46019BF3}"/>
                </a:ext>
              </a:extLst>
            </p:cNvPr>
            <p:cNvSpPr txBox="1">
              <a:spLocks noChangeArrowheads="1"/>
            </p:cNvSpPr>
            <p:nvPr/>
          </p:nvSpPr>
          <p:spPr bwMode="auto">
            <a:xfrm>
              <a:off x="2880" y="2400"/>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FF5050"/>
                  </a:solidFill>
                  <a:latin typeface="Arial" panose="020B0604020202020204" pitchFamily="34" charset="0"/>
                </a:rPr>
                <a:t>Risk Management</a:t>
              </a:r>
            </a:p>
          </p:txBody>
        </p:sp>
        <p:sp>
          <p:nvSpPr>
            <p:cNvPr id="8200" name="Text Box 9">
              <a:extLst>
                <a:ext uri="{FF2B5EF4-FFF2-40B4-BE49-F238E27FC236}">
                  <a16:creationId xmlns:a16="http://schemas.microsoft.com/office/drawing/2014/main" id="{F1D3EC42-F265-E879-ABA9-92295474FE8D}"/>
                </a:ext>
              </a:extLst>
            </p:cNvPr>
            <p:cNvSpPr txBox="1">
              <a:spLocks noChangeArrowheads="1"/>
            </p:cNvSpPr>
            <p:nvPr/>
          </p:nvSpPr>
          <p:spPr bwMode="auto">
            <a:xfrm>
              <a:off x="1610" y="2115"/>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b="1">
                  <a:latin typeface="Arial" panose="020B0604020202020204" pitchFamily="34" charset="0"/>
                </a:rPr>
                <a:t>Transactions</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1+#ppt_w/2"/>
                                          </p:val>
                                        </p:tav>
                                        <p:tav tm="100000">
                                          <p:val>
                                            <p:strVal val="#ppt_x"/>
                                          </p:val>
                                        </p:tav>
                                      </p:tavLst>
                                    </p:anim>
                                    <p:anim calcmode="lin" valueType="num">
                                      <p:cBhvr additive="base">
                                        <p:cTn id="8" dur="500" fill="hold"/>
                                        <p:tgtEl>
                                          <p:spTgt spid="17412"/>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421">
                                            <p:txEl>
                                              <p:pRg st="0" end="0"/>
                                            </p:txEl>
                                          </p:spTgt>
                                        </p:tgtEl>
                                        <p:attrNameLst>
                                          <p:attrName>style.visibility</p:attrName>
                                        </p:attrNameLst>
                                      </p:cBhvr>
                                      <p:to>
                                        <p:strVal val="visible"/>
                                      </p:to>
                                    </p:set>
                                    <p:anim calcmode="lin" valueType="num">
                                      <p:cBhvr additive="base">
                                        <p:cTn id="11" dur="500" fill="hold"/>
                                        <p:tgtEl>
                                          <p:spTgt spid="17421">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421">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421">
                                            <p:txEl>
                                              <p:pRg st="1" end="1"/>
                                            </p:txEl>
                                          </p:spTgt>
                                        </p:tgtEl>
                                        <p:attrNameLst>
                                          <p:attrName>style.visibility</p:attrName>
                                        </p:attrNameLst>
                                      </p:cBhvr>
                                      <p:to>
                                        <p:strVal val="visible"/>
                                      </p:to>
                                    </p:set>
                                    <p:anim calcmode="lin" valueType="num">
                                      <p:cBhvr additive="base">
                                        <p:cTn id="15" dur="500" fill="hold"/>
                                        <p:tgtEl>
                                          <p:spTgt spid="17421">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421">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421">
                                            <p:txEl>
                                              <p:pRg st="2" end="2"/>
                                            </p:txEl>
                                          </p:spTgt>
                                        </p:tgtEl>
                                        <p:attrNameLst>
                                          <p:attrName>style.visibility</p:attrName>
                                        </p:attrNameLst>
                                      </p:cBhvr>
                                      <p:to>
                                        <p:strVal val="visible"/>
                                      </p:to>
                                    </p:set>
                                    <p:anim calcmode="lin" valueType="num">
                                      <p:cBhvr additive="base">
                                        <p:cTn id="19" dur="500" fill="hold"/>
                                        <p:tgtEl>
                                          <p:spTgt spid="1742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21">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421">
                                            <p:txEl>
                                              <p:pRg st="3" end="3"/>
                                            </p:txEl>
                                          </p:spTgt>
                                        </p:tgtEl>
                                        <p:attrNameLst>
                                          <p:attrName>style.visibility</p:attrName>
                                        </p:attrNameLst>
                                      </p:cBhvr>
                                      <p:to>
                                        <p:strVal val="visible"/>
                                      </p:to>
                                    </p:set>
                                    <p:anim calcmode="lin" valueType="num">
                                      <p:cBhvr additive="base">
                                        <p:cTn id="23" dur="500" fill="hold"/>
                                        <p:tgtEl>
                                          <p:spTgt spid="1742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421">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421">
                                            <p:txEl>
                                              <p:pRg st="4" end="4"/>
                                            </p:txEl>
                                          </p:spTgt>
                                        </p:tgtEl>
                                        <p:attrNameLst>
                                          <p:attrName>style.visibility</p:attrName>
                                        </p:attrNameLst>
                                      </p:cBhvr>
                                      <p:to>
                                        <p:strVal val="visible"/>
                                      </p:to>
                                    </p:set>
                                    <p:anim calcmode="lin" valueType="num">
                                      <p:cBhvr additive="base">
                                        <p:cTn id="27" dur="500" fill="hold"/>
                                        <p:tgtEl>
                                          <p:spTgt spid="1742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42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p:bldP spid="17421" grpId="0" build="p"/>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6" name="Rectangle 4">
            <a:extLst>
              <a:ext uri="{FF2B5EF4-FFF2-40B4-BE49-F238E27FC236}">
                <a16:creationId xmlns:a16="http://schemas.microsoft.com/office/drawing/2014/main" id="{C9B6D561-7A6C-78B1-A5E1-2DA2B629D173}"/>
              </a:ext>
            </a:extLst>
          </p:cNvPr>
          <p:cNvSpPr>
            <a:spLocks noGrp="1" noChangeArrowheads="1"/>
          </p:cNvSpPr>
          <p:nvPr>
            <p:ph type="title"/>
          </p:nvPr>
        </p:nvSpPr>
        <p:spPr bwMode="auto">
          <a:xfrm>
            <a:off x="3286125" y="428625"/>
            <a:ext cx="5400675" cy="1125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Overview of Endur Back Office</a:t>
            </a:r>
          </a:p>
        </p:txBody>
      </p:sp>
      <p:sp>
        <p:nvSpPr>
          <p:cNvPr id="18445" name="Rectangle 13">
            <a:extLst>
              <a:ext uri="{FF2B5EF4-FFF2-40B4-BE49-F238E27FC236}">
                <a16:creationId xmlns:a16="http://schemas.microsoft.com/office/drawing/2014/main" id="{94B8876B-D4FB-AD13-0996-5479BF76C38C}"/>
              </a:ext>
            </a:extLst>
          </p:cNvPr>
          <p:cNvSpPr>
            <a:spLocks noGrp="1" noChangeArrowheads="1"/>
          </p:cNvSpPr>
          <p:nvPr>
            <p:ph idx="1"/>
          </p:nvPr>
        </p:nvSpPr>
        <p:spPr bwMode="auto">
          <a:xfrm>
            <a:off x="5786438" y="2143125"/>
            <a:ext cx="3357562" cy="414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800"/>
              <a:t>Price fixings</a:t>
            </a:r>
          </a:p>
          <a:p>
            <a:pPr eaLnBrk="1" hangingPunct="1"/>
            <a:r>
              <a:rPr lang="en-GB" altLang="en-US" sz="2800"/>
              <a:t>Generate confirmations &amp; invoices</a:t>
            </a:r>
          </a:p>
          <a:p>
            <a:pPr eaLnBrk="1" hangingPunct="1"/>
            <a:r>
              <a:rPr lang="en-GB" altLang="en-US" sz="2800"/>
              <a:t>Document management</a:t>
            </a:r>
          </a:p>
          <a:p>
            <a:pPr eaLnBrk="1" hangingPunct="1"/>
            <a:r>
              <a:rPr lang="en-GB" altLang="en-US" sz="2800"/>
              <a:t>Generate reports</a:t>
            </a:r>
          </a:p>
          <a:p>
            <a:pPr eaLnBrk="1" hangingPunct="1"/>
            <a:r>
              <a:rPr lang="en-GB" altLang="en-US" sz="2800"/>
              <a:t>Account postings</a:t>
            </a:r>
            <a:br>
              <a:rPr lang="en-GB" altLang="en-US" sz="2400"/>
            </a:br>
            <a:endParaRPr lang="en-GB" altLang="en-US" sz="2400"/>
          </a:p>
        </p:txBody>
      </p:sp>
      <p:grpSp>
        <p:nvGrpSpPr>
          <p:cNvPr id="9220" name="Group 14">
            <a:extLst>
              <a:ext uri="{FF2B5EF4-FFF2-40B4-BE49-F238E27FC236}">
                <a16:creationId xmlns:a16="http://schemas.microsoft.com/office/drawing/2014/main" id="{21D6D5E6-28B8-30CE-67EF-2742C5487DAE}"/>
              </a:ext>
            </a:extLst>
          </p:cNvPr>
          <p:cNvGrpSpPr>
            <a:grpSpLocks/>
          </p:cNvGrpSpPr>
          <p:nvPr/>
        </p:nvGrpSpPr>
        <p:grpSpPr bwMode="auto">
          <a:xfrm>
            <a:off x="1323975" y="1357313"/>
            <a:ext cx="4391025" cy="5029200"/>
            <a:chOff x="816" y="480"/>
            <a:chExt cx="2832" cy="3168"/>
          </a:xfrm>
        </p:grpSpPr>
        <p:sp>
          <p:nvSpPr>
            <p:cNvPr id="9225" name="Oval 5">
              <a:extLst>
                <a:ext uri="{FF2B5EF4-FFF2-40B4-BE49-F238E27FC236}">
                  <a16:creationId xmlns:a16="http://schemas.microsoft.com/office/drawing/2014/main" id="{5B1F378F-FCF9-6437-4A6A-263795D3E86D}"/>
                </a:ext>
              </a:extLst>
            </p:cNvPr>
            <p:cNvSpPr>
              <a:spLocks noChangeArrowheads="1"/>
            </p:cNvSpPr>
            <p:nvPr/>
          </p:nvSpPr>
          <p:spPr bwMode="auto">
            <a:xfrm>
              <a:off x="816" y="480"/>
              <a:ext cx="2208" cy="2304"/>
            </a:xfrm>
            <a:prstGeom prst="ellipse">
              <a:avLst/>
            </a:prstGeom>
            <a:noFill/>
            <a:ln w="28575">
              <a:solidFill>
                <a:srgbClr val="3366CC"/>
              </a:solidFill>
              <a:round/>
              <a:headEnd/>
              <a:tailEnd/>
            </a:ln>
            <a:extLst>
              <a:ext uri="{909E8E84-426E-40DD-AFC4-6F175D3DCCD1}">
                <a14:hiddenFill xmlns:a14="http://schemas.microsoft.com/office/drawing/2010/main">
                  <a:solidFill>
                    <a:srgbClr val="FFFFFF"/>
                  </a:solidFill>
                </a14:hiddenFill>
              </a:ext>
            </a:extLst>
          </p:spPr>
          <p:txBody>
            <a:bodyPr wrap="none" tIns="0"/>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rgbClr val="3366CC"/>
                  </a:solidFill>
                </a:rPr>
                <a:t>Front Office</a:t>
              </a:r>
            </a:p>
          </p:txBody>
        </p:sp>
        <p:sp>
          <p:nvSpPr>
            <p:cNvPr id="9226" name="Oval 2">
              <a:extLst>
                <a:ext uri="{FF2B5EF4-FFF2-40B4-BE49-F238E27FC236}">
                  <a16:creationId xmlns:a16="http://schemas.microsoft.com/office/drawing/2014/main" id="{B00EFABE-3206-798D-B511-CEA58114140A}"/>
                </a:ext>
              </a:extLst>
            </p:cNvPr>
            <p:cNvSpPr>
              <a:spLocks noChangeArrowheads="1"/>
            </p:cNvSpPr>
            <p:nvPr/>
          </p:nvSpPr>
          <p:spPr bwMode="auto">
            <a:xfrm>
              <a:off x="1440" y="1344"/>
              <a:ext cx="2208" cy="2304"/>
            </a:xfrm>
            <a:prstGeom prst="ellipse">
              <a:avLst/>
            </a:prstGeom>
            <a:noFill/>
            <a:ln w="28575">
              <a:solidFill>
                <a:srgbClr val="FF5050"/>
              </a:solidFill>
              <a:round/>
              <a:headEnd/>
              <a:tailEnd/>
            </a:ln>
            <a:extLst>
              <a:ext uri="{909E8E84-426E-40DD-AFC4-6F175D3DCCD1}">
                <a14:hiddenFill xmlns:a14="http://schemas.microsoft.com/office/drawing/2010/main">
                  <a:solidFill>
                    <a:srgbClr val="FFFFFF"/>
                  </a:solidFill>
                </a14:hiddenFill>
              </a:ext>
            </a:extLst>
          </p:spPr>
          <p:txBody>
            <a:bodyPr wrap="none" rIns="126000" anchor="b"/>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r>
                <a:rPr lang="en-GB" altLang="en-US" b="1">
                  <a:solidFill>
                    <a:srgbClr val="FF5050"/>
                  </a:solidFill>
                </a:rPr>
                <a:t>Middle</a:t>
              </a:r>
            </a:p>
            <a:p>
              <a:pPr algn="r" eaLnBrk="1" hangingPunct="1"/>
              <a:r>
                <a:rPr lang="en-GB" altLang="en-US" b="1">
                  <a:solidFill>
                    <a:srgbClr val="FF5050"/>
                  </a:solidFill>
                </a:rPr>
                <a:t>Office</a:t>
              </a:r>
            </a:p>
          </p:txBody>
        </p:sp>
        <p:sp>
          <p:nvSpPr>
            <p:cNvPr id="9227" name="Text Box 6">
              <a:extLst>
                <a:ext uri="{FF2B5EF4-FFF2-40B4-BE49-F238E27FC236}">
                  <a16:creationId xmlns:a16="http://schemas.microsoft.com/office/drawing/2014/main" id="{D7C5E8B2-CEB2-BAFC-125F-570EB54B2E5A}"/>
                </a:ext>
              </a:extLst>
            </p:cNvPr>
            <p:cNvSpPr txBox="1">
              <a:spLocks noChangeArrowheads="1"/>
            </p:cNvSpPr>
            <p:nvPr/>
          </p:nvSpPr>
          <p:spPr bwMode="auto">
            <a:xfrm>
              <a:off x="2832" y="2400"/>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FF5050"/>
                  </a:solidFill>
                  <a:latin typeface="Arial" panose="020B0604020202020204" pitchFamily="34" charset="0"/>
                </a:rPr>
                <a:t>Risk Management</a:t>
              </a:r>
            </a:p>
          </p:txBody>
        </p:sp>
        <p:sp>
          <p:nvSpPr>
            <p:cNvPr id="9228" name="Text Box 7">
              <a:extLst>
                <a:ext uri="{FF2B5EF4-FFF2-40B4-BE49-F238E27FC236}">
                  <a16:creationId xmlns:a16="http://schemas.microsoft.com/office/drawing/2014/main" id="{7083741D-EE37-F7F5-B493-EEDB7B6BA628}"/>
                </a:ext>
              </a:extLst>
            </p:cNvPr>
            <p:cNvSpPr txBox="1">
              <a:spLocks noChangeArrowheads="1"/>
            </p:cNvSpPr>
            <p:nvPr/>
          </p:nvSpPr>
          <p:spPr bwMode="auto">
            <a:xfrm>
              <a:off x="1584" y="1152"/>
              <a:ext cx="7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3366CC"/>
                  </a:solidFill>
                  <a:latin typeface="Arial" panose="020B0604020202020204" pitchFamily="34" charset="0"/>
                </a:rPr>
                <a:t>Trading</a:t>
              </a:r>
            </a:p>
          </p:txBody>
        </p:sp>
      </p:grpSp>
      <p:grpSp>
        <p:nvGrpSpPr>
          <p:cNvPr id="3" name="Group 15">
            <a:extLst>
              <a:ext uri="{FF2B5EF4-FFF2-40B4-BE49-F238E27FC236}">
                <a16:creationId xmlns:a16="http://schemas.microsoft.com/office/drawing/2014/main" id="{0F87B24A-A192-3123-F0A8-E6113629CA68}"/>
              </a:ext>
            </a:extLst>
          </p:cNvPr>
          <p:cNvGrpSpPr>
            <a:grpSpLocks/>
          </p:cNvGrpSpPr>
          <p:nvPr/>
        </p:nvGrpSpPr>
        <p:grpSpPr bwMode="auto">
          <a:xfrm>
            <a:off x="357188" y="2728913"/>
            <a:ext cx="3630612" cy="3657600"/>
            <a:chOff x="192" y="1344"/>
            <a:chExt cx="2342" cy="2304"/>
          </a:xfrm>
        </p:grpSpPr>
        <p:sp>
          <p:nvSpPr>
            <p:cNvPr id="9222" name="Oval 3">
              <a:extLst>
                <a:ext uri="{FF2B5EF4-FFF2-40B4-BE49-F238E27FC236}">
                  <a16:creationId xmlns:a16="http://schemas.microsoft.com/office/drawing/2014/main" id="{91AF0E93-ED9E-2C0E-65A5-069F40CC9259}"/>
                </a:ext>
              </a:extLst>
            </p:cNvPr>
            <p:cNvSpPr>
              <a:spLocks noChangeArrowheads="1"/>
            </p:cNvSpPr>
            <p:nvPr/>
          </p:nvSpPr>
          <p:spPr bwMode="auto">
            <a:xfrm>
              <a:off x="192" y="1344"/>
              <a:ext cx="2342" cy="2304"/>
            </a:xfrm>
            <a:prstGeom prst="ellipse">
              <a:avLst/>
            </a:prstGeom>
            <a:gradFill rotWithShape="0">
              <a:gsLst>
                <a:gs pos="0">
                  <a:schemeClr val="bg1"/>
                </a:gs>
                <a:gs pos="100000">
                  <a:srgbClr val="00CC00"/>
                </a:gs>
              </a:gsLst>
              <a:lin ang="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126000" anchor="b"/>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solidFill>
                    <a:srgbClr val="00CC00"/>
                  </a:solidFill>
                </a:rPr>
                <a:t>Back</a:t>
              </a:r>
            </a:p>
            <a:p>
              <a:pPr eaLnBrk="1" hangingPunct="1"/>
              <a:r>
                <a:rPr lang="en-GB" altLang="en-US" b="1">
                  <a:solidFill>
                    <a:srgbClr val="00CC00"/>
                  </a:solidFill>
                </a:rPr>
                <a:t>Office</a:t>
              </a:r>
            </a:p>
          </p:txBody>
        </p:sp>
        <p:sp>
          <p:nvSpPr>
            <p:cNvPr id="9223" name="Text Box 8">
              <a:extLst>
                <a:ext uri="{FF2B5EF4-FFF2-40B4-BE49-F238E27FC236}">
                  <a16:creationId xmlns:a16="http://schemas.microsoft.com/office/drawing/2014/main" id="{98FCD737-B119-316F-91B5-ECC3C9D7EE5C}"/>
                </a:ext>
              </a:extLst>
            </p:cNvPr>
            <p:cNvSpPr txBox="1">
              <a:spLocks noChangeArrowheads="1"/>
            </p:cNvSpPr>
            <p:nvPr/>
          </p:nvSpPr>
          <p:spPr bwMode="auto">
            <a:xfrm>
              <a:off x="336" y="2400"/>
              <a:ext cx="7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a:solidFill>
                    <a:srgbClr val="00CC00"/>
                  </a:solidFill>
                  <a:latin typeface="Arial" panose="020B0604020202020204" pitchFamily="34" charset="0"/>
                </a:rPr>
                <a:t>Operations Services</a:t>
              </a:r>
            </a:p>
          </p:txBody>
        </p:sp>
        <p:sp>
          <p:nvSpPr>
            <p:cNvPr id="9224" name="Text Box 9">
              <a:extLst>
                <a:ext uri="{FF2B5EF4-FFF2-40B4-BE49-F238E27FC236}">
                  <a16:creationId xmlns:a16="http://schemas.microsoft.com/office/drawing/2014/main" id="{2E486CBC-70A1-0DE7-5A35-82BE4C6D4B60}"/>
                </a:ext>
              </a:extLst>
            </p:cNvPr>
            <p:cNvSpPr txBox="1">
              <a:spLocks noChangeArrowheads="1"/>
            </p:cNvSpPr>
            <p:nvPr/>
          </p:nvSpPr>
          <p:spPr bwMode="auto">
            <a:xfrm>
              <a:off x="1482" y="2145"/>
              <a:ext cx="94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400" b="1">
                  <a:latin typeface="Arial" panose="020B0604020202020204" pitchFamily="34" charset="0"/>
                </a:rPr>
                <a:t>Transactions</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1+#ppt_w/2"/>
                                          </p:val>
                                        </p:tav>
                                        <p:tav tm="100000">
                                          <p:val>
                                            <p:strVal val="#ppt_x"/>
                                          </p:val>
                                        </p:tav>
                                      </p:tavLst>
                                    </p:anim>
                                    <p:anim calcmode="lin" valueType="num">
                                      <p:cBhvr additive="base">
                                        <p:cTn id="8" dur="500" fill="hold"/>
                                        <p:tgtEl>
                                          <p:spTgt spid="18436"/>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445">
                                            <p:txEl>
                                              <p:pRg st="0" end="0"/>
                                            </p:txEl>
                                          </p:spTgt>
                                        </p:tgtEl>
                                        <p:attrNameLst>
                                          <p:attrName>style.visibility</p:attrName>
                                        </p:attrNameLst>
                                      </p:cBhvr>
                                      <p:to>
                                        <p:strVal val="visible"/>
                                      </p:to>
                                    </p:set>
                                    <p:anim calcmode="lin" valueType="num">
                                      <p:cBhvr additive="base">
                                        <p:cTn id="11" dur="500" fill="hold"/>
                                        <p:tgtEl>
                                          <p:spTgt spid="1844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45">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445">
                                            <p:txEl>
                                              <p:pRg st="1" end="1"/>
                                            </p:txEl>
                                          </p:spTgt>
                                        </p:tgtEl>
                                        <p:attrNameLst>
                                          <p:attrName>style.visibility</p:attrName>
                                        </p:attrNameLst>
                                      </p:cBhvr>
                                      <p:to>
                                        <p:strVal val="visible"/>
                                      </p:to>
                                    </p:set>
                                    <p:anim calcmode="lin" valueType="num">
                                      <p:cBhvr additive="base">
                                        <p:cTn id="15" dur="500" fill="hold"/>
                                        <p:tgtEl>
                                          <p:spTgt spid="18445">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44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8445">
                                            <p:txEl>
                                              <p:pRg st="2" end="2"/>
                                            </p:txEl>
                                          </p:spTgt>
                                        </p:tgtEl>
                                        <p:attrNameLst>
                                          <p:attrName>style.visibility</p:attrName>
                                        </p:attrNameLst>
                                      </p:cBhvr>
                                      <p:to>
                                        <p:strVal val="visible"/>
                                      </p:to>
                                    </p:set>
                                    <p:anim calcmode="lin" valueType="num">
                                      <p:cBhvr additive="base">
                                        <p:cTn id="21" dur="500" fill="hold"/>
                                        <p:tgtEl>
                                          <p:spTgt spid="1844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8445">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8445">
                                            <p:txEl>
                                              <p:pRg st="3" end="3"/>
                                            </p:txEl>
                                          </p:spTgt>
                                        </p:tgtEl>
                                        <p:attrNameLst>
                                          <p:attrName>style.visibility</p:attrName>
                                        </p:attrNameLst>
                                      </p:cBhvr>
                                      <p:to>
                                        <p:strVal val="visible"/>
                                      </p:to>
                                    </p:set>
                                    <p:anim calcmode="lin" valueType="num">
                                      <p:cBhvr additive="base">
                                        <p:cTn id="25" dur="500" fill="hold"/>
                                        <p:tgtEl>
                                          <p:spTgt spid="1844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4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445">
                                            <p:txEl>
                                              <p:pRg st="4" end="4"/>
                                            </p:txEl>
                                          </p:spTgt>
                                        </p:tgtEl>
                                        <p:attrNameLst>
                                          <p:attrName>style.visibility</p:attrName>
                                        </p:attrNameLst>
                                      </p:cBhvr>
                                      <p:to>
                                        <p:strVal val="visible"/>
                                      </p:to>
                                    </p:set>
                                    <p:anim calcmode="lin" valueType="num">
                                      <p:cBhvr additive="base">
                                        <p:cTn id="29" dur="500" fill="hold"/>
                                        <p:tgtEl>
                                          <p:spTgt spid="1844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844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P spid="1844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a:extLst>
              <a:ext uri="{FF2B5EF4-FFF2-40B4-BE49-F238E27FC236}">
                <a16:creationId xmlns:a16="http://schemas.microsoft.com/office/drawing/2014/main" id="{C5AE64C2-2BFD-6683-5A38-05BDFA5D02AD}"/>
              </a:ext>
            </a:extLst>
          </p:cNvPr>
          <p:cNvSpPr>
            <a:spLocks noGrp="1"/>
          </p:cNvSpPr>
          <p:nvPr>
            <p:ph type="title"/>
          </p:nvPr>
        </p:nvSpPr>
        <p:spPr bwMode="auto">
          <a:xfrm>
            <a:off x="3286125" y="411163"/>
            <a:ext cx="54006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Overview of Endur</a:t>
            </a:r>
            <a:br>
              <a:rPr lang="en-GB" altLang="en-US" b="1"/>
            </a:br>
            <a:r>
              <a:rPr lang="en-GB" altLang="en-US" b="1"/>
              <a:t>Front-Mid-Back</a:t>
            </a:r>
          </a:p>
        </p:txBody>
      </p:sp>
      <p:graphicFrame>
        <p:nvGraphicFramePr>
          <p:cNvPr id="1026" name="Object 2">
            <a:extLst>
              <a:ext uri="{FF2B5EF4-FFF2-40B4-BE49-F238E27FC236}">
                <a16:creationId xmlns:a16="http://schemas.microsoft.com/office/drawing/2014/main" id="{D382C160-C867-F15F-78DA-DEC899F7A4DF}"/>
              </a:ext>
            </a:extLst>
          </p:cNvPr>
          <p:cNvGraphicFramePr>
            <a:graphicFrameLocks noChangeAspect="1"/>
          </p:cNvGraphicFramePr>
          <p:nvPr/>
        </p:nvGraphicFramePr>
        <p:xfrm>
          <a:off x="428625" y="2908300"/>
          <a:ext cx="8096250" cy="3221038"/>
        </p:xfrm>
        <a:graphic>
          <a:graphicData uri="http://schemas.openxmlformats.org/presentationml/2006/ole">
            <mc:AlternateContent xmlns:mc="http://schemas.openxmlformats.org/markup-compatibility/2006">
              <mc:Choice xmlns:v="urn:schemas-microsoft-com:vml" Requires="v">
                <p:oleObj name="Document" r:id="rId3" imgW="7743960" imgH="3508200" progId="Word.Document.8">
                  <p:embed/>
                </p:oleObj>
              </mc:Choice>
              <mc:Fallback>
                <p:oleObj name="Document" r:id="rId3" imgW="7743960" imgH="3508200" progId="Word.Document.8">
                  <p:embed/>
                  <p:pic>
                    <p:nvPicPr>
                      <p:cNvPr id="1026" name="Object 2">
                        <a:extLst>
                          <a:ext uri="{FF2B5EF4-FFF2-40B4-BE49-F238E27FC236}">
                            <a16:creationId xmlns:a16="http://schemas.microsoft.com/office/drawing/2014/main" id="{D382C160-C867-F15F-78DA-DEC899F7A4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2908300"/>
                        <a:ext cx="8096250" cy="322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0" name="AutoShape 6150">
            <a:extLst>
              <a:ext uri="{FF2B5EF4-FFF2-40B4-BE49-F238E27FC236}">
                <a16:creationId xmlns:a16="http://schemas.microsoft.com/office/drawing/2014/main" id="{DFC1100C-0F9A-5072-1AFF-8B165382DBC5}"/>
              </a:ext>
            </a:extLst>
          </p:cNvPr>
          <p:cNvSpPr>
            <a:spLocks noChangeArrowheads="1"/>
          </p:cNvSpPr>
          <p:nvPr/>
        </p:nvSpPr>
        <p:spPr bwMode="auto">
          <a:xfrm>
            <a:off x="3135313" y="2070100"/>
            <a:ext cx="2551112" cy="771525"/>
          </a:xfrm>
          <a:prstGeom prst="triangle">
            <a:avLst>
              <a:gd name="adj" fmla="val 50000"/>
            </a:avLst>
          </a:prstGeom>
          <a:gradFill rotWithShape="0">
            <a:gsLst>
              <a:gs pos="0">
                <a:srgbClr val="187B07"/>
              </a:gs>
              <a:gs pos="100000">
                <a:srgbClr val="ABCFA5"/>
              </a:gs>
            </a:gsLst>
            <a:lin ang="5400000" scaled="1"/>
          </a:gradFill>
          <a:ln w="9525">
            <a:miter lim="800000"/>
            <a:headEnd/>
            <a:tailEnd/>
          </a:ln>
          <a:scene3d>
            <a:camera prst="legacyPerspectiveTopRight"/>
            <a:lightRig rig="legacyFlat3" dir="b"/>
          </a:scene3d>
          <a:sp3d extrusionH="887400" prstMaterial="legacyMatte">
            <a:bevelT w="13500" h="13500" prst="angle"/>
            <a:bevelB w="13500" h="13500" prst="angle"/>
            <a:extrusionClr>
              <a:srgbClr val="187B07"/>
            </a:extrusionClr>
            <a:contourClr>
              <a:srgbClr val="187B07"/>
            </a:contourClr>
          </a:sp3d>
        </p:spPr>
        <p:txBody>
          <a:bodyPr wrap="none" anchor="ctr">
            <a:flatTx/>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b="1">
                <a:solidFill>
                  <a:srgbClr val="000099"/>
                </a:solidFill>
              </a:rPr>
              <a:t>Middle</a:t>
            </a:r>
          </a:p>
          <a:p>
            <a:pPr algn="ctr" eaLnBrk="1" hangingPunct="1"/>
            <a:r>
              <a:rPr lang="en-US" altLang="en-US" sz="1800" b="1">
                <a:solidFill>
                  <a:srgbClr val="000099"/>
                </a:solidFill>
              </a:rPr>
              <a:t>Office</a:t>
            </a:r>
          </a:p>
        </p:txBody>
      </p:sp>
      <p:sp>
        <p:nvSpPr>
          <p:cNvPr id="1031" name="AutoShape 6151">
            <a:extLst>
              <a:ext uri="{FF2B5EF4-FFF2-40B4-BE49-F238E27FC236}">
                <a16:creationId xmlns:a16="http://schemas.microsoft.com/office/drawing/2014/main" id="{9D08ADDA-40C8-757F-AAA5-D772161EA3CC}"/>
              </a:ext>
            </a:extLst>
          </p:cNvPr>
          <p:cNvSpPr>
            <a:spLocks noChangeArrowheads="1"/>
          </p:cNvSpPr>
          <p:nvPr/>
        </p:nvSpPr>
        <p:spPr bwMode="auto">
          <a:xfrm>
            <a:off x="5765800" y="2070100"/>
            <a:ext cx="2630488" cy="771525"/>
          </a:xfrm>
          <a:prstGeom prst="triangle">
            <a:avLst>
              <a:gd name="adj" fmla="val 50000"/>
            </a:avLst>
          </a:prstGeom>
          <a:gradFill rotWithShape="0">
            <a:gsLst>
              <a:gs pos="0">
                <a:srgbClr val="F0FA24"/>
              </a:gs>
              <a:gs pos="100000">
                <a:srgbClr val="F9FDA9"/>
              </a:gs>
            </a:gsLst>
            <a:lin ang="5400000" scaled="1"/>
          </a:gradFill>
          <a:ln w="9525">
            <a:miter lim="800000"/>
            <a:headEnd/>
            <a:tailEnd/>
          </a:ln>
          <a:scene3d>
            <a:camera prst="legacyPerspectiveTopRight"/>
            <a:lightRig rig="legacyFlat3" dir="b"/>
          </a:scene3d>
          <a:sp3d extrusionH="887400" prstMaterial="legacyMatte">
            <a:bevelT w="13500" h="13500" prst="angle"/>
            <a:bevelB w="13500" h="13500" prst="angle"/>
            <a:extrusionClr>
              <a:srgbClr val="F0FA24"/>
            </a:extrusionClr>
            <a:contourClr>
              <a:srgbClr val="F0FA24"/>
            </a:contourClr>
          </a:sp3d>
        </p:spPr>
        <p:txBody>
          <a:bodyPr wrap="none" anchor="ctr">
            <a:flatTx/>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b="1">
                <a:solidFill>
                  <a:srgbClr val="000099"/>
                </a:solidFill>
              </a:rPr>
              <a:t>Back</a:t>
            </a:r>
          </a:p>
          <a:p>
            <a:pPr algn="ctr" eaLnBrk="1" hangingPunct="1"/>
            <a:r>
              <a:rPr lang="en-US" altLang="en-US" sz="1800" b="1">
                <a:solidFill>
                  <a:srgbClr val="000099"/>
                </a:solidFill>
              </a:rPr>
              <a:t>Office</a:t>
            </a:r>
          </a:p>
        </p:txBody>
      </p:sp>
      <p:sp>
        <p:nvSpPr>
          <p:cNvPr id="1032" name="AutoShape 6152">
            <a:extLst>
              <a:ext uri="{FF2B5EF4-FFF2-40B4-BE49-F238E27FC236}">
                <a16:creationId xmlns:a16="http://schemas.microsoft.com/office/drawing/2014/main" id="{8EC31435-339E-07B4-00CA-1437BABAEB51}"/>
              </a:ext>
            </a:extLst>
          </p:cNvPr>
          <p:cNvSpPr>
            <a:spLocks noChangeArrowheads="1"/>
          </p:cNvSpPr>
          <p:nvPr/>
        </p:nvSpPr>
        <p:spPr bwMode="auto">
          <a:xfrm>
            <a:off x="584200" y="2070100"/>
            <a:ext cx="2551113" cy="771525"/>
          </a:xfrm>
          <a:prstGeom prst="triangle">
            <a:avLst>
              <a:gd name="adj" fmla="val 50000"/>
            </a:avLst>
          </a:prstGeom>
          <a:gradFill rotWithShape="0">
            <a:gsLst>
              <a:gs pos="0">
                <a:srgbClr val="000099"/>
              </a:gs>
              <a:gs pos="100000">
                <a:srgbClr val="9B9BD7"/>
              </a:gs>
            </a:gsLst>
            <a:lin ang="5400000" scaled="1"/>
          </a:gradFill>
          <a:ln w="9525">
            <a:miter lim="800000"/>
            <a:headEnd/>
            <a:tailEnd/>
          </a:ln>
          <a:scene3d>
            <a:camera prst="legacyPerspectiveTopRight"/>
            <a:lightRig rig="legacyFlat3" dir="b"/>
          </a:scene3d>
          <a:sp3d extrusionH="887400" prstMaterial="legacyMatte">
            <a:bevelT w="13500" h="13500" prst="angle"/>
            <a:bevelB w="13500" h="13500" prst="angle"/>
            <a:extrusionClr>
              <a:srgbClr val="000099"/>
            </a:extrusionClr>
            <a:contourClr>
              <a:srgbClr val="000099"/>
            </a:contourClr>
          </a:sp3d>
        </p:spPr>
        <p:txBody>
          <a:bodyPr wrap="none" anchor="ctr">
            <a:flatTx/>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1800" b="1">
                <a:solidFill>
                  <a:srgbClr val="000099"/>
                </a:solidFill>
              </a:rPr>
              <a:t>Front </a:t>
            </a:r>
          </a:p>
          <a:p>
            <a:pPr algn="ctr" eaLnBrk="1" hangingPunct="1"/>
            <a:r>
              <a:rPr lang="en-US" altLang="en-US" sz="1800" b="1">
                <a:solidFill>
                  <a:srgbClr val="000099"/>
                </a:solidFill>
              </a:rPr>
              <a:t>Office</a:t>
            </a:r>
          </a:p>
        </p:txBody>
      </p:sp>
      <p:sp>
        <p:nvSpPr>
          <p:cNvPr id="10" name="AutoShape 6153">
            <a:extLst>
              <a:ext uri="{FF2B5EF4-FFF2-40B4-BE49-F238E27FC236}">
                <a16:creationId xmlns:a16="http://schemas.microsoft.com/office/drawing/2014/main" id="{F4A8D535-D90E-68E8-5875-E014D77C1E97}"/>
              </a:ext>
            </a:extLst>
          </p:cNvPr>
          <p:cNvSpPr>
            <a:spLocks noChangeArrowheads="1"/>
          </p:cNvSpPr>
          <p:nvPr/>
        </p:nvSpPr>
        <p:spPr bwMode="auto">
          <a:xfrm>
            <a:off x="5367338" y="2070100"/>
            <a:ext cx="1036637" cy="481013"/>
          </a:xfrm>
          <a:prstGeom prst="leftRightArrow">
            <a:avLst>
              <a:gd name="adj1" fmla="val 50000"/>
              <a:gd name="adj2" fmla="val 37933"/>
            </a:avLst>
          </a:prstGeom>
          <a:solidFill>
            <a:srgbClr val="000099"/>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GB" dirty="0">
              <a:cs typeface="+mn-cs"/>
            </a:endParaRPr>
          </a:p>
        </p:txBody>
      </p:sp>
      <p:sp>
        <p:nvSpPr>
          <p:cNvPr id="11" name="AutoShape 6154">
            <a:extLst>
              <a:ext uri="{FF2B5EF4-FFF2-40B4-BE49-F238E27FC236}">
                <a16:creationId xmlns:a16="http://schemas.microsoft.com/office/drawing/2014/main" id="{3A4AF29A-3C58-B63E-89C1-B0C228360FC7}"/>
              </a:ext>
            </a:extLst>
          </p:cNvPr>
          <p:cNvSpPr>
            <a:spLocks noChangeArrowheads="1"/>
          </p:cNvSpPr>
          <p:nvPr/>
        </p:nvSpPr>
        <p:spPr bwMode="auto">
          <a:xfrm>
            <a:off x="2736850" y="2000250"/>
            <a:ext cx="1036638" cy="481013"/>
          </a:xfrm>
          <a:prstGeom prst="leftRightArrow">
            <a:avLst>
              <a:gd name="adj1" fmla="val 50000"/>
              <a:gd name="adj2" fmla="val 37933"/>
            </a:avLst>
          </a:prstGeom>
          <a:solidFill>
            <a:srgbClr val="000099"/>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GB" dirty="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anim calcmode="lin" valueType="num">
                                      <p:cBhvr additive="base">
                                        <p:cTn id="7" dur="500" fill="hold"/>
                                        <p:tgtEl>
                                          <p:spTgt spid="1032"/>
                                        </p:tgtEl>
                                        <p:attrNameLst>
                                          <p:attrName>ppt_x</p:attrName>
                                        </p:attrNameLst>
                                      </p:cBhvr>
                                      <p:tavLst>
                                        <p:tav tm="0">
                                          <p:val>
                                            <p:strVal val="#ppt_x"/>
                                          </p:val>
                                        </p:tav>
                                        <p:tav tm="100000">
                                          <p:val>
                                            <p:strVal val="#ppt_x"/>
                                          </p:val>
                                        </p:tav>
                                      </p:tavLst>
                                    </p:anim>
                                    <p:anim calcmode="lin" valueType="num">
                                      <p:cBhvr additive="base">
                                        <p:cTn id="8" dur="500" fill="hold"/>
                                        <p:tgtEl>
                                          <p:spTgt spid="103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0"/>
                                        </p:tgtEl>
                                        <p:attrNameLst>
                                          <p:attrName>style.visibility</p:attrName>
                                        </p:attrNameLst>
                                      </p:cBhvr>
                                      <p:to>
                                        <p:strVal val="visible"/>
                                      </p:to>
                                    </p:set>
                                    <p:anim calcmode="lin" valueType="num">
                                      <p:cBhvr additive="base">
                                        <p:cTn id="19" dur="500" fill="hold"/>
                                        <p:tgtEl>
                                          <p:spTgt spid="1030"/>
                                        </p:tgtEl>
                                        <p:attrNameLst>
                                          <p:attrName>ppt_x</p:attrName>
                                        </p:attrNameLst>
                                      </p:cBhvr>
                                      <p:tavLst>
                                        <p:tav tm="0">
                                          <p:val>
                                            <p:strVal val="#ppt_x"/>
                                          </p:val>
                                        </p:tav>
                                        <p:tav tm="100000">
                                          <p:val>
                                            <p:strVal val="#ppt_x"/>
                                          </p:val>
                                        </p:tav>
                                      </p:tavLst>
                                    </p:anim>
                                    <p:anim calcmode="lin" valueType="num">
                                      <p:cBhvr additive="base">
                                        <p:cTn id="20" dur="500" fill="hold"/>
                                        <p:tgtEl>
                                          <p:spTgt spid="103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31"/>
                                        </p:tgtEl>
                                        <p:attrNameLst>
                                          <p:attrName>style.visibility</p:attrName>
                                        </p:attrNameLst>
                                      </p:cBhvr>
                                      <p:to>
                                        <p:strVal val="visible"/>
                                      </p:to>
                                    </p:set>
                                    <p:anim calcmode="lin" valueType="num">
                                      <p:cBhvr additive="base">
                                        <p:cTn id="31" dur="500" fill="hold"/>
                                        <p:tgtEl>
                                          <p:spTgt spid="1031"/>
                                        </p:tgtEl>
                                        <p:attrNameLst>
                                          <p:attrName>ppt_x</p:attrName>
                                        </p:attrNameLst>
                                      </p:cBhvr>
                                      <p:tavLst>
                                        <p:tav tm="0">
                                          <p:val>
                                            <p:strVal val="#ppt_x"/>
                                          </p:val>
                                        </p:tav>
                                        <p:tav tm="100000">
                                          <p:val>
                                            <p:strVal val="#ppt_x"/>
                                          </p:val>
                                        </p:tav>
                                      </p:tavLst>
                                    </p:anim>
                                    <p:anim calcmode="lin" valueType="num">
                                      <p:cBhvr additive="base">
                                        <p:cTn id="32"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animBg="1"/>
      <p:bldP spid="1031" grpId="0" animBg="1"/>
      <p:bldP spid="1032"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8">
            <a:extLst>
              <a:ext uri="{FF2B5EF4-FFF2-40B4-BE49-F238E27FC236}">
                <a16:creationId xmlns:a16="http://schemas.microsoft.com/office/drawing/2014/main" id="{F998E132-D869-ACE3-93B1-52EBE0811D7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00125" y="3857625"/>
            <a:ext cx="7358063" cy="14366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2">
            <a:extLst>
              <a:ext uri="{FF2B5EF4-FFF2-40B4-BE49-F238E27FC236}">
                <a16:creationId xmlns:a16="http://schemas.microsoft.com/office/drawing/2014/main" id="{816970F4-F57F-EC1C-577B-4D6E895DA2BD}"/>
              </a:ext>
            </a:extLst>
          </p:cNvPr>
          <p:cNvSpPr>
            <a:spLocks noGrp="1" noChangeArrowheads="1"/>
          </p:cNvSpPr>
          <p:nvPr>
            <p:ph type="title"/>
          </p:nvPr>
        </p:nvSpPr>
        <p:spPr bwMode="auto">
          <a:xfrm>
            <a:off x="3357563" y="357188"/>
            <a:ext cx="5786437" cy="1357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Overview of Endur OpenLink Central</a:t>
            </a:r>
          </a:p>
        </p:txBody>
      </p:sp>
      <p:sp>
        <p:nvSpPr>
          <p:cNvPr id="16447" name="Text Box 63">
            <a:extLst>
              <a:ext uri="{FF2B5EF4-FFF2-40B4-BE49-F238E27FC236}">
                <a16:creationId xmlns:a16="http://schemas.microsoft.com/office/drawing/2014/main" id="{8A61C3A3-D2DE-DC06-8D66-BFFAE617F567}"/>
              </a:ext>
            </a:extLst>
          </p:cNvPr>
          <p:cNvSpPr txBox="1">
            <a:spLocks noChangeArrowheads="1"/>
          </p:cNvSpPr>
          <p:nvPr/>
        </p:nvSpPr>
        <p:spPr bwMode="auto">
          <a:xfrm>
            <a:off x="3214688" y="5643563"/>
            <a:ext cx="212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a:latin typeface="Tahoma" panose="020B0604030504040204" pitchFamily="34" charset="0"/>
              </a:rPr>
              <a:t>Standard View</a:t>
            </a:r>
          </a:p>
        </p:txBody>
      </p:sp>
      <p:sp>
        <p:nvSpPr>
          <p:cNvPr id="16453" name="Text Box 69">
            <a:extLst>
              <a:ext uri="{FF2B5EF4-FFF2-40B4-BE49-F238E27FC236}">
                <a16:creationId xmlns:a16="http://schemas.microsoft.com/office/drawing/2014/main" id="{1480ED3B-480D-794F-1D07-16C740E81F66}"/>
              </a:ext>
            </a:extLst>
          </p:cNvPr>
          <p:cNvSpPr txBox="1">
            <a:spLocks noChangeArrowheads="1"/>
          </p:cNvSpPr>
          <p:nvPr/>
        </p:nvSpPr>
        <p:spPr bwMode="auto">
          <a:xfrm>
            <a:off x="571500" y="2571750"/>
            <a:ext cx="80105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GB" altLang="en-US" sz="2800">
                <a:latin typeface="Arial" panose="020B0604020202020204" pitchFamily="34" charset="0"/>
              </a:rPr>
              <a:t>This is the central point for accessing all Endur Managers – One-Click Access</a:t>
            </a:r>
          </a:p>
        </p:txBody>
      </p:sp>
      <p:sp>
        <p:nvSpPr>
          <p:cNvPr id="8" name="Rectangle 7">
            <a:extLst>
              <a:ext uri="{FF2B5EF4-FFF2-40B4-BE49-F238E27FC236}">
                <a16:creationId xmlns:a16="http://schemas.microsoft.com/office/drawing/2014/main" id="{08FA9023-730A-C5CA-79CF-8A926B5D7D85}"/>
              </a:ext>
            </a:extLst>
          </p:cNvPr>
          <p:cNvSpPr/>
          <p:nvPr/>
        </p:nvSpPr>
        <p:spPr>
          <a:xfrm>
            <a:off x="857250" y="5072063"/>
            <a:ext cx="7643813" cy="35718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9" name="Oval 8">
            <a:extLst>
              <a:ext uri="{FF2B5EF4-FFF2-40B4-BE49-F238E27FC236}">
                <a16:creationId xmlns:a16="http://schemas.microsoft.com/office/drawing/2014/main" id="{96CD8C19-3A60-F006-AC27-CC842E561B78}"/>
              </a:ext>
            </a:extLst>
          </p:cNvPr>
          <p:cNvSpPr/>
          <p:nvPr/>
        </p:nvSpPr>
        <p:spPr>
          <a:xfrm>
            <a:off x="785813" y="3714750"/>
            <a:ext cx="7572375" cy="428625"/>
          </a:xfrm>
          <a:prstGeom prst="ellipse">
            <a:avLst/>
          </a:prstGeom>
          <a:noFill/>
          <a:ln w="38100">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additive="base">
                                        <p:cTn id="7" dur="500" fill="hold"/>
                                        <p:tgtEl>
                                          <p:spTgt spid="16386"/>
                                        </p:tgtEl>
                                        <p:attrNameLst>
                                          <p:attrName>ppt_x</p:attrName>
                                        </p:attrNameLst>
                                      </p:cBhvr>
                                      <p:tavLst>
                                        <p:tav tm="0">
                                          <p:val>
                                            <p:strVal val="1+#ppt_w/2"/>
                                          </p:val>
                                        </p:tav>
                                        <p:tav tm="100000">
                                          <p:val>
                                            <p:strVal val="#ppt_x"/>
                                          </p:val>
                                        </p:tav>
                                      </p:tavLst>
                                    </p:anim>
                                    <p:anim calcmode="lin" valueType="num">
                                      <p:cBhvr additive="base">
                                        <p:cTn id="8" dur="500" fill="hold"/>
                                        <p:tgtEl>
                                          <p:spTgt spid="16386"/>
                                        </p:tgtEl>
                                        <p:attrNameLst>
                                          <p:attrName>ppt_y</p:attrName>
                                        </p:attrNameLst>
                                      </p:cBhvr>
                                      <p:tavLst>
                                        <p:tav tm="0">
                                          <p:val>
                                            <p:strVal val="#ppt_y"/>
                                          </p:val>
                                        </p:tav>
                                        <p:tav tm="100000">
                                          <p:val>
                                            <p:strVal val="#ppt_y"/>
                                          </p:val>
                                        </p:tav>
                                      </p:tavLst>
                                    </p:anim>
                                  </p:childTnLst>
                                </p:cTn>
                              </p:par>
                              <p:par>
                                <p:cTn id="9" presetID="53" presetClass="entr" presetSubtype="0" fill="hold" nodeType="withEffect">
                                  <p:stCondLst>
                                    <p:cond delay="0"/>
                                  </p:stCondLst>
                                  <p:childTnLst>
                                    <p:set>
                                      <p:cBhvr>
                                        <p:cTn id="10" dur="1" fill="hold">
                                          <p:stCondLst>
                                            <p:cond delay="0"/>
                                          </p:stCondLst>
                                        </p:cTn>
                                        <p:tgtEl>
                                          <p:spTgt spid="16453"/>
                                        </p:tgtEl>
                                        <p:attrNameLst>
                                          <p:attrName>style.visibility</p:attrName>
                                        </p:attrNameLst>
                                      </p:cBhvr>
                                      <p:to>
                                        <p:strVal val="visible"/>
                                      </p:to>
                                    </p:set>
                                    <p:anim calcmode="lin" valueType="num">
                                      <p:cBhvr>
                                        <p:cTn id="11" dur="500" fill="hold"/>
                                        <p:tgtEl>
                                          <p:spTgt spid="16453"/>
                                        </p:tgtEl>
                                        <p:attrNameLst>
                                          <p:attrName>ppt_w</p:attrName>
                                        </p:attrNameLst>
                                      </p:cBhvr>
                                      <p:tavLst>
                                        <p:tav tm="0">
                                          <p:val>
                                            <p:fltVal val="0"/>
                                          </p:val>
                                        </p:tav>
                                        <p:tav tm="100000">
                                          <p:val>
                                            <p:strVal val="#ppt_w"/>
                                          </p:val>
                                        </p:tav>
                                      </p:tavLst>
                                    </p:anim>
                                    <p:anim calcmode="lin" valueType="num">
                                      <p:cBhvr>
                                        <p:cTn id="12" dur="500" fill="hold"/>
                                        <p:tgtEl>
                                          <p:spTgt spid="16453"/>
                                        </p:tgtEl>
                                        <p:attrNameLst>
                                          <p:attrName>ppt_h</p:attrName>
                                        </p:attrNameLst>
                                      </p:cBhvr>
                                      <p:tavLst>
                                        <p:tav tm="0">
                                          <p:val>
                                            <p:fltVal val="0"/>
                                          </p:val>
                                        </p:tav>
                                        <p:tav tm="100000">
                                          <p:val>
                                            <p:strVal val="#ppt_h"/>
                                          </p:val>
                                        </p:tav>
                                      </p:tavLst>
                                    </p:anim>
                                    <p:animEffect transition="in" filter="fade">
                                      <p:cBhvr>
                                        <p:cTn id="13" dur="500"/>
                                        <p:tgtEl>
                                          <p:spTgt spid="16453"/>
                                        </p:tgtEl>
                                      </p:cBhvr>
                                    </p:animEffect>
                                  </p:childTnLst>
                                </p:cTn>
                              </p:par>
                              <p:par>
                                <p:cTn id="14" presetID="53" presetClass="entr" presetSubtype="0" fill="hold" nodeType="withEffect">
                                  <p:stCondLst>
                                    <p:cond delay="0"/>
                                  </p:stCondLst>
                                  <p:childTnLst>
                                    <p:set>
                                      <p:cBhvr>
                                        <p:cTn id="15" dur="1" fill="hold">
                                          <p:stCondLst>
                                            <p:cond delay="0"/>
                                          </p:stCondLst>
                                        </p:cTn>
                                        <p:tgtEl>
                                          <p:spTgt spid="16447"/>
                                        </p:tgtEl>
                                        <p:attrNameLst>
                                          <p:attrName>style.visibility</p:attrName>
                                        </p:attrNameLst>
                                      </p:cBhvr>
                                      <p:to>
                                        <p:strVal val="visible"/>
                                      </p:to>
                                    </p:set>
                                    <p:anim calcmode="lin" valueType="num">
                                      <p:cBhvr>
                                        <p:cTn id="16" dur="500" fill="hold"/>
                                        <p:tgtEl>
                                          <p:spTgt spid="16447"/>
                                        </p:tgtEl>
                                        <p:attrNameLst>
                                          <p:attrName>ppt_w</p:attrName>
                                        </p:attrNameLst>
                                      </p:cBhvr>
                                      <p:tavLst>
                                        <p:tav tm="0">
                                          <p:val>
                                            <p:fltVal val="0"/>
                                          </p:val>
                                        </p:tav>
                                        <p:tav tm="100000">
                                          <p:val>
                                            <p:strVal val="#ppt_w"/>
                                          </p:val>
                                        </p:tav>
                                      </p:tavLst>
                                    </p:anim>
                                    <p:anim calcmode="lin" valueType="num">
                                      <p:cBhvr>
                                        <p:cTn id="17" dur="500" fill="hold"/>
                                        <p:tgtEl>
                                          <p:spTgt spid="16447"/>
                                        </p:tgtEl>
                                        <p:attrNameLst>
                                          <p:attrName>ppt_h</p:attrName>
                                        </p:attrNameLst>
                                      </p:cBhvr>
                                      <p:tavLst>
                                        <p:tav tm="0">
                                          <p:val>
                                            <p:fltVal val="0"/>
                                          </p:val>
                                        </p:tav>
                                        <p:tav tm="100000">
                                          <p:val>
                                            <p:strVal val="#ppt_h"/>
                                          </p:val>
                                        </p:tav>
                                      </p:tavLst>
                                    </p:anim>
                                    <p:animEffect transition="in" filter="fade">
                                      <p:cBhvr>
                                        <p:cTn id="18" dur="500"/>
                                        <p:tgtEl>
                                          <p:spTgt spid="1644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6" presetClass="emph" presetSubtype="0" fill="hold" nodeType="clickEffect">
                                  <p:stCondLst>
                                    <p:cond delay="0"/>
                                  </p:stCondLst>
                                  <p:childTnLst>
                                    <p:animEffect transition="out" filter="fade">
                                      <p:cBhvr>
                                        <p:cTn id="28" dur="500" tmFilter="0, 0; .2, .5; .8, .5; 1, 0"/>
                                        <p:tgtEl>
                                          <p:spTgt spid="9"/>
                                        </p:tgtEl>
                                      </p:cBhvr>
                                    </p:animEffect>
                                    <p:animScale>
                                      <p:cBhvr>
                                        <p:cTn id="29" dur="250" autoRev="1" fill="hold"/>
                                        <p:tgtEl>
                                          <p:spTgt spid="9"/>
                                        </p:tgtEl>
                                      </p:cBhvr>
                                      <p:by x="105000" y="105000"/>
                                    </p:animScale>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ppt_x"/>
                                          </p:val>
                                        </p:tav>
                                        <p:tav tm="100000">
                                          <p:val>
                                            <p:strVal val="#ppt_x"/>
                                          </p:val>
                                        </p:tav>
                                      </p:tavLst>
                                    </p:anim>
                                    <p:anim calcmode="lin" valueType="num">
                                      <p:cBhvr additive="base">
                                        <p:cTn id="3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6" presetClass="emph" presetSubtype="0" fill="hold" nodeType="clickEffect">
                                  <p:stCondLst>
                                    <p:cond delay="0"/>
                                  </p:stCondLst>
                                  <p:childTnLst>
                                    <p:animEffect transition="out" filter="fade">
                                      <p:cBhvr>
                                        <p:cTn id="39" dur="500" tmFilter="0, 0; .2, .5; .8, .5; 1, 0"/>
                                        <p:tgtEl>
                                          <p:spTgt spid="8"/>
                                        </p:tgtEl>
                                      </p:cBhvr>
                                    </p:animEffect>
                                    <p:animScale>
                                      <p:cBhvr>
                                        <p:cTn id="40"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P spid="16447" grpId="0"/>
      <p:bldP spid="16453" grpId="0"/>
      <p:bldP spid="8" grpId="0" animBg="1"/>
      <p:bldP spid="8" grpId="1" animBg="1"/>
      <p:bldP spid="9" grpId="0" animBg="1"/>
      <p:bldP spid="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57A2BE0-59EC-D621-02DB-34D597CC8E80}"/>
              </a:ext>
            </a:extLst>
          </p:cNvPr>
          <p:cNvSpPr>
            <a:spLocks noGrp="1" noChangeArrowheads="1"/>
          </p:cNvSpPr>
          <p:nvPr>
            <p:ph type="title"/>
          </p:nvPr>
        </p:nvSpPr>
        <p:spPr bwMode="auto">
          <a:xfrm>
            <a:off x="3500438" y="228600"/>
            <a:ext cx="55673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Reference Manager</a:t>
            </a:r>
          </a:p>
        </p:txBody>
      </p:sp>
      <p:sp>
        <p:nvSpPr>
          <p:cNvPr id="29699" name="Rectangle 3">
            <a:extLst>
              <a:ext uri="{FF2B5EF4-FFF2-40B4-BE49-F238E27FC236}">
                <a16:creationId xmlns:a16="http://schemas.microsoft.com/office/drawing/2014/main" id="{9A2585B6-EDB6-607B-11EA-AFCEC221D3AA}"/>
              </a:ext>
            </a:extLst>
          </p:cNvPr>
          <p:cNvSpPr>
            <a:spLocks noGrp="1" noChangeArrowheads="1"/>
          </p:cNvSpPr>
          <p:nvPr>
            <p:ph type="body" sz="half" idx="2"/>
          </p:nvPr>
        </p:nvSpPr>
        <p:spPr bwMode="auto">
          <a:xfrm>
            <a:off x="3200400" y="1905000"/>
            <a:ext cx="52578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400"/>
              <a:t>Maintains internal &amp; external party information:</a:t>
            </a:r>
          </a:p>
          <a:p>
            <a:pPr lvl="1" eaLnBrk="1" hangingPunct="1"/>
            <a:r>
              <a:rPr lang="en-GB" altLang="en-US" sz="2200"/>
              <a:t>Parties</a:t>
            </a:r>
          </a:p>
          <a:p>
            <a:pPr lvl="2" eaLnBrk="1" hangingPunct="1"/>
            <a:r>
              <a:rPr lang="en-GB" altLang="en-US" sz="2000"/>
              <a:t>Party Groups</a:t>
            </a:r>
          </a:p>
          <a:p>
            <a:pPr lvl="2" eaLnBrk="1" hangingPunct="1"/>
            <a:r>
              <a:rPr lang="en-GB" altLang="en-US" sz="2000"/>
              <a:t>Business units</a:t>
            </a:r>
          </a:p>
          <a:p>
            <a:pPr lvl="2" eaLnBrk="1" hangingPunct="1"/>
            <a:r>
              <a:rPr lang="en-GB" altLang="en-US" sz="2000"/>
              <a:t>Legal entities</a:t>
            </a:r>
          </a:p>
          <a:p>
            <a:pPr lvl="1" eaLnBrk="1" hangingPunct="1"/>
            <a:r>
              <a:rPr lang="en-GB" altLang="en-US" sz="2200"/>
              <a:t>Portfolios</a:t>
            </a:r>
          </a:p>
          <a:p>
            <a:pPr lvl="1" eaLnBrk="1" hangingPunct="1"/>
            <a:r>
              <a:rPr lang="en-GB" altLang="en-US" sz="2200"/>
              <a:t>Personnel</a:t>
            </a:r>
          </a:p>
          <a:p>
            <a:pPr eaLnBrk="1" hangingPunct="1">
              <a:buFontTx/>
              <a:buNone/>
            </a:pPr>
            <a:endParaRPr lang="en-GB" altLang="en-US" sz="2400"/>
          </a:p>
          <a:p>
            <a:pPr algn="ctr" eaLnBrk="1" hangingPunct="1">
              <a:buFontTx/>
              <a:buNone/>
            </a:pPr>
            <a:r>
              <a:rPr lang="en-GB" altLang="en-US" sz="2400"/>
              <a:t>Remember the 3Ps!!</a:t>
            </a:r>
          </a:p>
        </p:txBody>
      </p:sp>
      <p:pic>
        <p:nvPicPr>
          <p:cNvPr id="29704" name="Picture 8" descr="image009">
            <a:extLst>
              <a:ext uri="{FF2B5EF4-FFF2-40B4-BE49-F238E27FC236}">
                <a16:creationId xmlns:a16="http://schemas.microsoft.com/office/drawing/2014/main" id="{D6B32E4E-4A1E-79DC-E60A-990DB5F04D2A}"/>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05000"/>
            <a:ext cx="1905000" cy="1390650"/>
          </a:xfrm>
          <a:prstGeom prst="rect">
            <a:avLst/>
          </a:prstGeom>
          <a:solidFill>
            <a:srgbClr val="FFFFFF"/>
          </a:solidFill>
          <a:ln w="9525">
            <a:solidFill>
              <a:srgbClr val="000000"/>
            </a:solidFill>
            <a:round/>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9698"/>
                                        </p:tgtEl>
                                        <p:attrNameLst>
                                          <p:attrName>style.visibility</p:attrName>
                                        </p:attrNameLst>
                                      </p:cBhvr>
                                      <p:to>
                                        <p:strVal val="visible"/>
                                      </p:to>
                                    </p:set>
                                    <p:anim calcmode="lin" valueType="num">
                                      <p:cBhvr additive="base">
                                        <p:cTn id="7" dur="500" fill="hold"/>
                                        <p:tgtEl>
                                          <p:spTgt spid="29698"/>
                                        </p:tgtEl>
                                        <p:attrNameLst>
                                          <p:attrName>ppt_x</p:attrName>
                                        </p:attrNameLst>
                                      </p:cBhvr>
                                      <p:tavLst>
                                        <p:tav tm="0">
                                          <p:val>
                                            <p:strVal val="1+#ppt_w/2"/>
                                          </p:val>
                                        </p:tav>
                                        <p:tav tm="100000">
                                          <p:val>
                                            <p:strVal val="#ppt_x"/>
                                          </p:val>
                                        </p:tav>
                                      </p:tavLst>
                                    </p:anim>
                                    <p:anim calcmode="lin" valueType="num">
                                      <p:cBhvr additive="base">
                                        <p:cTn id="8" dur="500" fill="hold"/>
                                        <p:tgtEl>
                                          <p:spTgt spid="2969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0" presetClass="entr" presetSubtype="0" fill="hold" nodeType="afterEffect">
                                  <p:stCondLst>
                                    <p:cond delay="0"/>
                                  </p:stCondLst>
                                  <p:childTnLst>
                                    <p:set>
                                      <p:cBhvr>
                                        <p:cTn id="11" dur="1" fill="hold">
                                          <p:stCondLst>
                                            <p:cond delay="0"/>
                                          </p:stCondLst>
                                        </p:cTn>
                                        <p:tgtEl>
                                          <p:spTgt spid="29704"/>
                                        </p:tgtEl>
                                        <p:attrNameLst>
                                          <p:attrName>style.visibility</p:attrName>
                                        </p:attrNameLst>
                                      </p:cBhvr>
                                      <p:to>
                                        <p:strVal val="visible"/>
                                      </p:to>
                                    </p:set>
                                    <p:animEffect transition="in" filter="fade">
                                      <p:cBhvr>
                                        <p:cTn id="12" dur="1000"/>
                                        <p:tgtEl>
                                          <p:spTgt spid="29704"/>
                                        </p:tgtEl>
                                      </p:cBhvr>
                                    </p:animEffect>
                                  </p:childTnLst>
                                </p:cTn>
                              </p:par>
                            </p:childTnLst>
                          </p:cTn>
                        </p:par>
                        <p:par>
                          <p:cTn id="13" fill="hold" nodeType="afterGroup">
                            <p:stCondLst>
                              <p:cond delay="1500"/>
                            </p:stCondLst>
                            <p:childTnLst>
                              <p:par>
                                <p:cTn id="14" presetID="53" presetClass="entr" presetSubtype="0" fill="hold" nodeType="afterEffect">
                                  <p:stCondLst>
                                    <p:cond delay="0"/>
                                  </p:stCondLst>
                                  <p:childTnLst>
                                    <p:set>
                                      <p:cBhvr>
                                        <p:cTn id="15" dur="1" fill="hold">
                                          <p:stCondLst>
                                            <p:cond delay="0"/>
                                          </p:stCondLst>
                                        </p:cTn>
                                        <p:tgtEl>
                                          <p:spTgt spid="29699">
                                            <p:txEl>
                                              <p:pRg st="0" end="0"/>
                                            </p:txEl>
                                          </p:spTgt>
                                        </p:tgtEl>
                                        <p:attrNameLst>
                                          <p:attrName>style.visibility</p:attrName>
                                        </p:attrNameLst>
                                      </p:cBhvr>
                                      <p:to>
                                        <p:strVal val="visible"/>
                                      </p:to>
                                    </p:set>
                                    <p:anim calcmode="lin" valueType="num">
                                      <p:cBhvr>
                                        <p:cTn id="16" dur="500" fill="hold"/>
                                        <p:tgtEl>
                                          <p:spTgt spid="29699">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29699">
                                            <p:txEl>
                                              <p:pRg st="0" end="0"/>
                                            </p:txEl>
                                          </p:spTgt>
                                        </p:tgtEl>
                                        <p:attrNameLst>
                                          <p:attrName>ppt_h</p:attrName>
                                        </p:attrNameLst>
                                      </p:cBhvr>
                                      <p:tavLst>
                                        <p:tav tm="0">
                                          <p:val>
                                            <p:fltVal val="0"/>
                                          </p:val>
                                        </p:tav>
                                        <p:tav tm="100000">
                                          <p:val>
                                            <p:strVal val="#ppt_h"/>
                                          </p:val>
                                        </p:tav>
                                      </p:tavLst>
                                    </p:anim>
                                    <p:animEffect transition="in" filter="fade">
                                      <p:cBhvr>
                                        <p:cTn id="18" dur="500"/>
                                        <p:tgtEl>
                                          <p:spTgt spid="29699">
                                            <p:txEl>
                                              <p:pRg st="0" end="0"/>
                                            </p:txEl>
                                          </p:spTgt>
                                        </p:tgtEl>
                                      </p:cBhvr>
                                    </p:animEffect>
                                  </p:childTnLst>
                                </p:cTn>
                              </p:par>
                            </p:childTnLst>
                          </p:cTn>
                        </p:par>
                        <p:par>
                          <p:cTn id="19" fill="hold" nodeType="afterGroup">
                            <p:stCondLst>
                              <p:cond delay="2000"/>
                            </p:stCondLst>
                            <p:childTnLst>
                              <p:par>
                                <p:cTn id="20" presetID="53" presetClass="entr" presetSubtype="0" fill="hold" nodeType="afterEffect">
                                  <p:stCondLst>
                                    <p:cond delay="0"/>
                                  </p:stCondLst>
                                  <p:childTnLst>
                                    <p:set>
                                      <p:cBhvr>
                                        <p:cTn id="21" dur="1" fill="hold">
                                          <p:stCondLst>
                                            <p:cond delay="0"/>
                                          </p:stCondLst>
                                        </p:cTn>
                                        <p:tgtEl>
                                          <p:spTgt spid="29699">
                                            <p:txEl>
                                              <p:pRg st="1" end="1"/>
                                            </p:txEl>
                                          </p:spTgt>
                                        </p:tgtEl>
                                        <p:attrNameLst>
                                          <p:attrName>style.visibility</p:attrName>
                                        </p:attrNameLst>
                                      </p:cBhvr>
                                      <p:to>
                                        <p:strVal val="visible"/>
                                      </p:to>
                                    </p:set>
                                    <p:anim calcmode="lin" valueType="num">
                                      <p:cBhvr>
                                        <p:cTn id="22" dur="500" fill="hold"/>
                                        <p:tgtEl>
                                          <p:spTgt spid="29699">
                                            <p:txEl>
                                              <p:pRg st="1" end="1"/>
                                            </p:txEl>
                                          </p:spTgt>
                                        </p:tgtEl>
                                        <p:attrNameLst>
                                          <p:attrName>ppt_w</p:attrName>
                                        </p:attrNameLst>
                                      </p:cBhvr>
                                      <p:tavLst>
                                        <p:tav tm="0">
                                          <p:val>
                                            <p:fltVal val="0"/>
                                          </p:val>
                                        </p:tav>
                                        <p:tav tm="100000">
                                          <p:val>
                                            <p:strVal val="#ppt_w"/>
                                          </p:val>
                                        </p:tav>
                                      </p:tavLst>
                                    </p:anim>
                                    <p:anim calcmode="lin" valueType="num">
                                      <p:cBhvr>
                                        <p:cTn id="23" dur="500" fill="hold"/>
                                        <p:tgtEl>
                                          <p:spTgt spid="29699">
                                            <p:txEl>
                                              <p:pRg st="1" end="1"/>
                                            </p:txEl>
                                          </p:spTgt>
                                        </p:tgtEl>
                                        <p:attrNameLst>
                                          <p:attrName>ppt_h</p:attrName>
                                        </p:attrNameLst>
                                      </p:cBhvr>
                                      <p:tavLst>
                                        <p:tav tm="0">
                                          <p:val>
                                            <p:fltVal val="0"/>
                                          </p:val>
                                        </p:tav>
                                        <p:tav tm="100000">
                                          <p:val>
                                            <p:strVal val="#ppt_h"/>
                                          </p:val>
                                        </p:tav>
                                      </p:tavLst>
                                    </p:anim>
                                    <p:animEffect transition="in" filter="fade">
                                      <p:cBhvr>
                                        <p:cTn id="24" dur="500"/>
                                        <p:tgtEl>
                                          <p:spTgt spid="29699">
                                            <p:txEl>
                                              <p:pRg st="1" end="1"/>
                                            </p:txEl>
                                          </p:spTgt>
                                        </p:tgtEl>
                                      </p:cBhvr>
                                    </p:animEffect>
                                  </p:childTnLst>
                                </p:cTn>
                              </p:par>
                            </p:childTnLst>
                          </p:cTn>
                        </p:par>
                        <p:par>
                          <p:cTn id="25" fill="hold" nodeType="afterGroup">
                            <p:stCondLst>
                              <p:cond delay="2500"/>
                            </p:stCondLst>
                            <p:childTnLst>
                              <p:par>
                                <p:cTn id="26" presetID="53" presetClass="entr" presetSubtype="0" fill="hold" nodeType="afterEffect">
                                  <p:stCondLst>
                                    <p:cond delay="0"/>
                                  </p:stCondLst>
                                  <p:childTnLst>
                                    <p:set>
                                      <p:cBhvr>
                                        <p:cTn id="27" dur="1" fill="hold">
                                          <p:stCondLst>
                                            <p:cond delay="0"/>
                                          </p:stCondLst>
                                        </p:cTn>
                                        <p:tgtEl>
                                          <p:spTgt spid="29699">
                                            <p:txEl>
                                              <p:pRg st="2" end="2"/>
                                            </p:txEl>
                                          </p:spTgt>
                                        </p:tgtEl>
                                        <p:attrNameLst>
                                          <p:attrName>style.visibility</p:attrName>
                                        </p:attrNameLst>
                                      </p:cBhvr>
                                      <p:to>
                                        <p:strVal val="visible"/>
                                      </p:to>
                                    </p:set>
                                    <p:anim calcmode="lin" valueType="num">
                                      <p:cBhvr>
                                        <p:cTn id="28" dur="500" fill="hold"/>
                                        <p:tgtEl>
                                          <p:spTgt spid="29699">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29699">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29699">
                                            <p:txEl>
                                              <p:pRg st="2" end="2"/>
                                            </p:txEl>
                                          </p:spTgt>
                                        </p:tgtEl>
                                      </p:cBhvr>
                                    </p:animEffect>
                                  </p:childTnLst>
                                </p:cTn>
                              </p:par>
                            </p:childTnLst>
                          </p:cTn>
                        </p:par>
                        <p:par>
                          <p:cTn id="31" fill="hold" nodeType="afterGroup">
                            <p:stCondLst>
                              <p:cond delay="3000"/>
                            </p:stCondLst>
                            <p:childTnLst>
                              <p:par>
                                <p:cTn id="32" presetID="53" presetClass="entr" presetSubtype="0" fill="hold" nodeType="afterEffect">
                                  <p:stCondLst>
                                    <p:cond delay="0"/>
                                  </p:stCondLst>
                                  <p:childTnLst>
                                    <p:set>
                                      <p:cBhvr>
                                        <p:cTn id="33" dur="1" fill="hold">
                                          <p:stCondLst>
                                            <p:cond delay="0"/>
                                          </p:stCondLst>
                                        </p:cTn>
                                        <p:tgtEl>
                                          <p:spTgt spid="29699">
                                            <p:txEl>
                                              <p:pRg st="3" end="3"/>
                                            </p:txEl>
                                          </p:spTgt>
                                        </p:tgtEl>
                                        <p:attrNameLst>
                                          <p:attrName>style.visibility</p:attrName>
                                        </p:attrNameLst>
                                      </p:cBhvr>
                                      <p:to>
                                        <p:strVal val="visible"/>
                                      </p:to>
                                    </p:set>
                                    <p:anim calcmode="lin" valueType="num">
                                      <p:cBhvr>
                                        <p:cTn id="34" dur="500" fill="hold"/>
                                        <p:tgtEl>
                                          <p:spTgt spid="29699">
                                            <p:txEl>
                                              <p:pRg st="3" end="3"/>
                                            </p:txEl>
                                          </p:spTgt>
                                        </p:tgtEl>
                                        <p:attrNameLst>
                                          <p:attrName>ppt_w</p:attrName>
                                        </p:attrNameLst>
                                      </p:cBhvr>
                                      <p:tavLst>
                                        <p:tav tm="0">
                                          <p:val>
                                            <p:fltVal val="0"/>
                                          </p:val>
                                        </p:tav>
                                        <p:tav tm="100000">
                                          <p:val>
                                            <p:strVal val="#ppt_w"/>
                                          </p:val>
                                        </p:tav>
                                      </p:tavLst>
                                    </p:anim>
                                    <p:anim calcmode="lin" valueType="num">
                                      <p:cBhvr>
                                        <p:cTn id="35" dur="500" fill="hold"/>
                                        <p:tgtEl>
                                          <p:spTgt spid="29699">
                                            <p:txEl>
                                              <p:pRg st="3" end="3"/>
                                            </p:txEl>
                                          </p:spTgt>
                                        </p:tgtEl>
                                        <p:attrNameLst>
                                          <p:attrName>ppt_h</p:attrName>
                                        </p:attrNameLst>
                                      </p:cBhvr>
                                      <p:tavLst>
                                        <p:tav tm="0">
                                          <p:val>
                                            <p:fltVal val="0"/>
                                          </p:val>
                                        </p:tav>
                                        <p:tav tm="100000">
                                          <p:val>
                                            <p:strVal val="#ppt_h"/>
                                          </p:val>
                                        </p:tav>
                                      </p:tavLst>
                                    </p:anim>
                                    <p:animEffect transition="in" filter="fade">
                                      <p:cBhvr>
                                        <p:cTn id="36" dur="500"/>
                                        <p:tgtEl>
                                          <p:spTgt spid="29699">
                                            <p:txEl>
                                              <p:pRg st="3" end="3"/>
                                            </p:txEl>
                                          </p:spTgt>
                                        </p:tgtEl>
                                      </p:cBhvr>
                                    </p:animEffect>
                                  </p:childTnLst>
                                </p:cTn>
                              </p:par>
                            </p:childTnLst>
                          </p:cTn>
                        </p:par>
                        <p:par>
                          <p:cTn id="37" fill="hold" nodeType="afterGroup">
                            <p:stCondLst>
                              <p:cond delay="3500"/>
                            </p:stCondLst>
                            <p:childTnLst>
                              <p:par>
                                <p:cTn id="38" presetID="53" presetClass="entr" presetSubtype="0" fill="hold" nodeType="afterEffect">
                                  <p:stCondLst>
                                    <p:cond delay="0"/>
                                  </p:stCondLst>
                                  <p:childTnLst>
                                    <p:set>
                                      <p:cBhvr>
                                        <p:cTn id="39" dur="1" fill="hold">
                                          <p:stCondLst>
                                            <p:cond delay="0"/>
                                          </p:stCondLst>
                                        </p:cTn>
                                        <p:tgtEl>
                                          <p:spTgt spid="29699">
                                            <p:txEl>
                                              <p:pRg st="4" end="4"/>
                                            </p:txEl>
                                          </p:spTgt>
                                        </p:tgtEl>
                                        <p:attrNameLst>
                                          <p:attrName>style.visibility</p:attrName>
                                        </p:attrNameLst>
                                      </p:cBhvr>
                                      <p:to>
                                        <p:strVal val="visible"/>
                                      </p:to>
                                    </p:set>
                                    <p:anim calcmode="lin" valueType="num">
                                      <p:cBhvr>
                                        <p:cTn id="40" dur="500" fill="hold"/>
                                        <p:tgtEl>
                                          <p:spTgt spid="29699">
                                            <p:txEl>
                                              <p:pRg st="4" end="4"/>
                                            </p:txEl>
                                          </p:spTgt>
                                        </p:tgtEl>
                                        <p:attrNameLst>
                                          <p:attrName>ppt_w</p:attrName>
                                        </p:attrNameLst>
                                      </p:cBhvr>
                                      <p:tavLst>
                                        <p:tav tm="0">
                                          <p:val>
                                            <p:fltVal val="0"/>
                                          </p:val>
                                        </p:tav>
                                        <p:tav tm="100000">
                                          <p:val>
                                            <p:strVal val="#ppt_w"/>
                                          </p:val>
                                        </p:tav>
                                      </p:tavLst>
                                    </p:anim>
                                    <p:anim calcmode="lin" valueType="num">
                                      <p:cBhvr>
                                        <p:cTn id="41" dur="500" fill="hold"/>
                                        <p:tgtEl>
                                          <p:spTgt spid="29699">
                                            <p:txEl>
                                              <p:pRg st="4" end="4"/>
                                            </p:txEl>
                                          </p:spTgt>
                                        </p:tgtEl>
                                        <p:attrNameLst>
                                          <p:attrName>ppt_h</p:attrName>
                                        </p:attrNameLst>
                                      </p:cBhvr>
                                      <p:tavLst>
                                        <p:tav tm="0">
                                          <p:val>
                                            <p:fltVal val="0"/>
                                          </p:val>
                                        </p:tav>
                                        <p:tav tm="100000">
                                          <p:val>
                                            <p:strVal val="#ppt_h"/>
                                          </p:val>
                                        </p:tav>
                                      </p:tavLst>
                                    </p:anim>
                                    <p:animEffect transition="in" filter="fade">
                                      <p:cBhvr>
                                        <p:cTn id="42" dur="500"/>
                                        <p:tgtEl>
                                          <p:spTgt spid="29699">
                                            <p:txEl>
                                              <p:pRg st="4" end="4"/>
                                            </p:txEl>
                                          </p:spTgt>
                                        </p:tgtEl>
                                      </p:cBhvr>
                                    </p:animEffect>
                                  </p:childTnLst>
                                </p:cTn>
                              </p:par>
                            </p:childTnLst>
                          </p:cTn>
                        </p:par>
                        <p:par>
                          <p:cTn id="43" fill="hold" nodeType="afterGroup">
                            <p:stCondLst>
                              <p:cond delay="4000"/>
                            </p:stCondLst>
                            <p:childTnLst>
                              <p:par>
                                <p:cTn id="44" presetID="53" presetClass="entr" presetSubtype="0" fill="hold" nodeType="afterEffect">
                                  <p:stCondLst>
                                    <p:cond delay="0"/>
                                  </p:stCondLst>
                                  <p:childTnLst>
                                    <p:set>
                                      <p:cBhvr>
                                        <p:cTn id="45" dur="1" fill="hold">
                                          <p:stCondLst>
                                            <p:cond delay="0"/>
                                          </p:stCondLst>
                                        </p:cTn>
                                        <p:tgtEl>
                                          <p:spTgt spid="29699">
                                            <p:txEl>
                                              <p:pRg st="5" end="5"/>
                                            </p:txEl>
                                          </p:spTgt>
                                        </p:tgtEl>
                                        <p:attrNameLst>
                                          <p:attrName>style.visibility</p:attrName>
                                        </p:attrNameLst>
                                      </p:cBhvr>
                                      <p:to>
                                        <p:strVal val="visible"/>
                                      </p:to>
                                    </p:set>
                                    <p:anim calcmode="lin" valueType="num">
                                      <p:cBhvr>
                                        <p:cTn id="46" dur="500" fill="hold"/>
                                        <p:tgtEl>
                                          <p:spTgt spid="29699">
                                            <p:txEl>
                                              <p:pRg st="5" end="5"/>
                                            </p:txEl>
                                          </p:spTgt>
                                        </p:tgtEl>
                                        <p:attrNameLst>
                                          <p:attrName>ppt_w</p:attrName>
                                        </p:attrNameLst>
                                      </p:cBhvr>
                                      <p:tavLst>
                                        <p:tav tm="0">
                                          <p:val>
                                            <p:fltVal val="0"/>
                                          </p:val>
                                        </p:tav>
                                        <p:tav tm="100000">
                                          <p:val>
                                            <p:strVal val="#ppt_w"/>
                                          </p:val>
                                        </p:tav>
                                      </p:tavLst>
                                    </p:anim>
                                    <p:anim calcmode="lin" valueType="num">
                                      <p:cBhvr>
                                        <p:cTn id="47" dur="500" fill="hold"/>
                                        <p:tgtEl>
                                          <p:spTgt spid="29699">
                                            <p:txEl>
                                              <p:pRg st="5" end="5"/>
                                            </p:txEl>
                                          </p:spTgt>
                                        </p:tgtEl>
                                        <p:attrNameLst>
                                          <p:attrName>ppt_h</p:attrName>
                                        </p:attrNameLst>
                                      </p:cBhvr>
                                      <p:tavLst>
                                        <p:tav tm="0">
                                          <p:val>
                                            <p:fltVal val="0"/>
                                          </p:val>
                                        </p:tav>
                                        <p:tav tm="100000">
                                          <p:val>
                                            <p:strVal val="#ppt_h"/>
                                          </p:val>
                                        </p:tav>
                                      </p:tavLst>
                                    </p:anim>
                                    <p:animEffect transition="in" filter="fade">
                                      <p:cBhvr>
                                        <p:cTn id="48" dur="500"/>
                                        <p:tgtEl>
                                          <p:spTgt spid="29699">
                                            <p:txEl>
                                              <p:pRg st="5" end="5"/>
                                            </p:txEl>
                                          </p:spTgt>
                                        </p:tgtEl>
                                      </p:cBhvr>
                                    </p:animEffect>
                                  </p:childTnLst>
                                </p:cTn>
                              </p:par>
                            </p:childTnLst>
                          </p:cTn>
                        </p:par>
                        <p:par>
                          <p:cTn id="49" fill="hold" nodeType="afterGroup">
                            <p:stCondLst>
                              <p:cond delay="4500"/>
                            </p:stCondLst>
                            <p:childTnLst>
                              <p:par>
                                <p:cTn id="50" presetID="53" presetClass="entr" presetSubtype="0" fill="hold" nodeType="afterEffect">
                                  <p:stCondLst>
                                    <p:cond delay="0"/>
                                  </p:stCondLst>
                                  <p:childTnLst>
                                    <p:set>
                                      <p:cBhvr>
                                        <p:cTn id="51" dur="1" fill="hold">
                                          <p:stCondLst>
                                            <p:cond delay="0"/>
                                          </p:stCondLst>
                                        </p:cTn>
                                        <p:tgtEl>
                                          <p:spTgt spid="29699">
                                            <p:txEl>
                                              <p:pRg st="6" end="6"/>
                                            </p:txEl>
                                          </p:spTgt>
                                        </p:tgtEl>
                                        <p:attrNameLst>
                                          <p:attrName>style.visibility</p:attrName>
                                        </p:attrNameLst>
                                      </p:cBhvr>
                                      <p:to>
                                        <p:strVal val="visible"/>
                                      </p:to>
                                    </p:set>
                                    <p:anim calcmode="lin" valueType="num">
                                      <p:cBhvr>
                                        <p:cTn id="52" dur="500" fill="hold"/>
                                        <p:tgtEl>
                                          <p:spTgt spid="29699">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29699">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29699">
                                            <p:txEl>
                                              <p:pRg st="6" end="6"/>
                                            </p:txEl>
                                          </p:spTgt>
                                        </p:tgtEl>
                                      </p:cBhvr>
                                    </p:animEffect>
                                  </p:childTnLst>
                                </p:cTn>
                              </p:par>
                            </p:childTnLst>
                          </p:cTn>
                        </p:par>
                        <p:par>
                          <p:cTn id="55" fill="hold" nodeType="afterGroup">
                            <p:stCondLst>
                              <p:cond delay="5000"/>
                            </p:stCondLst>
                            <p:childTnLst>
                              <p:par>
                                <p:cTn id="56" presetID="53" presetClass="entr" presetSubtype="0" fill="hold" nodeType="afterEffect">
                                  <p:stCondLst>
                                    <p:cond delay="0"/>
                                  </p:stCondLst>
                                  <p:childTnLst>
                                    <p:set>
                                      <p:cBhvr>
                                        <p:cTn id="57" dur="1" fill="hold">
                                          <p:stCondLst>
                                            <p:cond delay="0"/>
                                          </p:stCondLst>
                                        </p:cTn>
                                        <p:tgtEl>
                                          <p:spTgt spid="29699">
                                            <p:txEl>
                                              <p:pRg st="8" end="8"/>
                                            </p:txEl>
                                          </p:spTgt>
                                        </p:tgtEl>
                                        <p:attrNameLst>
                                          <p:attrName>style.visibility</p:attrName>
                                        </p:attrNameLst>
                                      </p:cBhvr>
                                      <p:to>
                                        <p:strVal val="visible"/>
                                      </p:to>
                                    </p:set>
                                    <p:anim calcmode="lin" valueType="num">
                                      <p:cBhvr>
                                        <p:cTn id="58" dur="500" fill="hold"/>
                                        <p:tgtEl>
                                          <p:spTgt spid="29699">
                                            <p:txEl>
                                              <p:pRg st="8" end="8"/>
                                            </p:txEl>
                                          </p:spTgt>
                                        </p:tgtEl>
                                        <p:attrNameLst>
                                          <p:attrName>ppt_w</p:attrName>
                                        </p:attrNameLst>
                                      </p:cBhvr>
                                      <p:tavLst>
                                        <p:tav tm="0">
                                          <p:val>
                                            <p:fltVal val="0"/>
                                          </p:val>
                                        </p:tav>
                                        <p:tav tm="100000">
                                          <p:val>
                                            <p:strVal val="#ppt_w"/>
                                          </p:val>
                                        </p:tav>
                                      </p:tavLst>
                                    </p:anim>
                                    <p:anim calcmode="lin" valueType="num">
                                      <p:cBhvr>
                                        <p:cTn id="59" dur="500" fill="hold"/>
                                        <p:tgtEl>
                                          <p:spTgt spid="29699">
                                            <p:txEl>
                                              <p:pRg st="8" end="8"/>
                                            </p:txEl>
                                          </p:spTgt>
                                        </p:tgtEl>
                                        <p:attrNameLst>
                                          <p:attrName>ppt_h</p:attrName>
                                        </p:attrNameLst>
                                      </p:cBhvr>
                                      <p:tavLst>
                                        <p:tav tm="0">
                                          <p:val>
                                            <p:fltVal val="0"/>
                                          </p:val>
                                        </p:tav>
                                        <p:tav tm="100000">
                                          <p:val>
                                            <p:strVal val="#ppt_h"/>
                                          </p:val>
                                        </p:tav>
                                      </p:tavLst>
                                    </p:anim>
                                    <p:animEffect transition="in" filter="fade">
                                      <p:cBhvr>
                                        <p:cTn id="60" dur="500"/>
                                        <p:tgtEl>
                                          <p:spTgt spid="29699">
                                            <p:txEl>
                                              <p:pRg st="8" end="8"/>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6" presetClass="emph" presetSubtype="0" fill="hold" nodeType="clickEffect">
                                  <p:stCondLst>
                                    <p:cond delay="0"/>
                                  </p:stCondLst>
                                  <p:childTnLst>
                                    <p:animScale>
                                      <p:cBhvr>
                                        <p:cTn id="64" dur="2000" fill="hold"/>
                                        <p:tgtEl>
                                          <p:spTgt spid="29699">
                                            <p:txEl>
                                              <p:pRg st="8" end="8"/>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69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D536FEF-2BBE-2741-70F9-E5C565496960}"/>
              </a:ext>
            </a:extLst>
          </p:cNvPr>
          <p:cNvSpPr>
            <a:spLocks noGrp="1" noChangeArrowheads="1"/>
          </p:cNvSpPr>
          <p:nvPr>
            <p:ph type="title"/>
          </p:nvPr>
        </p:nvSpPr>
        <p:spPr bwMode="auto">
          <a:xfrm>
            <a:off x="3429000" y="228600"/>
            <a:ext cx="5638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Admin Manager</a:t>
            </a:r>
          </a:p>
        </p:txBody>
      </p:sp>
      <p:sp>
        <p:nvSpPr>
          <p:cNvPr id="28676" name="Rectangle 4">
            <a:extLst>
              <a:ext uri="{FF2B5EF4-FFF2-40B4-BE49-F238E27FC236}">
                <a16:creationId xmlns:a16="http://schemas.microsoft.com/office/drawing/2014/main" id="{FEA8556B-F49A-06D3-3A9F-1F8DA2CB58A9}"/>
              </a:ext>
            </a:extLst>
          </p:cNvPr>
          <p:cNvSpPr>
            <a:spLocks noGrp="1" noChangeArrowheads="1"/>
          </p:cNvSpPr>
          <p:nvPr>
            <p:ph type="body" sz="half" idx="2"/>
          </p:nvPr>
        </p:nvSpPr>
        <p:spPr bwMode="auto">
          <a:xfrm>
            <a:off x="3200400" y="1905000"/>
            <a:ext cx="52578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400"/>
              <a:t>Performs multiple administrative tasks</a:t>
            </a:r>
          </a:p>
          <a:p>
            <a:pPr eaLnBrk="1" hangingPunct="1"/>
            <a:r>
              <a:rPr lang="en-GB" altLang="en-US" sz="2400"/>
              <a:t>Static Data set-up</a:t>
            </a:r>
          </a:p>
          <a:p>
            <a:pPr eaLnBrk="1" hangingPunct="1"/>
            <a:r>
              <a:rPr lang="en-GB" altLang="en-US" sz="2400"/>
              <a:t>Security Administration</a:t>
            </a:r>
          </a:p>
          <a:p>
            <a:pPr eaLnBrk="1" hangingPunct="1"/>
            <a:r>
              <a:rPr lang="en-GB" altLang="en-US" sz="2400"/>
              <a:t>Data Model Extension</a:t>
            </a:r>
          </a:p>
          <a:p>
            <a:pPr eaLnBrk="1" hangingPunct="1"/>
            <a:endParaRPr lang="en-GB" altLang="en-US" sz="2400"/>
          </a:p>
        </p:txBody>
      </p:sp>
      <p:pic>
        <p:nvPicPr>
          <p:cNvPr id="28677" name="Picture 5" descr="image011">
            <a:extLst>
              <a:ext uri="{FF2B5EF4-FFF2-40B4-BE49-F238E27FC236}">
                <a16:creationId xmlns:a16="http://schemas.microsoft.com/office/drawing/2014/main" id="{E3DAC6AB-94B8-9D9D-081A-04EDAD049F7C}"/>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81200"/>
            <a:ext cx="1954213" cy="1357313"/>
          </a:xfrm>
          <a:prstGeom prst="rect">
            <a:avLst/>
          </a:prstGeom>
          <a:solidFill>
            <a:srgbClr val="FFFFFF"/>
          </a:solidFill>
          <a:ln w="9525">
            <a:solidFill>
              <a:srgbClr val="000000"/>
            </a:solidFill>
            <a:round/>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additive="base">
                                        <p:cTn id="7" dur="500" fill="hold"/>
                                        <p:tgtEl>
                                          <p:spTgt spid="28674"/>
                                        </p:tgtEl>
                                        <p:attrNameLst>
                                          <p:attrName>ppt_x</p:attrName>
                                        </p:attrNameLst>
                                      </p:cBhvr>
                                      <p:tavLst>
                                        <p:tav tm="0">
                                          <p:val>
                                            <p:strVal val="1+#ppt_w/2"/>
                                          </p:val>
                                        </p:tav>
                                        <p:tav tm="100000">
                                          <p:val>
                                            <p:strVal val="#ppt_x"/>
                                          </p:val>
                                        </p:tav>
                                      </p:tavLst>
                                    </p:anim>
                                    <p:anim calcmode="lin" valueType="num">
                                      <p:cBhvr additive="base">
                                        <p:cTn id="8" dur="500" fill="hold"/>
                                        <p:tgtEl>
                                          <p:spTgt spid="2867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0" presetClass="entr" presetSubtype="0" fill="hold" nodeType="after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fade">
                                      <p:cBhvr>
                                        <p:cTn id="12" dur="1000"/>
                                        <p:tgtEl>
                                          <p:spTgt spid="28677"/>
                                        </p:tgtEl>
                                      </p:cBhvr>
                                    </p:animEffect>
                                  </p:childTnLst>
                                </p:cTn>
                              </p:par>
                            </p:childTnLst>
                          </p:cTn>
                        </p:par>
                        <p:par>
                          <p:cTn id="13" fill="hold" nodeType="afterGroup">
                            <p:stCondLst>
                              <p:cond delay="1500"/>
                            </p:stCondLst>
                            <p:childTnLst>
                              <p:par>
                                <p:cTn id="14" presetID="53" presetClass="entr" presetSubtype="0" fill="hold" nodeType="afterEffect">
                                  <p:stCondLst>
                                    <p:cond delay="0"/>
                                  </p:stCondLst>
                                  <p:childTnLst>
                                    <p:set>
                                      <p:cBhvr>
                                        <p:cTn id="15" dur="1" fill="hold">
                                          <p:stCondLst>
                                            <p:cond delay="0"/>
                                          </p:stCondLst>
                                        </p:cTn>
                                        <p:tgtEl>
                                          <p:spTgt spid="28676">
                                            <p:txEl>
                                              <p:pRg st="0" end="0"/>
                                            </p:txEl>
                                          </p:spTgt>
                                        </p:tgtEl>
                                        <p:attrNameLst>
                                          <p:attrName>style.visibility</p:attrName>
                                        </p:attrNameLst>
                                      </p:cBhvr>
                                      <p:to>
                                        <p:strVal val="visible"/>
                                      </p:to>
                                    </p:set>
                                    <p:anim calcmode="lin" valueType="num">
                                      <p:cBhvr>
                                        <p:cTn id="16" dur="500" fill="hold"/>
                                        <p:tgtEl>
                                          <p:spTgt spid="28676">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28676">
                                            <p:txEl>
                                              <p:pRg st="0" end="0"/>
                                            </p:txEl>
                                          </p:spTgt>
                                        </p:tgtEl>
                                        <p:attrNameLst>
                                          <p:attrName>ppt_h</p:attrName>
                                        </p:attrNameLst>
                                      </p:cBhvr>
                                      <p:tavLst>
                                        <p:tav tm="0">
                                          <p:val>
                                            <p:fltVal val="0"/>
                                          </p:val>
                                        </p:tav>
                                        <p:tav tm="100000">
                                          <p:val>
                                            <p:strVal val="#ppt_h"/>
                                          </p:val>
                                        </p:tav>
                                      </p:tavLst>
                                    </p:anim>
                                    <p:animEffect transition="in" filter="fade">
                                      <p:cBhvr>
                                        <p:cTn id="18" dur="500"/>
                                        <p:tgtEl>
                                          <p:spTgt spid="28676">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ntr" presetSubtype="0" fill="hold" nodeType="clickEffect">
                                  <p:stCondLst>
                                    <p:cond delay="0"/>
                                  </p:stCondLst>
                                  <p:childTnLst>
                                    <p:set>
                                      <p:cBhvr>
                                        <p:cTn id="22" dur="1" fill="hold">
                                          <p:stCondLst>
                                            <p:cond delay="0"/>
                                          </p:stCondLst>
                                        </p:cTn>
                                        <p:tgtEl>
                                          <p:spTgt spid="28676">
                                            <p:txEl>
                                              <p:pRg st="1" end="1"/>
                                            </p:txEl>
                                          </p:spTgt>
                                        </p:tgtEl>
                                        <p:attrNameLst>
                                          <p:attrName>style.visibility</p:attrName>
                                        </p:attrNameLst>
                                      </p:cBhvr>
                                      <p:to>
                                        <p:strVal val="visible"/>
                                      </p:to>
                                    </p:set>
                                    <p:anim calcmode="lin" valueType="num">
                                      <p:cBhvr>
                                        <p:cTn id="23" dur="500" fill="hold"/>
                                        <p:tgtEl>
                                          <p:spTgt spid="28676">
                                            <p:txEl>
                                              <p:pRg st="1" end="1"/>
                                            </p:txEl>
                                          </p:spTgt>
                                        </p:tgtEl>
                                        <p:attrNameLst>
                                          <p:attrName>ppt_w</p:attrName>
                                        </p:attrNameLst>
                                      </p:cBhvr>
                                      <p:tavLst>
                                        <p:tav tm="0">
                                          <p:val>
                                            <p:fltVal val="0"/>
                                          </p:val>
                                        </p:tav>
                                        <p:tav tm="100000">
                                          <p:val>
                                            <p:strVal val="#ppt_w"/>
                                          </p:val>
                                        </p:tav>
                                      </p:tavLst>
                                    </p:anim>
                                    <p:anim calcmode="lin" valueType="num">
                                      <p:cBhvr>
                                        <p:cTn id="24" dur="500" fill="hold"/>
                                        <p:tgtEl>
                                          <p:spTgt spid="28676">
                                            <p:txEl>
                                              <p:pRg st="1" end="1"/>
                                            </p:txEl>
                                          </p:spTgt>
                                        </p:tgtEl>
                                        <p:attrNameLst>
                                          <p:attrName>ppt_h</p:attrName>
                                        </p:attrNameLst>
                                      </p:cBhvr>
                                      <p:tavLst>
                                        <p:tav tm="0">
                                          <p:val>
                                            <p:fltVal val="0"/>
                                          </p:val>
                                        </p:tav>
                                        <p:tav tm="100000">
                                          <p:val>
                                            <p:strVal val="#ppt_h"/>
                                          </p:val>
                                        </p:tav>
                                      </p:tavLst>
                                    </p:anim>
                                    <p:animEffect transition="in" filter="fade">
                                      <p:cBhvr>
                                        <p:cTn id="25" dur="500"/>
                                        <p:tgtEl>
                                          <p:spTgt spid="28676">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3" presetClass="entr" presetSubtype="0" fill="hold" nodeType="clickEffect">
                                  <p:stCondLst>
                                    <p:cond delay="0"/>
                                  </p:stCondLst>
                                  <p:childTnLst>
                                    <p:set>
                                      <p:cBhvr>
                                        <p:cTn id="29" dur="1" fill="hold">
                                          <p:stCondLst>
                                            <p:cond delay="0"/>
                                          </p:stCondLst>
                                        </p:cTn>
                                        <p:tgtEl>
                                          <p:spTgt spid="28676">
                                            <p:txEl>
                                              <p:pRg st="2" end="2"/>
                                            </p:txEl>
                                          </p:spTgt>
                                        </p:tgtEl>
                                        <p:attrNameLst>
                                          <p:attrName>style.visibility</p:attrName>
                                        </p:attrNameLst>
                                      </p:cBhvr>
                                      <p:to>
                                        <p:strVal val="visible"/>
                                      </p:to>
                                    </p:set>
                                    <p:anim calcmode="lin" valueType="num">
                                      <p:cBhvr>
                                        <p:cTn id="30" dur="500" fill="hold"/>
                                        <p:tgtEl>
                                          <p:spTgt spid="28676">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28676">
                                            <p:txEl>
                                              <p:pRg st="2" end="2"/>
                                            </p:txEl>
                                          </p:spTgt>
                                        </p:tgtEl>
                                        <p:attrNameLst>
                                          <p:attrName>ppt_h</p:attrName>
                                        </p:attrNameLst>
                                      </p:cBhvr>
                                      <p:tavLst>
                                        <p:tav tm="0">
                                          <p:val>
                                            <p:fltVal val="0"/>
                                          </p:val>
                                        </p:tav>
                                        <p:tav tm="100000">
                                          <p:val>
                                            <p:strVal val="#ppt_h"/>
                                          </p:val>
                                        </p:tav>
                                      </p:tavLst>
                                    </p:anim>
                                    <p:animEffect transition="in" filter="fade">
                                      <p:cBhvr>
                                        <p:cTn id="32" dur="500"/>
                                        <p:tgtEl>
                                          <p:spTgt spid="28676">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0" fill="hold" nodeType="clickEffect">
                                  <p:stCondLst>
                                    <p:cond delay="0"/>
                                  </p:stCondLst>
                                  <p:childTnLst>
                                    <p:set>
                                      <p:cBhvr>
                                        <p:cTn id="36" dur="1" fill="hold">
                                          <p:stCondLst>
                                            <p:cond delay="0"/>
                                          </p:stCondLst>
                                        </p:cTn>
                                        <p:tgtEl>
                                          <p:spTgt spid="28676">
                                            <p:txEl>
                                              <p:pRg st="3" end="3"/>
                                            </p:txEl>
                                          </p:spTgt>
                                        </p:tgtEl>
                                        <p:attrNameLst>
                                          <p:attrName>style.visibility</p:attrName>
                                        </p:attrNameLst>
                                      </p:cBhvr>
                                      <p:to>
                                        <p:strVal val="visible"/>
                                      </p:to>
                                    </p:set>
                                    <p:anim calcmode="lin" valueType="num">
                                      <p:cBhvr>
                                        <p:cTn id="37" dur="500" fill="hold"/>
                                        <p:tgtEl>
                                          <p:spTgt spid="28676">
                                            <p:txEl>
                                              <p:pRg st="3" end="3"/>
                                            </p:txEl>
                                          </p:spTgt>
                                        </p:tgtEl>
                                        <p:attrNameLst>
                                          <p:attrName>ppt_w</p:attrName>
                                        </p:attrNameLst>
                                      </p:cBhvr>
                                      <p:tavLst>
                                        <p:tav tm="0">
                                          <p:val>
                                            <p:fltVal val="0"/>
                                          </p:val>
                                        </p:tav>
                                        <p:tav tm="100000">
                                          <p:val>
                                            <p:strVal val="#ppt_w"/>
                                          </p:val>
                                        </p:tav>
                                      </p:tavLst>
                                    </p:anim>
                                    <p:anim calcmode="lin" valueType="num">
                                      <p:cBhvr>
                                        <p:cTn id="38" dur="500" fill="hold"/>
                                        <p:tgtEl>
                                          <p:spTgt spid="28676">
                                            <p:txEl>
                                              <p:pRg st="3" end="3"/>
                                            </p:txEl>
                                          </p:spTgt>
                                        </p:tgtEl>
                                        <p:attrNameLst>
                                          <p:attrName>ppt_h</p:attrName>
                                        </p:attrNameLst>
                                      </p:cBhvr>
                                      <p:tavLst>
                                        <p:tav tm="0">
                                          <p:val>
                                            <p:fltVal val="0"/>
                                          </p:val>
                                        </p:tav>
                                        <p:tav tm="100000">
                                          <p:val>
                                            <p:strVal val="#ppt_h"/>
                                          </p:val>
                                        </p:tav>
                                      </p:tavLst>
                                    </p:anim>
                                    <p:animEffect transition="in" filter="fade">
                                      <p:cBhvr>
                                        <p:cTn id="39" dur="500"/>
                                        <p:tgtEl>
                                          <p:spTgt spid="286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5C7555E-763C-2D2E-6542-B4A1405F686E}"/>
              </a:ext>
            </a:extLst>
          </p:cNvPr>
          <p:cNvSpPr>
            <a:spLocks noGrp="1" noChangeArrowheads="1"/>
          </p:cNvSpPr>
          <p:nvPr>
            <p:ph type="title"/>
          </p:nvPr>
        </p:nvSpPr>
        <p:spPr bwMode="auto">
          <a:xfrm>
            <a:off x="3643313" y="228600"/>
            <a:ext cx="542448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Market Manager</a:t>
            </a:r>
          </a:p>
        </p:txBody>
      </p:sp>
      <p:sp>
        <p:nvSpPr>
          <p:cNvPr id="30723" name="Rectangle 3">
            <a:extLst>
              <a:ext uri="{FF2B5EF4-FFF2-40B4-BE49-F238E27FC236}">
                <a16:creationId xmlns:a16="http://schemas.microsoft.com/office/drawing/2014/main" id="{FB8344D4-A834-04D9-B45F-E05CAA39DDBD}"/>
              </a:ext>
            </a:extLst>
          </p:cNvPr>
          <p:cNvSpPr>
            <a:spLocks noGrp="1" noChangeArrowheads="1"/>
          </p:cNvSpPr>
          <p:nvPr>
            <p:ph type="body" sz="half" idx="2"/>
          </p:nvPr>
        </p:nvSpPr>
        <p:spPr bwMode="auto">
          <a:xfrm>
            <a:off x="3200400" y="1905000"/>
            <a:ext cx="52578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400"/>
              <a:t>Defines curve/index structure:</a:t>
            </a:r>
          </a:p>
          <a:p>
            <a:pPr lvl="1" eaLnBrk="1" hangingPunct="1"/>
            <a:r>
              <a:rPr lang="en-GB" altLang="en-US" sz="2200"/>
              <a:t>Financial market curves</a:t>
            </a:r>
          </a:p>
          <a:p>
            <a:pPr lvl="1" eaLnBrk="1" hangingPunct="1"/>
            <a:r>
              <a:rPr lang="en-GB" altLang="en-US" sz="2200"/>
              <a:t>Valuation Curves</a:t>
            </a:r>
          </a:p>
          <a:p>
            <a:pPr lvl="1" eaLnBrk="1" hangingPunct="1"/>
            <a:r>
              <a:rPr lang="en-GB" altLang="en-US" sz="2200"/>
              <a:t>Market data</a:t>
            </a:r>
          </a:p>
          <a:p>
            <a:pPr lvl="2" eaLnBrk="1" hangingPunct="1"/>
            <a:r>
              <a:rPr lang="en-GB" altLang="en-US" sz="2000"/>
              <a:t>Prices</a:t>
            </a:r>
          </a:p>
          <a:p>
            <a:pPr lvl="2" eaLnBrk="1" hangingPunct="1"/>
            <a:r>
              <a:rPr lang="en-GB" altLang="en-US" sz="2000"/>
              <a:t>Rates</a:t>
            </a:r>
          </a:p>
          <a:p>
            <a:pPr lvl="1" eaLnBrk="1" hangingPunct="1"/>
            <a:r>
              <a:rPr lang="en-GB" altLang="en-US" sz="2200"/>
              <a:t>Volatility &amp; correlation matrices</a:t>
            </a:r>
          </a:p>
        </p:txBody>
      </p:sp>
      <p:pic>
        <p:nvPicPr>
          <p:cNvPr id="30725" name="Picture 5" descr="image005">
            <a:extLst>
              <a:ext uri="{FF2B5EF4-FFF2-40B4-BE49-F238E27FC236}">
                <a16:creationId xmlns:a16="http://schemas.microsoft.com/office/drawing/2014/main" id="{24DF8D51-1069-BC09-3E54-717C127C7E1E}"/>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57400"/>
            <a:ext cx="1905000" cy="1295400"/>
          </a:xfrm>
          <a:prstGeom prst="rect">
            <a:avLst/>
          </a:prstGeom>
          <a:solidFill>
            <a:srgbClr val="FFFFFF"/>
          </a:solidFill>
          <a:ln w="9525">
            <a:solidFill>
              <a:srgbClr val="000000"/>
            </a:solidFill>
            <a:round/>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1+#ppt_w/2"/>
                                          </p:val>
                                        </p:tav>
                                        <p:tav tm="100000">
                                          <p:val>
                                            <p:strVal val="#ppt_x"/>
                                          </p:val>
                                        </p:tav>
                                      </p:tavLst>
                                    </p:anim>
                                    <p:anim calcmode="lin" valueType="num">
                                      <p:cBhvr additive="base">
                                        <p:cTn id="8" dur="500" fill="hold"/>
                                        <p:tgtEl>
                                          <p:spTgt spid="30722"/>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0725"/>
                                        </p:tgtEl>
                                        <p:attrNameLst>
                                          <p:attrName>style.visibility</p:attrName>
                                        </p:attrNameLst>
                                      </p:cBhvr>
                                      <p:to>
                                        <p:strVal val="visible"/>
                                      </p:to>
                                    </p:set>
                                    <p:animEffect transition="in" filter="fade">
                                      <p:cBhvr>
                                        <p:cTn id="11" dur="1000"/>
                                        <p:tgtEl>
                                          <p:spTgt spid="30725"/>
                                        </p:tgtEl>
                                      </p:cBhvr>
                                    </p:animEffect>
                                  </p:childTnLst>
                                </p:cTn>
                              </p:par>
                            </p:childTnLst>
                          </p:cTn>
                        </p:par>
                        <p:par>
                          <p:cTn id="12" fill="hold" nodeType="afterGroup">
                            <p:stCondLst>
                              <p:cond delay="1000"/>
                            </p:stCondLst>
                            <p:childTnLst>
                              <p:par>
                                <p:cTn id="13" presetID="53" presetClass="entr" presetSubtype="0" fill="hold" nodeType="afterEffect">
                                  <p:stCondLst>
                                    <p:cond delay="0"/>
                                  </p:stCondLst>
                                  <p:childTnLst>
                                    <p:set>
                                      <p:cBhvr>
                                        <p:cTn id="14" dur="1" fill="hold">
                                          <p:stCondLst>
                                            <p:cond delay="0"/>
                                          </p:stCondLst>
                                        </p:cTn>
                                        <p:tgtEl>
                                          <p:spTgt spid="30723">
                                            <p:txEl>
                                              <p:pRg st="0" end="0"/>
                                            </p:txEl>
                                          </p:spTgt>
                                        </p:tgtEl>
                                        <p:attrNameLst>
                                          <p:attrName>style.visibility</p:attrName>
                                        </p:attrNameLst>
                                      </p:cBhvr>
                                      <p:to>
                                        <p:strVal val="visible"/>
                                      </p:to>
                                    </p:set>
                                    <p:anim calcmode="lin" valueType="num">
                                      <p:cBhvr>
                                        <p:cTn id="15" dur="500" fill="hold"/>
                                        <p:tgtEl>
                                          <p:spTgt spid="30723">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30723">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30723">
                                            <p:txEl>
                                              <p:pRg st="0" end="0"/>
                                            </p:txEl>
                                          </p:spTgt>
                                        </p:tgtEl>
                                      </p:cBhvr>
                                    </p:animEffect>
                                  </p:childTnLst>
                                </p:cTn>
                              </p:par>
                            </p:childTnLst>
                          </p:cTn>
                        </p:par>
                        <p:par>
                          <p:cTn id="18" fill="hold" nodeType="afterGroup">
                            <p:stCondLst>
                              <p:cond delay="1500"/>
                            </p:stCondLst>
                            <p:childTnLst>
                              <p:par>
                                <p:cTn id="19" presetID="53" presetClass="entr" presetSubtype="0" fill="hold" nodeType="afterEffect">
                                  <p:stCondLst>
                                    <p:cond delay="0"/>
                                  </p:stCondLst>
                                  <p:childTnLst>
                                    <p:set>
                                      <p:cBhvr>
                                        <p:cTn id="20" dur="1" fill="hold">
                                          <p:stCondLst>
                                            <p:cond delay="0"/>
                                          </p:stCondLst>
                                        </p:cTn>
                                        <p:tgtEl>
                                          <p:spTgt spid="30723">
                                            <p:txEl>
                                              <p:pRg st="1" end="1"/>
                                            </p:txEl>
                                          </p:spTgt>
                                        </p:tgtEl>
                                        <p:attrNameLst>
                                          <p:attrName>style.visibility</p:attrName>
                                        </p:attrNameLst>
                                      </p:cBhvr>
                                      <p:to>
                                        <p:strVal val="visible"/>
                                      </p:to>
                                    </p:set>
                                    <p:anim calcmode="lin" valueType="num">
                                      <p:cBhvr>
                                        <p:cTn id="21" dur="500" fill="hold"/>
                                        <p:tgtEl>
                                          <p:spTgt spid="30723">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0723">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0723">
                                            <p:txEl>
                                              <p:pRg st="1" end="1"/>
                                            </p:txEl>
                                          </p:spTgt>
                                        </p:tgtEl>
                                      </p:cBhvr>
                                    </p:animEffect>
                                  </p:childTnLst>
                                </p:cTn>
                              </p:par>
                              <p:par>
                                <p:cTn id="24" presetID="53" presetClass="entr" presetSubtype="0" fill="hold" nodeType="withEffect">
                                  <p:stCondLst>
                                    <p:cond delay="0"/>
                                  </p:stCondLst>
                                  <p:childTnLst>
                                    <p:set>
                                      <p:cBhvr>
                                        <p:cTn id="25" dur="1" fill="hold">
                                          <p:stCondLst>
                                            <p:cond delay="0"/>
                                          </p:stCondLst>
                                        </p:cTn>
                                        <p:tgtEl>
                                          <p:spTgt spid="30723">
                                            <p:txEl>
                                              <p:pRg st="2" end="2"/>
                                            </p:txEl>
                                          </p:spTgt>
                                        </p:tgtEl>
                                        <p:attrNameLst>
                                          <p:attrName>style.visibility</p:attrName>
                                        </p:attrNameLst>
                                      </p:cBhvr>
                                      <p:to>
                                        <p:strVal val="visible"/>
                                      </p:to>
                                    </p:set>
                                    <p:anim calcmode="lin" valueType="num">
                                      <p:cBhvr>
                                        <p:cTn id="26" dur="500" fill="hold"/>
                                        <p:tgtEl>
                                          <p:spTgt spid="30723">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30723">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30723">
                                            <p:txEl>
                                              <p:pRg st="2" end="2"/>
                                            </p:txEl>
                                          </p:spTgt>
                                        </p:tgtEl>
                                      </p:cBhvr>
                                    </p:animEffect>
                                  </p:childTnLst>
                                </p:cTn>
                              </p:par>
                            </p:childTnLst>
                          </p:cTn>
                        </p:par>
                        <p:par>
                          <p:cTn id="29" fill="hold" nodeType="afterGroup">
                            <p:stCondLst>
                              <p:cond delay="2000"/>
                            </p:stCondLst>
                            <p:childTnLst>
                              <p:par>
                                <p:cTn id="30" presetID="53" presetClass="entr" presetSubtype="0" fill="hold" nodeType="afterEffect">
                                  <p:stCondLst>
                                    <p:cond delay="0"/>
                                  </p:stCondLst>
                                  <p:childTnLst>
                                    <p:set>
                                      <p:cBhvr>
                                        <p:cTn id="31" dur="1" fill="hold">
                                          <p:stCondLst>
                                            <p:cond delay="0"/>
                                          </p:stCondLst>
                                        </p:cTn>
                                        <p:tgtEl>
                                          <p:spTgt spid="30723">
                                            <p:txEl>
                                              <p:pRg st="3" end="3"/>
                                            </p:txEl>
                                          </p:spTgt>
                                        </p:tgtEl>
                                        <p:attrNameLst>
                                          <p:attrName>style.visibility</p:attrName>
                                        </p:attrNameLst>
                                      </p:cBhvr>
                                      <p:to>
                                        <p:strVal val="visible"/>
                                      </p:to>
                                    </p:set>
                                    <p:anim calcmode="lin" valueType="num">
                                      <p:cBhvr>
                                        <p:cTn id="32" dur="500" fill="hold"/>
                                        <p:tgtEl>
                                          <p:spTgt spid="30723">
                                            <p:txEl>
                                              <p:pRg st="3" end="3"/>
                                            </p:txEl>
                                          </p:spTgt>
                                        </p:tgtEl>
                                        <p:attrNameLst>
                                          <p:attrName>ppt_w</p:attrName>
                                        </p:attrNameLst>
                                      </p:cBhvr>
                                      <p:tavLst>
                                        <p:tav tm="0">
                                          <p:val>
                                            <p:fltVal val="0"/>
                                          </p:val>
                                        </p:tav>
                                        <p:tav tm="100000">
                                          <p:val>
                                            <p:strVal val="#ppt_w"/>
                                          </p:val>
                                        </p:tav>
                                      </p:tavLst>
                                    </p:anim>
                                    <p:anim calcmode="lin" valueType="num">
                                      <p:cBhvr>
                                        <p:cTn id="33" dur="500" fill="hold"/>
                                        <p:tgtEl>
                                          <p:spTgt spid="30723">
                                            <p:txEl>
                                              <p:pRg st="3" end="3"/>
                                            </p:txEl>
                                          </p:spTgt>
                                        </p:tgtEl>
                                        <p:attrNameLst>
                                          <p:attrName>ppt_h</p:attrName>
                                        </p:attrNameLst>
                                      </p:cBhvr>
                                      <p:tavLst>
                                        <p:tav tm="0">
                                          <p:val>
                                            <p:fltVal val="0"/>
                                          </p:val>
                                        </p:tav>
                                        <p:tav tm="100000">
                                          <p:val>
                                            <p:strVal val="#ppt_h"/>
                                          </p:val>
                                        </p:tav>
                                      </p:tavLst>
                                    </p:anim>
                                    <p:animEffect transition="in" filter="fade">
                                      <p:cBhvr>
                                        <p:cTn id="34" dur="500"/>
                                        <p:tgtEl>
                                          <p:spTgt spid="30723">
                                            <p:txEl>
                                              <p:pRg st="3" end="3"/>
                                            </p:txEl>
                                          </p:spTgt>
                                        </p:tgtEl>
                                      </p:cBhvr>
                                    </p:animEffect>
                                  </p:childTnLst>
                                </p:cTn>
                              </p:par>
                            </p:childTnLst>
                          </p:cTn>
                        </p:par>
                        <p:par>
                          <p:cTn id="35" fill="hold" nodeType="afterGroup">
                            <p:stCondLst>
                              <p:cond delay="2500"/>
                            </p:stCondLst>
                            <p:childTnLst>
                              <p:par>
                                <p:cTn id="36" presetID="53" presetClass="entr" presetSubtype="0" fill="hold" nodeType="afterEffect">
                                  <p:stCondLst>
                                    <p:cond delay="0"/>
                                  </p:stCondLst>
                                  <p:childTnLst>
                                    <p:set>
                                      <p:cBhvr>
                                        <p:cTn id="37" dur="1" fill="hold">
                                          <p:stCondLst>
                                            <p:cond delay="0"/>
                                          </p:stCondLst>
                                        </p:cTn>
                                        <p:tgtEl>
                                          <p:spTgt spid="30723">
                                            <p:txEl>
                                              <p:pRg st="4" end="4"/>
                                            </p:txEl>
                                          </p:spTgt>
                                        </p:tgtEl>
                                        <p:attrNameLst>
                                          <p:attrName>style.visibility</p:attrName>
                                        </p:attrNameLst>
                                      </p:cBhvr>
                                      <p:to>
                                        <p:strVal val="visible"/>
                                      </p:to>
                                    </p:set>
                                    <p:anim calcmode="lin" valueType="num">
                                      <p:cBhvr>
                                        <p:cTn id="38" dur="500" fill="hold"/>
                                        <p:tgtEl>
                                          <p:spTgt spid="30723">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30723">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30723">
                                            <p:txEl>
                                              <p:pRg st="4" end="4"/>
                                            </p:txEl>
                                          </p:spTgt>
                                        </p:tgtEl>
                                      </p:cBhvr>
                                    </p:animEffect>
                                  </p:childTnLst>
                                </p:cTn>
                              </p:par>
                            </p:childTnLst>
                          </p:cTn>
                        </p:par>
                        <p:par>
                          <p:cTn id="41" fill="hold" nodeType="afterGroup">
                            <p:stCondLst>
                              <p:cond delay="3000"/>
                            </p:stCondLst>
                            <p:childTnLst>
                              <p:par>
                                <p:cTn id="42" presetID="53" presetClass="entr" presetSubtype="0" fill="hold" nodeType="afterEffect">
                                  <p:stCondLst>
                                    <p:cond delay="0"/>
                                  </p:stCondLst>
                                  <p:childTnLst>
                                    <p:set>
                                      <p:cBhvr>
                                        <p:cTn id="43" dur="1" fill="hold">
                                          <p:stCondLst>
                                            <p:cond delay="0"/>
                                          </p:stCondLst>
                                        </p:cTn>
                                        <p:tgtEl>
                                          <p:spTgt spid="30723">
                                            <p:txEl>
                                              <p:pRg st="5" end="5"/>
                                            </p:txEl>
                                          </p:spTgt>
                                        </p:tgtEl>
                                        <p:attrNameLst>
                                          <p:attrName>style.visibility</p:attrName>
                                        </p:attrNameLst>
                                      </p:cBhvr>
                                      <p:to>
                                        <p:strVal val="visible"/>
                                      </p:to>
                                    </p:set>
                                    <p:anim calcmode="lin" valueType="num">
                                      <p:cBhvr>
                                        <p:cTn id="44" dur="500" fill="hold"/>
                                        <p:tgtEl>
                                          <p:spTgt spid="30723">
                                            <p:txEl>
                                              <p:pRg st="5" end="5"/>
                                            </p:txEl>
                                          </p:spTgt>
                                        </p:tgtEl>
                                        <p:attrNameLst>
                                          <p:attrName>ppt_w</p:attrName>
                                        </p:attrNameLst>
                                      </p:cBhvr>
                                      <p:tavLst>
                                        <p:tav tm="0">
                                          <p:val>
                                            <p:fltVal val="0"/>
                                          </p:val>
                                        </p:tav>
                                        <p:tav tm="100000">
                                          <p:val>
                                            <p:strVal val="#ppt_w"/>
                                          </p:val>
                                        </p:tav>
                                      </p:tavLst>
                                    </p:anim>
                                    <p:anim calcmode="lin" valueType="num">
                                      <p:cBhvr>
                                        <p:cTn id="45" dur="500" fill="hold"/>
                                        <p:tgtEl>
                                          <p:spTgt spid="30723">
                                            <p:txEl>
                                              <p:pRg st="5" end="5"/>
                                            </p:txEl>
                                          </p:spTgt>
                                        </p:tgtEl>
                                        <p:attrNameLst>
                                          <p:attrName>ppt_h</p:attrName>
                                        </p:attrNameLst>
                                      </p:cBhvr>
                                      <p:tavLst>
                                        <p:tav tm="0">
                                          <p:val>
                                            <p:fltVal val="0"/>
                                          </p:val>
                                        </p:tav>
                                        <p:tav tm="100000">
                                          <p:val>
                                            <p:strVal val="#ppt_h"/>
                                          </p:val>
                                        </p:tav>
                                      </p:tavLst>
                                    </p:anim>
                                    <p:animEffect transition="in" filter="fade">
                                      <p:cBhvr>
                                        <p:cTn id="46" dur="500"/>
                                        <p:tgtEl>
                                          <p:spTgt spid="30723">
                                            <p:txEl>
                                              <p:pRg st="5" end="5"/>
                                            </p:txEl>
                                          </p:spTgt>
                                        </p:tgtEl>
                                      </p:cBhvr>
                                    </p:animEffect>
                                  </p:childTnLst>
                                </p:cTn>
                              </p:par>
                            </p:childTnLst>
                          </p:cTn>
                        </p:par>
                        <p:par>
                          <p:cTn id="47" fill="hold" nodeType="afterGroup">
                            <p:stCondLst>
                              <p:cond delay="3500"/>
                            </p:stCondLst>
                            <p:childTnLst>
                              <p:par>
                                <p:cTn id="48" presetID="53" presetClass="entr" presetSubtype="0" fill="hold" nodeType="afterEffect">
                                  <p:stCondLst>
                                    <p:cond delay="0"/>
                                  </p:stCondLst>
                                  <p:childTnLst>
                                    <p:set>
                                      <p:cBhvr>
                                        <p:cTn id="49" dur="1" fill="hold">
                                          <p:stCondLst>
                                            <p:cond delay="0"/>
                                          </p:stCondLst>
                                        </p:cTn>
                                        <p:tgtEl>
                                          <p:spTgt spid="30723">
                                            <p:txEl>
                                              <p:pRg st="6" end="6"/>
                                            </p:txEl>
                                          </p:spTgt>
                                        </p:tgtEl>
                                        <p:attrNameLst>
                                          <p:attrName>style.visibility</p:attrName>
                                        </p:attrNameLst>
                                      </p:cBhvr>
                                      <p:to>
                                        <p:strVal val="visible"/>
                                      </p:to>
                                    </p:set>
                                    <p:anim calcmode="lin" valueType="num">
                                      <p:cBhvr>
                                        <p:cTn id="50" dur="500" fill="hold"/>
                                        <p:tgtEl>
                                          <p:spTgt spid="30723">
                                            <p:txEl>
                                              <p:pRg st="6" end="6"/>
                                            </p:txEl>
                                          </p:spTgt>
                                        </p:tgtEl>
                                        <p:attrNameLst>
                                          <p:attrName>ppt_w</p:attrName>
                                        </p:attrNameLst>
                                      </p:cBhvr>
                                      <p:tavLst>
                                        <p:tav tm="0">
                                          <p:val>
                                            <p:fltVal val="0"/>
                                          </p:val>
                                        </p:tav>
                                        <p:tav tm="100000">
                                          <p:val>
                                            <p:strVal val="#ppt_w"/>
                                          </p:val>
                                        </p:tav>
                                      </p:tavLst>
                                    </p:anim>
                                    <p:anim calcmode="lin" valueType="num">
                                      <p:cBhvr>
                                        <p:cTn id="51" dur="500" fill="hold"/>
                                        <p:tgtEl>
                                          <p:spTgt spid="30723">
                                            <p:txEl>
                                              <p:pRg st="6" end="6"/>
                                            </p:txEl>
                                          </p:spTgt>
                                        </p:tgtEl>
                                        <p:attrNameLst>
                                          <p:attrName>ppt_h</p:attrName>
                                        </p:attrNameLst>
                                      </p:cBhvr>
                                      <p:tavLst>
                                        <p:tav tm="0">
                                          <p:val>
                                            <p:fltVal val="0"/>
                                          </p:val>
                                        </p:tav>
                                        <p:tav tm="100000">
                                          <p:val>
                                            <p:strVal val="#ppt_h"/>
                                          </p:val>
                                        </p:tav>
                                      </p:tavLst>
                                    </p:anim>
                                    <p:animEffect transition="in" filter="fade">
                                      <p:cBhvr>
                                        <p:cTn id="52" dur="500"/>
                                        <p:tgtEl>
                                          <p:spTgt spid="307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47158D1-0DD6-E90A-FD9C-02E2310482D1}"/>
              </a:ext>
            </a:extLst>
          </p:cNvPr>
          <p:cNvSpPr>
            <a:spLocks noGrp="1" noChangeArrowheads="1"/>
          </p:cNvSpPr>
          <p:nvPr>
            <p:ph type="title"/>
          </p:nvPr>
        </p:nvSpPr>
        <p:spPr bwMode="auto">
          <a:xfrm>
            <a:off x="3571875" y="228600"/>
            <a:ext cx="549592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Trading Manager</a:t>
            </a:r>
          </a:p>
        </p:txBody>
      </p:sp>
      <p:sp>
        <p:nvSpPr>
          <p:cNvPr id="31747" name="Rectangle 3">
            <a:extLst>
              <a:ext uri="{FF2B5EF4-FFF2-40B4-BE49-F238E27FC236}">
                <a16:creationId xmlns:a16="http://schemas.microsoft.com/office/drawing/2014/main" id="{D2A3EFFF-C82F-E4D2-3273-ED3FF3840CD9}"/>
              </a:ext>
            </a:extLst>
          </p:cNvPr>
          <p:cNvSpPr>
            <a:spLocks noGrp="1" noChangeArrowheads="1"/>
          </p:cNvSpPr>
          <p:nvPr>
            <p:ph type="body" sz="half" idx="2"/>
          </p:nvPr>
        </p:nvSpPr>
        <p:spPr bwMode="auto">
          <a:xfrm>
            <a:off x="3200400" y="1905000"/>
            <a:ext cx="52578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400"/>
              <a:t>Captures deals</a:t>
            </a:r>
          </a:p>
          <a:p>
            <a:pPr eaLnBrk="1" hangingPunct="1"/>
            <a:r>
              <a:rPr lang="en-GB" altLang="en-US" sz="2400"/>
              <a:t>Retrieve &amp; view existing trades</a:t>
            </a:r>
          </a:p>
          <a:p>
            <a:pPr eaLnBrk="1" hangingPunct="1"/>
            <a:r>
              <a:rPr lang="en-GB" altLang="en-US" sz="2400"/>
              <a:t>Run &amp; view reports</a:t>
            </a:r>
          </a:p>
          <a:p>
            <a:pPr eaLnBrk="1" hangingPunct="1"/>
            <a:r>
              <a:rPr lang="en-GB" altLang="en-US" sz="2400"/>
              <a:t>Performs on-the-fly simulations</a:t>
            </a:r>
          </a:p>
          <a:p>
            <a:pPr eaLnBrk="1" hangingPunct="1"/>
            <a:r>
              <a:rPr lang="en-GB" altLang="en-US" sz="2400"/>
              <a:t>Revalue portfolios</a:t>
            </a:r>
          </a:p>
          <a:p>
            <a:pPr eaLnBrk="1" hangingPunct="1"/>
            <a:r>
              <a:rPr lang="en-GB" altLang="en-US" sz="2400"/>
              <a:t>Position Management</a:t>
            </a:r>
          </a:p>
          <a:p>
            <a:pPr eaLnBrk="1" hangingPunct="1"/>
            <a:endParaRPr lang="en-GB" altLang="en-US" sz="2400"/>
          </a:p>
        </p:txBody>
      </p:sp>
      <p:pic>
        <p:nvPicPr>
          <p:cNvPr id="31749" name="Picture 5" descr="image003">
            <a:extLst>
              <a:ext uri="{FF2B5EF4-FFF2-40B4-BE49-F238E27FC236}">
                <a16:creationId xmlns:a16="http://schemas.microsoft.com/office/drawing/2014/main" id="{5CE37CDC-2E98-7607-8305-0D9737CCF1F8}"/>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81200"/>
            <a:ext cx="1905000" cy="1295400"/>
          </a:xfrm>
          <a:prstGeom prst="rect">
            <a:avLst/>
          </a:prstGeom>
          <a:solidFill>
            <a:srgbClr val="FFFFFF"/>
          </a:solidFill>
          <a:ln w="9525">
            <a:solidFill>
              <a:srgbClr val="000000"/>
            </a:solidFill>
            <a:round/>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1+#ppt_w/2"/>
                                          </p:val>
                                        </p:tav>
                                        <p:tav tm="100000">
                                          <p:val>
                                            <p:strVal val="#ppt_x"/>
                                          </p:val>
                                        </p:tav>
                                      </p:tavLst>
                                    </p:anim>
                                    <p:anim calcmode="lin" valueType="num">
                                      <p:cBhvr additive="base">
                                        <p:cTn id="8" dur="500" fill="hold"/>
                                        <p:tgtEl>
                                          <p:spTgt spid="31746"/>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1749"/>
                                        </p:tgtEl>
                                        <p:attrNameLst>
                                          <p:attrName>style.visibility</p:attrName>
                                        </p:attrNameLst>
                                      </p:cBhvr>
                                      <p:to>
                                        <p:strVal val="visible"/>
                                      </p:to>
                                    </p:set>
                                    <p:animEffect transition="in" filter="fade">
                                      <p:cBhvr>
                                        <p:cTn id="11" dur="1000"/>
                                        <p:tgtEl>
                                          <p:spTgt spid="31749"/>
                                        </p:tgtEl>
                                      </p:cBhvr>
                                    </p:animEffect>
                                  </p:childTnLst>
                                </p:cTn>
                              </p:par>
                            </p:childTnLst>
                          </p:cTn>
                        </p:par>
                        <p:par>
                          <p:cTn id="12" fill="hold" nodeType="afterGroup">
                            <p:stCondLst>
                              <p:cond delay="1000"/>
                            </p:stCondLst>
                            <p:childTnLst>
                              <p:par>
                                <p:cTn id="13" presetID="53" presetClass="entr" presetSubtype="0" fill="hold" nodeType="afterEffect">
                                  <p:stCondLst>
                                    <p:cond delay="0"/>
                                  </p:stCondLst>
                                  <p:childTnLst>
                                    <p:set>
                                      <p:cBhvr>
                                        <p:cTn id="14" dur="1" fill="hold">
                                          <p:stCondLst>
                                            <p:cond delay="0"/>
                                          </p:stCondLst>
                                        </p:cTn>
                                        <p:tgtEl>
                                          <p:spTgt spid="31747">
                                            <p:txEl>
                                              <p:pRg st="0" end="0"/>
                                            </p:txEl>
                                          </p:spTgt>
                                        </p:tgtEl>
                                        <p:attrNameLst>
                                          <p:attrName>style.visibility</p:attrName>
                                        </p:attrNameLst>
                                      </p:cBhvr>
                                      <p:to>
                                        <p:strVal val="visible"/>
                                      </p:to>
                                    </p:set>
                                    <p:anim calcmode="lin" valueType="num">
                                      <p:cBhvr>
                                        <p:cTn id="15" dur="500" fill="hold"/>
                                        <p:tgtEl>
                                          <p:spTgt spid="31747">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31747">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31747">
                                            <p:txEl>
                                              <p:pRg st="0" end="0"/>
                                            </p:txEl>
                                          </p:spTgt>
                                        </p:tgtEl>
                                      </p:cBhvr>
                                    </p:animEffect>
                                  </p:childTnLst>
                                </p:cTn>
                              </p:par>
                            </p:childTnLst>
                          </p:cTn>
                        </p:par>
                        <p:par>
                          <p:cTn id="18" fill="hold" nodeType="afterGroup">
                            <p:stCondLst>
                              <p:cond delay="1500"/>
                            </p:stCondLst>
                            <p:childTnLst>
                              <p:par>
                                <p:cTn id="19" presetID="53" presetClass="entr" presetSubtype="0" fill="hold" nodeType="afterEffect">
                                  <p:stCondLst>
                                    <p:cond delay="0"/>
                                  </p:stCondLst>
                                  <p:childTnLst>
                                    <p:set>
                                      <p:cBhvr>
                                        <p:cTn id="20" dur="1" fill="hold">
                                          <p:stCondLst>
                                            <p:cond delay="0"/>
                                          </p:stCondLst>
                                        </p:cTn>
                                        <p:tgtEl>
                                          <p:spTgt spid="31747">
                                            <p:txEl>
                                              <p:pRg st="1" end="1"/>
                                            </p:txEl>
                                          </p:spTgt>
                                        </p:tgtEl>
                                        <p:attrNameLst>
                                          <p:attrName>style.visibility</p:attrName>
                                        </p:attrNameLst>
                                      </p:cBhvr>
                                      <p:to>
                                        <p:strVal val="visible"/>
                                      </p:to>
                                    </p:set>
                                    <p:anim calcmode="lin" valueType="num">
                                      <p:cBhvr>
                                        <p:cTn id="21" dur="500" fill="hold"/>
                                        <p:tgtEl>
                                          <p:spTgt spid="31747">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1747">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1747">
                                            <p:txEl>
                                              <p:pRg st="1" end="1"/>
                                            </p:txEl>
                                          </p:spTgt>
                                        </p:tgtEl>
                                      </p:cBhvr>
                                    </p:animEffect>
                                  </p:childTnLst>
                                </p:cTn>
                              </p:par>
                            </p:childTnLst>
                          </p:cTn>
                        </p:par>
                        <p:par>
                          <p:cTn id="24" fill="hold" nodeType="afterGroup">
                            <p:stCondLst>
                              <p:cond delay="2000"/>
                            </p:stCondLst>
                            <p:childTnLst>
                              <p:par>
                                <p:cTn id="25" presetID="53" presetClass="entr" presetSubtype="0" fill="hold" nodeType="afterEffect">
                                  <p:stCondLst>
                                    <p:cond delay="0"/>
                                  </p:stCondLst>
                                  <p:childTnLst>
                                    <p:set>
                                      <p:cBhvr>
                                        <p:cTn id="26" dur="1" fill="hold">
                                          <p:stCondLst>
                                            <p:cond delay="0"/>
                                          </p:stCondLst>
                                        </p:cTn>
                                        <p:tgtEl>
                                          <p:spTgt spid="31747">
                                            <p:txEl>
                                              <p:pRg st="2" end="2"/>
                                            </p:txEl>
                                          </p:spTgt>
                                        </p:tgtEl>
                                        <p:attrNameLst>
                                          <p:attrName>style.visibility</p:attrName>
                                        </p:attrNameLst>
                                      </p:cBhvr>
                                      <p:to>
                                        <p:strVal val="visible"/>
                                      </p:to>
                                    </p:set>
                                    <p:anim calcmode="lin" valueType="num">
                                      <p:cBhvr>
                                        <p:cTn id="27" dur="500" fill="hold"/>
                                        <p:tgtEl>
                                          <p:spTgt spid="31747">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31747">
                                            <p:txEl>
                                              <p:pRg st="2" end="2"/>
                                            </p:txEl>
                                          </p:spTgt>
                                        </p:tgtEl>
                                        <p:attrNameLst>
                                          <p:attrName>ppt_h</p:attrName>
                                        </p:attrNameLst>
                                      </p:cBhvr>
                                      <p:tavLst>
                                        <p:tav tm="0">
                                          <p:val>
                                            <p:fltVal val="0"/>
                                          </p:val>
                                        </p:tav>
                                        <p:tav tm="100000">
                                          <p:val>
                                            <p:strVal val="#ppt_h"/>
                                          </p:val>
                                        </p:tav>
                                      </p:tavLst>
                                    </p:anim>
                                    <p:animEffect transition="in" filter="fade">
                                      <p:cBhvr>
                                        <p:cTn id="29" dur="500"/>
                                        <p:tgtEl>
                                          <p:spTgt spid="31747">
                                            <p:txEl>
                                              <p:pRg st="2" end="2"/>
                                            </p:txEl>
                                          </p:spTgt>
                                        </p:tgtEl>
                                      </p:cBhvr>
                                    </p:animEffect>
                                  </p:childTnLst>
                                </p:cTn>
                              </p:par>
                            </p:childTnLst>
                          </p:cTn>
                        </p:par>
                        <p:par>
                          <p:cTn id="30" fill="hold" nodeType="afterGroup">
                            <p:stCondLst>
                              <p:cond delay="2500"/>
                            </p:stCondLst>
                            <p:childTnLst>
                              <p:par>
                                <p:cTn id="31" presetID="53" presetClass="entr" presetSubtype="0" fill="hold" nodeType="afterEffect">
                                  <p:stCondLst>
                                    <p:cond delay="0"/>
                                  </p:stCondLst>
                                  <p:childTnLst>
                                    <p:set>
                                      <p:cBhvr>
                                        <p:cTn id="32" dur="1" fill="hold">
                                          <p:stCondLst>
                                            <p:cond delay="0"/>
                                          </p:stCondLst>
                                        </p:cTn>
                                        <p:tgtEl>
                                          <p:spTgt spid="31747">
                                            <p:txEl>
                                              <p:pRg st="3" end="3"/>
                                            </p:txEl>
                                          </p:spTgt>
                                        </p:tgtEl>
                                        <p:attrNameLst>
                                          <p:attrName>style.visibility</p:attrName>
                                        </p:attrNameLst>
                                      </p:cBhvr>
                                      <p:to>
                                        <p:strVal val="visible"/>
                                      </p:to>
                                    </p:set>
                                    <p:anim calcmode="lin" valueType="num">
                                      <p:cBhvr>
                                        <p:cTn id="33" dur="500" fill="hold"/>
                                        <p:tgtEl>
                                          <p:spTgt spid="3174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31747">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31747">
                                            <p:txEl>
                                              <p:pRg st="3" end="3"/>
                                            </p:txEl>
                                          </p:spTgt>
                                        </p:tgtEl>
                                      </p:cBhvr>
                                    </p:animEffect>
                                  </p:childTnLst>
                                </p:cTn>
                              </p:par>
                            </p:childTnLst>
                          </p:cTn>
                        </p:par>
                        <p:par>
                          <p:cTn id="36" fill="hold" nodeType="afterGroup">
                            <p:stCondLst>
                              <p:cond delay="3000"/>
                            </p:stCondLst>
                            <p:childTnLst>
                              <p:par>
                                <p:cTn id="37" presetID="53" presetClass="entr" presetSubtype="0" fill="hold" nodeType="afterEffect">
                                  <p:stCondLst>
                                    <p:cond delay="0"/>
                                  </p:stCondLst>
                                  <p:childTnLst>
                                    <p:set>
                                      <p:cBhvr>
                                        <p:cTn id="38" dur="1" fill="hold">
                                          <p:stCondLst>
                                            <p:cond delay="0"/>
                                          </p:stCondLst>
                                        </p:cTn>
                                        <p:tgtEl>
                                          <p:spTgt spid="31747">
                                            <p:txEl>
                                              <p:pRg st="4" end="4"/>
                                            </p:txEl>
                                          </p:spTgt>
                                        </p:tgtEl>
                                        <p:attrNameLst>
                                          <p:attrName>style.visibility</p:attrName>
                                        </p:attrNameLst>
                                      </p:cBhvr>
                                      <p:to>
                                        <p:strVal val="visible"/>
                                      </p:to>
                                    </p:set>
                                    <p:anim calcmode="lin" valueType="num">
                                      <p:cBhvr>
                                        <p:cTn id="39" dur="500" fill="hold"/>
                                        <p:tgtEl>
                                          <p:spTgt spid="31747">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31747">
                                            <p:txEl>
                                              <p:pRg st="4" end="4"/>
                                            </p:txEl>
                                          </p:spTgt>
                                        </p:tgtEl>
                                        <p:attrNameLst>
                                          <p:attrName>ppt_h</p:attrName>
                                        </p:attrNameLst>
                                      </p:cBhvr>
                                      <p:tavLst>
                                        <p:tav tm="0">
                                          <p:val>
                                            <p:fltVal val="0"/>
                                          </p:val>
                                        </p:tav>
                                        <p:tav tm="100000">
                                          <p:val>
                                            <p:strVal val="#ppt_h"/>
                                          </p:val>
                                        </p:tav>
                                      </p:tavLst>
                                    </p:anim>
                                    <p:animEffect transition="in" filter="fade">
                                      <p:cBhvr>
                                        <p:cTn id="41" dur="500"/>
                                        <p:tgtEl>
                                          <p:spTgt spid="31747">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3" presetClass="entr" presetSubtype="0" fill="hold" nodeType="clickEffect">
                                  <p:stCondLst>
                                    <p:cond delay="0"/>
                                  </p:stCondLst>
                                  <p:childTnLst>
                                    <p:set>
                                      <p:cBhvr>
                                        <p:cTn id="45" dur="1" fill="hold">
                                          <p:stCondLst>
                                            <p:cond delay="0"/>
                                          </p:stCondLst>
                                        </p:cTn>
                                        <p:tgtEl>
                                          <p:spTgt spid="31747">
                                            <p:txEl>
                                              <p:pRg st="5" end="5"/>
                                            </p:txEl>
                                          </p:spTgt>
                                        </p:tgtEl>
                                        <p:attrNameLst>
                                          <p:attrName>style.visibility</p:attrName>
                                        </p:attrNameLst>
                                      </p:cBhvr>
                                      <p:to>
                                        <p:strVal val="visible"/>
                                      </p:to>
                                    </p:set>
                                    <p:anim calcmode="lin" valueType="num">
                                      <p:cBhvr>
                                        <p:cTn id="46" dur="500" fill="hold"/>
                                        <p:tgtEl>
                                          <p:spTgt spid="31747">
                                            <p:txEl>
                                              <p:pRg st="5" end="5"/>
                                            </p:txEl>
                                          </p:spTgt>
                                        </p:tgtEl>
                                        <p:attrNameLst>
                                          <p:attrName>ppt_w</p:attrName>
                                        </p:attrNameLst>
                                      </p:cBhvr>
                                      <p:tavLst>
                                        <p:tav tm="0">
                                          <p:val>
                                            <p:fltVal val="0"/>
                                          </p:val>
                                        </p:tav>
                                        <p:tav tm="100000">
                                          <p:val>
                                            <p:strVal val="#ppt_w"/>
                                          </p:val>
                                        </p:tav>
                                      </p:tavLst>
                                    </p:anim>
                                    <p:anim calcmode="lin" valueType="num">
                                      <p:cBhvr>
                                        <p:cTn id="47" dur="500" fill="hold"/>
                                        <p:tgtEl>
                                          <p:spTgt spid="31747">
                                            <p:txEl>
                                              <p:pRg st="5" end="5"/>
                                            </p:txEl>
                                          </p:spTgt>
                                        </p:tgtEl>
                                        <p:attrNameLst>
                                          <p:attrName>ppt_h</p:attrName>
                                        </p:attrNameLst>
                                      </p:cBhvr>
                                      <p:tavLst>
                                        <p:tav tm="0">
                                          <p:val>
                                            <p:fltVal val="0"/>
                                          </p:val>
                                        </p:tav>
                                        <p:tav tm="100000">
                                          <p:val>
                                            <p:strVal val="#ppt_h"/>
                                          </p:val>
                                        </p:tav>
                                      </p:tavLst>
                                    </p:anim>
                                    <p:animEffect transition="in" filter="fade">
                                      <p:cBhvr>
                                        <p:cTn id="48" dur="500"/>
                                        <p:tgtEl>
                                          <p:spTgt spid="317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0492D76-AA61-35BA-FD6D-3BE7906B6F29}"/>
              </a:ext>
            </a:extLst>
          </p:cNvPr>
          <p:cNvSpPr>
            <a:spLocks noGrp="1" noChangeArrowheads="1"/>
          </p:cNvSpPr>
          <p:nvPr>
            <p:ph type="title"/>
          </p:nvPr>
        </p:nvSpPr>
        <p:spPr bwMode="auto">
          <a:xfrm>
            <a:off x="3357563" y="228600"/>
            <a:ext cx="57102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Credit &amp; Risk Managers</a:t>
            </a:r>
          </a:p>
        </p:txBody>
      </p:sp>
      <p:sp>
        <p:nvSpPr>
          <p:cNvPr id="32771" name="Rectangle 3">
            <a:extLst>
              <a:ext uri="{FF2B5EF4-FFF2-40B4-BE49-F238E27FC236}">
                <a16:creationId xmlns:a16="http://schemas.microsoft.com/office/drawing/2014/main" id="{1AE6F01B-15AB-6A2A-612F-9F283EA3D899}"/>
              </a:ext>
            </a:extLst>
          </p:cNvPr>
          <p:cNvSpPr>
            <a:spLocks noGrp="1" noChangeArrowheads="1"/>
          </p:cNvSpPr>
          <p:nvPr>
            <p:ph type="body" sz="half" idx="2"/>
          </p:nvPr>
        </p:nvSpPr>
        <p:spPr bwMode="auto">
          <a:xfrm>
            <a:off x="3200400" y="1905000"/>
            <a:ext cx="52578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400"/>
              <a:t>Monitors credit &amp; risk limits through user-defined credit &amp; risk calculations</a:t>
            </a:r>
          </a:p>
          <a:p>
            <a:pPr eaLnBrk="1" hangingPunct="1"/>
            <a:r>
              <a:rPr lang="en-GB" altLang="en-US" sz="2400"/>
              <a:t>Credit Manager</a:t>
            </a:r>
          </a:p>
          <a:p>
            <a:pPr lvl="1" eaLnBrk="1" hangingPunct="1"/>
            <a:r>
              <a:rPr lang="en-GB" altLang="en-US" sz="2200"/>
              <a:t>Check external exposures</a:t>
            </a:r>
          </a:p>
          <a:p>
            <a:pPr eaLnBrk="1" hangingPunct="1"/>
            <a:r>
              <a:rPr lang="en-GB" altLang="en-US" sz="2400"/>
              <a:t>Risk Manager</a:t>
            </a:r>
          </a:p>
          <a:p>
            <a:pPr lvl="1" eaLnBrk="1" hangingPunct="1"/>
            <a:r>
              <a:rPr lang="en-GB" altLang="en-US" sz="2200"/>
              <a:t>Check internal exposures</a:t>
            </a:r>
          </a:p>
        </p:txBody>
      </p:sp>
      <p:pic>
        <p:nvPicPr>
          <p:cNvPr id="32773" name="Picture 5" descr="image013">
            <a:extLst>
              <a:ext uri="{FF2B5EF4-FFF2-40B4-BE49-F238E27FC236}">
                <a16:creationId xmlns:a16="http://schemas.microsoft.com/office/drawing/2014/main" id="{D698476E-A886-3E85-5708-7C3E5D291E04}"/>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76400"/>
            <a:ext cx="1981200" cy="1371600"/>
          </a:xfrm>
          <a:prstGeom prst="rect">
            <a:avLst/>
          </a:prstGeom>
          <a:solidFill>
            <a:srgbClr val="FFFFFF"/>
          </a:solidFill>
          <a:ln w="9525">
            <a:solidFill>
              <a:srgbClr val="000000"/>
            </a:solidFill>
            <a:round/>
            <a:headEnd/>
            <a:tailEnd/>
          </a:ln>
        </p:spPr>
      </p:pic>
      <p:pic>
        <p:nvPicPr>
          <p:cNvPr id="32774" name="Picture 6" descr="image015">
            <a:extLst>
              <a:ext uri="{FF2B5EF4-FFF2-40B4-BE49-F238E27FC236}">
                <a16:creationId xmlns:a16="http://schemas.microsoft.com/office/drawing/2014/main" id="{5AE93FD9-F2C9-84B6-6987-AB2451F5621E}"/>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505200"/>
            <a:ext cx="1905000" cy="1371600"/>
          </a:xfrm>
          <a:prstGeom prst="rect">
            <a:avLst/>
          </a:prstGeom>
          <a:solidFill>
            <a:srgbClr val="FFFFFF"/>
          </a:solidFill>
          <a:ln w="9525">
            <a:solidFill>
              <a:srgbClr val="000000"/>
            </a:solidFill>
            <a:round/>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1+#ppt_w/2"/>
                                          </p:val>
                                        </p:tav>
                                        <p:tav tm="100000">
                                          <p:val>
                                            <p:strVal val="#ppt_x"/>
                                          </p:val>
                                        </p:tav>
                                      </p:tavLst>
                                    </p:anim>
                                    <p:anim calcmode="lin" valueType="num">
                                      <p:cBhvr additive="base">
                                        <p:cTn id="8" dur="500" fill="hold"/>
                                        <p:tgtEl>
                                          <p:spTgt spid="327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2773"/>
                                        </p:tgtEl>
                                        <p:attrNameLst>
                                          <p:attrName>style.visibility</p:attrName>
                                        </p:attrNameLst>
                                      </p:cBhvr>
                                      <p:to>
                                        <p:strVal val="visible"/>
                                      </p:to>
                                    </p:set>
                                    <p:animEffect transition="in" filter="fade">
                                      <p:cBhvr>
                                        <p:cTn id="11" dur="1000"/>
                                        <p:tgtEl>
                                          <p:spTgt spid="32773"/>
                                        </p:tgtEl>
                                      </p:cBhvr>
                                    </p:animEffect>
                                  </p:childTnLst>
                                </p:cTn>
                              </p:par>
                              <p:par>
                                <p:cTn id="12" presetID="10" presetClass="entr" presetSubtype="0" fill="hold" nodeType="withEffect">
                                  <p:stCondLst>
                                    <p:cond delay="0"/>
                                  </p:stCondLst>
                                  <p:childTnLst>
                                    <p:set>
                                      <p:cBhvr>
                                        <p:cTn id="13" dur="1" fill="hold">
                                          <p:stCondLst>
                                            <p:cond delay="0"/>
                                          </p:stCondLst>
                                        </p:cTn>
                                        <p:tgtEl>
                                          <p:spTgt spid="32774"/>
                                        </p:tgtEl>
                                        <p:attrNameLst>
                                          <p:attrName>style.visibility</p:attrName>
                                        </p:attrNameLst>
                                      </p:cBhvr>
                                      <p:to>
                                        <p:strVal val="visible"/>
                                      </p:to>
                                    </p:set>
                                    <p:animEffect transition="in" filter="fade">
                                      <p:cBhvr>
                                        <p:cTn id="14" dur="1000"/>
                                        <p:tgtEl>
                                          <p:spTgt spid="32774"/>
                                        </p:tgtEl>
                                      </p:cBhvr>
                                    </p:animEffect>
                                  </p:childTnLst>
                                </p:cTn>
                              </p:par>
                            </p:childTnLst>
                          </p:cTn>
                        </p:par>
                        <p:par>
                          <p:cTn id="15" fill="hold" nodeType="afterGroup">
                            <p:stCondLst>
                              <p:cond delay="1000"/>
                            </p:stCondLst>
                            <p:childTnLst>
                              <p:par>
                                <p:cTn id="16" presetID="53" presetClass="entr" presetSubtype="0" fill="hold" nodeType="afterEffect">
                                  <p:stCondLst>
                                    <p:cond delay="0"/>
                                  </p:stCondLst>
                                  <p:childTnLst>
                                    <p:set>
                                      <p:cBhvr>
                                        <p:cTn id="17" dur="1" fill="hold">
                                          <p:stCondLst>
                                            <p:cond delay="0"/>
                                          </p:stCondLst>
                                        </p:cTn>
                                        <p:tgtEl>
                                          <p:spTgt spid="32771">
                                            <p:txEl>
                                              <p:pRg st="0" end="0"/>
                                            </p:txEl>
                                          </p:spTgt>
                                        </p:tgtEl>
                                        <p:attrNameLst>
                                          <p:attrName>style.visibility</p:attrName>
                                        </p:attrNameLst>
                                      </p:cBhvr>
                                      <p:to>
                                        <p:strVal val="visible"/>
                                      </p:to>
                                    </p:set>
                                    <p:anim calcmode="lin" valueType="num">
                                      <p:cBhvr>
                                        <p:cTn id="18" dur="500" fill="hold"/>
                                        <p:tgtEl>
                                          <p:spTgt spid="32771">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32771">
                                            <p:txEl>
                                              <p:pRg st="0" end="0"/>
                                            </p:txEl>
                                          </p:spTgt>
                                        </p:tgtEl>
                                        <p:attrNameLst>
                                          <p:attrName>ppt_h</p:attrName>
                                        </p:attrNameLst>
                                      </p:cBhvr>
                                      <p:tavLst>
                                        <p:tav tm="0">
                                          <p:val>
                                            <p:fltVal val="0"/>
                                          </p:val>
                                        </p:tav>
                                        <p:tav tm="100000">
                                          <p:val>
                                            <p:strVal val="#ppt_h"/>
                                          </p:val>
                                        </p:tav>
                                      </p:tavLst>
                                    </p:anim>
                                    <p:animEffect transition="in" filter="fade">
                                      <p:cBhvr>
                                        <p:cTn id="20" dur="500"/>
                                        <p:tgtEl>
                                          <p:spTgt spid="32771">
                                            <p:txEl>
                                              <p:pRg st="0" end="0"/>
                                            </p:txEl>
                                          </p:spTgt>
                                        </p:tgtEl>
                                      </p:cBhvr>
                                    </p:animEffect>
                                  </p:childTnLst>
                                </p:cTn>
                              </p:par>
                            </p:childTnLst>
                          </p:cTn>
                        </p:par>
                        <p:par>
                          <p:cTn id="21" fill="hold" nodeType="afterGroup">
                            <p:stCondLst>
                              <p:cond delay="1500"/>
                            </p:stCondLst>
                            <p:childTnLst>
                              <p:par>
                                <p:cTn id="22" presetID="53" presetClass="entr" presetSubtype="0" fill="hold" nodeType="afterEffect">
                                  <p:stCondLst>
                                    <p:cond delay="0"/>
                                  </p:stCondLst>
                                  <p:childTnLst>
                                    <p:set>
                                      <p:cBhvr>
                                        <p:cTn id="23" dur="1" fill="hold">
                                          <p:stCondLst>
                                            <p:cond delay="0"/>
                                          </p:stCondLst>
                                        </p:cTn>
                                        <p:tgtEl>
                                          <p:spTgt spid="32771">
                                            <p:txEl>
                                              <p:pRg st="1" end="1"/>
                                            </p:txEl>
                                          </p:spTgt>
                                        </p:tgtEl>
                                        <p:attrNameLst>
                                          <p:attrName>style.visibility</p:attrName>
                                        </p:attrNameLst>
                                      </p:cBhvr>
                                      <p:to>
                                        <p:strVal val="visible"/>
                                      </p:to>
                                    </p:set>
                                    <p:anim calcmode="lin" valueType="num">
                                      <p:cBhvr>
                                        <p:cTn id="24" dur="500" fill="hold"/>
                                        <p:tgtEl>
                                          <p:spTgt spid="32771">
                                            <p:txEl>
                                              <p:pRg st="1" end="1"/>
                                            </p:txEl>
                                          </p:spTgt>
                                        </p:tgtEl>
                                        <p:attrNameLst>
                                          <p:attrName>ppt_w</p:attrName>
                                        </p:attrNameLst>
                                      </p:cBhvr>
                                      <p:tavLst>
                                        <p:tav tm="0">
                                          <p:val>
                                            <p:fltVal val="0"/>
                                          </p:val>
                                        </p:tav>
                                        <p:tav tm="100000">
                                          <p:val>
                                            <p:strVal val="#ppt_w"/>
                                          </p:val>
                                        </p:tav>
                                      </p:tavLst>
                                    </p:anim>
                                    <p:anim calcmode="lin" valueType="num">
                                      <p:cBhvr>
                                        <p:cTn id="25" dur="500" fill="hold"/>
                                        <p:tgtEl>
                                          <p:spTgt spid="32771">
                                            <p:txEl>
                                              <p:pRg st="1" end="1"/>
                                            </p:txEl>
                                          </p:spTgt>
                                        </p:tgtEl>
                                        <p:attrNameLst>
                                          <p:attrName>ppt_h</p:attrName>
                                        </p:attrNameLst>
                                      </p:cBhvr>
                                      <p:tavLst>
                                        <p:tav tm="0">
                                          <p:val>
                                            <p:fltVal val="0"/>
                                          </p:val>
                                        </p:tav>
                                        <p:tav tm="100000">
                                          <p:val>
                                            <p:strVal val="#ppt_h"/>
                                          </p:val>
                                        </p:tav>
                                      </p:tavLst>
                                    </p:anim>
                                    <p:animEffect transition="in" filter="fade">
                                      <p:cBhvr>
                                        <p:cTn id="26" dur="500"/>
                                        <p:tgtEl>
                                          <p:spTgt spid="32771">
                                            <p:txEl>
                                              <p:pRg st="1" end="1"/>
                                            </p:txEl>
                                          </p:spTgt>
                                        </p:tgtEl>
                                      </p:cBhvr>
                                    </p:animEffect>
                                  </p:childTnLst>
                                </p:cTn>
                              </p:par>
                            </p:childTnLst>
                          </p:cTn>
                        </p:par>
                        <p:par>
                          <p:cTn id="27" fill="hold" nodeType="afterGroup">
                            <p:stCondLst>
                              <p:cond delay="2000"/>
                            </p:stCondLst>
                            <p:childTnLst>
                              <p:par>
                                <p:cTn id="28" presetID="53" presetClass="entr" presetSubtype="0" fill="hold" nodeType="afterEffect">
                                  <p:stCondLst>
                                    <p:cond delay="0"/>
                                  </p:stCondLst>
                                  <p:childTnLst>
                                    <p:set>
                                      <p:cBhvr>
                                        <p:cTn id="29" dur="1" fill="hold">
                                          <p:stCondLst>
                                            <p:cond delay="0"/>
                                          </p:stCondLst>
                                        </p:cTn>
                                        <p:tgtEl>
                                          <p:spTgt spid="32771">
                                            <p:txEl>
                                              <p:pRg st="2" end="2"/>
                                            </p:txEl>
                                          </p:spTgt>
                                        </p:tgtEl>
                                        <p:attrNameLst>
                                          <p:attrName>style.visibility</p:attrName>
                                        </p:attrNameLst>
                                      </p:cBhvr>
                                      <p:to>
                                        <p:strVal val="visible"/>
                                      </p:to>
                                    </p:set>
                                    <p:anim calcmode="lin" valueType="num">
                                      <p:cBhvr>
                                        <p:cTn id="30" dur="500" fill="hold"/>
                                        <p:tgtEl>
                                          <p:spTgt spid="32771">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32771">
                                            <p:txEl>
                                              <p:pRg st="2" end="2"/>
                                            </p:txEl>
                                          </p:spTgt>
                                        </p:tgtEl>
                                        <p:attrNameLst>
                                          <p:attrName>ppt_h</p:attrName>
                                        </p:attrNameLst>
                                      </p:cBhvr>
                                      <p:tavLst>
                                        <p:tav tm="0">
                                          <p:val>
                                            <p:fltVal val="0"/>
                                          </p:val>
                                        </p:tav>
                                        <p:tav tm="100000">
                                          <p:val>
                                            <p:strVal val="#ppt_h"/>
                                          </p:val>
                                        </p:tav>
                                      </p:tavLst>
                                    </p:anim>
                                    <p:animEffect transition="in" filter="fade">
                                      <p:cBhvr>
                                        <p:cTn id="32" dur="500"/>
                                        <p:tgtEl>
                                          <p:spTgt spid="32771">
                                            <p:txEl>
                                              <p:pRg st="2" end="2"/>
                                            </p:txEl>
                                          </p:spTgt>
                                        </p:tgtEl>
                                      </p:cBhvr>
                                    </p:animEffect>
                                  </p:childTnLst>
                                </p:cTn>
                              </p:par>
                            </p:childTnLst>
                          </p:cTn>
                        </p:par>
                        <p:par>
                          <p:cTn id="33" fill="hold" nodeType="afterGroup">
                            <p:stCondLst>
                              <p:cond delay="2500"/>
                            </p:stCondLst>
                            <p:childTnLst>
                              <p:par>
                                <p:cTn id="34" presetID="53" presetClass="entr" presetSubtype="0" fill="hold" nodeType="afterEffect">
                                  <p:stCondLst>
                                    <p:cond delay="0"/>
                                  </p:stCondLst>
                                  <p:childTnLst>
                                    <p:set>
                                      <p:cBhvr>
                                        <p:cTn id="35" dur="1" fill="hold">
                                          <p:stCondLst>
                                            <p:cond delay="0"/>
                                          </p:stCondLst>
                                        </p:cTn>
                                        <p:tgtEl>
                                          <p:spTgt spid="32771">
                                            <p:txEl>
                                              <p:pRg st="3" end="3"/>
                                            </p:txEl>
                                          </p:spTgt>
                                        </p:tgtEl>
                                        <p:attrNameLst>
                                          <p:attrName>style.visibility</p:attrName>
                                        </p:attrNameLst>
                                      </p:cBhvr>
                                      <p:to>
                                        <p:strVal val="visible"/>
                                      </p:to>
                                    </p:set>
                                    <p:anim calcmode="lin" valueType="num">
                                      <p:cBhvr>
                                        <p:cTn id="36" dur="500" fill="hold"/>
                                        <p:tgtEl>
                                          <p:spTgt spid="32771">
                                            <p:txEl>
                                              <p:pRg st="3" end="3"/>
                                            </p:txEl>
                                          </p:spTgt>
                                        </p:tgtEl>
                                        <p:attrNameLst>
                                          <p:attrName>ppt_w</p:attrName>
                                        </p:attrNameLst>
                                      </p:cBhvr>
                                      <p:tavLst>
                                        <p:tav tm="0">
                                          <p:val>
                                            <p:fltVal val="0"/>
                                          </p:val>
                                        </p:tav>
                                        <p:tav tm="100000">
                                          <p:val>
                                            <p:strVal val="#ppt_w"/>
                                          </p:val>
                                        </p:tav>
                                      </p:tavLst>
                                    </p:anim>
                                    <p:anim calcmode="lin" valueType="num">
                                      <p:cBhvr>
                                        <p:cTn id="37" dur="500" fill="hold"/>
                                        <p:tgtEl>
                                          <p:spTgt spid="32771">
                                            <p:txEl>
                                              <p:pRg st="3" end="3"/>
                                            </p:txEl>
                                          </p:spTgt>
                                        </p:tgtEl>
                                        <p:attrNameLst>
                                          <p:attrName>ppt_h</p:attrName>
                                        </p:attrNameLst>
                                      </p:cBhvr>
                                      <p:tavLst>
                                        <p:tav tm="0">
                                          <p:val>
                                            <p:fltVal val="0"/>
                                          </p:val>
                                        </p:tav>
                                        <p:tav tm="100000">
                                          <p:val>
                                            <p:strVal val="#ppt_h"/>
                                          </p:val>
                                        </p:tav>
                                      </p:tavLst>
                                    </p:anim>
                                    <p:animEffect transition="in" filter="fade">
                                      <p:cBhvr>
                                        <p:cTn id="38" dur="500"/>
                                        <p:tgtEl>
                                          <p:spTgt spid="32771">
                                            <p:txEl>
                                              <p:pRg st="3" end="3"/>
                                            </p:txEl>
                                          </p:spTgt>
                                        </p:tgtEl>
                                      </p:cBhvr>
                                    </p:animEffect>
                                  </p:childTnLst>
                                </p:cTn>
                              </p:par>
                            </p:childTnLst>
                          </p:cTn>
                        </p:par>
                        <p:par>
                          <p:cTn id="39" fill="hold" nodeType="afterGroup">
                            <p:stCondLst>
                              <p:cond delay="3000"/>
                            </p:stCondLst>
                            <p:childTnLst>
                              <p:par>
                                <p:cTn id="40" presetID="53" presetClass="entr" presetSubtype="0" fill="hold" nodeType="afterEffect">
                                  <p:stCondLst>
                                    <p:cond delay="0"/>
                                  </p:stCondLst>
                                  <p:childTnLst>
                                    <p:set>
                                      <p:cBhvr>
                                        <p:cTn id="41" dur="1" fill="hold">
                                          <p:stCondLst>
                                            <p:cond delay="0"/>
                                          </p:stCondLst>
                                        </p:cTn>
                                        <p:tgtEl>
                                          <p:spTgt spid="32771">
                                            <p:txEl>
                                              <p:pRg st="4" end="4"/>
                                            </p:txEl>
                                          </p:spTgt>
                                        </p:tgtEl>
                                        <p:attrNameLst>
                                          <p:attrName>style.visibility</p:attrName>
                                        </p:attrNameLst>
                                      </p:cBhvr>
                                      <p:to>
                                        <p:strVal val="visible"/>
                                      </p:to>
                                    </p:set>
                                    <p:anim calcmode="lin" valueType="num">
                                      <p:cBhvr>
                                        <p:cTn id="42" dur="500" fill="hold"/>
                                        <p:tgtEl>
                                          <p:spTgt spid="32771">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32771">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327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45F091B-E914-5392-75F1-6D9DAFAE0AC8}"/>
              </a:ext>
            </a:extLst>
          </p:cNvPr>
          <p:cNvSpPr>
            <a:spLocks noGrp="1" noChangeArrowheads="1"/>
          </p:cNvSpPr>
          <p:nvPr>
            <p:ph type="title"/>
          </p:nvPr>
        </p:nvSpPr>
        <p:spPr bwMode="auto">
          <a:xfrm>
            <a:off x="3643313" y="228600"/>
            <a:ext cx="542448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Operations Manager</a:t>
            </a:r>
          </a:p>
        </p:txBody>
      </p:sp>
      <p:sp>
        <p:nvSpPr>
          <p:cNvPr id="33795" name="Rectangle 3">
            <a:extLst>
              <a:ext uri="{FF2B5EF4-FFF2-40B4-BE49-F238E27FC236}">
                <a16:creationId xmlns:a16="http://schemas.microsoft.com/office/drawing/2014/main" id="{32C7C114-D868-89BB-FAD3-BF260C4E2764}"/>
              </a:ext>
            </a:extLst>
          </p:cNvPr>
          <p:cNvSpPr>
            <a:spLocks noGrp="1" noChangeArrowheads="1"/>
          </p:cNvSpPr>
          <p:nvPr>
            <p:ph type="body" sz="half" idx="2"/>
          </p:nvPr>
        </p:nvSpPr>
        <p:spPr bwMode="auto">
          <a:xfrm>
            <a:off x="3200400" y="1143000"/>
            <a:ext cx="5257800" cy="52149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400"/>
              <a:t>Performs multiple trade administration &amp; back office tasks</a:t>
            </a:r>
          </a:p>
          <a:p>
            <a:pPr eaLnBrk="1" hangingPunct="1"/>
            <a:endParaRPr lang="en-GB" altLang="en-US" sz="2400"/>
          </a:p>
          <a:p>
            <a:pPr eaLnBrk="1" hangingPunct="1"/>
            <a:r>
              <a:rPr lang="en-GB" altLang="en-US" sz="2400"/>
              <a:t>Settlements and Confirmation</a:t>
            </a:r>
          </a:p>
          <a:p>
            <a:pPr eaLnBrk="1" hangingPunct="1"/>
            <a:endParaRPr lang="en-GB" altLang="en-US" sz="2400"/>
          </a:p>
          <a:p>
            <a:pPr eaLnBrk="1" hangingPunct="1"/>
            <a:r>
              <a:rPr lang="en-GB" altLang="en-US" sz="2400"/>
              <a:t>Document Management</a:t>
            </a:r>
          </a:p>
          <a:p>
            <a:pPr eaLnBrk="1" hangingPunct="1"/>
            <a:endParaRPr lang="en-GB" altLang="en-US" sz="2400"/>
          </a:p>
          <a:p>
            <a:pPr eaLnBrk="1" hangingPunct="1"/>
            <a:r>
              <a:rPr lang="en-GB" altLang="en-US" sz="2400"/>
              <a:t>Instrument Fixings</a:t>
            </a:r>
          </a:p>
          <a:p>
            <a:pPr eaLnBrk="1" hangingPunct="1"/>
            <a:endParaRPr lang="en-GB" altLang="en-US" sz="2400"/>
          </a:p>
          <a:p>
            <a:pPr eaLnBrk="1" hangingPunct="1"/>
            <a:r>
              <a:rPr lang="en-GB" altLang="en-US" sz="2400"/>
              <a:t>Options Exercise</a:t>
            </a:r>
          </a:p>
          <a:p>
            <a:pPr eaLnBrk="1" hangingPunct="1"/>
            <a:endParaRPr lang="en-GB" altLang="en-US" sz="2400"/>
          </a:p>
          <a:p>
            <a:pPr eaLnBrk="1" hangingPunct="1"/>
            <a:r>
              <a:rPr lang="en-GB" altLang="en-US" sz="2400"/>
              <a:t>Automation</a:t>
            </a:r>
          </a:p>
        </p:txBody>
      </p:sp>
      <p:pic>
        <p:nvPicPr>
          <p:cNvPr id="33797" name="Picture 5" descr="image007">
            <a:extLst>
              <a:ext uri="{FF2B5EF4-FFF2-40B4-BE49-F238E27FC236}">
                <a16:creationId xmlns:a16="http://schemas.microsoft.com/office/drawing/2014/main" id="{8C0B1B23-C649-B0D3-81DB-EA2836238B62}"/>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05000"/>
            <a:ext cx="1981200" cy="1371600"/>
          </a:xfrm>
          <a:prstGeom prst="rect">
            <a:avLst/>
          </a:prstGeom>
          <a:solidFill>
            <a:srgbClr val="FFFFFF"/>
          </a:solidFill>
          <a:ln w="9525">
            <a:solidFill>
              <a:srgbClr val="000000"/>
            </a:solidFill>
            <a:round/>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33794"/>
                                        </p:tgtEl>
                                        <p:attrNameLst>
                                          <p:attrName>style.visibility</p:attrName>
                                        </p:attrNameLst>
                                      </p:cBhvr>
                                      <p:to>
                                        <p:strVal val="visible"/>
                                      </p:to>
                                    </p:set>
                                    <p:anim calcmode="lin" valueType="num">
                                      <p:cBhvr additive="base">
                                        <p:cTn id="7" dur="500" fill="hold"/>
                                        <p:tgtEl>
                                          <p:spTgt spid="33794"/>
                                        </p:tgtEl>
                                        <p:attrNameLst>
                                          <p:attrName>ppt_x</p:attrName>
                                        </p:attrNameLst>
                                      </p:cBhvr>
                                      <p:tavLst>
                                        <p:tav tm="0">
                                          <p:val>
                                            <p:strVal val="1+#ppt_w/2"/>
                                          </p:val>
                                        </p:tav>
                                        <p:tav tm="100000">
                                          <p:val>
                                            <p:strVal val="#ppt_x"/>
                                          </p:val>
                                        </p:tav>
                                      </p:tavLst>
                                    </p:anim>
                                    <p:anim calcmode="lin" valueType="num">
                                      <p:cBhvr additive="base">
                                        <p:cTn id="8" dur="500" fill="hold"/>
                                        <p:tgtEl>
                                          <p:spTgt spid="33794"/>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3797"/>
                                        </p:tgtEl>
                                        <p:attrNameLst>
                                          <p:attrName>style.visibility</p:attrName>
                                        </p:attrNameLst>
                                      </p:cBhvr>
                                      <p:to>
                                        <p:strVal val="visible"/>
                                      </p:to>
                                    </p:set>
                                    <p:animEffect transition="in" filter="fade">
                                      <p:cBhvr>
                                        <p:cTn id="11" dur="1000"/>
                                        <p:tgtEl>
                                          <p:spTgt spid="33797"/>
                                        </p:tgtEl>
                                      </p:cBhvr>
                                    </p:animEffect>
                                  </p:childTnLst>
                                </p:cTn>
                              </p:par>
                            </p:childTnLst>
                          </p:cTn>
                        </p:par>
                        <p:par>
                          <p:cTn id="12" fill="hold" nodeType="afterGroup">
                            <p:stCondLst>
                              <p:cond delay="1000"/>
                            </p:stCondLst>
                            <p:childTnLst>
                              <p:par>
                                <p:cTn id="13" presetID="53" presetClass="entr" presetSubtype="0" fill="hold" nodeType="afterEffect">
                                  <p:stCondLst>
                                    <p:cond delay="0"/>
                                  </p:stCondLst>
                                  <p:childTnLst>
                                    <p:set>
                                      <p:cBhvr>
                                        <p:cTn id="14" dur="1" fill="hold">
                                          <p:stCondLst>
                                            <p:cond delay="0"/>
                                          </p:stCondLst>
                                        </p:cTn>
                                        <p:tgtEl>
                                          <p:spTgt spid="33795">
                                            <p:txEl>
                                              <p:pRg st="0" end="0"/>
                                            </p:txEl>
                                          </p:spTgt>
                                        </p:tgtEl>
                                        <p:attrNameLst>
                                          <p:attrName>style.visibility</p:attrName>
                                        </p:attrNameLst>
                                      </p:cBhvr>
                                      <p:to>
                                        <p:strVal val="visible"/>
                                      </p:to>
                                    </p:set>
                                    <p:anim calcmode="lin" valueType="num">
                                      <p:cBhvr>
                                        <p:cTn id="15" dur="500" fill="hold"/>
                                        <p:tgtEl>
                                          <p:spTgt spid="33795">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33795">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3379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0" fill="hold" nodeType="clickEffect">
                                  <p:stCondLst>
                                    <p:cond delay="0"/>
                                  </p:stCondLst>
                                  <p:childTnLst>
                                    <p:set>
                                      <p:cBhvr>
                                        <p:cTn id="21" dur="1" fill="hold">
                                          <p:stCondLst>
                                            <p:cond delay="0"/>
                                          </p:stCondLst>
                                        </p:cTn>
                                        <p:tgtEl>
                                          <p:spTgt spid="33795">
                                            <p:txEl>
                                              <p:pRg st="2" end="2"/>
                                            </p:txEl>
                                          </p:spTgt>
                                        </p:tgtEl>
                                        <p:attrNameLst>
                                          <p:attrName>style.visibility</p:attrName>
                                        </p:attrNameLst>
                                      </p:cBhvr>
                                      <p:to>
                                        <p:strVal val="visible"/>
                                      </p:to>
                                    </p:set>
                                    <p:anim calcmode="lin" valueType="num">
                                      <p:cBhvr>
                                        <p:cTn id="22" dur="500" fill="hold"/>
                                        <p:tgtEl>
                                          <p:spTgt spid="33795">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33795">
                                            <p:txEl>
                                              <p:pRg st="2" end="2"/>
                                            </p:txEl>
                                          </p:spTgt>
                                        </p:tgtEl>
                                        <p:attrNameLst>
                                          <p:attrName>ppt_h</p:attrName>
                                        </p:attrNameLst>
                                      </p:cBhvr>
                                      <p:tavLst>
                                        <p:tav tm="0">
                                          <p:val>
                                            <p:fltVal val="0"/>
                                          </p:val>
                                        </p:tav>
                                        <p:tav tm="100000">
                                          <p:val>
                                            <p:strVal val="#ppt_h"/>
                                          </p:val>
                                        </p:tav>
                                      </p:tavLst>
                                    </p:anim>
                                    <p:animEffect transition="in" filter="fade">
                                      <p:cBhvr>
                                        <p:cTn id="24" dur="500"/>
                                        <p:tgtEl>
                                          <p:spTgt spid="33795">
                                            <p:txEl>
                                              <p:pRg st="2" end="2"/>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0" fill="hold" nodeType="clickEffect">
                                  <p:stCondLst>
                                    <p:cond delay="0"/>
                                  </p:stCondLst>
                                  <p:childTnLst>
                                    <p:set>
                                      <p:cBhvr>
                                        <p:cTn id="28" dur="1" fill="hold">
                                          <p:stCondLst>
                                            <p:cond delay="0"/>
                                          </p:stCondLst>
                                        </p:cTn>
                                        <p:tgtEl>
                                          <p:spTgt spid="33795">
                                            <p:txEl>
                                              <p:pRg st="4" end="4"/>
                                            </p:txEl>
                                          </p:spTgt>
                                        </p:tgtEl>
                                        <p:attrNameLst>
                                          <p:attrName>style.visibility</p:attrName>
                                        </p:attrNameLst>
                                      </p:cBhvr>
                                      <p:to>
                                        <p:strVal val="visible"/>
                                      </p:to>
                                    </p:set>
                                    <p:anim calcmode="lin" valueType="num">
                                      <p:cBhvr>
                                        <p:cTn id="29" dur="500" fill="hold"/>
                                        <p:tgtEl>
                                          <p:spTgt spid="33795">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33795">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33795">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0" fill="hold" nodeType="clickEffect">
                                  <p:stCondLst>
                                    <p:cond delay="0"/>
                                  </p:stCondLst>
                                  <p:childTnLst>
                                    <p:set>
                                      <p:cBhvr>
                                        <p:cTn id="35" dur="1" fill="hold">
                                          <p:stCondLst>
                                            <p:cond delay="0"/>
                                          </p:stCondLst>
                                        </p:cTn>
                                        <p:tgtEl>
                                          <p:spTgt spid="33795">
                                            <p:txEl>
                                              <p:pRg st="6" end="6"/>
                                            </p:txEl>
                                          </p:spTgt>
                                        </p:tgtEl>
                                        <p:attrNameLst>
                                          <p:attrName>style.visibility</p:attrName>
                                        </p:attrNameLst>
                                      </p:cBhvr>
                                      <p:to>
                                        <p:strVal val="visible"/>
                                      </p:to>
                                    </p:set>
                                    <p:anim calcmode="lin" valueType="num">
                                      <p:cBhvr>
                                        <p:cTn id="36" dur="500" fill="hold"/>
                                        <p:tgtEl>
                                          <p:spTgt spid="33795">
                                            <p:txEl>
                                              <p:pRg st="6" end="6"/>
                                            </p:txEl>
                                          </p:spTgt>
                                        </p:tgtEl>
                                        <p:attrNameLst>
                                          <p:attrName>ppt_w</p:attrName>
                                        </p:attrNameLst>
                                      </p:cBhvr>
                                      <p:tavLst>
                                        <p:tav tm="0">
                                          <p:val>
                                            <p:fltVal val="0"/>
                                          </p:val>
                                        </p:tav>
                                        <p:tav tm="100000">
                                          <p:val>
                                            <p:strVal val="#ppt_w"/>
                                          </p:val>
                                        </p:tav>
                                      </p:tavLst>
                                    </p:anim>
                                    <p:anim calcmode="lin" valueType="num">
                                      <p:cBhvr>
                                        <p:cTn id="37" dur="500" fill="hold"/>
                                        <p:tgtEl>
                                          <p:spTgt spid="33795">
                                            <p:txEl>
                                              <p:pRg st="6" end="6"/>
                                            </p:txEl>
                                          </p:spTgt>
                                        </p:tgtEl>
                                        <p:attrNameLst>
                                          <p:attrName>ppt_h</p:attrName>
                                        </p:attrNameLst>
                                      </p:cBhvr>
                                      <p:tavLst>
                                        <p:tav tm="0">
                                          <p:val>
                                            <p:fltVal val="0"/>
                                          </p:val>
                                        </p:tav>
                                        <p:tav tm="100000">
                                          <p:val>
                                            <p:strVal val="#ppt_h"/>
                                          </p:val>
                                        </p:tav>
                                      </p:tavLst>
                                    </p:anim>
                                    <p:animEffect transition="in" filter="fade">
                                      <p:cBhvr>
                                        <p:cTn id="38" dur="500"/>
                                        <p:tgtEl>
                                          <p:spTgt spid="33795">
                                            <p:txEl>
                                              <p:pRg st="6" end="6"/>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0" fill="hold" nodeType="clickEffect">
                                  <p:stCondLst>
                                    <p:cond delay="0"/>
                                  </p:stCondLst>
                                  <p:childTnLst>
                                    <p:set>
                                      <p:cBhvr>
                                        <p:cTn id="42" dur="1" fill="hold">
                                          <p:stCondLst>
                                            <p:cond delay="0"/>
                                          </p:stCondLst>
                                        </p:cTn>
                                        <p:tgtEl>
                                          <p:spTgt spid="33795">
                                            <p:txEl>
                                              <p:pRg st="8" end="8"/>
                                            </p:txEl>
                                          </p:spTgt>
                                        </p:tgtEl>
                                        <p:attrNameLst>
                                          <p:attrName>style.visibility</p:attrName>
                                        </p:attrNameLst>
                                      </p:cBhvr>
                                      <p:to>
                                        <p:strVal val="visible"/>
                                      </p:to>
                                    </p:set>
                                    <p:anim calcmode="lin" valueType="num">
                                      <p:cBhvr>
                                        <p:cTn id="43" dur="500" fill="hold"/>
                                        <p:tgtEl>
                                          <p:spTgt spid="33795">
                                            <p:txEl>
                                              <p:pRg st="8" end="8"/>
                                            </p:txEl>
                                          </p:spTgt>
                                        </p:tgtEl>
                                        <p:attrNameLst>
                                          <p:attrName>ppt_w</p:attrName>
                                        </p:attrNameLst>
                                      </p:cBhvr>
                                      <p:tavLst>
                                        <p:tav tm="0">
                                          <p:val>
                                            <p:fltVal val="0"/>
                                          </p:val>
                                        </p:tav>
                                        <p:tav tm="100000">
                                          <p:val>
                                            <p:strVal val="#ppt_w"/>
                                          </p:val>
                                        </p:tav>
                                      </p:tavLst>
                                    </p:anim>
                                    <p:anim calcmode="lin" valueType="num">
                                      <p:cBhvr>
                                        <p:cTn id="44" dur="500" fill="hold"/>
                                        <p:tgtEl>
                                          <p:spTgt spid="33795">
                                            <p:txEl>
                                              <p:pRg st="8" end="8"/>
                                            </p:txEl>
                                          </p:spTgt>
                                        </p:tgtEl>
                                        <p:attrNameLst>
                                          <p:attrName>ppt_h</p:attrName>
                                        </p:attrNameLst>
                                      </p:cBhvr>
                                      <p:tavLst>
                                        <p:tav tm="0">
                                          <p:val>
                                            <p:fltVal val="0"/>
                                          </p:val>
                                        </p:tav>
                                        <p:tav tm="100000">
                                          <p:val>
                                            <p:strVal val="#ppt_h"/>
                                          </p:val>
                                        </p:tav>
                                      </p:tavLst>
                                    </p:anim>
                                    <p:animEffect transition="in" filter="fade">
                                      <p:cBhvr>
                                        <p:cTn id="45" dur="500"/>
                                        <p:tgtEl>
                                          <p:spTgt spid="33795">
                                            <p:txEl>
                                              <p:pRg st="8" end="8"/>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0" fill="hold" nodeType="clickEffect">
                                  <p:stCondLst>
                                    <p:cond delay="0"/>
                                  </p:stCondLst>
                                  <p:childTnLst>
                                    <p:set>
                                      <p:cBhvr>
                                        <p:cTn id="49" dur="1" fill="hold">
                                          <p:stCondLst>
                                            <p:cond delay="0"/>
                                          </p:stCondLst>
                                        </p:cTn>
                                        <p:tgtEl>
                                          <p:spTgt spid="33795">
                                            <p:txEl>
                                              <p:pRg st="10" end="10"/>
                                            </p:txEl>
                                          </p:spTgt>
                                        </p:tgtEl>
                                        <p:attrNameLst>
                                          <p:attrName>style.visibility</p:attrName>
                                        </p:attrNameLst>
                                      </p:cBhvr>
                                      <p:to>
                                        <p:strVal val="visible"/>
                                      </p:to>
                                    </p:set>
                                    <p:anim calcmode="lin" valueType="num">
                                      <p:cBhvr>
                                        <p:cTn id="50" dur="500" fill="hold"/>
                                        <p:tgtEl>
                                          <p:spTgt spid="33795">
                                            <p:txEl>
                                              <p:pRg st="10" end="10"/>
                                            </p:txEl>
                                          </p:spTgt>
                                        </p:tgtEl>
                                        <p:attrNameLst>
                                          <p:attrName>ppt_w</p:attrName>
                                        </p:attrNameLst>
                                      </p:cBhvr>
                                      <p:tavLst>
                                        <p:tav tm="0">
                                          <p:val>
                                            <p:fltVal val="0"/>
                                          </p:val>
                                        </p:tav>
                                        <p:tav tm="100000">
                                          <p:val>
                                            <p:strVal val="#ppt_w"/>
                                          </p:val>
                                        </p:tav>
                                      </p:tavLst>
                                    </p:anim>
                                    <p:anim calcmode="lin" valueType="num">
                                      <p:cBhvr>
                                        <p:cTn id="51" dur="500" fill="hold"/>
                                        <p:tgtEl>
                                          <p:spTgt spid="33795">
                                            <p:txEl>
                                              <p:pRg st="10" end="10"/>
                                            </p:txEl>
                                          </p:spTgt>
                                        </p:tgtEl>
                                        <p:attrNameLst>
                                          <p:attrName>ppt_h</p:attrName>
                                        </p:attrNameLst>
                                      </p:cBhvr>
                                      <p:tavLst>
                                        <p:tav tm="0">
                                          <p:val>
                                            <p:fltVal val="0"/>
                                          </p:val>
                                        </p:tav>
                                        <p:tav tm="100000">
                                          <p:val>
                                            <p:strVal val="#ppt_h"/>
                                          </p:val>
                                        </p:tav>
                                      </p:tavLst>
                                    </p:anim>
                                    <p:animEffect transition="in" filter="fade">
                                      <p:cBhvr>
                                        <p:cTn id="52" dur="500"/>
                                        <p:tgtEl>
                                          <p:spTgt spid="337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795"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78C2258-AE8F-C074-C99C-605697EA263A}"/>
              </a:ext>
            </a:extLst>
          </p:cNvPr>
          <p:cNvSpPr>
            <a:spLocks noGrp="1" noChangeArrowheads="1"/>
          </p:cNvSpPr>
          <p:nvPr>
            <p:ph type="title"/>
          </p:nvPr>
        </p:nvSpPr>
        <p:spPr bwMode="auto">
          <a:xfrm>
            <a:off x="3500438" y="228600"/>
            <a:ext cx="55673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Accounting Manager</a:t>
            </a:r>
          </a:p>
        </p:txBody>
      </p:sp>
      <p:sp>
        <p:nvSpPr>
          <p:cNvPr id="34819" name="Rectangle 3">
            <a:extLst>
              <a:ext uri="{FF2B5EF4-FFF2-40B4-BE49-F238E27FC236}">
                <a16:creationId xmlns:a16="http://schemas.microsoft.com/office/drawing/2014/main" id="{E19ADE35-CD77-1A67-A6C4-AE058CAE4D26}"/>
              </a:ext>
            </a:extLst>
          </p:cNvPr>
          <p:cNvSpPr>
            <a:spLocks noGrp="1" noChangeArrowheads="1"/>
          </p:cNvSpPr>
          <p:nvPr>
            <p:ph type="body" sz="half" idx="2"/>
          </p:nvPr>
        </p:nvSpPr>
        <p:spPr bwMode="auto">
          <a:xfrm>
            <a:off x="3200400" y="1285875"/>
            <a:ext cx="5257800" cy="4733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400"/>
              <a:t>Generates accounting data from transactions</a:t>
            </a:r>
          </a:p>
          <a:p>
            <a:pPr eaLnBrk="1" hangingPunct="1"/>
            <a:endParaRPr lang="en-GB" altLang="en-US" sz="2400"/>
          </a:p>
          <a:p>
            <a:pPr eaLnBrk="1" hangingPunct="1"/>
            <a:r>
              <a:rPr lang="en-GB" altLang="en-US" sz="2400"/>
              <a:t>Extract and insert information into appropriate accounts at the appropriate time, based on event criteria</a:t>
            </a:r>
          </a:p>
          <a:p>
            <a:pPr eaLnBrk="1" hangingPunct="1">
              <a:buFontTx/>
              <a:buNone/>
            </a:pPr>
            <a:endParaRPr lang="en-GB" altLang="en-US" sz="2400"/>
          </a:p>
          <a:p>
            <a:pPr eaLnBrk="1" hangingPunct="1"/>
            <a:r>
              <a:rPr lang="en-GB" altLang="en-US" sz="2400"/>
              <a:t>Accounting Manager provides the mechanism to answer questions about when/What/Where to make a posting</a:t>
            </a:r>
          </a:p>
          <a:p>
            <a:pPr eaLnBrk="1" hangingPunct="1"/>
            <a:endParaRPr lang="en-GB" altLang="en-US" sz="2400"/>
          </a:p>
          <a:p>
            <a:pPr eaLnBrk="1" hangingPunct="1"/>
            <a:endParaRPr lang="en-GB" altLang="en-US" sz="2200"/>
          </a:p>
        </p:txBody>
      </p:sp>
      <p:pic>
        <p:nvPicPr>
          <p:cNvPr id="34821" name="Picture 5" descr="image017">
            <a:extLst>
              <a:ext uri="{FF2B5EF4-FFF2-40B4-BE49-F238E27FC236}">
                <a16:creationId xmlns:a16="http://schemas.microsoft.com/office/drawing/2014/main" id="{DC96F788-A9B8-A5D0-8D32-AFDA58DA047A}"/>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81200"/>
            <a:ext cx="1905000" cy="1295400"/>
          </a:xfrm>
          <a:prstGeom prst="rect">
            <a:avLst/>
          </a:prstGeom>
          <a:solidFill>
            <a:srgbClr val="FFFFFF"/>
          </a:solidFill>
          <a:ln w="9525">
            <a:solidFill>
              <a:srgbClr val="000000"/>
            </a:solidFill>
            <a:round/>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34818"/>
                                        </p:tgtEl>
                                        <p:attrNameLst>
                                          <p:attrName>style.visibility</p:attrName>
                                        </p:attrNameLst>
                                      </p:cBhvr>
                                      <p:to>
                                        <p:strVal val="visible"/>
                                      </p:to>
                                    </p:set>
                                    <p:anim calcmode="lin" valueType="num">
                                      <p:cBhvr additive="base">
                                        <p:cTn id="7" dur="500" fill="hold"/>
                                        <p:tgtEl>
                                          <p:spTgt spid="34818"/>
                                        </p:tgtEl>
                                        <p:attrNameLst>
                                          <p:attrName>ppt_x</p:attrName>
                                        </p:attrNameLst>
                                      </p:cBhvr>
                                      <p:tavLst>
                                        <p:tav tm="0">
                                          <p:val>
                                            <p:strVal val="1+#ppt_w/2"/>
                                          </p:val>
                                        </p:tav>
                                        <p:tav tm="100000">
                                          <p:val>
                                            <p:strVal val="#ppt_x"/>
                                          </p:val>
                                        </p:tav>
                                      </p:tavLst>
                                    </p:anim>
                                    <p:anim calcmode="lin" valueType="num">
                                      <p:cBhvr additive="base">
                                        <p:cTn id="8" dur="500" fill="hold"/>
                                        <p:tgtEl>
                                          <p:spTgt spid="3481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0" presetClass="entr" presetSubtype="0" fill="hold" nodeType="after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fade">
                                      <p:cBhvr>
                                        <p:cTn id="12" dur="1000"/>
                                        <p:tgtEl>
                                          <p:spTgt spid="34821"/>
                                        </p:tgtEl>
                                      </p:cBhvr>
                                    </p:animEffect>
                                  </p:childTnLst>
                                </p:cTn>
                              </p:par>
                            </p:childTnLst>
                          </p:cTn>
                        </p:par>
                        <p:par>
                          <p:cTn id="13" fill="hold" nodeType="afterGroup">
                            <p:stCondLst>
                              <p:cond delay="1500"/>
                            </p:stCondLst>
                            <p:childTnLst>
                              <p:par>
                                <p:cTn id="14" presetID="53" presetClass="entr" presetSubtype="0" fill="hold" nodeType="afterEffect">
                                  <p:stCondLst>
                                    <p:cond delay="0"/>
                                  </p:stCondLst>
                                  <p:childTnLst>
                                    <p:set>
                                      <p:cBhvr>
                                        <p:cTn id="15" dur="1" fill="hold">
                                          <p:stCondLst>
                                            <p:cond delay="0"/>
                                          </p:stCondLst>
                                        </p:cTn>
                                        <p:tgtEl>
                                          <p:spTgt spid="34819">
                                            <p:txEl>
                                              <p:pRg st="0" end="0"/>
                                            </p:txEl>
                                          </p:spTgt>
                                        </p:tgtEl>
                                        <p:attrNameLst>
                                          <p:attrName>style.visibility</p:attrName>
                                        </p:attrNameLst>
                                      </p:cBhvr>
                                      <p:to>
                                        <p:strVal val="visible"/>
                                      </p:to>
                                    </p:set>
                                    <p:anim calcmode="lin" valueType="num">
                                      <p:cBhvr>
                                        <p:cTn id="16" dur="500" fill="hold"/>
                                        <p:tgtEl>
                                          <p:spTgt spid="34819">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34819">
                                            <p:txEl>
                                              <p:pRg st="0" end="0"/>
                                            </p:txEl>
                                          </p:spTgt>
                                        </p:tgtEl>
                                        <p:attrNameLst>
                                          <p:attrName>ppt_h</p:attrName>
                                        </p:attrNameLst>
                                      </p:cBhvr>
                                      <p:tavLst>
                                        <p:tav tm="0">
                                          <p:val>
                                            <p:fltVal val="0"/>
                                          </p:val>
                                        </p:tav>
                                        <p:tav tm="100000">
                                          <p:val>
                                            <p:strVal val="#ppt_h"/>
                                          </p:val>
                                        </p:tav>
                                      </p:tavLst>
                                    </p:anim>
                                    <p:animEffect transition="in" filter="fade">
                                      <p:cBhvr>
                                        <p:cTn id="18" dur="500"/>
                                        <p:tgtEl>
                                          <p:spTgt spid="34819">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ntr" presetSubtype="0" fill="hold" nodeType="clickEffect">
                                  <p:stCondLst>
                                    <p:cond delay="0"/>
                                  </p:stCondLst>
                                  <p:childTnLst>
                                    <p:set>
                                      <p:cBhvr>
                                        <p:cTn id="22" dur="1" fill="hold">
                                          <p:stCondLst>
                                            <p:cond delay="0"/>
                                          </p:stCondLst>
                                        </p:cTn>
                                        <p:tgtEl>
                                          <p:spTgt spid="34819">
                                            <p:txEl>
                                              <p:pRg st="2" end="2"/>
                                            </p:txEl>
                                          </p:spTgt>
                                        </p:tgtEl>
                                        <p:attrNameLst>
                                          <p:attrName>style.visibility</p:attrName>
                                        </p:attrNameLst>
                                      </p:cBhvr>
                                      <p:to>
                                        <p:strVal val="visible"/>
                                      </p:to>
                                    </p:set>
                                    <p:anim calcmode="lin" valueType="num">
                                      <p:cBhvr>
                                        <p:cTn id="23" dur="500" fill="hold"/>
                                        <p:tgtEl>
                                          <p:spTgt spid="34819">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4819">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4819">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3" presetClass="entr" presetSubtype="0" fill="hold" nodeType="clickEffect">
                                  <p:stCondLst>
                                    <p:cond delay="0"/>
                                  </p:stCondLst>
                                  <p:childTnLst>
                                    <p:set>
                                      <p:cBhvr>
                                        <p:cTn id="29" dur="1" fill="hold">
                                          <p:stCondLst>
                                            <p:cond delay="0"/>
                                          </p:stCondLst>
                                        </p:cTn>
                                        <p:tgtEl>
                                          <p:spTgt spid="34819">
                                            <p:txEl>
                                              <p:pRg st="4" end="4"/>
                                            </p:txEl>
                                          </p:spTgt>
                                        </p:tgtEl>
                                        <p:attrNameLst>
                                          <p:attrName>style.visibility</p:attrName>
                                        </p:attrNameLst>
                                      </p:cBhvr>
                                      <p:to>
                                        <p:strVal val="visible"/>
                                      </p:to>
                                    </p:set>
                                    <p:anim calcmode="lin" valueType="num">
                                      <p:cBhvr>
                                        <p:cTn id="30" dur="500" fill="hold"/>
                                        <p:tgtEl>
                                          <p:spTgt spid="34819">
                                            <p:txEl>
                                              <p:pRg st="4" end="4"/>
                                            </p:txEl>
                                          </p:spTgt>
                                        </p:tgtEl>
                                        <p:attrNameLst>
                                          <p:attrName>ppt_w</p:attrName>
                                        </p:attrNameLst>
                                      </p:cBhvr>
                                      <p:tavLst>
                                        <p:tav tm="0">
                                          <p:val>
                                            <p:fltVal val="0"/>
                                          </p:val>
                                        </p:tav>
                                        <p:tav tm="100000">
                                          <p:val>
                                            <p:strVal val="#ppt_w"/>
                                          </p:val>
                                        </p:tav>
                                      </p:tavLst>
                                    </p:anim>
                                    <p:anim calcmode="lin" valueType="num">
                                      <p:cBhvr>
                                        <p:cTn id="31" dur="500" fill="hold"/>
                                        <p:tgtEl>
                                          <p:spTgt spid="34819">
                                            <p:txEl>
                                              <p:pRg st="4" end="4"/>
                                            </p:txEl>
                                          </p:spTgt>
                                        </p:tgtEl>
                                        <p:attrNameLst>
                                          <p:attrName>ppt_h</p:attrName>
                                        </p:attrNameLst>
                                      </p:cBhvr>
                                      <p:tavLst>
                                        <p:tav tm="0">
                                          <p:val>
                                            <p:fltVal val="0"/>
                                          </p:val>
                                        </p:tav>
                                        <p:tav tm="100000">
                                          <p:val>
                                            <p:strVal val="#ppt_h"/>
                                          </p:val>
                                        </p:tav>
                                      </p:tavLst>
                                    </p:anim>
                                    <p:animEffect transition="in" filter="fade">
                                      <p:cBhvr>
                                        <p:cTn id="32" dur="500"/>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0EAE7C3-A9B8-1DAD-63F5-1272CD1FE213}"/>
              </a:ext>
            </a:extLst>
          </p:cNvPr>
          <p:cNvSpPr>
            <a:spLocks noGrp="1" noChangeArrowheads="1"/>
          </p:cNvSpPr>
          <p:nvPr>
            <p:ph type="title"/>
          </p:nvPr>
        </p:nvSpPr>
        <p:spPr bwMode="auto">
          <a:xfrm>
            <a:off x="3429000" y="115888"/>
            <a:ext cx="5607050" cy="8969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Endur Managers</a:t>
            </a:r>
          </a:p>
        </p:txBody>
      </p:sp>
      <p:sp>
        <p:nvSpPr>
          <p:cNvPr id="26628" name="Text Box 4">
            <a:extLst>
              <a:ext uri="{FF2B5EF4-FFF2-40B4-BE49-F238E27FC236}">
                <a16:creationId xmlns:a16="http://schemas.microsoft.com/office/drawing/2014/main" id="{9C7288F2-3BCF-A7B6-A10C-08E56D437FAE}"/>
              </a:ext>
            </a:extLst>
          </p:cNvPr>
          <p:cNvSpPr txBox="1">
            <a:spLocks noChangeArrowheads="1"/>
          </p:cNvSpPr>
          <p:nvPr/>
        </p:nvSpPr>
        <p:spPr bwMode="auto">
          <a:xfrm>
            <a:off x="3821113" y="3887788"/>
            <a:ext cx="15033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20000"/>
              </a:spcBef>
              <a:buClr>
                <a:srgbClr val="00279F"/>
              </a:buClr>
              <a:buSzPct val="87000"/>
              <a:buFont typeface="Wingdings" panose="05000000000000000000" pitchFamily="2" charset="2"/>
              <a:buNone/>
            </a:pPr>
            <a:r>
              <a:rPr lang="en-US" altLang="en-US" sz="1000">
                <a:latin typeface="Arial" panose="020B0604020202020204" pitchFamily="34" charset="0"/>
              </a:rPr>
              <a:t>Back office validation</a:t>
            </a:r>
          </a:p>
        </p:txBody>
      </p:sp>
      <p:grpSp>
        <p:nvGrpSpPr>
          <p:cNvPr id="2" name="Group 5">
            <a:extLst>
              <a:ext uri="{FF2B5EF4-FFF2-40B4-BE49-F238E27FC236}">
                <a16:creationId xmlns:a16="http://schemas.microsoft.com/office/drawing/2014/main" id="{69B7EC92-E33D-41F7-47EE-86E558B6BC70}"/>
              </a:ext>
            </a:extLst>
          </p:cNvPr>
          <p:cNvGrpSpPr>
            <a:grpSpLocks/>
          </p:cNvGrpSpPr>
          <p:nvPr/>
        </p:nvGrpSpPr>
        <p:grpSpPr bwMode="auto">
          <a:xfrm>
            <a:off x="3741738" y="2713038"/>
            <a:ext cx="1741487" cy="536575"/>
            <a:chOff x="2352" y="1392"/>
            <a:chExt cx="816" cy="372"/>
          </a:xfrm>
        </p:grpSpPr>
        <p:sp>
          <p:nvSpPr>
            <p:cNvPr id="18487" name="Text Box 6">
              <a:extLst>
                <a:ext uri="{FF2B5EF4-FFF2-40B4-BE49-F238E27FC236}">
                  <a16:creationId xmlns:a16="http://schemas.microsoft.com/office/drawing/2014/main" id="{1E48A519-3DBE-5F29-61F9-9233BB7794AD}"/>
                </a:ext>
              </a:extLst>
            </p:cNvPr>
            <p:cNvSpPr txBox="1">
              <a:spLocks noChangeArrowheads="1"/>
            </p:cNvSpPr>
            <p:nvPr/>
          </p:nvSpPr>
          <p:spPr bwMode="auto">
            <a:xfrm>
              <a:off x="2352" y="1488"/>
              <a:ext cx="81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Commit to a preliminary status </a:t>
              </a:r>
            </a:p>
          </p:txBody>
        </p:sp>
        <p:sp>
          <p:nvSpPr>
            <p:cNvPr id="18488" name="Line 7">
              <a:extLst>
                <a:ext uri="{FF2B5EF4-FFF2-40B4-BE49-F238E27FC236}">
                  <a16:creationId xmlns:a16="http://schemas.microsoft.com/office/drawing/2014/main" id="{335B2282-B67E-BEBB-33CF-418AD3A09966}"/>
                </a:ext>
              </a:extLst>
            </p:cNvPr>
            <p:cNvSpPr>
              <a:spLocks noChangeShapeType="1"/>
            </p:cNvSpPr>
            <p:nvPr/>
          </p:nvSpPr>
          <p:spPr bwMode="auto">
            <a:xfrm>
              <a:off x="2736" y="139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6633" name="Freeform 9">
            <a:extLst>
              <a:ext uri="{FF2B5EF4-FFF2-40B4-BE49-F238E27FC236}">
                <a16:creationId xmlns:a16="http://schemas.microsoft.com/office/drawing/2014/main" id="{CDD7C988-3FB7-CE17-B445-4A7FC6691B25}"/>
              </a:ext>
            </a:extLst>
          </p:cNvPr>
          <p:cNvSpPr>
            <a:spLocks/>
          </p:cNvSpPr>
          <p:nvPr/>
        </p:nvSpPr>
        <p:spPr bwMode="auto">
          <a:xfrm>
            <a:off x="3741738" y="1674813"/>
            <a:ext cx="1662112" cy="1001712"/>
          </a:xfrm>
          <a:custGeom>
            <a:avLst/>
            <a:gdLst>
              <a:gd name="T0" fmla="*/ 2147483647 w 1953"/>
              <a:gd name="T1" fmla="*/ 2147483647 h 1321"/>
              <a:gd name="T2" fmla="*/ 2147483647 w 1953"/>
              <a:gd name="T3" fmla="*/ 2147483647 h 1321"/>
              <a:gd name="T4" fmla="*/ 2147483647 w 1953"/>
              <a:gd name="T5" fmla="*/ 2147483647 h 1321"/>
              <a:gd name="T6" fmla="*/ 2147483647 w 1953"/>
              <a:gd name="T7" fmla="*/ 2147483647 h 1321"/>
              <a:gd name="T8" fmla="*/ 2147483647 w 1953"/>
              <a:gd name="T9" fmla="*/ 2147483647 h 1321"/>
              <a:gd name="T10" fmla="*/ 2147483647 w 1953"/>
              <a:gd name="T11" fmla="*/ 2147483647 h 1321"/>
              <a:gd name="T12" fmla="*/ 2147483647 w 1953"/>
              <a:gd name="T13" fmla="*/ 2147483647 h 1321"/>
              <a:gd name="T14" fmla="*/ 2147483647 w 1953"/>
              <a:gd name="T15" fmla="*/ 2147483647 h 1321"/>
              <a:gd name="T16" fmla="*/ 2147483647 w 1953"/>
              <a:gd name="T17" fmla="*/ 2147483647 h 1321"/>
              <a:gd name="T18" fmla="*/ 2147483647 w 1953"/>
              <a:gd name="T19" fmla="*/ 2147483647 h 1321"/>
              <a:gd name="T20" fmla="*/ 2147483647 w 1953"/>
              <a:gd name="T21" fmla="*/ 2147483647 h 1321"/>
              <a:gd name="T22" fmla="*/ 2147483647 w 1953"/>
              <a:gd name="T23" fmla="*/ 2147483647 h 1321"/>
              <a:gd name="T24" fmla="*/ 2147483647 w 1953"/>
              <a:gd name="T25" fmla="*/ 2147483647 h 1321"/>
              <a:gd name="T26" fmla="*/ 2147483647 w 1953"/>
              <a:gd name="T27" fmla="*/ 2147483647 h 1321"/>
              <a:gd name="T28" fmla="*/ 2147483647 w 1953"/>
              <a:gd name="T29" fmla="*/ 2147483647 h 1321"/>
              <a:gd name="T30" fmla="*/ 2147483647 w 1953"/>
              <a:gd name="T31" fmla="*/ 2147483647 h 1321"/>
              <a:gd name="T32" fmla="*/ 2147483647 w 1953"/>
              <a:gd name="T33" fmla="*/ 2147483647 h 1321"/>
              <a:gd name="T34" fmla="*/ 2147483647 w 1953"/>
              <a:gd name="T35" fmla="*/ 2147483647 h 1321"/>
              <a:gd name="T36" fmla="*/ 2147483647 w 1953"/>
              <a:gd name="T37" fmla="*/ 2147483647 h 1321"/>
              <a:gd name="T38" fmla="*/ 2147483647 w 1953"/>
              <a:gd name="T39" fmla="*/ 2147483647 h 1321"/>
              <a:gd name="T40" fmla="*/ 2147483647 w 1953"/>
              <a:gd name="T41" fmla="*/ 2147483647 h 1321"/>
              <a:gd name="T42" fmla="*/ 2147483647 w 1953"/>
              <a:gd name="T43" fmla="*/ 2147483647 h 1321"/>
              <a:gd name="T44" fmla="*/ 2147483647 w 1953"/>
              <a:gd name="T45" fmla="*/ 2147483647 h 1321"/>
              <a:gd name="T46" fmla="*/ 2147483647 w 1953"/>
              <a:gd name="T47" fmla="*/ 2147483647 h 1321"/>
              <a:gd name="T48" fmla="*/ 2147483647 w 1953"/>
              <a:gd name="T49" fmla="*/ 2147483647 h 1321"/>
              <a:gd name="T50" fmla="*/ 2147483647 w 1953"/>
              <a:gd name="T51" fmla="*/ 2147483647 h 1321"/>
              <a:gd name="T52" fmla="*/ 2147483647 w 1953"/>
              <a:gd name="T53" fmla="*/ 2147483647 h 1321"/>
              <a:gd name="T54" fmla="*/ 2147483647 w 1953"/>
              <a:gd name="T55" fmla="*/ 2147483647 h 1321"/>
              <a:gd name="T56" fmla="*/ 2147483647 w 1953"/>
              <a:gd name="T57" fmla="*/ 2147483647 h 1321"/>
              <a:gd name="T58" fmla="*/ 2147483647 w 1953"/>
              <a:gd name="T59" fmla="*/ 2147483647 h 1321"/>
              <a:gd name="T60" fmla="*/ 2147483647 w 1953"/>
              <a:gd name="T61" fmla="*/ 2147483647 h 1321"/>
              <a:gd name="T62" fmla="*/ 2147483647 w 1953"/>
              <a:gd name="T63" fmla="*/ 2147483647 h 1321"/>
              <a:gd name="T64" fmla="*/ 2147483647 w 1953"/>
              <a:gd name="T65" fmla="*/ 2147483647 h 1321"/>
              <a:gd name="T66" fmla="*/ 2147483647 w 1953"/>
              <a:gd name="T67" fmla="*/ 2147483647 h 1321"/>
              <a:gd name="T68" fmla="*/ 2147483647 w 1953"/>
              <a:gd name="T69" fmla="*/ 2147483647 h 1321"/>
              <a:gd name="T70" fmla="*/ 2147483647 w 1953"/>
              <a:gd name="T71" fmla="*/ 2147483647 h 13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953"/>
              <a:gd name="T109" fmla="*/ 0 h 1321"/>
              <a:gd name="T110" fmla="*/ 1953 w 1953"/>
              <a:gd name="T111" fmla="*/ 1321 h 13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953" h="1321">
                <a:moveTo>
                  <a:pt x="1953" y="660"/>
                </a:moveTo>
                <a:lnTo>
                  <a:pt x="1949" y="603"/>
                </a:lnTo>
                <a:lnTo>
                  <a:pt x="1939" y="545"/>
                </a:lnTo>
                <a:lnTo>
                  <a:pt x="1920" y="489"/>
                </a:lnTo>
                <a:lnTo>
                  <a:pt x="1895" y="434"/>
                </a:lnTo>
                <a:lnTo>
                  <a:pt x="1863" y="382"/>
                </a:lnTo>
                <a:lnTo>
                  <a:pt x="1822" y="330"/>
                </a:lnTo>
                <a:lnTo>
                  <a:pt x="1776" y="282"/>
                </a:lnTo>
                <a:lnTo>
                  <a:pt x="1724" y="236"/>
                </a:lnTo>
                <a:lnTo>
                  <a:pt x="1667" y="194"/>
                </a:lnTo>
                <a:lnTo>
                  <a:pt x="1605" y="153"/>
                </a:lnTo>
                <a:lnTo>
                  <a:pt x="1536" y="119"/>
                </a:lnTo>
                <a:lnTo>
                  <a:pt x="1465" y="88"/>
                </a:lnTo>
                <a:lnTo>
                  <a:pt x="1388" y="61"/>
                </a:lnTo>
                <a:lnTo>
                  <a:pt x="1309" y="38"/>
                </a:lnTo>
                <a:lnTo>
                  <a:pt x="1229" y="21"/>
                </a:lnTo>
                <a:lnTo>
                  <a:pt x="1146" y="9"/>
                </a:lnTo>
                <a:lnTo>
                  <a:pt x="1062" y="2"/>
                </a:lnTo>
                <a:lnTo>
                  <a:pt x="975" y="0"/>
                </a:lnTo>
                <a:lnTo>
                  <a:pt x="891" y="2"/>
                </a:lnTo>
                <a:lnTo>
                  <a:pt x="806" y="9"/>
                </a:lnTo>
                <a:lnTo>
                  <a:pt x="724" y="21"/>
                </a:lnTo>
                <a:lnTo>
                  <a:pt x="641" y="38"/>
                </a:lnTo>
                <a:lnTo>
                  <a:pt x="562" y="61"/>
                </a:lnTo>
                <a:lnTo>
                  <a:pt x="487" y="88"/>
                </a:lnTo>
                <a:lnTo>
                  <a:pt x="416" y="119"/>
                </a:lnTo>
                <a:lnTo>
                  <a:pt x="347" y="153"/>
                </a:lnTo>
                <a:lnTo>
                  <a:pt x="286" y="194"/>
                </a:lnTo>
                <a:lnTo>
                  <a:pt x="228" y="236"/>
                </a:lnTo>
                <a:lnTo>
                  <a:pt x="176" y="282"/>
                </a:lnTo>
                <a:lnTo>
                  <a:pt x="130" y="330"/>
                </a:lnTo>
                <a:lnTo>
                  <a:pt x="90" y="382"/>
                </a:lnTo>
                <a:lnTo>
                  <a:pt x="57" y="434"/>
                </a:lnTo>
                <a:lnTo>
                  <a:pt x="32" y="489"/>
                </a:lnTo>
                <a:lnTo>
                  <a:pt x="13" y="545"/>
                </a:lnTo>
                <a:lnTo>
                  <a:pt x="4" y="603"/>
                </a:lnTo>
                <a:lnTo>
                  <a:pt x="0" y="660"/>
                </a:lnTo>
                <a:lnTo>
                  <a:pt x="4" y="718"/>
                </a:lnTo>
                <a:lnTo>
                  <a:pt x="13" y="775"/>
                </a:lnTo>
                <a:lnTo>
                  <a:pt x="32" y="831"/>
                </a:lnTo>
                <a:lnTo>
                  <a:pt x="57" y="887"/>
                </a:lnTo>
                <a:lnTo>
                  <a:pt x="90" y="939"/>
                </a:lnTo>
                <a:lnTo>
                  <a:pt x="130" y="991"/>
                </a:lnTo>
                <a:lnTo>
                  <a:pt x="176" y="1039"/>
                </a:lnTo>
                <a:lnTo>
                  <a:pt x="228" y="1085"/>
                </a:lnTo>
                <a:lnTo>
                  <a:pt x="286" y="1127"/>
                </a:lnTo>
                <a:lnTo>
                  <a:pt x="347" y="1167"/>
                </a:lnTo>
                <a:lnTo>
                  <a:pt x="416" y="1202"/>
                </a:lnTo>
                <a:lnTo>
                  <a:pt x="487" y="1233"/>
                </a:lnTo>
                <a:lnTo>
                  <a:pt x="562" y="1259"/>
                </a:lnTo>
                <a:lnTo>
                  <a:pt x="641" y="1281"/>
                </a:lnTo>
                <a:lnTo>
                  <a:pt x="724" y="1300"/>
                </a:lnTo>
                <a:lnTo>
                  <a:pt x="806" y="1311"/>
                </a:lnTo>
                <a:lnTo>
                  <a:pt x="891" y="1319"/>
                </a:lnTo>
                <a:lnTo>
                  <a:pt x="975" y="1321"/>
                </a:lnTo>
                <a:lnTo>
                  <a:pt x="1062" y="1319"/>
                </a:lnTo>
                <a:lnTo>
                  <a:pt x="1146" y="1311"/>
                </a:lnTo>
                <a:lnTo>
                  <a:pt x="1229" y="1300"/>
                </a:lnTo>
                <a:lnTo>
                  <a:pt x="1309" y="1281"/>
                </a:lnTo>
                <a:lnTo>
                  <a:pt x="1388" y="1259"/>
                </a:lnTo>
                <a:lnTo>
                  <a:pt x="1465" y="1233"/>
                </a:lnTo>
                <a:lnTo>
                  <a:pt x="1536" y="1202"/>
                </a:lnTo>
                <a:lnTo>
                  <a:pt x="1605" y="1167"/>
                </a:lnTo>
                <a:lnTo>
                  <a:pt x="1667" y="1127"/>
                </a:lnTo>
                <a:lnTo>
                  <a:pt x="1724" y="1085"/>
                </a:lnTo>
                <a:lnTo>
                  <a:pt x="1776" y="1039"/>
                </a:lnTo>
                <a:lnTo>
                  <a:pt x="1822" y="991"/>
                </a:lnTo>
                <a:lnTo>
                  <a:pt x="1863" y="939"/>
                </a:lnTo>
                <a:lnTo>
                  <a:pt x="1895" y="887"/>
                </a:lnTo>
                <a:lnTo>
                  <a:pt x="1920" y="831"/>
                </a:lnTo>
                <a:lnTo>
                  <a:pt x="1939" y="775"/>
                </a:lnTo>
                <a:lnTo>
                  <a:pt x="1949" y="718"/>
                </a:lnTo>
                <a:lnTo>
                  <a:pt x="1953" y="660"/>
                </a:lnTo>
                <a:close/>
              </a:path>
            </a:pathLst>
          </a:custGeom>
          <a:solidFill>
            <a:srgbClr val="99CCFF"/>
          </a:solidFill>
          <a:ln w="11176">
            <a:solidFill>
              <a:srgbClr val="000000"/>
            </a:solidFill>
            <a:round/>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34" name="Text Box 10">
            <a:extLst>
              <a:ext uri="{FF2B5EF4-FFF2-40B4-BE49-F238E27FC236}">
                <a16:creationId xmlns:a16="http://schemas.microsoft.com/office/drawing/2014/main" id="{5B0BF8F8-E96D-E377-2149-7F7256B6E98A}"/>
              </a:ext>
            </a:extLst>
          </p:cNvPr>
          <p:cNvSpPr txBox="1">
            <a:spLocks noChangeArrowheads="1"/>
          </p:cNvSpPr>
          <p:nvPr/>
        </p:nvSpPr>
        <p:spPr bwMode="auto">
          <a:xfrm>
            <a:off x="3821113" y="1882775"/>
            <a:ext cx="15827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Trading Manager:</a:t>
            </a:r>
          </a:p>
          <a:p>
            <a:pPr algn="ct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Trade Blotter</a:t>
            </a:r>
          </a:p>
          <a:p>
            <a:pPr algn="ct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(Deal Entry) </a:t>
            </a:r>
          </a:p>
        </p:txBody>
      </p:sp>
      <p:sp>
        <p:nvSpPr>
          <p:cNvPr id="26636" name="Rectangle 12">
            <a:extLst>
              <a:ext uri="{FF2B5EF4-FFF2-40B4-BE49-F238E27FC236}">
                <a16:creationId xmlns:a16="http://schemas.microsoft.com/office/drawing/2014/main" id="{666A7E90-A94B-8424-BBCF-3EDABDE2F7AC}"/>
              </a:ext>
            </a:extLst>
          </p:cNvPr>
          <p:cNvSpPr>
            <a:spLocks noChangeArrowheads="1"/>
          </p:cNvSpPr>
          <p:nvPr/>
        </p:nvSpPr>
        <p:spPr bwMode="auto">
          <a:xfrm>
            <a:off x="735013" y="1052513"/>
            <a:ext cx="2532062" cy="841375"/>
          </a:xfrm>
          <a:prstGeom prst="rect">
            <a:avLst/>
          </a:prstGeom>
          <a:solidFill>
            <a:srgbClr val="00FFF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18440" name="Rectangle 13">
            <a:extLst>
              <a:ext uri="{FF2B5EF4-FFF2-40B4-BE49-F238E27FC236}">
                <a16:creationId xmlns:a16="http://schemas.microsoft.com/office/drawing/2014/main" id="{9A961EF0-1537-B30D-1E1E-4D6B31767E87}"/>
              </a:ext>
            </a:extLst>
          </p:cNvPr>
          <p:cNvSpPr>
            <a:spLocks noChangeArrowheads="1"/>
          </p:cNvSpPr>
          <p:nvPr/>
        </p:nvSpPr>
        <p:spPr bwMode="auto">
          <a:xfrm>
            <a:off x="2470150" y="11604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20000"/>
              </a:spcBef>
              <a:buClr>
                <a:srgbClr val="00279F"/>
              </a:buClr>
              <a:buSzPct val="87000"/>
              <a:buFont typeface="Wingdings" panose="05000000000000000000" pitchFamily="2" charset="2"/>
              <a:buNone/>
            </a:pPr>
            <a:r>
              <a:rPr lang="en-US" altLang="en-US" sz="1000"/>
              <a:t>  </a:t>
            </a:r>
            <a:endParaRPr lang="en-US" altLang="en-US" sz="3600">
              <a:latin typeface="Arial" panose="020B0604020202020204" pitchFamily="34" charset="0"/>
            </a:endParaRPr>
          </a:p>
        </p:txBody>
      </p:sp>
      <p:sp>
        <p:nvSpPr>
          <p:cNvPr id="26638" name="Text Box 14">
            <a:extLst>
              <a:ext uri="{FF2B5EF4-FFF2-40B4-BE49-F238E27FC236}">
                <a16:creationId xmlns:a16="http://schemas.microsoft.com/office/drawing/2014/main" id="{92836617-798F-ED85-56F8-5E80AD0CDB3C}"/>
              </a:ext>
            </a:extLst>
          </p:cNvPr>
          <p:cNvSpPr txBox="1">
            <a:spLocks noChangeArrowheads="1"/>
          </p:cNvSpPr>
          <p:nvPr/>
        </p:nvSpPr>
        <p:spPr bwMode="auto">
          <a:xfrm>
            <a:off x="814388" y="1052513"/>
            <a:ext cx="2532062"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Admin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Global administrative data (i.e., static data maintenance, security privileges, network grids) </a:t>
            </a:r>
          </a:p>
        </p:txBody>
      </p:sp>
      <p:sp>
        <p:nvSpPr>
          <p:cNvPr id="26639" name="Line 15">
            <a:extLst>
              <a:ext uri="{FF2B5EF4-FFF2-40B4-BE49-F238E27FC236}">
                <a16:creationId xmlns:a16="http://schemas.microsoft.com/office/drawing/2014/main" id="{E475DCA7-2C2D-2A63-E6F7-E24B4937249D}"/>
              </a:ext>
            </a:extLst>
          </p:cNvPr>
          <p:cNvSpPr>
            <a:spLocks noChangeShapeType="1"/>
          </p:cNvSpPr>
          <p:nvPr/>
        </p:nvSpPr>
        <p:spPr bwMode="auto">
          <a:xfrm>
            <a:off x="3267075" y="1398588"/>
            <a:ext cx="633413" cy="414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41" name="Rectangle 17">
            <a:extLst>
              <a:ext uri="{FF2B5EF4-FFF2-40B4-BE49-F238E27FC236}">
                <a16:creationId xmlns:a16="http://schemas.microsoft.com/office/drawing/2014/main" id="{580281E3-EB8D-6E4A-56C8-578A7FA19389}"/>
              </a:ext>
            </a:extLst>
          </p:cNvPr>
          <p:cNvSpPr>
            <a:spLocks noChangeArrowheads="1"/>
          </p:cNvSpPr>
          <p:nvPr/>
        </p:nvSpPr>
        <p:spPr bwMode="auto">
          <a:xfrm>
            <a:off x="735013" y="2020888"/>
            <a:ext cx="2532062" cy="809625"/>
          </a:xfrm>
          <a:prstGeom prst="rect">
            <a:avLst/>
          </a:prstGeom>
          <a:solidFill>
            <a:srgbClr val="99CCFF"/>
          </a:solidFill>
          <a:ln w="9525">
            <a:solidFill>
              <a:schemeClr val="tx1"/>
            </a:solidFill>
            <a:miter lim="800000"/>
            <a:headEnd/>
            <a:tailEnd/>
          </a:ln>
        </p:spPr>
        <p:txBody>
          <a:bodyPr wrap="none" lIns="54000"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42" name="Text Box 18">
            <a:extLst>
              <a:ext uri="{FF2B5EF4-FFF2-40B4-BE49-F238E27FC236}">
                <a16:creationId xmlns:a16="http://schemas.microsoft.com/office/drawing/2014/main" id="{2AE1DA46-2C49-0E33-D2D3-DD3CB71BD6A4}"/>
              </a:ext>
            </a:extLst>
          </p:cNvPr>
          <p:cNvSpPr txBox="1">
            <a:spLocks noChangeArrowheads="1"/>
          </p:cNvSpPr>
          <p:nvPr/>
        </p:nvSpPr>
        <p:spPr bwMode="auto">
          <a:xfrm>
            <a:off x="814388" y="2020888"/>
            <a:ext cx="26876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Trading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Master instrument  - sharable toolset, templates - unique toolset </a:t>
            </a:r>
          </a:p>
        </p:txBody>
      </p:sp>
      <p:sp>
        <p:nvSpPr>
          <p:cNvPr id="26643" name="Line 19">
            <a:extLst>
              <a:ext uri="{FF2B5EF4-FFF2-40B4-BE49-F238E27FC236}">
                <a16:creationId xmlns:a16="http://schemas.microsoft.com/office/drawing/2014/main" id="{60DF58C8-EB73-5D10-B8E6-D8D8871BF6BB}"/>
              </a:ext>
            </a:extLst>
          </p:cNvPr>
          <p:cNvSpPr>
            <a:spLocks noChangeShapeType="1"/>
          </p:cNvSpPr>
          <p:nvPr/>
        </p:nvSpPr>
        <p:spPr bwMode="auto">
          <a:xfrm>
            <a:off x="3267075" y="2232025"/>
            <a:ext cx="4746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54000" anchor="ctr"/>
          <a:lstStyle/>
          <a:p>
            <a:endParaRPr lang="en-US"/>
          </a:p>
        </p:txBody>
      </p:sp>
      <p:sp>
        <p:nvSpPr>
          <p:cNvPr id="26645" name="Rectangle 21">
            <a:extLst>
              <a:ext uri="{FF2B5EF4-FFF2-40B4-BE49-F238E27FC236}">
                <a16:creationId xmlns:a16="http://schemas.microsoft.com/office/drawing/2014/main" id="{1DB6E151-6DEC-38FB-C2B3-AE1C92C590E5}"/>
              </a:ext>
            </a:extLst>
          </p:cNvPr>
          <p:cNvSpPr>
            <a:spLocks noChangeArrowheads="1"/>
          </p:cNvSpPr>
          <p:nvPr/>
        </p:nvSpPr>
        <p:spPr bwMode="auto">
          <a:xfrm>
            <a:off x="5878513" y="2090738"/>
            <a:ext cx="2452687" cy="739775"/>
          </a:xfrm>
          <a:prstGeom prst="rect">
            <a:avLst/>
          </a:prstGeom>
          <a:solidFill>
            <a:srgbClr val="CCCCF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46" name="Text Box 22">
            <a:extLst>
              <a:ext uri="{FF2B5EF4-FFF2-40B4-BE49-F238E27FC236}">
                <a16:creationId xmlns:a16="http://schemas.microsoft.com/office/drawing/2014/main" id="{05F63578-C176-3C58-0BE6-2B492AC57C09}"/>
              </a:ext>
            </a:extLst>
          </p:cNvPr>
          <p:cNvSpPr txBox="1">
            <a:spLocks noChangeArrowheads="1"/>
          </p:cNvSpPr>
          <p:nvPr/>
        </p:nvSpPr>
        <p:spPr bwMode="auto">
          <a:xfrm>
            <a:off x="5957888" y="2160588"/>
            <a:ext cx="22939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Market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Market curves and volatilities, historical prices</a:t>
            </a:r>
          </a:p>
        </p:txBody>
      </p:sp>
      <p:sp>
        <p:nvSpPr>
          <p:cNvPr id="26647" name="Line 23">
            <a:extLst>
              <a:ext uri="{FF2B5EF4-FFF2-40B4-BE49-F238E27FC236}">
                <a16:creationId xmlns:a16="http://schemas.microsoft.com/office/drawing/2014/main" id="{F0D4D139-0968-52F0-818E-2774D09A3765}"/>
              </a:ext>
            </a:extLst>
          </p:cNvPr>
          <p:cNvSpPr>
            <a:spLocks noChangeShapeType="1"/>
          </p:cNvSpPr>
          <p:nvPr/>
        </p:nvSpPr>
        <p:spPr bwMode="auto">
          <a:xfrm flipH="1">
            <a:off x="5403850" y="2228850"/>
            <a:ext cx="4746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 name="Group 24">
            <a:extLst>
              <a:ext uri="{FF2B5EF4-FFF2-40B4-BE49-F238E27FC236}">
                <a16:creationId xmlns:a16="http://schemas.microsoft.com/office/drawing/2014/main" id="{035E4C63-310A-C0DD-3A29-1B59B1DB53F5}"/>
              </a:ext>
            </a:extLst>
          </p:cNvPr>
          <p:cNvGrpSpPr>
            <a:grpSpLocks/>
          </p:cNvGrpSpPr>
          <p:nvPr/>
        </p:nvGrpSpPr>
        <p:grpSpPr bwMode="auto">
          <a:xfrm>
            <a:off x="5165725" y="1052513"/>
            <a:ext cx="3482975" cy="830262"/>
            <a:chOff x="3120" y="240"/>
            <a:chExt cx="2112" cy="576"/>
          </a:xfrm>
        </p:grpSpPr>
        <p:sp>
          <p:nvSpPr>
            <p:cNvPr id="18484" name="Rectangle 25">
              <a:extLst>
                <a:ext uri="{FF2B5EF4-FFF2-40B4-BE49-F238E27FC236}">
                  <a16:creationId xmlns:a16="http://schemas.microsoft.com/office/drawing/2014/main" id="{6F52812F-8251-331D-489B-5AF6AAE8AF09}"/>
                </a:ext>
              </a:extLst>
            </p:cNvPr>
            <p:cNvSpPr>
              <a:spLocks noChangeArrowheads="1"/>
            </p:cNvSpPr>
            <p:nvPr/>
          </p:nvSpPr>
          <p:spPr bwMode="auto">
            <a:xfrm>
              <a:off x="3552" y="240"/>
              <a:ext cx="1488" cy="57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18485" name="Text Box 26">
              <a:extLst>
                <a:ext uri="{FF2B5EF4-FFF2-40B4-BE49-F238E27FC236}">
                  <a16:creationId xmlns:a16="http://schemas.microsoft.com/office/drawing/2014/main" id="{7FA16481-FE76-186E-20D1-F567E0D4220A}"/>
                </a:ext>
              </a:extLst>
            </p:cNvPr>
            <p:cNvSpPr txBox="1">
              <a:spLocks noChangeArrowheads="1"/>
            </p:cNvSpPr>
            <p:nvPr/>
          </p:nvSpPr>
          <p:spPr bwMode="auto">
            <a:xfrm>
              <a:off x="3600" y="240"/>
              <a:ext cx="1632"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Reference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Counterparty and internal entities’ information, personnel, broker fees structure, agreements, settlement terms</a:t>
              </a:r>
            </a:p>
          </p:txBody>
        </p:sp>
        <p:sp>
          <p:nvSpPr>
            <p:cNvPr id="18486" name="Line 27">
              <a:extLst>
                <a:ext uri="{FF2B5EF4-FFF2-40B4-BE49-F238E27FC236}">
                  <a16:creationId xmlns:a16="http://schemas.microsoft.com/office/drawing/2014/main" id="{B7AA9B9A-6B6A-8415-2635-C5A939304011}"/>
                </a:ext>
              </a:extLst>
            </p:cNvPr>
            <p:cNvSpPr>
              <a:spLocks noChangeShapeType="1"/>
            </p:cNvSpPr>
            <p:nvPr/>
          </p:nvSpPr>
          <p:spPr bwMode="auto">
            <a:xfrm flipH="1">
              <a:off x="3120" y="480"/>
              <a:ext cx="43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28">
            <a:extLst>
              <a:ext uri="{FF2B5EF4-FFF2-40B4-BE49-F238E27FC236}">
                <a16:creationId xmlns:a16="http://schemas.microsoft.com/office/drawing/2014/main" id="{A3F643E5-0000-8112-2130-18649B0FAD97}"/>
              </a:ext>
            </a:extLst>
          </p:cNvPr>
          <p:cNvGrpSpPr>
            <a:grpSpLocks/>
          </p:cNvGrpSpPr>
          <p:nvPr/>
        </p:nvGrpSpPr>
        <p:grpSpPr bwMode="auto">
          <a:xfrm>
            <a:off x="4090988" y="4160838"/>
            <a:ext cx="1028700" cy="866775"/>
            <a:chOff x="2448" y="2496"/>
            <a:chExt cx="624" cy="601"/>
          </a:xfrm>
        </p:grpSpPr>
        <p:grpSp>
          <p:nvGrpSpPr>
            <p:cNvPr id="18480" name="Group 29">
              <a:extLst>
                <a:ext uri="{FF2B5EF4-FFF2-40B4-BE49-F238E27FC236}">
                  <a16:creationId xmlns:a16="http://schemas.microsoft.com/office/drawing/2014/main" id="{50A31199-ED1E-2D3C-5F8E-461983194445}"/>
                </a:ext>
              </a:extLst>
            </p:cNvPr>
            <p:cNvGrpSpPr>
              <a:grpSpLocks/>
            </p:cNvGrpSpPr>
            <p:nvPr/>
          </p:nvGrpSpPr>
          <p:grpSpPr bwMode="auto">
            <a:xfrm>
              <a:off x="2448" y="2640"/>
              <a:ext cx="624" cy="457"/>
              <a:chOff x="2448" y="2640"/>
              <a:chExt cx="624" cy="457"/>
            </a:xfrm>
          </p:grpSpPr>
          <p:sp>
            <p:nvSpPr>
              <p:cNvPr id="18482" name="Rectangle 30">
                <a:extLst>
                  <a:ext uri="{FF2B5EF4-FFF2-40B4-BE49-F238E27FC236}">
                    <a16:creationId xmlns:a16="http://schemas.microsoft.com/office/drawing/2014/main" id="{730EC90F-29B2-21B7-AAD2-8B38168B1B18}"/>
                  </a:ext>
                </a:extLst>
              </p:cNvPr>
              <p:cNvSpPr>
                <a:spLocks noChangeArrowheads="1"/>
              </p:cNvSpPr>
              <p:nvPr/>
            </p:nvSpPr>
            <p:spPr bwMode="auto">
              <a:xfrm>
                <a:off x="2448" y="2640"/>
                <a:ext cx="624" cy="432"/>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18483" name="Text Box 31">
                <a:extLst>
                  <a:ext uri="{FF2B5EF4-FFF2-40B4-BE49-F238E27FC236}">
                    <a16:creationId xmlns:a16="http://schemas.microsoft.com/office/drawing/2014/main" id="{7B7C3E9C-929C-B14C-DEBF-3AFD176197D4}"/>
                  </a:ext>
                </a:extLst>
              </p:cNvPr>
              <p:cNvSpPr txBox="1">
                <a:spLocks noChangeArrowheads="1"/>
              </p:cNvSpPr>
              <p:nvPr/>
            </p:nvSpPr>
            <p:spPr bwMode="auto">
              <a:xfrm>
                <a:off x="2448" y="2688"/>
                <a:ext cx="624"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lnSpc>
                    <a:spcPct val="70000"/>
                  </a:lnSpc>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“Validation”</a:t>
                </a:r>
              </a:p>
              <a:p>
                <a:pPr algn="ctr" eaLnBrk="1" hangingPunct="1">
                  <a:lnSpc>
                    <a:spcPct val="50000"/>
                  </a:lnSpc>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 of</a:t>
                </a:r>
              </a:p>
              <a:p>
                <a:pPr algn="ctr" eaLnBrk="1" hangingPunct="1">
                  <a:lnSpc>
                    <a:spcPct val="50000"/>
                  </a:lnSpc>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Deal Terms</a:t>
                </a:r>
              </a:p>
            </p:txBody>
          </p:sp>
        </p:grpSp>
        <p:sp>
          <p:nvSpPr>
            <p:cNvPr id="18481" name="Line 32">
              <a:extLst>
                <a:ext uri="{FF2B5EF4-FFF2-40B4-BE49-F238E27FC236}">
                  <a16:creationId xmlns:a16="http://schemas.microsoft.com/office/drawing/2014/main" id="{9CB2901A-56F6-F1B6-7B27-263D0FB1C06B}"/>
                </a:ext>
              </a:extLst>
            </p:cNvPr>
            <p:cNvSpPr>
              <a:spLocks noChangeShapeType="1"/>
            </p:cNvSpPr>
            <p:nvPr/>
          </p:nvSpPr>
          <p:spPr bwMode="auto">
            <a:xfrm>
              <a:off x="2736" y="2496"/>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33">
            <a:extLst>
              <a:ext uri="{FF2B5EF4-FFF2-40B4-BE49-F238E27FC236}">
                <a16:creationId xmlns:a16="http://schemas.microsoft.com/office/drawing/2014/main" id="{99F53A98-9205-9543-1887-FFC00F940259}"/>
              </a:ext>
            </a:extLst>
          </p:cNvPr>
          <p:cNvGrpSpPr>
            <a:grpSpLocks/>
          </p:cNvGrpSpPr>
          <p:nvPr/>
        </p:nvGrpSpPr>
        <p:grpSpPr bwMode="auto">
          <a:xfrm>
            <a:off x="773113" y="3313113"/>
            <a:ext cx="7596187" cy="641350"/>
            <a:chOff x="432" y="1776"/>
            <a:chExt cx="4608" cy="445"/>
          </a:xfrm>
        </p:grpSpPr>
        <p:sp>
          <p:nvSpPr>
            <p:cNvPr id="18474" name="Rectangle 34">
              <a:extLst>
                <a:ext uri="{FF2B5EF4-FFF2-40B4-BE49-F238E27FC236}">
                  <a16:creationId xmlns:a16="http://schemas.microsoft.com/office/drawing/2014/main" id="{04828898-715C-210C-0700-218E39D7FDD9}"/>
                </a:ext>
              </a:extLst>
            </p:cNvPr>
            <p:cNvSpPr>
              <a:spLocks noChangeArrowheads="1"/>
            </p:cNvSpPr>
            <p:nvPr/>
          </p:nvSpPr>
          <p:spPr bwMode="auto">
            <a:xfrm>
              <a:off x="432" y="1824"/>
              <a:ext cx="1536" cy="384"/>
            </a:xfrm>
            <a:prstGeom prst="rect">
              <a:avLst/>
            </a:prstGeom>
            <a:solidFill>
              <a:srgbClr val="FF9999"/>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18475" name="Rectangle 35">
              <a:extLst>
                <a:ext uri="{FF2B5EF4-FFF2-40B4-BE49-F238E27FC236}">
                  <a16:creationId xmlns:a16="http://schemas.microsoft.com/office/drawing/2014/main" id="{21C9F34C-8E58-D3C9-6935-718317C7DD2A}"/>
                </a:ext>
              </a:extLst>
            </p:cNvPr>
            <p:cNvSpPr>
              <a:spLocks noChangeArrowheads="1"/>
            </p:cNvSpPr>
            <p:nvPr/>
          </p:nvSpPr>
          <p:spPr bwMode="auto">
            <a:xfrm>
              <a:off x="3552" y="1824"/>
              <a:ext cx="1488" cy="384"/>
            </a:xfrm>
            <a:prstGeom prst="rect">
              <a:avLst/>
            </a:prstGeom>
            <a:solidFill>
              <a:srgbClr val="FF9999"/>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18476" name="Text Box 36">
              <a:extLst>
                <a:ext uri="{FF2B5EF4-FFF2-40B4-BE49-F238E27FC236}">
                  <a16:creationId xmlns:a16="http://schemas.microsoft.com/office/drawing/2014/main" id="{899B58DE-C56F-0805-970B-1020BC690464}"/>
                </a:ext>
              </a:extLst>
            </p:cNvPr>
            <p:cNvSpPr txBox="1">
              <a:spLocks noChangeArrowheads="1"/>
            </p:cNvSpPr>
            <p:nvPr/>
          </p:nvSpPr>
          <p:spPr bwMode="auto">
            <a:xfrm>
              <a:off x="3600" y="1872"/>
              <a:ext cx="120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Risk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Market risk check (risk lines) </a:t>
              </a:r>
            </a:p>
          </p:txBody>
        </p:sp>
        <p:sp>
          <p:nvSpPr>
            <p:cNvPr id="18477" name="Text Box 37">
              <a:extLst>
                <a:ext uri="{FF2B5EF4-FFF2-40B4-BE49-F238E27FC236}">
                  <a16:creationId xmlns:a16="http://schemas.microsoft.com/office/drawing/2014/main" id="{06E140F9-72E0-096D-466E-E5A37D575D4A}"/>
                </a:ext>
              </a:extLst>
            </p:cNvPr>
            <p:cNvSpPr txBox="1">
              <a:spLocks noChangeArrowheads="1"/>
            </p:cNvSpPr>
            <p:nvPr/>
          </p:nvSpPr>
          <p:spPr bwMode="auto">
            <a:xfrm>
              <a:off x="480" y="1872"/>
              <a:ext cx="1586"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Credit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Credit check (credit line &amp; credit rating)  </a:t>
              </a:r>
            </a:p>
          </p:txBody>
        </p:sp>
        <p:sp>
          <p:nvSpPr>
            <p:cNvPr id="18478" name="Line 38">
              <a:extLst>
                <a:ext uri="{FF2B5EF4-FFF2-40B4-BE49-F238E27FC236}">
                  <a16:creationId xmlns:a16="http://schemas.microsoft.com/office/drawing/2014/main" id="{73C05FA4-21CA-F782-25E8-FB654AE0A0BA}"/>
                </a:ext>
              </a:extLst>
            </p:cNvPr>
            <p:cNvSpPr>
              <a:spLocks noChangeShapeType="1"/>
            </p:cNvSpPr>
            <p:nvPr/>
          </p:nvSpPr>
          <p:spPr bwMode="auto">
            <a:xfrm>
              <a:off x="2736" y="1776"/>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79" name="Line 39">
              <a:extLst>
                <a:ext uri="{FF2B5EF4-FFF2-40B4-BE49-F238E27FC236}">
                  <a16:creationId xmlns:a16="http://schemas.microsoft.com/office/drawing/2014/main" id="{F1C598C9-999B-011C-40F9-FFE62439D73B}"/>
                </a:ext>
              </a:extLst>
            </p:cNvPr>
            <p:cNvSpPr>
              <a:spLocks noChangeShapeType="1"/>
            </p:cNvSpPr>
            <p:nvPr/>
          </p:nvSpPr>
          <p:spPr bwMode="auto">
            <a:xfrm>
              <a:off x="1968" y="2016"/>
              <a:ext cx="158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 name="Group 40">
            <a:extLst>
              <a:ext uri="{FF2B5EF4-FFF2-40B4-BE49-F238E27FC236}">
                <a16:creationId xmlns:a16="http://schemas.microsoft.com/office/drawing/2014/main" id="{5181CCE9-F559-8950-EF97-5A1DA61B239B}"/>
              </a:ext>
            </a:extLst>
          </p:cNvPr>
          <p:cNvGrpSpPr>
            <a:grpSpLocks/>
          </p:cNvGrpSpPr>
          <p:nvPr/>
        </p:nvGrpSpPr>
        <p:grpSpPr bwMode="auto">
          <a:xfrm>
            <a:off x="6786563" y="5715000"/>
            <a:ext cx="1423987" cy="415925"/>
            <a:chOff x="4460" y="3740"/>
            <a:chExt cx="864" cy="289"/>
          </a:xfrm>
        </p:grpSpPr>
        <p:sp>
          <p:nvSpPr>
            <p:cNvPr id="18472" name="Rectangle 41">
              <a:extLst>
                <a:ext uri="{FF2B5EF4-FFF2-40B4-BE49-F238E27FC236}">
                  <a16:creationId xmlns:a16="http://schemas.microsoft.com/office/drawing/2014/main" id="{CA135E7B-1FEB-26EC-26B8-45094E078C8C}"/>
                </a:ext>
              </a:extLst>
            </p:cNvPr>
            <p:cNvSpPr>
              <a:spLocks noChangeArrowheads="1"/>
            </p:cNvSpPr>
            <p:nvPr/>
          </p:nvSpPr>
          <p:spPr bwMode="auto">
            <a:xfrm>
              <a:off x="4460" y="3740"/>
              <a:ext cx="864" cy="289"/>
            </a:xfrm>
            <a:prstGeom prst="rect">
              <a:avLst/>
            </a:prstGeom>
            <a:solidFill>
              <a:srgbClr val="969696"/>
            </a:solidFill>
            <a:ln w="11113">
              <a:solidFill>
                <a:srgbClr val="000000"/>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18473" name="Rectangle 42">
              <a:extLst>
                <a:ext uri="{FF2B5EF4-FFF2-40B4-BE49-F238E27FC236}">
                  <a16:creationId xmlns:a16="http://schemas.microsoft.com/office/drawing/2014/main" id="{7AC3C39B-64BB-B857-093C-32654D4CB338}"/>
                </a:ext>
              </a:extLst>
            </p:cNvPr>
            <p:cNvSpPr>
              <a:spLocks noChangeArrowheads="1"/>
            </p:cNvSpPr>
            <p:nvPr/>
          </p:nvSpPr>
          <p:spPr bwMode="auto">
            <a:xfrm>
              <a:off x="4742" y="3828"/>
              <a:ext cx="338" cy="126"/>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20000"/>
                </a:spcBef>
                <a:buClr>
                  <a:srgbClr val="00279F"/>
                </a:buClr>
                <a:buSzPct val="87000"/>
                <a:buFont typeface="Wingdings" panose="05000000000000000000" pitchFamily="2" charset="2"/>
                <a:buNone/>
              </a:pPr>
              <a:r>
                <a:rPr lang="en-US" altLang="en-US" sz="1200">
                  <a:latin typeface="Arial" panose="020B0604020202020204" pitchFamily="34" charset="0"/>
                </a:rPr>
                <a:t>Matured</a:t>
              </a:r>
              <a:endParaRPr lang="en-US" altLang="en-US" sz="3600">
                <a:latin typeface="Arial" panose="020B0604020202020204" pitchFamily="34" charset="0"/>
              </a:endParaRPr>
            </a:p>
          </p:txBody>
        </p:sp>
      </p:grpSp>
      <p:grpSp>
        <p:nvGrpSpPr>
          <p:cNvPr id="8" name="Group 44">
            <a:extLst>
              <a:ext uri="{FF2B5EF4-FFF2-40B4-BE49-F238E27FC236}">
                <a16:creationId xmlns:a16="http://schemas.microsoft.com/office/drawing/2014/main" id="{F44695D2-14FF-08CE-51ED-602DD4DDA836}"/>
              </a:ext>
            </a:extLst>
          </p:cNvPr>
          <p:cNvGrpSpPr>
            <a:grpSpLocks/>
          </p:cNvGrpSpPr>
          <p:nvPr/>
        </p:nvGrpSpPr>
        <p:grpSpPr bwMode="auto">
          <a:xfrm>
            <a:off x="5973763" y="4883150"/>
            <a:ext cx="2452687" cy="573088"/>
            <a:chOff x="3552" y="2976"/>
            <a:chExt cx="1488" cy="398"/>
          </a:xfrm>
        </p:grpSpPr>
        <p:sp>
          <p:nvSpPr>
            <p:cNvPr id="18470" name="Rectangle 45">
              <a:extLst>
                <a:ext uri="{FF2B5EF4-FFF2-40B4-BE49-F238E27FC236}">
                  <a16:creationId xmlns:a16="http://schemas.microsoft.com/office/drawing/2014/main" id="{977B0CAE-AD23-6785-A664-27869F70ECDE}"/>
                </a:ext>
              </a:extLst>
            </p:cNvPr>
            <p:cNvSpPr>
              <a:spLocks noChangeArrowheads="1"/>
            </p:cNvSpPr>
            <p:nvPr/>
          </p:nvSpPr>
          <p:spPr bwMode="auto">
            <a:xfrm>
              <a:off x="3552" y="2976"/>
              <a:ext cx="1488" cy="384"/>
            </a:xfrm>
            <a:prstGeom prst="rect">
              <a:avLst/>
            </a:prstGeom>
            <a:solidFill>
              <a:srgbClr val="339966"/>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18471" name="Text Box 46">
              <a:extLst>
                <a:ext uri="{FF2B5EF4-FFF2-40B4-BE49-F238E27FC236}">
                  <a16:creationId xmlns:a16="http://schemas.microsoft.com/office/drawing/2014/main" id="{2F43D1C8-DA7F-0EBA-55DA-286555E3ADDA}"/>
                </a:ext>
              </a:extLst>
            </p:cNvPr>
            <p:cNvSpPr txBox="1">
              <a:spLocks noChangeArrowheads="1"/>
            </p:cNvSpPr>
            <p:nvPr/>
          </p:nvSpPr>
          <p:spPr bwMode="auto">
            <a:xfrm>
              <a:off x="3601" y="3025"/>
              <a:ext cx="11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Accounting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P&amp;L</a:t>
              </a:r>
            </a:p>
          </p:txBody>
        </p:sp>
      </p:grpSp>
      <p:sp>
        <p:nvSpPr>
          <p:cNvPr id="26671" name="Line 47">
            <a:extLst>
              <a:ext uri="{FF2B5EF4-FFF2-40B4-BE49-F238E27FC236}">
                <a16:creationId xmlns:a16="http://schemas.microsoft.com/office/drawing/2014/main" id="{2C07D1B7-3ED6-7A88-1930-2638F6532CEA}"/>
              </a:ext>
            </a:extLst>
          </p:cNvPr>
          <p:cNvSpPr>
            <a:spLocks noChangeShapeType="1"/>
          </p:cNvSpPr>
          <p:nvPr/>
        </p:nvSpPr>
        <p:spPr bwMode="auto">
          <a:xfrm>
            <a:off x="3360738" y="5299075"/>
            <a:ext cx="261302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72" name="Rectangle 48">
            <a:extLst>
              <a:ext uri="{FF2B5EF4-FFF2-40B4-BE49-F238E27FC236}">
                <a16:creationId xmlns:a16="http://schemas.microsoft.com/office/drawing/2014/main" id="{1D8BEECC-46FC-6414-05ED-D2A6935EC75C}"/>
              </a:ext>
            </a:extLst>
          </p:cNvPr>
          <p:cNvSpPr>
            <a:spLocks noChangeArrowheads="1"/>
          </p:cNvSpPr>
          <p:nvPr/>
        </p:nvSpPr>
        <p:spPr bwMode="auto">
          <a:xfrm>
            <a:off x="828675" y="4924425"/>
            <a:ext cx="2532063" cy="554038"/>
          </a:xfrm>
          <a:prstGeom prst="rect">
            <a:avLst/>
          </a:prstGeom>
          <a:solidFill>
            <a:srgbClr val="99FF99"/>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3" name="Text Box 49">
            <a:extLst>
              <a:ext uri="{FF2B5EF4-FFF2-40B4-BE49-F238E27FC236}">
                <a16:creationId xmlns:a16="http://schemas.microsoft.com/office/drawing/2014/main" id="{7F0EBDF0-958C-7EC4-4865-0FEE48CF73FE}"/>
              </a:ext>
            </a:extLst>
          </p:cNvPr>
          <p:cNvSpPr txBox="1">
            <a:spLocks noChangeArrowheads="1"/>
          </p:cNvSpPr>
          <p:nvPr/>
        </p:nvSpPr>
        <p:spPr bwMode="auto">
          <a:xfrm>
            <a:off x="908050" y="4994275"/>
            <a:ext cx="19605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Operations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Events generated  </a:t>
            </a:r>
          </a:p>
        </p:txBody>
      </p:sp>
      <p:sp>
        <p:nvSpPr>
          <p:cNvPr id="26674" name="Rectangle 50">
            <a:extLst>
              <a:ext uri="{FF2B5EF4-FFF2-40B4-BE49-F238E27FC236}">
                <a16:creationId xmlns:a16="http://schemas.microsoft.com/office/drawing/2014/main" id="{138AD3B7-4BE2-A795-75DC-BD4490839AAD}"/>
              </a:ext>
            </a:extLst>
          </p:cNvPr>
          <p:cNvSpPr>
            <a:spLocks noChangeArrowheads="1"/>
          </p:cNvSpPr>
          <p:nvPr/>
        </p:nvSpPr>
        <p:spPr bwMode="auto">
          <a:xfrm>
            <a:off x="828675" y="5824538"/>
            <a:ext cx="949325" cy="484187"/>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5" name="Rectangle 51">
            <a:extLst>
              <a:ext uri="{FF2B5EF4-FFF2-40B4-BE49-F238E27FC236}">
                <a16:creationId xmlns:a16="http://schemas.microsoft.com/office/drawing/2014/main" id="{2AEE5D62-5877-C8ED-B2A3-A7F961200365}"/>
              </a:ext>
            </a:extLst>
          </p:cNvPr>
          <p:cNvSpPr>
            <a:spLocks noChangeArrowheads="1"/>
          </p:cNvSpPr>
          <p:nvPr/>
        </p:nvSpPr>
        <p:spPr bwMode="auto">
          <a:xfrm>
            <a:off x="1936750" y="5824538"/>
            <a:ext cx="949325" cy="484187"/>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6" name="Rectangle 52">
            <a:extLst>
              <a:ext uri="{FF2B5EF4-FFF2-40B4-BE49-F238E27FC236}">
                <a16:creationId xmlns:a16="http://schemas.microsoft.com/office/drawing/2014/main" id="{14C3A555-45F0-A733-77C4-3DA3C58731C8}"/>
              </a:ext>
            </a:extLst>
          </p:cNvPr>
          <p:cNvSpPr>
            <a:spLocks noChangeArrowheads="1"/>
          </p:cNvSpPr>
          <p:nvPr/>
        </p:nvSpPr>
        <p:spPr bwMode="auto">
          <a:xfrm>
            <a:off x="3044825" y="5824538"/>
            <a:ext cx="949325" cy="484187"/>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7" name="Rectangle 53">
            <a:extLst>
              <a:ext uri="{FF2B5EF4-FFF2-40B4-BE49-F238E27FC236}">
                <a16:creationId xmlns:a16="http://schemas.microsoft.com/office/drawing/2014/main" id="{EB63C426-7BA9-D9FF-C11F-211AD2207C6F}"/>
              </a:ext>
            </a:extLst>
          </p:cNvPr>
          <p:cNvSpPr>
            <a:spLocks noChangeArrowheads="1"/>
          </p:cNvSpPr>
          <p:nvPr/>
        </p:nvSpPr>
        <p:spPr bwMode="auto">
          <a:xfrm>
            <a:off x="4152900" y="5824538"/>
            <a:ext cx="949325" cy="484187"/>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8" name="Text Box 54">
            <a:extLst>
              <a:ext uri="{FF2B5EF4-FFF2-40B4-BE49-F238E27FC236}">
                <a16:creationId xmlns:a16="http://schemas.microsoft.com/office/drawing/2014/main" id="{9A172684-9CA5-CC07-3DBE-DB5E01B0AB50}"/>
              </a:ext>
            </a:extLst>
          </p:cNvPr>
          <p:cNvSpPr txBox="1">
            <a:spLocks noChangeArrowheads="1"/>
          </p:cNvSpPr>
          <p:nvPr/>
        </p:nvSpPr>
        <p:spPr bwMode="auto">
          <a:xfrm>
            <a:off x="828675" y="5962650"/>
            <a:ext cx="9477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Confirm</a:t>
            </a:r>
          </a:p>
        </p:txBody>
      </p:sp>
      <p:sp>
        <p:nvSpPr>
          <p:cNvPr id="26679" name="Text Box 55">
            <a:extLst>
              <a:ext uri="{FF2B5EF4-FFF2-40B4-BE49-F238E27FC236}">
                <a16:creationId xmlns:a16="http://schemas.microsoft.com/office/drawing/2014/main" id="{A7E48DF0-EC3A-205B-32E0-31D81624B73C}"/>
              </a:ext>
            </a:extLst>
          </p:cNvPr>
          <p:cNvSpPr txBox="1">
            <a:spLocks noChangeArrowheads="1"/>
          </p:cNvSpPr>
          <p:nvPr/>
        </p:nvSpPr>
        <p:spPr bwMode="auto">
          <a:xfrm>
            <a:off x="1936750" y="5962650"/>
            <a:ext cx="949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Settle</a:t>
            </a:r>
          </a:p>
        </p:txBody>
      </p:sp>
      <p:sp>
        <p:nvSpPr>
          <p:cNvPr id="26680" name="Text Box 56">
            <a:extLst>
              <a:ext uri="{FF2B5EF4-FFF2-40B4-BE49-F238E27FC236}">
                <a16:creationId xmlns:a16="http://schemas.microsoft.com/office/drawing/2014/main" id="{68F7E573-9302-8055-0800-4C418ABE4F65}"/>
              </a:ext>
            </a:extLst>
          </p:cNvPr>
          <p:cNvSpPr txBox="1">
            <a:spLocks noChangeArrowheads="1"/>
          </p:cNvSpPr>
          <p:nvPr/>
        </p:nvSpPr>
        <p:spPr bwMode="auto">
          <a:xfrm>
            <a:off x="3044825" y="5891213"/>
            <a:ext cx="9493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lnSpc>
                <a:spcPct val="70000"/>
              </a:lnSpc>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Rate fixings</a:t>
            </a:r>
          </a:p>
        </p:txBody>
      </p:sp>
      <p:sp>
        <p:nvSpPr>
          <p:cNvPr id="26681" name="Text Box 57">
            <a:extLst>
              <a:ext uri="{FF2B5EF4-FFF2-40B4-BE49-F238E27FC236}">
                <a16:creationId xmlns:a16="http://schemas.microsoft.com/office/drawing/2014/main" id="{433C9F5D-72F8-0FAF-1E06-5458C4C5DA62}"/>
              </a:ext>
            </a:extLst>
          </p:cNvPr>
          <p:cNvSpPr txBox="1">
            <a:spLocks noChangeArrowheads="1"/>
          </p:cNvSpPr>
          <p:nvPr/>
        </p:nvSpPr>
        <p:spPr bwMode="auto">
          <a:xfrm>
            <a:off x="4073525" y="5851525"/>
            <a:ext cx="1108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Reset Notifications</a:t>
            </a:r>
          </a:p>
        </p:txBody>
      </p:sp>
      <p:sp>
        <p:nvSpPr>
          <p:cNvPr id="26682" name="Line 58">
            <a:extLst>
              <a:ext uri="{FF2B5EF4-FFF2-40B4-BE49-F238E27FC236}">
                <a16:creationId xmlns:a16="http://schemas.microsoft.com/office/drawing/2014/main" id="{4618B2D1-9D5C-432A-9860-12078B5C26E6}"/>
              </a:ext>
            </a:extLst>
          </p:cNvPr>
          <p:cNvSpPr>
            <a:spLocks noChangeShapeType="1"/>
          </p:cNvSpPr>
          <p:nvPr/>
        </p:nvSpPr>
        <p:spPr bwMode="auto">
          <a:xfrm>
            <a:off x="4608513" y="5014913"/>
            <a:ext cx="0" cy="2778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83" name="Line 59">
            <a:extLst>
              <a:ext uri="{FF2B5EF4-FFF2-40B4-BE49-F238E27FC236}">
                <a16:creationId xmlns:a16="http://schemas.microsoft.com/office/drawing/2014/main" id="{3AF5CBB0-19D7-DB69-FA39-D77F8C83BD01}"/>
              </a:ext>
            </a:extLst>
          </p:cNvPr>
          <p:cNvSpPr>
            <a:spLocks noChangeShapeType="1"/>
          </p:cNvSpPr>
          <p:nvPr/>
        </p:nvSpPr>
        <p:spPr bwMode="auto">
          <a:xfrm>
            <a:off x="2411413" y="5478463"/>
            <a:ext cx="0" cy="3460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84" name="Line 60">
            <a:extLst>
              <a:ext uri="{FF2B5EF4-FFF2-40B4-BE49-F238E27FC236}">
                <a16:creationId xmlns:a16="http://schemas.microsoft.com/office/drawing/2014/main" id="{CFFC9040-1568-E236-7CD0-E4712F1629B9}"/>
              </a:ext>
            </a:extLst>
          </p:cNvPr>
          <p:cNvSpPr>
            <a:spLocks noChangeShapeType="1"/>
          </p:cNvSpPr>
          <p:nvPr/>
        </p:nvSpPr>
        <p:spPr bwMode="auto">
          <a:xfrm>
            <a:off x="1778000" y="6100763"/>
            <a:ext cx="1587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85" name="Line 61">
            <a:extLst>
              <a:ext uri="{FF2B5EF4-FFF2-40B4-BE49-F238E27FC236}">
                <a16:creationId xmlns:a16="http://schemas.microsoft.com/office/drawing/2014/main" id="{A86821C4-B5CE-068B-0D63-1062BE1C8E55}"/>
              </a:ext>
            </a:extLst>
          </p:cNvPr>
          <p:cNvSpPr>
            <a:spLocks noChangeShapeType="1"/>
          </p:cNvSpPr>
          <p:nvPr/>
        </p:nvSpPr>
        <p:spPr bwMode="auto">
          <a:xfrm>
            <a:off x="2886075" y="6100763"/>
            <a:ext cx="1587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86" name="Line 62">
            <a:extLst>
              <a:ext uri="{FF2B5EF4-FFF2-40B4-BE49-F238E27FC236}">
                <a16:creationId xmlns:a16="http://schemas.microsoft.com/office/drawing/2014/main" id="{76E3631F-D09C-791A-640A-C1A309627146}"/>
              </a:ext>
            </a:extLst>
          </p:cNvPr>
          <p:cNvSpPr>
            <a:spLocks noChangeShapeType="1"/>
          </p:cNvSpPr>
          <p:nvPr/>
        </p:nvSpPr>
        <p:spPr bwMode="auto">
          <a:xfrm>
            <a:off x="3994150" y="6100763"/>
            <a:ext cx="1587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additive="base">
                                        <p:cTn id="7" dur="500" fill="hold"/>
                                        <p:tgtEl>
                                          <p:spTgt spid="26626"/>
                                        </p:tgtEl>
                                        <p:attrNameLst>
                                          <p:attrName>ppt_x</p:attrName>
                                        </p:attrNameLst>
                                      </p:cBhvr>
                                      <p:tavLst>
                                        <p:tav tm="0">
                                          <p:val>
                                            <p:strVal val="1+#ppt_w/2"/>
                                          </p:val>
                                        </p:tav>
                                        <p:tav tm="100000">
                                          <p:val>
                                            <p:strVal val="#ppt_x"/>
                                          </p:val>
                                        </p:tav>
                                      </p:tavLst>
                                    </p:anim>
                                    <p:anim calcmode="lin" valueType="num">
                                      <p:cBhvr additive="base">
                                        <p:cTn id="8" dur="500" fill="hold"/>
                                        <p:tgtEl>
                                          <p:spTgt spid="266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26634"/>
                                        </p:tgtEl>
                                        <p:attrNameLst>
                                          <p:attrName>style.visibility</p:attrName>
                                        </p:attrNameLst>
                                      </p:cBhvr>
                                      <p:to>
                                        <p:strVal val="visible"/>
                                      </p:to>
                                    </p:set>
                                    <p:animEffect transition="in" filter="fade">
                                      <p:cBhvr>
                                        <p:cTn id="13" dur="500"/>
                                        <p:tgtEl>
                                          <p:spTgt spid="26634"/>
                                        </p:tgtEl>
                                      </p:cBhvr>
                                    </p:animEffect>
                                  </p:childTnLst>
                                </p:cTn>
                              </p:par>
                              <p:par>
                                <p:cTn id="14" presetID="10" presetClass="entr" presetSubtype="0" fill="hold" nodeType="withEffect">
                                  <p:stCondLst>
                                    <p:cond delay="0"/>
                                  </p:stCondLst>
                                  <p:childTnLst>
                                    <p:set>
                                      <p:cBhvr>
                                        <p:cTn id="15" dur="1" fill="hold">
                                          <p:stCondLst>
                                            <p:cond delay="0"/>
                                          </p:stCondLst>
                                        </p:cTn>
                                        <p:tgtEl>
                                          <p:spTgt spid="26633"/>
                                        </p:tgtEl>
                                        <p:attrNameLst>
                                          <p:attrName>style.visibility</p:attrName>
                                        </p:attrNameLst>
                                      </p:cBhvr>
                                      <p:to>
                                        <p:strVal val="visible"/>
                                      </p:to>
                                    </p:set>
                                    <p:animEffect transition="in" filter="fade">
                                      <p:cBhvr>
                                        <p:cTn id="16" dur="500"/>
                                        <p:tgtEl>
                                          <p:spTgt spid="266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9" fill="hold" nodeType="clickEffect">
                                  <p:stCondLst>
                                    <p:cond delay="0"/>
                                  </p:stCondLst>
                                  <p:childTnLst>
                                    <p:set>
                                      <p:cBhvr>
                                        <p:cTn id="20" dur="1" fill="hold">
                                          <p:stCondLst>
                                            <p:cond delay="0"/>
                                          </p:stCondLst>
                                        </p:cTn>
                                        <p:tgtEl>
                                          <p:spTgt spid="26636"/>
                                        </p:tgtEl>
                                        <p:attrNameLst>
                                          <p:attrName>style.visibility</p:attrName>
                                        </p:attrNameLst>
                                      </p:cBhvr>
                                      <p:to>
                                        <p:strVal val="visible"/>
                                      </p:to>
                                    </p:set>
                                    <p:anim calcmode="lin" valueType="num">
                                      <p:cBhvr additive="base">
                                        <p:cTn id="21" dur="500" fill="hold"/>
                                        <p:tgtEl>
                                          <p:spTgt spid="26636"/>
                                        </p:tgtEl>
                                        <p:attrNameLst>
                                          <p:attrName>ppt_x</p:attrName>
                                        </p:attrNameLst>
                                      </p:cBhvr>
                                      <p:tavLst>
                                        <p:tav tm="0">
                                          <p:val>
                                            <p:strVal val="0-#ppt_w/2"/>
                                          </p:val>
                                        </p:tav>
                                        <p:tav tm="100000">
                                          <p:val>
                                            <p:strVal val="#ppt_x"/>
                                          </p:val>
                                        </p:tav>
                                      </p:tavLst>
                                    </p:anim>
                                    <p:anim calcmode="lin" valueType="num">
                                      <p:cBhvr additive="base">
                                        <p:cTn id="22" dur="500" fill="hold"/>
                                        <p:tgtEl>
                                          <p:spTgt spid="26636"/>
                                        </p:tgtEl>
                                        <p:attrNameLst>
                                          <p:attrName>ppt_y</p:attrName>
                                        </p:attrNameLst>
                                      </p:cBhvr>
                                      <p:tavLst>
                                        <p:tav tm="0">
                                          <p:val>
                                            <p:strVal val="0-#ppt_h/2"/>
                                          </p:val>
                                        </p:tav>
                                        <p:tav tm="100000">
                                          <p:val>
                                            <p:strVal val="#ppt_y"/>
                                          </p:val>
                                        </p:tav>
                                      </p:tavLst>
                                    </p:anim>
                                  </p:childTnLst>
                                </p:cTn>
                              </p:par>
                              <p:par>
                                <p:cTn id="23" presetID="2" presetClass="entr" presetSubtype="9" fill="hold" nodeType="withEffect">
                                  <p:stCondLst>
                                    <p:cond delay="0"/>
                                  </p:stCondLst>
                                  <p:childTnLst>
                                    <p:set>
                                      <p:cBhvr>
                                        <p:cTn id="24" dur="1" fill="hold">
                                          <p:stCondLst>
                                            <p:cond delay="0"/>
                                          </p:stCondLst>
                                        </p:cTn>
                                        <p:tgtEl>
                                          <p:spTgt spid="26638"/>
                                        </p:tgtEl>
                                        <p:attrNameLst>
                                          <p:attrName>style.visibility</p:attrName>
                                        </p:attrNameLst>
                                      </p:cBhvr>
                                      <p:to>
                                        <p:strVal val="visible"/>
                                      </p:to>
                                    </p:set>
                                    <p:anim calcmode="lin" valueType="num">
                                      <p:cBhvr additive="base">
                                        <p:cTn id="25" dur="500" fill="hold"/>
                                        <p:tgtEl>
                                          <p:spTgt spid="26638"/>
                                        </p:tgtEl>
                                        <p:attrNameLst>
                                          <p:attrName>ppt_x</p:attrName>
                                        </p:attrNameLst>
                                      </p:cBhvr>
                                      <p:tavLst>
                                        <p:tav tm="0">
                                          <p:val>
                                            <p:strVal val="0-#ppt_w/2"/>
                                          </p:val>
                                        </p:tav>
                                        <p:tav tm="100000">
                                          <p:val>
                                            <p:strVal val="#ppt_x"/>
                                          </p:val>
                                        </p:tav>
                                      </p:tavLst>
                                    </p:anim>
                                    <p:anim calcmode="lin" valueType="num">
                                      <p:cBhvr additive="base">
                                        <p:cTn id="26" dur="500" fill="hold"/>
                                        <p:tgtEl>
                                          <p:spTgt spid="26638"/>
                                        </p:tgtEl>
                                        <p:attrNameLst>
                                          <p:attrName>ppt_y</p:attrName>
                                        </p:attrNameLst>
                                      </p:cBhvr>
                                      <p:tavLst>
                                        <p:tav tm="0">
                                          <p:val>
                                            <p:strVal val="0-#ppt_h/2"/>
                                          </p:val>
                                        </p:tav>
                                        <p:tav tm="100000">
                                          <p:val>
                                            <p:strVal val="#ppt_y"/>
                                          </p:val>
                                        </p:tav>
                                      </p:tavLst>
                                    </p:anim>
                                  </p:childTnLst>
                                </p:cTn>
                              </p:par>
                              <p:par>
                                <p:cTn id="27" presetID="2" presetClass="entr" presetSubtype="9" fill="hold" nodeType="withEffect">
                                  <p:stCondLst>
                                    <p:cond delay="0"/>
                                  </p:stCondLst>
                                  <p:childTnLst>
                                    <p:set>
                                      <p:cBhvr>
                                        <p:cTn id="28" dur="1" fill="hold">
                                          <p:stCondLst>
                                            <p:cond delay="0"/>
                                          </p:stCondLst>
                                        </p:cTn>
                                        <p:tgtEl>
                                          <p:spTgt spid="26639"/>
                                        </p:tgtEl>
                                        <p:attrNameLst>
                                          <p:attrName>style.visibility</p:attrName>
                                        </p:attrNameLst>
                                      </p:cBhvr>
                                      <p:to>
                                        <p:strVal val="visible"/>
                                      </p:to>
                                    </p:set>
                                    <p:anim calcmode="lin" valueType="num">
                                      <p:cBhvr additive="base">
                                        <p:cTn id="29" dur="500" fill="hold"/>
                                        <p:tgtEl>
                                          <p:spTgt spid="26639"/>
                                        </p:tgtEl>
                                        <p:attrNameLst>
                                          <p:attrName>ppt_x</p:attrName>
                                        </p:attrNameLst>
                                      </p:cBhvr>
                                      <p:tavLst>
                                        <p:tav tm="0">
                                          <p:val>
                                            <p:strVal val="0-#ppt_w/2"/>
                                          </p:val>
                                        </p:tav>
                                        <p:tav tm="100000">
                                          <p:val>
                                            <p:strVal val="#ppt_x"/>
                                          </p:val>
                                        </p:tav>
                                      </p:tavLst>
                                    </p:anim>
                                    <p:anim calcmode="lin" valueType="num">
                                      <p:cBhvr additive="base">
                                        <p:cTn id="30" dur="500" fill="hold"/>
                                        <p:tgtEl>
                                          <p:spTgt spid="26639"/>
                                        </p:tgtEl>
                                        <p:attrNameLst>
                                          <p:attrName>ppt_y</p:attrName>
                                        </p:attrNameLst>
                                      </p:cBhvr>
                                      <p:tavLst>
                                        <p:tav tm="0">
                                          <p:val>
                                            <p:strVal val="0-#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3"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1+#ppt_w/2"/>
                                          </p:val>
                                        </p:tav>
                                        <p:tav tm="100000">
                                          <p:val>
                                            <p:strVal val="#ppt_x"/>
                                          </p:val>
                                        </p:tav>
                                      </p:tavLst>
                                    </p:anim>
                                    <p:anim calcmode="lin" valueType="num">
                                      <p:cBhvr additive="base">
                                        <p:cTn id="36"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26642"/>
                                        </p:tgtEl>
                                        <p:attrNameLst>
                                          <p:attrName>style.visibility</p:attrName>
                                        </p:attrNameLst>
                                      </p:cBhvr>
                                      <p:to>
                                        <p:strVal val="visible"/>
                                      </p:to>
                                    </p:set>
                                    <p:anim calcmode="lin" valueType="num">
                                      <p:cBhvr additive="base">
                                        <p:cTn id="41" dur="500" fill="hold"/>
                                        <p:tgtEl>
                                          <p:spTgt spid="26642"/>
                                        </p:tgtEl>
                                        <p:attrNameLst>
                                          <p:attrName>ppt_x</p:attrName>
                                        </p:attrNameLst>
                                      </p:cBhvr>
                                      <p:tavLst>
                                        <p:tav tm="0">
                                          <p:val>
                                            <p:strVal val="0-#ppt_w/2"/>
                                          </p:val>
                                        </p:tav>
                                        <p:tav tm="100000">
                                          <p:val>
                                            <p:strVal val="#ppt_x"/>
                                          </p:val>
                                        </p:tav>
                                      </p:tavLst>
                                    </p:anim>
                                    <p:anim calcmode="lin" valueType="num">
                                      <p:cBhvr additive="base">
                                        <p:cTn id="42" dur="500" fill="hold"/>
                                        <p:tgtEl>
                                          <p:spTgt spid="26642"/>
                                        </p:tgtEl>
                                        <p:attrNameLst>
                                          <p:attrName>ppt_y</p:attrName>
                                        </p:attrNameLst>
                                      </p:cBhvr>
                                      <p:tavLst>
                                        <p:tav tm="0">
                                          <p:val>
                                            <p:strVal val="#ppt_y"/>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26641"/>
                                        </p:tgtEl>
                                        <p:attrNameLst>
                                          <p:attrName>style.visibility</p:attrName>
                                        </p:attrNameLst>
                                      </p:cBhvr>
                                      <p:to>
                                        <p:strVal val="visible"/>
                                      </p:to>
                                    </p:set>
                                    <p:anim calcmode="lin" valueType="num">
                                      <p:cBhvr additive="base">
                                        <p:cTn id="45" dur="500" fill="hold"/>
                                        <p:tgtEl>
                                          <p:spTgt spid="26641"/>
                                        </p:tgtEl>
                                        <p:attrNameLst>
                                          <p:attrName>ppt_x</p:attrName>
                                        </p:attrNameLst>
                                      </p:cBhvr>
                                      <p:tavLst>
                                        <p:tav tm="0">
                                          <p:val>
                                            <p:strVal val="0-#ppt_w/2"/>
                                          </p:val>
                                        </p:tav>
                                        <p:tav tm="100000">
                                          <p:val>
                                            <p:strVal val="#ppt_x"/>
                                          </p:val>
                                        </p:tav>
                                      </p:tavLst>
                                    </p:anim>
                                    <p:anim calcmode="lin" valueType="num">
                                      <p:cBhvr additive="base">
                                        <p:cTn id="46" dur="500" fill="hold"/>
                                        <p:tgtEl>
                                          <p:spTgt spid="26641"/>
                                        </p:tgtEl>
                                        <p:attrNameLst>
                                          <p:attrName>ppt_y</p:attrName>
                                        </p:attrNameLst>
                                      </p:cBhvr>
                                      <p:tavLst>
                                        <p:tav tm="0">
                                          <p:val>
                                            <p:strVal val="#ppt_y"/>
                                          </p:val>
                                        </p:tav>
                                        <p:tav tm="100000">
                                          <p:val>
                                            <p:strVal val="#ppt_y"/>
                                          </p:val>
                                        </p:tav>
                                      </p:tavLst>
                                    </p:anim>
                                  </p:childTnLst>
                                </p:cTn>
                              </p:par>
                              <p:par>
                                <p:cTn id="47" presetID="2" presetClass="entr" presetSubtype="8" fill="hold" nodeType="withEffect">
                                  <p:stCondLst>
                                    <p:cond delay="0"/>
                                  </p:stCondLst>
                                  <p:childTnLst>
                                    <p:set>
                                      <p:cBhvr>
                                        <p:cTn id="48" dur="1" fill="hold">
                                          <p:stCondLst>
                                            <p:cond delay="0"/>
                                          </p:stCondLst>
                                        </p:cTn>
                                        <p:tgtEl>
                                          <p:spTgt spid="26643"/>
                                        </p:tgtEl>
                                        <p:attrNameLst>
                                          <p:attrName>style.visibility</p:attrName>
                                        </p:attrNameLst>
                                      </p:cBhvr>
                                      <p:to>
                                        <p:strVal val="visible"/>
                                      </p:to>
                                    </p:set>
                                    <p:anim calcmode="lin" valueType="num">
                                      <p:cBhvr additive="base">
                                        <p:cTn id="49" dur="500" fill="hold"/>
                                        <p:tgtEl>
                                          <p:spTgt spid="26643"/>
                                        </p:tgtEl>
                                        <p:attrNameLst>
                                          <p:attrName>ppt_x</p:attrName>
                                        </p:attrNameLst>
                                      </p:cBhvr>
                                      <p:tavLst>
                                        <p:tav tm="0">
                                          <p:val>
                                            <p:strVal val="0-#ppt_w/2"/>
                                          </p:val>
                                        </p:tav>
                                        <p:tav tm="100000">
                                          <p:val>
                                            <p:strVal val="#ppt_x"/>
                                          </p:val>
                                        </p:tav>
                                      </p:tavLst>
                                    </p:anim>
                                    <p:anim calcmode="lin" valueType="num">
                                      <p:cBhvr additive="base">
                                        <p:cTn id="50" dur="500" fill="hold"/>
                                        <p:tgtEl>
                                          <p:spTgt spid="26643"/>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26645"/>
                                        </p:tgtEl>
                                        <p:attrNameLst>
                                          <p:attrName>style.visibility</p:attrName>
                                        </p:attrNameLst>
                                      </p:cBhvr>
                                      <p:to>
                                        <p:strVal val="visible"/>
                                      </p:to>
                                    </p:set>
                                    <p:anim calcmode="lin" valueType="num">
                                      <p:cBhvr additive="base">
                                        <p:cTn id="55" dur="500" fill="hold"/>
                                        <p:tgtEl>
                                          <p:spTgt spid="26645"/>
                                        </p:tgtEl>
                                        <p:attrNameLst>
                                          <p:attrName>ppt_x</p:attrName>
                                        </p:attrNameLst>
                                      </p:cBhvr>
                                      <p:tavLst>
                                        <p:tav tm="0">
                                          <p:val>
                                            <p:strVal val="1+#ppt_w/2"/>
                                          </p:val>
                                        </p:tav>
                                        <p:tav tm="100000">
                                          <p:val>
                                            <p:strVal val="#ppt_x"/>
                                          </p:val>
                                        </p:tav>
                                      </p:tavLst>
                                    </p:anim>
                                    <p:anim calcmode="lin" valueType="num">
                                      <p:cBhvr additive="base">
                                        <p:cTn id="56" dur="500" fill="hold"/>
                                        <p:tgtEl>
                                          <p:spTgt spid="26645"/>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stCondLst>
                                    <p:cond delay="0"/>
                                  </p:stCondLst>
                                  <p:childTnLst>
                                    <p:set>
                                      <p:cBhvr>
                                        <p:cTn id="58" dur="1" fill="hold">
                                          <p:stCondLst>
                                            <p:cond delay="0"/>
                                          </p:stCondLst>
                                        </p:cTn>
                                        <p:tgtEl>
                                          <p:spTgt spid="26646"/>
                                        </p:tgtEl>
                                        <p:attrNameLst>
                                          <p:attrName>style.visibility</p:attrName>
                                        </p:attrNameLst>
                                      </p:cBhvr>
                                      <p:to>
                                        <p:strVal val="visible"/>
                                      </p:to>
                                    </p:set>
                                    <p:anim calcmode="lin" valueType="num">
                                      <p:cBhvr additive="base">
                                        <p:cTn id="59" dur="500" fill="hold"/>
                                        <p:tgtEl>
                                          <p:spTgt spid="26646"/>
                                        </p:tgtEl>
                                        <p:attrNameLst>
                                          <p:attrName>ppt_x</p:attrName>
                                        </p:attrNameLst>
                                      </p:cBhvr>
                                      <p:tavLst>
                                        <p:tav tm="0">
                                          <p:val>
                                            <p:strVal val="1+#ppt_w/2"/>
                                          </p:val>
                                        </p:tav>
                                        <p:tav tm="100000">
                                          <p:val>
                                            <p:strVal val="#ppt_x"/>
                                          </p:val>
                                        </p:tav>
                                      </p:tavLst>
                                    </p:anim>
                                    <p:anim calcmode="lin" valueType="num">
                                      <p:cBhvr additive="base">
                                        <p:cTn id="60" dur="500" fill="hold"/>
                                        <p:tgtEl>
                                          <p:spTgt spid="26646"/>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26647"/>
                                        </p:tgtEl>
                                        <p:attrNameLst>
                                          <p:attrName>style.visibility</p:attrName>
                                        </p:attrNameLst>
                                      </p:cBhvr>
                                      <p:to>
                                        <p:strVal val="visible"/>
                                      </p:to>
                                    </p:set>
                                    <p:anim calcmode="lin" valueType="num">
                                      <p:cBhvr additive="base">
                                        <p:cTn id="63" dur="500" fill="hold"/>
                                        <p:tgtEl>
                                          <p:spTgt spid="26647"/>
                                        </p:tgtEl>
                                        <p:attrNameLst>
                                          <p:attrName>ppt_x</p:attrName>
                                        </p:attrNameLst>
                                      </p:cBhvr>
                                      <p:tavLst>
                                        <p:tav tm="0">
                                          <p:val>
                                            <p:strVal val="1+#ppt_w/2"/>
                                          </p:val>
                                        </p:tav>
                                        <p:tav tm="100000">
                                          <p:val>
                                            <p:strVal val="#ppt_x"/>
                                          </p:val>
                                        </p:tav>
                                      </p:tavLst>
                                    </p:anim>
                                    <p:anim calcmode="lin" valueType="num">
                                      <p:cBhvr additive="base">
                                        <p:cTn id="64" dur="500" fill="hold"/>
                                        <p:tgtEl>
                                          <p:spTgt spid="26647"/>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wipe(up)">
                                      <p:cBhvr>
                                        <p:cTn id="69" dur="500"/>
                                        <p:tgtEl>
                                          <p:spTgt spid="2"/>
                                        </p:tgtEl>
                                      </p:cBhvr>
                                    </p:animEffect>
                                  </p:childTnLst>
                                </p:cTn>
                              </p:par>
                              <p:par>
                                <p:cTn id="70" presetID="22" presetClass="entr" presetSubtype="1" fill="hold" nodeType="with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up)">
                                      <p:cBhvr>
                                        <p:cTn id="72" dur="500"/>
                                        <p:tgtEl>
                                          <p:spTgt spid="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26628"/>
                                        </p:tgtEl>
                                        <p:attrNameLst>
                                          <p:attrName>style.visibility</p:attrName>
                                        </p:attrNameLst>
                                      </p:cBhvr>
                                      <p:to>
                                        <p:strVal val="visible"/>
                                      </p:to>
                                    </p:set>
                                    <p:animEffect transition="in" filter="wipe(up)">
                                      <p:cBhvr>
                                        <p:cTn id="77" dur="500"/>
                                        <p:tgtEl>
                                          <p:spTgt spid="26628"/>
                                        </p:tgtEl>
                                      </p:cBhvr>
                                    </p:animEffect>
                                  </p:childTnLst>
                                </p:cTn>
                              </p:par>
                              <p:par>
                                <p:cTn id="78" presetID="22" presetClass="entr" presetSubtype="1" fill="hold" nodeType="withEffect">
                                  <p:stCondLst>
                                    <p:cond delay="0"/>
                                  </p:stCondLst>
                                  <p:childTnLst>
                                    <p:set>
                                      <p:cBhvr>
                                        <p:cTn id="79" dur="1" fill="hold">
                                          <p:stCondLst>
                                            <p:cond delay="0"/>
                                          </p:stCondLst>
                                        </p:cTn>
                                        <p:tgtEl>
                                          <p:spTgt spid="4"/>
                                        </p:tgtEl>
                                        <p:attrNameLst>
                                          <p:attrName>style.visibility</p:attrName>
                                        </p:attrNameLst>
                                      </p:cBhvr>
                                      <p:to>
                                        <p:strVal val="visible"/>
                                      </p:to>
                                    </p:set>
                                    <p:animEffect transition="in" filter="wipe(up)">
                                      <p:cBhvr>
                                        <p:cTn id="80" dur="500"/>
                                        <p:tgtEl>
                                          <p:spTgt spid="4"/>
                                        </p:tgtEl>
                                      </p:cBhvr>
                                    </p:animEffect>
                                  </p:childTnLst>
                                </p:cTn>
                              </p:par>
                              <p:par>
                                <p:cTn id="81" presetID="22" presetClass="entr" presetSubtype="1" fill="hold" nodeType="withEffect">
                                  <p:stCondLst>
                                    <p:cond delay="0"/>
                                  </p:stCondLst>
                                  <p:childTnLst>
                                    <p:set>
                                      <p:cBhvr>
                                        <p:cTn id="82" dur="1" fill="hold">
                                          <p:stCondLst>
                                            <p:cond delay="0"/>
                                          </p:stCondLst>
                                        </p:cTn>
                                        <p:tgtEl>
                                          <p:spTgt spid="26682"/>
                                        </p:tgtEl>
                                        <p:attrNameLst>
                                          <p:attrName>style.visibility</p:attrName>
                                        </p:attrNameLst>
                                      </p:cBhvr>
                                      <p:to>
                                        <p:strVal val="visible"/>
                                      </p:to>
                                    </p:set>
                                    <p:animEffect transition="in" filter="wipe(up)">
                                      <p:cBhvr>
                                        <p:cTn id="83" dur="500"/>
                                        <p:tgtEl>
                                          <p:spTgt spid="2668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26671"/>
                                        </p:tgtEl>
                                        <p:attrNameLst>
                                          <p:attrName>style.visibility</p:attrName>
                                        </p:attrNameLst>
                                      </p:cBhvr>
                                      <p:to>
                                        <p:strVal val="visible"/>
                                      </p:to>
                                    </p:set>
                                    <p:animEffect transition="in" filter="wipe(left)">
                                      <p:cBhvr>
                                        <p:cTn id="88" dur="500"/>
                                        <p:tgtEl>
                                          <p:spTgt spid="26671"/>
                                        </p:tgtEl>
                                      </p:cBhvr>
                                    </p:animEffect>
                                  </p:childTnLst>
                                </p:cTn>
                              </p:par>
                              <p:par>
                                <p:cTn id="89" presetID="22" presetClass="entr" presetSubtype="8" fill="hold" nodeType="withEffect">
                                  <p:stCondLst>
                                    <p:cond delay="0"/>
                                  </p:stCondLst>
                                  <p:childTnLst>
                                    <p:set>
                                      <p:cBhvr>
                                        <p:cTn id="90" dur="1" fill="hold">
                                          <p:stCondLst>
                                            <p:cond delay="0"/>
                                          </p:stCondLst>
                                        </p:cTn>
                                        <p:tgtEl>
                                          <p:spTgt spid="26672"/>
                                        </p:tgtEl>
                                        <p:attrNameLst>
                                          <p:attrName>style.visibility</p:attrName>
                                        </p:attrNameLst>
                                      </p:cBhvr>
                                      <p:to>
                                        <p:strVal val="visible"/>
                                      </p:to>
                                    </p:set>
                                    <p:animEffect transition="in" filter="wipe(left)">
                                      <p:cBhvr>
                                        <p:cTn id="91" dur="500"/>
                                        <p:tgtEl>
                                          <p:spTgt spid="26672"/>
                                        </p:tgtEl>
                                      </p:cBhvr>
                                    </p:animEffect>
                                  </p:childTnLst>
                                </p:cTn>
                              </p:par>
                              <p:par>
                                <p:cTn id="92" presetID="22" presetClass="entr" presetSubtype="8" fill="hold" nodeType="withEffect">
                                  <p:stCondLst>
                                    <p:cond delay="0"/>
                                  </p:stCondLst>
                                  <p:childTnLst>
                                    <p:set>
                                      <p:cBhvr>
                                        <p:cTn id="93" dur="1" fill="hold">
                                          <p:stCondLst>
                                            <p:cond delay="0"/>
                                          </p:stCondLst>
                                        </p:cTn>
                                        <p:tgtEl>
                                          <p:spTgt spid="26673"/>
                                        </p:tgtEl>
                                        <p:attrNameLst>
                                          <p:attrName>style.visibility</p:attrName>
                                        </p:attrNameLst>
                                      </p:cBhvr>
                                      <p:to>
                                        <p:strVal val="visible"/>
                                      </p:to>
                                    </p:set>
                                    <p:animEffect transition="in" filter="wipe(left)">
                                      <p:cBhvr>
                                        <p:cTn id="94" dur="500"/>
                                        <p:tgtEl>
                                          <p:spTgt spid="26673"/>
                                        </p:tgtEl>
                                      </p:cBhvr>
                                    </p:animEffect>
                                  </p:childTnLst>
                                </p:cTn>
                              </p:par>
                              <p:par>
                                <p:cTn id="95" presetID="22" presetClass="entr" presetSubtype="8" fill="hold" nodeType="withEffect">
                                  <p:stCondLst>
                                    <p:cond delay="0"/>
                                  </p:stCondLst>
                                  <p:childTnLst>
                                    <p:set>
                                      <p:cBhvr>
                                        <p:cTn id="96" dur="1" fill="hold">
                                          <p:stCondLst>
                                            <p:cond delay="0"/>
                                          </p:stCondLst>
                                        </p:cTn>
                                        <p:tgtEl>
                                          <p:spTgt spid="26674"/>
                                        </p:tgtEl>
                                        <p:attrNameLst>
                                          <p:attrName>style.visibility</p:attrName>
                                        </p:attrNameLst>
                                      </p:cBhvr>
                                      <p:to>
                                        <p:strVal val="visible"/>
                                      </p:to>
                                    </p:set>
                                    <p:animEffect transition="in" filter="wipe(left)">
                                      <p:cBhvr>
                                        <p:cTn id="97" dur="500"/>
                                        <p:tgtEl>
                                          <p:spTgt spid="26674"/>
                                        </p:tgtEl>
                                      </p:cBhvr>
                                    </p:animEffect>
                                  </p:childTnLst>
                                </p:cTn>
                              </p:par>
                              <p:par>
                                <p:cTn id="98" presetID="22" presetClass="entr" presetSubtype="8" fill="hold" nodeType="withEffect">
                                  <p:stCondLst>
                                    <p:cond delay="0"/>
                                  </p:stCondLst>
                                  <p:childTnLst>
                                    <p:set>
                                      <p:cBhvr>
                                        <p:cTn id="99" dur="1" fill="hold">
                                          <p:stCondLst>
                                            <p:cond delay="0"/>
                                          </p:stCondLst>
                                        </p:cTn>
                                        <p:tgtEl>
                                          <p:spTgt spid="26678"/>
                                        </p:tgtEl>
                                        <p:attrNameLst>
                                          <p:attrName>style.visibility</p:attrName>
                                        </p:attrNameLst>
                                      </p:cBhvr>
                                      <p:to>
                                        <p:strVal val="visible"/>
                                      </p:to>
                                    </p:set>
                                    <p:animEffect transition="in" filter="wipe(left)">
                                      <p:cBhvr>
                                        <p:cTn id="100" dur="500"/>
                                        <p:tgtEl>
                                          <p:spTgt spid="26678"/>
                                        </p:tgtEl>
                                      </p:cBhvr>
                                    </p:animEffect>
                                  </p:childTnLst>
                                </p:cTn>
                              </p:par>
                              <p:par>
                                <p:cTn id="101" presetID="22" presetClass="entr" presetSubtype="8" fill="hold" nodeType="withEffect">
                                  <p:stCondLst>
                                    <p:cond delay="0"/>
                                  </p:stCondLst>
                                  <p:childTnLst>
                                    <p:set>
                                      <p:cBhvr>
                                        <p:cTn id="102" dur="1" fill="hold">
                                          <p:stCondLst>
                                            <p:cond delay="0"/>
                                          </p:stCondLst>
                                        </p:cTn>
                                        <p:tgtEl>
                                          <p:spTgt spid="26684"/>
                                        </p:tgtEl>
                                        <p:attrNameLst>
                                          <p:attrName>style.visibility</p:attrName>
                                        </p:attrNameLst>
                                      </p:cBhvr>
                                      <p:to>
                                        <p:strVal val="visible"/>
                                      </p:to>
                                    </p:set>
                                    <p:animEffect transition="in" filter="wipe(left)">
                                      <p:cBhvr>
                                        <p:cTn id="103" dur="500"/>
                                        <p:tgtEl>
                                          <p:spTgt spid="26684"/>
                                        </p:tgtEl>
                                      </p:cBhvr>
                                    </p:animEffect>
                                  </p:childTnLst>
                                </p:cTn>
                              </p:par>
                              <p:par>
                                <p:cTn id="104" presetID="22" presetClass="entr" presetSubtype="8" fill="hold" nodeType="withEffect">
                                  <p:stCondLst>
                                    <p:cond delay="0"/>
                                  </p:stCondLst>
                                  <p:childTnLst>
                                    <p:set>
                                      <p:cBhvr>
                                        <p:cTn id="105" dur="1" fill="hold">
                                          <p:stCondLst>
                                            <p:cond delay="0"/>
                                          </p:stCondLst>
                                        </p:cTn>
                                        <p:tgtEl>
                                          <p:spTgt spid="26675"/>
                                        </p:tgtEl>
                                        <p:attrNameLst>
                                          <p:attrName>style.visibility</p:attrName>
                                        </p:attrNameLst>
                                      </p:cBhvr>
                                      <p:to>
                                        <p:strVal val="visible"/>
                                      </p:to>
                                    </p:set>
                                    <p:animEffect transition="in" filter="wipe(left)">
                                      <p:cBhvr>
                                        <p:cTn id="106" dur="500"/>
                                        <p:tgtEl>
                                          <p:spTgt spid="26675"/>
                                        </p:tgtEl>
                                      </p:cBhvr>
                                    </p:animEffect>
                                  </p:childTnLst>
                                </p:cTn>
                              </p:par>
                              <p:par>
                                <p:cTn id="107" presetID="22" presetClass="entr" presetSubtype="8" fill="hold" nodeType="withEffect">
                                  <p:stCondLst>
                                    <p:cond delay="0"/>
                                  </p:stCondLst>
                                  <p:childTnLst>
                                    <p:set>
                                      <p:cBhvr>
                                        <p:cTn id="108" dur="1" fill="hold">
                                          <p:stCondLst>
                                            <p:cond delay="0"/>
                                          </p:stCondLst>
                                        </p:cTn>
                                        <p:tgtEl>
                                          <p:spTgt spid="26679"/>
                                        </p:tgtEl>
                                        <p:attrNameLst>
                                          <p:attrName>style.visibility</p:attrName>
                                        </p:attrNameLst>
                                      </p:cBhvr>
                                      <p:to>
                                        <p:strVal val="visible"/>
                                      </p:to>
                                    </p:set>
                                    <p:animEffect transition="in" filter="wipe(left)">
                                      <p:cBhvr>
                                        <p:cTn id="109" dur="500"/>
                                        <p:tgtEl>
                                          <p:spTgt spid="26679"/>
                                        </p:tgtEl>
                                      </p:cBhvr>
                                    </p:animEffect>
                                  </p:childTnLst>
                                </p:cTn>
                              </p:par>
                              <p:par>
                                <p:cTn id="110" presetID="22" presetClass="entr" presetSubtype="8" fill="hold" nodeType="withEffect">
                                  <p:stCondLst>
                                    <p:cond delay="0"/>
                                  </p:stCondLst>
                                  <p:childTnLst>
                                    <p:set>
                                      <p:cBhvr>
                                        <p:cTn id="111" dur="1" fill="hold">
                                          <p:stCondLst>
                                            <p:cond delay="0"/>
                                          </p:stCondLst>
                                        </p:cTn>
                                        <p:tgtEl>
                                          <p:spTgt spid="26683"/>
                                        </p:tgtEl>
                                        <p:attrNameLst>
                                          <p:attrName>style.visibility</p:attrName>
                                        </p:attrNameLst>
                                      </p:cBhvr>
                                      <p:to>
                                        <p:strVal val="visible"/>
                                      </p:to>
                                    </p:set>
                                    <p:animEffect transition="in" filter="wipe(left)">
                                      <p:cBhvr>
                                        <p:cTn id="112" dur="500"/>
                                        <p:tgtEl>
                                          <p:spTgt spid="26683"/>
                                        </p:tgtEl>
                                      </p:cBhvr>
                                    </p:animEffect>
                                  </p:childTnLst>
                                </p:cTn>
                              </p:par>
                              <p:par>
                                <p:cTn id="113" presetID="22" presetClass="entr" presetSubtype="8" fill="hold" nodeType="withEffect">
                                  <p:stCondLst>
                                    <p:cond delay="0"/>
                                  </p:stCondLst>
                                  <p:childTnLst>
                                    <p:set>
                                      <p:cBhvr>
                                        <p:cTn id="114" dur="1" fill="hold">
                                          <p:stCondLst>
                                            <p:cond delay="0"/>
                                          </p:stCondLst>
                                        </p:cTn>
                                        <p:tgtEl>
                                          <p:spTgt spid="26685"/>
                                        </p:tgtEl>
                                        <p:attrNameLst>
                                          <p:attrName>style.visibility</p:attrName>
                                        </p:attrNameLst>
                                      </p:cBhvr>
                                      <p:to>
                                        <p:strVal val="visible"/>
                                      </p:to>
                                    </p:set>
                                    <p:animEffect transition="in" filter="wipe(left)">
                                      <p:cBhvr>
                                        <p:cTn id="115" dur="500"/>
                                        <p:tgtEl>
                                          <p:spTgt spid="26685"/>
                                        </p:tgtEl>
                                      </p:cBhvr>
                                    </p:animEffect>
                                  </p:childTnLst>
                                </p:cTn>
                              </p:par>
                              <p:par>
                                <p:cTn id="116" presetID="22" presetClass="entr" presetSubtype="8" fill="hold" nodeType="withEffect">
                                  <p:stCondLst>
                                    <p:cond delay="0"/>
                                  </p:stCondLst>
                                  <p:childTnLst>
                                    <p:set>
                                      <p:cBhvr>
                                        <p:cTn id="117" dur="1" fill="hold">
                                          <p:stCondLst>
                                            <p:cond delay="0"/>
                                          </p:stCondLst>
                                        </p:cTn>
                                        <p:tgtEl>
                                          <p:spTgt spid="26676"/>
                                        </p:tgtEl>
                                        <p:attrNameLst>
                                          <p:attrName>style.visibility</p:attrName>
                                        </p:attrNameLst>
                                      </p:cBhvr>
                                      <p:to>
                                        <p:strVal val="visible"/>
                                      </p:to>
                                    </p:set>
                                    <p:animEffect transition="in" filter="wipe(left)">
                                      <p:cBhvr>
                                        <p:cTn id="118" dur="500"/>
                                        <p:tgtEl>
                                          <p:spTgt spid="26676"/>
                                        </p:tgtEl>
                                      </p:cBhvr>
                                    </p:animEffect>
                                  </p:childTnLst>
                                </p:cTn>
                              </p:par>
                              <p:par>
                                <p:cTn id="119" presetID="22" presetClass="entr" presetSubtype="8" fill="hold" nodeType="withEffect">
                                  <p:stCondLst>
                                    <p:cond delay="0"/>
                                  </p:stCondLst>
                                  <p:childTnLst>
                                    <p:set>
                                      <p:cBhvr>
                                        <p:cTn id="120" dur="1" fill="hold">
                                          <p:stCondLst>
                                            <p:cond delay="0"/>
                                          </p:stCondLst>
                                        </p:cTn>
                                        <p:tgtEl>
                                          <p:spTgt spid="26680"/>
                                        </p:tgtEl>
                                        <p:attrNameLst>
                                          <p:attrName>style.visibility</p:attrName>
                                        </p:attrNameLst>
                                      </p:cBhvr>
                                      <p:to>
                                        <p:strVal val="visible"/>
                                      </p:to>
                                    </p:set>
                                    <p:animEffect transition="in" filter="wipe(left)">
                                      <p:cBhvr>
                                        <p:cTn id="121" dur="500"/>
                                        <p:tgtEl>
                                          <p:spTgt spid="26680"/>
                                        </p:tgtEl>
                                      </p:cBhvr>
                                    </p:animEffect>
                                  </p:childTnLst>
                                </p:cTn>
                              </p:par>
                              <p:par>
                                <p:cTn id="122" presetID="22" presetClass="entr" presetSubtype="8" fill="hold" nodeType="withEffect">
                                  <p:stCondLst>
                                    <p:cond delay="0"/>
                                  </p:stCondLst>
                                  <p:childTnLst>
                                    <p:set>
                                      <p:cBhvr>
                                        <p:cTn id="123" dur="1" fill="hold">
                                          <p:stCondLst>
                                            <p:cond delay="0"/>
                                          </p:stCondLst>
                                        </p:cTn>
                                        <p:tgtEl>
                                          <p:spTgt spid="26686"/>
                                        </p:tgtEl>
                                        <p:attrNameLst>
                                          <p:attrName>style.visibility</p:attrName>
                                        </p:attrNameLst>
                                      </p:cBhvr>
                                      <p:to>
                                        <p:strVal val="visible"/>
                                      </p:to>
                                    </p:set>
                                    <p:animEffect transition="in" filter="wipe(left)">
                                      <p:cBhvr>
                                        <p:cTn id="124" dur="500"/>
                                        <p:tgtEl>
                                          <p:spTgt spid="26686"/>
                                        </p:tgtEl>
                                      </p:cBhvr>
                                    </p:animEffect>
                                  </p:childTnLst>
                                </p:cTn>
                              </p:par>
                              <p:par>
                                <p:cTn id="125" presetID="22" presetClass="entr" presetSubtype="8" fill="hold" nodeType="withEffect">
                                  <p:stCondLst>
                                    <p:cond delay="0"/>
                                  </p:stCondLst>
                                  <p:childTnLst>
                                    <p:set>
                                      <p:cBhvr>
                                        <p:cTn id="126" dur="1" fill="hold">
                                          <p:stCondLst>
                                            <p:cond delay="0"/>
                                          </p:stCondLst>
                                        </p:cTn>
                                        <p:tgtEl>
                                          <p:spTgt spid="26677"/>
                                        </p:tgtEl>
                                        <p:attrNameLst>
                                          <p:attrName>style.visibility</p:attrName>
                                        </p:attrNameLst>
                                      </p:cBhvr>
                                      <p:to>
                                        <p:strVal val="visible"/>
                                      </p:to>
                                    </p:set>
                                    <p:animEffect transition="in" filter="wipe(left)">
                                      <p:cBhvr>
                                        <p:cTn id="127" dur="500"/>
                                        <p:tgtEl>
                                          <p:spTgt spid="26677"/>
                                        </p:tgtEl>
                                      </p:cBhvr>
                                    </p:animEffect>
                                  </p:childTnLst>
                                </p:cTn>
                              </p:par>
                              <p:par>
                                <p:cTn id="128" presetID="22" presetClass="entr" presetSubtype="8" fill="hold" nodeType="withEffect">
                                  <p:stCondLst>
                                    <p:cond delay="0"/>
                                  </p:stCondLst>
                                  <p:childTnLst>
                                    <p:set>
                                      <p:cBhvr>
                                        <p:cTn id="129" dur="1" fill="hold">
                                          <p:stCondLst>
                                            <p:cond delay="0"/>
                                          </p:stCondLst>
                                        </p:cTn>
                                        <p:tgtEl>
                                          <p:spTgt spid="26681"/>
                                        </p:tgtEl>
                                        <p:attrNameLst>
                                          <p:attrName>style.visibility</p:attrName>
                                        </p:attrNameLst>
                                      </p:cBhvr>
                                      <p:to>
                                        <p:strVal val="visible"/>
                                      </p:to>
                                    </p:set>
                                    <p:animEffect transition="in" filter="wipe(left)">
                                      <p:cBhvr>
                                        <p:cTn id="130" dur="500"/>
                                        <p:tgtEl>
                                          <p:spTgt spid="26681"/>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8"/>
                                        </p:tgtEl>
                                        <p:attrNameLst>
                                          <p:attrName>style.visibility</p:attrName>
                                        </p:attrNameLst>
                                      </p:cBhvr>
                                      <p:to>
                                        <p:strVal val="visible"/>
                                      </p:to>
                                    </p:set>
                                    <p:animEffect transition="in" filter="wipe(left)">
                                      <p:cBhvr>
                                        <p:cTn id="135" dur="500"/>
                                        <p:tgtEl>
                                          <p:spTgt spid="8"/>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0" presetClass="entr" presetSubtype="0" fill="hold" nodeType="clickEffect">
                                  <p:stCondLst>
                                    <p:cond delay="0"/>
                                  </p:stCondLst>
                                  <p:childTnLst>
                                    <p:set>
                                      <p:cBhvr>
                                        <p:cTn id="139" dur="1" fill="hold">
                                          <p:stCondLst>
                                            <p:cond delay="0"/>
                                          </p:stCondLst>
                                        </p:cTn>
                                        <p:tgtEl>
                                          <p:spTgt spid="7"/>
                                        </p:tgtEl>
                                        <p:attrNameLst>
                                          <p:attrName>style.visibility</p:attrName>
                                        </p:attrNameLst>
                                      </p:cBhvr>
                                      <p:to>
                                        <p:strVal val="visible"/>
                                      </p:to>
                                    </p:set>
                                    <p:animEffect transition="in" filter="fade">
                                      <p:cBhvr>
                                        <p:cTn id="1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8" grpId="0"/>
      <p:bldP spid="26633" grpId="0" animBg="1"/>
      <p:bldP spid="26634" grpId="0"/>
      <p:bldP spid="26636" grpId="0" animBg="1"/>
      <p:bldP spid="26638" grpId="0"/>
      <p:bldP spid="26641" grpId="0" animBg="1"/>
      <p:bldP spid="26642" grpId="0"/>
      <p:bldP spid="26645" grpId="0" animBg="1"/>
      <p:bldP spid="26646" grpId="0"/>
      <p:bldP spid="26672" grpId="0" animBg="1"/>
      <p:bldP spid="26673" grpId="0"/>
      <p:bldP spid="26674" grpId="0" animBg="1"/>
      <p:bldP spid="26675" grpId="0" animBg="1"/>
      <p:bldP spid="26676" grpId="0" animBg="1"/>
      <p:bldP spid="26677" grpId="0" animBg="1"/>
      <p:bldP spid="26678" grpId="0"/>
      <p:bldP spid="26679" grpId="0"/>
      <p:bldP spid="26680" grpId="0"/>
      <p:bldP spid="2668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17DBF2FC-B71A-A29D-1B1E-F809EA56CAB4}"/>
              </a:ext>
            </a:extLst>
          </p:cNvPr>
          <p:cNvSpPr>
            <a:spLocks noGrp="1" noChangeArrowheads="1"/>
          </p:cNvSpPr>
          <p:nvPr>
            <p:ph type="title"/>
          </p:nvPr>
        </p:nvSpPr>
        <p:spPr bwMode="auto">
          <a:xfrm>
            <a:off x="3214688" y="228600"/>
            <a:ext cx="585311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Any Questions ?</a:t>
            </a:r>
          </a:p>
        </p:txBody>
      </p:sp>
      <p:pic>
        <p:nvPicPr>
          <p:cNvPr id="284675" name="Picture 3" descr="j0078811">
            <a:extLst>
              <a:ext uri="{FF2B5EF4-FFF2-40B4-BE49-F238E27FC236}">
                <a16:creationId xmlns:a16="http://schemas.microsoft.com/office/drawing/2014/main" id="{7D034511-06D6-9558-A41B-625B1FC2B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371600"/>
            <a:ext cx="5029200" cy="469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84674"/>
                                        </p:tgtEl>
                                        <p:attrNameLst>
                                          <p:attrName>style.visibility</p:attrName>
                                        </p:attrNameLst>
                                      </p:cBhvr>
                                      <p:to>
                                        <p:strVal val="visible"/>
                                      </p:to>
                                    </p:set>
                                    <p:anim calcmode="lin" valueType="num">
                                      <p:cBhvr additive="base">
                                        <p:cTn id="7" dur="500" fill="hold"/>
                                        <p:tgtEl>
                                          <p:spTgt spid="284674"/>
                                        </p:tgtEl>
                                        <p:attrNameLst>
                                          <p:attrName>ppt_x</p:attrName>
                                        </p:attrNameLst>
                                      </p:cBhvr>
                                      <p:tavLst>
                                        <p:tav tm="0">
                                          <p:val>
                                            <p:strVal val="1+#ppt_w/2"/>
                                          </p:val>
                                        </p:tav>
                                        <p:tav tm="100000">
                                          <p:val>
                                            <p:strVal val="#ppt_x"/>
                                          </p:val>
                                        </p:tav>
                                      </p:tavLst>
                                    </p:anim>
                                    <p:anim calcmode="lin" valueType="num">
                                      <p:cBhvr additive="base">
                                        <p:cTn id="8" dur="500" fill="hold"/>
                                        <p:tgtEl>
                                          <p:spTgt spid="28467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3" presetClass="entr" presetSubtype="16" fill="hold" nodeType="afterEffect">
                                  <p:stCondLst>
                                    <p:cond delay="0"/>
                                  </p:stCondLst>
                                  <p:childTnLst>
                                    <p:set>
                                      <p:cBhvr>
                                        <p:cTn id="11" dur="1" fill="hold">
                                          <p:stCondLst>
                                            <p:cond delay="0"/>
                                          </p:stCondLst>
                                        </p:cTn>
                                        <p:tgtEl>
                                          <p:spTgt spid="284675"/>
                                        </p:tgtEl>
                                        <p:attrNameLst>
                                          <p:attrName>style.visibility</p:attrName>
                                        </p:attrNameLst>
                                      </p:cBhvr>
                                      <p:to>
                                        <p:strVal val="visible"/>
                                      </p:to>
                                    </p:set>
                                    <p:anim calcmode="lin" valueType="num">
                                      <p:cBhvr>
                                        <p:cTn id="12" dur="500" fill="hold"/>
                                        <p:tgtEl>
                                          <p:spTgt spid="284675"/>
                                        </p:tgtEl>
                                        <p:attrNameLst>
                                          <p:attrName>ppt_w</p:attrName>
                                        </p:attrNameLst>
                                      </p:cBhvr>
                                      <p:tavLst>
                                        <p:tav tm="0">
                                          <p:val>
                                            <p:fltVal val="0"/>
                                          </p:val>
                                        </p:tav>
                                        <p:tav tm="100000">
                                          <p:val>
                                            <p:strVal val="#ppt_w"/>
                                          </p:val>
                                        </p:tav>
                                      </p:tavLst>
                                    </p:anim>
                                    <p:anim calcmode="lin" valueType="num">
                                      <p:cBhvr>
                                        <p:cTn id="13" dur="500" fill="hold"/>
                                        <p:tgtEl>
                                          <p:spTgt spid="2846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794A73A-0EE3-2D4B-5823-9E65FB682E2B}"/>
              </a:ext>
            </a:extLst>
          </p:cNvPr>
          <p:cNvSpPr>
            <a:spLocks noGrp="1" noChangeArrowheads="1"/>
          </p:cNvSpPr>
          <p:nvPr>
            <p:ph type="title"/>
          </p:nvPr>
        </p:nvSpPr>
        <p:spPr bwMode="auto">
          <a:xfrm>
            <a:off x="285750" y="1571625"/>
            <a:ext cx="8558213" cy="1857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Overview of Endur </a:t>
            </a:r>
            <a:br>
              <a:rPr lang="en-GB" altLang="en-US" b="1"/>
            </a:br>
            <a:r>
              <a:rPr lang="en-GB" altLang="en-US" b="1"/>
              <a:t>Common System Functionality</a:t>
            </a:r>
          </a:p>
        </p:txBody>
      </p:sp>
      <p:pic>
        <p:nvPicPr>
          <p:cNvPr id="20483" name="Picture 4" descr="image003">
            <a:extLst>
              <a:ext uri="{FF2B5EF4-FFF2-40B4-BE49-F238E27FC236}">
                <a16:creationId xmlns:a16="http://schemas.microsoft.com/office/drawing/2014/main" id="{8AB71B60-CA99-3693-A38A-8BD0096AA543}"/>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0" y="3857625"/>
            <a:ext cx="1905000" cy="1295400"/>
          </a:xfrm>
          <a:prstGeom prst="rect">
            <a:avLst/>
          </a:prstGeom>
          <a:solidFill>
            <a:srgbClr val="FFFFFF"/>
          </a:solidFill>
          <a:ln w="9525">
            <a:solidFill>
              <a:srgbClr val="000000"/>
            </a:solidFill>
            <a:round/>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B6763DF-1870-69AC-7C9C-DF25618431CE}"/>
              </a:ext>
            </a:extLst>
          </p:cNvPr>
          <p:cNvSpPr>
            <a:spLocks noGrp="1"/>
          </p:cNvSpPr>
          <p:nvPr>
            <p:ph type="title"/>
          </p:nvPr>
        </p:nvSpPr>
        <p:spPr bwMode="auto">
          <a:xfrm>
            <a:off x="3286125" y="411163"/>
            <a:ext cx="5400675" cy="946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b="1"/>
              <a:t>Browser Window</a:t>
            </a:r>
            <a:endParaRPr lang="en-GB" altLang="en-US" b="1"/>
          </a:p>
        </p:txBody>
      </p:sp>
      <p:pic>
        <p:nvPicPr>
          <p:cNvPr id="21507" name="Picture 2">
            <a:extLst>
              <a:ext uri="{FF2B5EF4-FFF2-40B4-BE49-F238E27FC236}">
                <a16:creationId xmlns:a16="http://schemas.microsoft.com/office/drawing/2014/main" id="{6B0C519F-3C9B-B7B3-DA4F-FD7C83D525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0" y="1500188"/>
            <a:ext cx="5286375"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TextBox 5">
            <a:extLst>
              <a:ext uri="{FF2B5EF4-FFF2-40B4-BE49-F238E27FC236}">
                <a16:creationId xmlns:a16="http://schemas.microsoft.com/office/drawing/2014/main" id="{3F71FF9C-BD4D-3F30-5708-C7A52958A39F}"/>
              </a:ext>
            </a:extLst>
          </p:cNvPr>
          <p:cNvSpPr txBox="1">
            <a:spLocks noChangeArrowheads="1"/>
          </p:cNvSpPr>
          <p:nvPr/>
        </p:nvSpPr>
        <p:spPr bwMode="auto">
          <a:xfrm>
            <a:off x="3429000" y="5572125"/>
            <a:ext cx="2500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A- Before Query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E844B9F-B8BF-C191-E4AC-B310DC525324}"/>
              </a:ext>
            </a:extLst>
          </p:cNvPr>
          <p:cNvSpPr>
            <a:spLocks noGrp="1"/>
          </p:cNvSpPr>
          <p:nvPr>
            <p:ph type="title"/>
          </p:nvPr>
        </p:nvSpPr>
        <p:spPr bwMode="auto">
          <a:xfrm>
            <a:off x="3357563" y="411163"/>
            <a:ext cx="53292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b="1"/>
              <a:t>Browser Window and Queries</a:t>
            </a:r>
          </a:p>
        </p:txBody>
      </p:sp>
      <p:sp>
        <p:nvSpPr>
          <p:cNvPr id="22531" name="Content Placeholder 2">
            <a:extLst>
              <a:ext uri="{FF2B5EF4-FFF2-40B4-BE49-F238E27FC236}">
                <a16:creationId xmlns:a16="http://schemas.microsoft.com/office/drawing/2014/main" id="{4A1B6D38-4B66-5CA3-017D-43F35E3ABAFB}"/>
              </a:ext>
            </a:extLst>
          </p:cNvPr>
          <p:cNvSpPr>
            <a:spLocks noGrp="1"/>
          </p:cNvSpPr>
          <p:nvPr>
            <p:ph idx="1"/>
          </p:nvPr>
        </p:nvSpPr>
        <p:spPr bwMode="auto">
          <a:xfrm>
            <a:off x="214313" y="1643063"/>
            <a:ext cx="8358187" cy="714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GB" altLang="en-US" sz="2400"/>
              <a:t>The Browser displays the results of a query in graphical form:</a:t>
            </a:r>
          </a:p>
        </p:txBody>
      </p:sp>
      <p:pic>
        <p:nvPicPr>
          <p:cNvPr id="22532" name="Picture 3">
            <a:extLst>
              <a:ext uri="{FF2B5EF4-FFF2-40B4-BE49-F238E27FC236}">
                <a16:creationId xmlns:a16="http://schemas.microsoft.com/office/drawing/2014/main" id="{F47224F4-ABE2-64F7-6997-70B9308D5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8" y="2214563"/>
            <a:ext cx="6143625"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Box 4">
            <a:extLst>
              <a:ext uri="{FF2B5EF4-FFF2-40B4-BE49-F238E27FC236}">
                <a16:creationId xmlns:a16="http://schemas.microsoft.com/office/drawing/2014/main" id="{6306BF1F-F216-2B70-6924-98CF15DD13EA}"/>
              </a:ext>
            </a:extLst>
          </p:cNvPr>
          <p:cNvSpPr txBox="1">
            <a:spLocks noChangeArrowheads="1"/>
          </p:cNvSpPr>
          <p:nvPr/>
        </p:nvSpPr>
        <p:spPr bwMode="auto">
          <a:xfrm>
            <a:off x="0" y="5857875"/>
            <a:ext cx="210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B - After Query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EC3E93F2-D843-1676-EA30-910E8E145BD0}"/>
              </a:ext>
            </a:extLst>
          </p:cNvPr>
          <p:cNvSpPr>
            <a:spLocks noGrp="1"/>
          </p:cNvSpPr>
          <p:nvPr>
            <p:ph type="title"/>
          </p:nvPr>
        </p:nvSpPr>
        <p:spPr bwMode="auto">
          <a:xfrm>
            <a:off x="3357563" y="0"/>
            <a:ext cx="54006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600" b="1"/>
              <a:t>Accessing the query functionality</a:t>
            </a:r>
            <a:endParaRPr lang="en-GB" altLang="en-US" sz="3600" b="1"/>
          </a:p>
        </p:txBody>
      </p:sp>
      <p:pic>
        <p:nvPicPr>
          <p:cNvPr id="292866" name="Picture 2">
            <a:extLst>
              <a:ext uri="{FF2B5EF4-FFF2-40B4-BE49-F238E27FC236}">
                <a16:creationId xmlns:a16="http://schemas.microsoft.com/office/drawing/2014/main" id="{BAF8E1DE-7BE8-0628-CED3-CE05EC35D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823" t="9465" r="75407" b="87355"/>
          <a:stretch>
            <a:fillRect/>
          </a:stretch>
        </p:blipFill>
        <p:spPr bwMode="auto">
          <a:xfrm>
            <a:off x="714375" y="1643063"/>
            <a:ext cx="950913" cy="785812"/>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92867" name="Picture 3">
            <a:extLst>
              <a:ext uri="{FF2B5EF4-FFF2-40B4-BE49-F238E27FC236}">
                <a16:creationId xmlns:a16="http://schemas.microsoft.com/office/drawing/2014/main" id="{E2729EB7-DA8A-419E-E9B7-2D71BE6717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500" y="2714625"/>
            <a:ext cx="4191000"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2">
            <a:extLst>
              <a:ext uri="{FF2B5EF4-FFF2-40B4-BE49-F238E27FC236}">
                <a16:creationId xmlns:a16="http://schemas.microsoft.com/office/drawing/2014/main" id="{C5735B1F-26A3-8814-05BD-3BB4AC665E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75862"/>
          <a:stretch>
            <a:fillRect/>
          </a:stretch>
        </p:blipFill>
        <p:spPr bwMode="auto">
          <a:xfrm>
            <a:off x="3143250" y="1143000"/>
            <a:ext cx="528637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6">
            <a:extLst>
              <a:ext uri="{FF2B5EF4-FFF2-40B4-BE49-F238E27FC236}">
                <a16:creationId xmlns:a16="http://schemas.microsoft.com/office/drawing/2014/main" id="{B6B45443-E77B-5565-7BC2-4A0F5B936A52}"/>
              </a:ext>
            </a:extLst>
          </p:cNvPr>
          <p:cNvSpPr/>
          <p:nvPr/>
        </p:nvSpPr>
        <p:spPr>
          <a:xfrm>
            <a:off x="3143250" y="1500188"/>
            <a:ext cx="500063" cy="4286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cxnSp>
        <p:nvCxnSpPr>
          <p:cNvPr id="9" name="Straight Arrow Connector 8">
            <a:extLst>
              <a:ext uri="{FF2B5EF4-FFF2-40B4-BE49-F238E27FC236}">
                <a16:creationId xmlns:a16="http://schemas.microsoft.com/office/drawing/2014/main" id="{91684C6E-69E8-8BB1-0D69-AB33D9D408C4}"/>
              </a:ext>
            </a:extLst>
          </p:cNvPr>
          <p:cNvCxnSpPr>
            <a:stCxn id="7" idx="2"/>
            <a:endCxn id="292866" idx="3"/>
          </p:cNvCxnSpPr>
          <p:nvPr/>
        </p:nvCxnSpPr>
        <p:spPr>
          <a:xfrm rot="10800000" flipV="1">
            <a:off x="1665288" y="1714500"/>
            <a:ext cx="1477962" cy="320675"/>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A5C1064-D4D4-013B-C2A5-8BFFA3B2CFBF}"/>
              </a:ext>
            </a:extLst>
          </p:cNvPr>
          <p:cNvCxnSpPr/>
          <p:nvPr/>
        </p:nvCxnSpPr>
        <p:spPr>
          <a:xfrm>
            <a:off x="1714500" y="2214563"/>
            <a:ext cx="2286000" cy="1500187"/>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3561" name="Rectangle 12">
            <a:extLst>
              <a:ext uri="{FF2B5EF4-FFF2-40B4-BE49-F238E27FC236}">
                <a16:creationId xmlns:a16="http://schemas.microsoft.com/office/drawing/2014/main" id="{FE3C0375-FFB1-DC6D-E89A-E3B7854A2702}"/>
              </a:ext>
            </a:extLst>
          </p:cNvPr>
          <p:cNvSpPr>
            <a:spLocks noChangeArrowheads="1"/>
          </p:cNvSpPr>
          <p:nvPr/>
        </p:nvSpPr>
        <p:spPr bwMode="auto">
          <a:xfrm>
            <a:off x="0" y="3143250"/>
            <a:ext cx="3071813"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a:t>The Query Manager is accessed by selecting the </a:t>
            </a:r>
            <a:r>
              <a:rPr lang="en-US" altLang="en-US" b="1"/>
              <a:t>Query</a:t>
            </a:r>
            <a:r>
              <a:rPr lang="en-US" altLang="en-US"/>
              <a:t> icon located on the tool bar, or by selecting </a:t>
            </a:r>
            <a:r>
              <a:rPr lang="en-US" altLang="en-US" b="1"/>
              <a:t>File</a:t>
            </a:r>
            <a:r>
              <a:rPr lang="en-US" altLang="en-US" b="1">
                <a:sym typeface="Symbol" panose="05050102010706020507" pitchFamily="18" charset="2"/>
              </a:rPr>
              <a:t></a:t>
            </a:r>
            <a:r>
              <a:rPr lang="en-US" altLang="en-US" b="1"/>
              <a:t>Query</a:t>
            </a:r>
            <a:r>
              <a:rPr lang="en-US" altLang="en-US"/>
              <a:t> from the Manager menu bar.  </a:t>
            </a:r>
            <a:endParaRPr lang="en-GB"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92866"/>
                                        </p:tgtEl>
                                        <p:attrNameLst>
                                          <p:attrName>style.visibility</p:attrName>
                                        </p:attrNameLst>
                                      </p:cBhvr>
                                      <p:to>
                                        <p:strVal val="visible"/>
                                      </p:to>
                                    </p:set>
                                    <p:anim calcmode="lin" valueType="num">
                                      <p:cBhvr additive="base">
                                        <p:cTn id="17" dur="500" fill="hold"/>
                                        <p:tgtEl>
                                          <p:spTgt spid="292866"/>
                                        </p:tgtEl>
                                        <p:attrNameLst>
                                          <p:attrName>ppt_x</p:attrName>
                                        </p:attrNameLst>
                                      </p:cBhvr>
                                      <p:tavLst>
                                        <p:tav tm="0">
                                          <p:val>
                                            <p:strVal val="#ppt_x"/>
                                          </p:val>
                                        </p:tav>
                                        <p:tav tm="100000">
                                          <p:val>
                                            <p:strVal val="#ppt_x"/>
                                          </p:val>
                                        </p:tav>
                                      </p:tavLst>
                                    </p:anim>
                                    <p:anim calcmode="lin" valueType="num">
                                      <p:cBhvr additive="base">
                                        <p:cTn id="18" dur="500" fill="hold"/>
                                        <p:tgtEl>
                                          <p:spTgt spid="29286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ox(in)">
                                      <p:cBhvr>
                                        <p:cTn id="29" dur="500"/>
                                        <p:tgtEl>
                                          <p:spTgt spid="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292867"/>
                                        </p:tgtEl>
                                        <p:attrNameLst>
                                          <p:attrName>style.visibility</p:attrName>
                                        </p:attrNameLst>
                                      </p:cBhvr>
                                      <p:to>
                                        <p:strVal val="visible"/>
                                      </p:to>
                                    </p:set>
                                    <p:anim calcmode="lin" valueType="num">
                                      <p:cBhvr additive="base">
                                        <p:cTn id="34" dur="500" fill="hold"/>
                                        <p:tgtEl>
                                          <p:spTgt spid="292867"/>
                                        </p:tgtEl>
                                        <p:attrNameLst>
                                          <p:attrName>ppt_x</p:attrName>
                                        </p:attrNameLst>
                                      </p:cBhvr>
                                      <p:tavLst>
                                        <p:tav tm="0">
                                          <p:val>
                                            <p:strVal val="#ppt_x"/>
                                          </p:val>
                                        </p:tav>
                                        <p:tav tm="100000">
                                          <p:val>
                                            <p:strVal val="#ppt_x"/>
                                          </p:val>
                                        </p:tav>
                                      </p:tavLst>
                                    </p:anim>
                                    <p:anim calcmode="lin" valueType="num">
                                      <p:cBhvr additive="base">
                                        <p:cTn id="35" dur="500" fill="hold"/>
                                        <p:tgtEl>
                                          <p:spTgt spid="2928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38BDC688-C229-88A0-E853-F4E278A0D9F9}"/>
              </a:ext>
            </a:extLst>
          </p:cNvPr>
          <p:cNvSpPr>
            <a:spLocks noGrp="1"/>
          </p:cNvSpPr>
          <p:nvPr>
            <p:ph type="title"/>
          </p:nvPr>
        </p:nvSpPr>
        <p:spPr bwMode="auto">
          <a:xfrm>
            <a:off x="3429000" y="411163"/>
            <a:ext cx="5257800" cy="66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b="1"/>
              <a:t>Running a Query</a:t>
            </a:r>
            <a:endParaRPr lang="en-GB" altLang="en-US" b="1"/>
          </a:p>
        </p:txBody>
      </p:sp>
      <p:pic>
        <p:nvPicPr>
          <p:cNvPr id="37891" name="Picture 2">
            <a:extLst>
              <a:ext uri="{FF2B5EF4-FFF2-40B4-BE49-F238E27FC236}">
                <a16:creationId xmlns:a16="http://schemas.microsoft.com/office/drawing/2014/main" id="{0C176B6D-B259-8CFB-3FCA-833A6067A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285875"/>
            <a:ext cx="7643813" cy="478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4">
            <a:extLst>
              <a:ext uri="{FF2B5EF4-FFF2-40B4-BE49-F238E27FC236}">
                <a16:creationId xmlns:a16="http://schemas.microsoft.com/office/drawing/2014/main" id="{3D51FA0A-2560-800A-809E-BC51E3C81E62}"/>
              </a:ext>
            </a:extLst>
          </p:cNvPr>
          <p:cNvSpPr>
            <a:spLocks noChangeArrowheads="1"/>
          </p:cNvSpPr>
          <p:nvPr/>
        </p:nvSpPr>
        <p:spPr bwMode="auto">
          <a:xfrm>
            <a:off x="6215063" y="3143250"/>
            <a:ext cx="2714625" cy="923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1pPr>
            <a:lvl2pPr marL="742950" indent="-285750"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tabLst>
                <a:tab pos="457200" algn="l"/>
                <a:tab pos="914400" algn="l"/>
              </a:tabLs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tabLst>
                <a:tab pos="457200" algn="l"/>
                <a:tab pos="914400" algn="l"/>
              </a:tabLs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tabLst>
                <a:tab pos="457200" algn="l"/>
                <a:tab pos="914400" algn="l"/>
              </a:tabLs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tabLst>
                <a:tab pos="457200" algn="l"/>
                <a:tab pos="914400" algn="l"/>
              </a:tabLst>
              <a:defRPr sz="2400">
                <a:solidFill>
                  <a:schemeClr val="tx1"/>
                </a:solidFill>
                <a:latin typeface="Times New Roman" panose="02020603050405020304" pitchFamily="18" charset="0"/>
                <a:cs typeface="Arial" panose="020B0604020202020204" pitchFamily="34" charset="0"/>
              </a:defRPr>
            </a:lvl9pPr>
          </a:lstStyle>
          <a:p>
            <a:r>
              <a:rPr lang="en-US" altLang="en-US" sz="1800" i="1">
                <a:latin typeface="Verdana" panose="020B0604030504040204" pitchFamily="34" charset="0"/>
                <a:cs typeface="Times New Roman" panose="02020603050405020304" pitchFamily="18" charset="0"/>
              </a:rPr>
              <a:t>Search criteria are specified in the right side of the page.  </a:t>
            </a:r>
            <a:endParaRPr lang="en-US" altLang="en-US" sz="1800"/>
          </a:p>
        </p:txBody>
      </p:sp>
      <p:sp>
        <p:nvSpPr>
          <p:cNvPr id="37893" name="Rectangle 5">
            <a:extLst>
              <a:ext uri="{FF2B5EF4-FFF2-40B4-BE49-F238E27FC236}">
                <a16:creationId xmlns:a16="http://schemas.microsoft.com/office/drawing/2014/main" id="{9714760B-FB0F-68AD-86D9-B6BDB9CFC590}"/>
              </a:ext>
            </a:extLst>
          </p:cNvPr>
          <p:cNvSpPr>
            <a:spLocks noChangeArrowheads="1"/>
          </p:cNvSpPr>
          <p:nvPr/>
        </p:nvSpPr>
        <p:spPr bwMode="auto">
          <a:xfrm>
            <a:off x="428625" y="2857500"/>
            <a:ext cx="2857500" cy="1477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1pPr>
            <a:lvl2pPr marL="742950" indent="-285750"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tabLst>
                <a:tab pos="457200" algn="l"/>
                <a:tab pos="914400" algn="l"/>
              </a:tabLst>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tabLst>
                <a:tab pos="457200" algn="l"/>
                <a:tab pos="914400" algn="l"/>
              </a:tabLs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tabLst>
                <a:tab pos="457200" algn="l"/>
                <a:tab pos="914400" algn="l"/>
              </a:tabLs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tabLst>
                <a:tab pos="457200" algn="l"/>
                <a:tab pos="914400" algn="l"/>
              </a:tabLs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tabLst>
                <a:tab pos="457200" algn="l"/>
                <a:tab pos="914400" algn="l"/>
              </a:tabLst>
              <a:defRPr sz="2400">
                <a:solidFill>
                  <a:schemeClr val="tx1"/>
                </a:solidFill>
                <a:latin typeface="Times New Roman" panose="02020603050405020304" pitchFamily="18" charset="0"/>
                <a:cs typeface="Arial" panose="020B0604020202020204" pitchFamily="34" charset="0"/>
              </a:defRPr>
            </a:lvl9pPr>
          </a:lstStyle>
          <a:p>
            <a:r>
              <a:rPr lang="en-US" altLang="en-US" sz="1800" i="1">
                <a:latin typeface="Verdana" panose="020B0604030504040204" pitchFamily="34" charset="0"/>
                <a:cs typeface="Times New Roman" panose="02020603050405020304" pitchFamily="18" charset="0"/>
              </a:rPr>
              <a:t>As criteria are entered, the left side of the screen displays a summary of all criteria.</a:t>
            </a:r>
            <a:endParaRPr lang="en-US" altLang="en-US" sz="1800"/>
          </a:p>
        </p:txBody>
      </p:sp>
      <p:sp>
        <p:nvSpPr>
          <p:cNvPr id="8" name="Text Box 6">
            <a:extLst>
              <a:ext uri="{FF2B5EF4-FFF2-40B4-BE49-F238E27FC236}">
                <a16:creationId xmlns:a16="http://schemas.microsoft.com/office/drawing/2014/main" id="{7D8BB685-C018-09D4-7F64-B47E6A8A717A}"/>
              </a:ext>
            </a:extLst>
          </p:cNvPr>
          <p:cNvSpPr txBox="1">
            <a:spLocks noChangeArrowheads="1"/>
          </p:cNvSpPr>
          <p:nvPr/>
        </p:nvSpPr>
        <p:spPr bwMode="auto">
          <a:xfrm>
            <a:off x="2643188" y="4357688"/>
            <a:ext cx="3276600" cy="2024062"/>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GB" altLang="en-US" sz="1800">
                <a:latin typeface="Arial" panose="020B0604020202020204" pitchFamily="34" charset="0"/>
              </a:rPr>
              <a:t>Conditional operators:</a:t>
            </a:r>
          </a:p>
          <a:p>
            <a:pPr eaLnBrk="1" hangingPunct="1"/>
            <a:r>
              <a:rPr lang="en-GB" altLang="en-US" sz="1800">
                <a:latin typeface="Arial" panose="020B0604020202020204" pitchFamily="34" charset="0"/>
                <a:sym typeface="Symbol" panose="05050102010706020507" pitchFamily="18" charset="2"/>
              </a:rPr>
              <a:t>     </a:t>
            </a:r>
            <a:r>
              <a:rPr lang="en-GB" altLang="en-US" sz="1800">
                <a:latin typeface="Arial" panose="020B0604020202020204" pitchFamily="34" charset="0"/>
              </a:rPr>
              <a:t>(less than)</a:t>
            </a:r>
          </a:p>
          <a:p>
            <a:pPr eaLnBrk="1" hangingPunct="1"/>
            <a:r>
              <a:rPr lang="en-GB" altLang="en-US" sz="1800">
                <a:latin typeface="Arial" panose="020B0604020202020204" pitchFamily="34" charset="0"/>
                <a:sym typeface="Symbol" panose="05050102010706020507" pitchFamily="18" charset="2"/>
              </a:rPr>
              <a:t></a:t>
            </a:r>
            <a:r>
              <a:rPr lang="en-GB" altLang="en-US" sz="1800">
                <a:latin typeface="Arial" panose="020B0604020202020204" pitchFamily="34" charset="0"/>
              </a:rPr>
              <a:t>     (greater than)</a:t>
            </a:r>
          </a:p>
          <a:p>
            <a:pPr eaLnBrk="1" hangingPunct="1"/>
            <a:r>
              <a:rPr lang="en-GB" altLang="en-US" sz="1800">
                <a:latin typeface="Arial" panose="020B0604020202020204" pitchFamily="34" charset="0"/>
                <a:sym typeface="Symbol" panose="05050102010706020507" pitchFamily="18" charset="2"/>
              </a:rPr>
              <a:t></a:t>
            </a:r>
            <a:r>
              <a:rPr lang="en-GB" altLang="en-US" sz="1800">
                <a:latin typeface="Arial" panose="020B0604020202020204" pitchFamily="34" charset="0"/>
              </a:rPr>
              <a:t>     (equal to)</a:t>
            </a:r>
          </a:p>
          <a:p>
            <a:pPr eaLnBrk="1" hangingPunct="1"/>
            <a:r>
              <a:rPr lang="en-GB" altLang="en-US" sz="1800">
                <a:latin typeface="Arial" panose="020B0604020202020204" pitchFamily="34" charset="0"/>
                <a:sym typeface="Symbol" panose="05050102010706020507" pitchFamily="18" charset="2"/>
              </a:rPr>
              <a:t></a:t>
            </a:r>
            <a:r>
              <a:rPr lang="en-GB" altLang="en-US" sz="1800">
                <a:latin typeface="Arial" panose="020B0604020202020204" pitchFamily="34" charset="0"/>
              </a:rPr>
              <a:t>   (less than or equal to)</a:t>
            </a:r>
          </a:p>
          <a:p>
            <a:pPr eaLnBrk="1" hangingPunct="1"/>
            <a:r>
              <a:rPr lang="en-GB" altLang="en-US" sz="1800">
                <a:latin typeface="Arial" panose="020B0604020202020204" pitchFamily="34" charset="0"/>
                <a:sym typeface="Symbol" panose="05050102010706020507" pitchFamily="18" charset="2"/>
              </a:rPr>
              <a:t>   (greater than or equal to)</a:t>
            </a:r>
          </a:p>
          <a:p>
            <a:pPr eaLnBrk="1" hangingPunct="1"/>
            <a:r>
              <a:rPr lang="en-GB" altLang="en-US" sz="1800">
                <a:latin typeface="Arial" panose="020B0604020202020204" pitchFamily="34" charset="0"/>
                <a:sym typeface="Symbol" panose="05050102010706020507" pitchFamily="18" charset="2"/>
              </a:rPr>
              <a:t>!      (not)</a:t>
            </a:r>
            <a:endParaRPr lang="en-GB"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fade">
                                      <p:cBhvr>
                                        <p:cTn id="7" dur="2000"/>
                                        <p:tgtEl>
                                          <p:spTgt spid="378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7893"/>
                                        </p:tgtEl>
                                        <p:attrNameLst>
                                          <p:attrName>style.visibility</p:attrName>
                                        </p:attrNameLst>
                                      </p:cBhvr>
                                      <p:to>
                                        <p:strVal val="visible"/>
                                      </p:to>
                                    </p:set>
                                    <p:animEffect transition="in" filter="dissolve">
                                      <p:cBhvr>
                                        <p:cTn id="12" dur="500"/>
                                        <p:tgtEl>
                                          <p:spTgt spid="378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7892"/>
                                        </p:tgtEl>
                                        <p:attrNameLst>
                                          <p:attrName>style.visibility</p:attrName>
                                        </p:attrNameLst>
                                      </p:cBhvr>
                                      <p:to>
                                        <p:strVal val="visible"/>
                                      </p:to>
                                    </p:set>
                                    <p:animEffect transition="in" filter="dissolve">
                                      <p:cBhvr>
                                        <p:cTn id="17" dur="500"/>
                                        <p:tgtEl>
                                          <p:spTgt spid="378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p:bldP spid="37893"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C8815C5D-916E-B72C-6F5D-37122398FDEF}"/>
              </a:ext>
            </a:extLst>
          </p:cNvPr>
          <p:cNvSpPr>
            <a:spLocks noGrp="1" noChangeArrowheads="1"/>
          </p:cNvSpPr>
          <p:nvPr>
            <p:ph type="title"/>
          </p:nvPr>
        </p:nvSpPr>
        <p:spPr bwMode="auto">
          <a:xfrm>
            <a:off x="3357563" y="411163"/>
            <a:ext cx="5329237" cy="7318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Query Defaults</a:t>
            </a:r>
          </a:p>
        </p:txBody>
      </p:sp>
      <p:sp>
        <p:nvSpPr>
          <p:cNvPr id="175107" name="Rectangle 3">
            <a:extLst>
              <a:ext uri="{FF2B5EF4-FFF2-40B4-BE49-F238E27FC236}">
                <a16:creationId xmlns:a16="http://schemas.microsoft.com/office/drawing/2014/main" id="{05048EC7-60A5-F083-9A4D-05661E801E19}"/>
              </a:ext>
            </a:extLst>
          </p:cNvPr>
          <p:cNvSpPr>
            <a:spLocks noGrp="1" noChangeArrowheads="1"/>
          </p:cNvSpPr>
          <p:nvPr>
            <p:ph idx="1"/>
          </p:nvPr>
        </p:nvSpPr>
        <p:spPr bwMode="auto">
          <a:xfrm>
            <a:off x="685800" y="1295400"/>
            <a:ext cx="5715000" cy="182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000"/>
              <a:t>Automatically applies default criteria to reduce database processing</a:t>
            </a:r>
          </a:p>
          <a:p>
            <a:pPr eaLnBrk="1" hangingPunct="1"/>
            <a:r>
              <a:rPr lang="en-GB" altLang="en-US" sz="2000"/>
              <a:t>Navigate to defaults via the help menu</a:t>
            </a:r>
          </a:p>
          <a:p>
            <a:pPr eaLnBrk="1" hangingPunct="1"/>
            <a:r>
              <a:rPr lang="en-GB" altLang="en-US" sz="2000"/>
              <a:t>Can overwrite the default settings in query window</a:t>
            </a:r>
          </a:p>
        </p:txBody>
      </p:sp>
      <p:pic>
        <p:nvPicPr>
          <p:cNvPr id="175108" name="Picture 4">
            <a:extLst>
              <a:ext uri="{FF2B5EF4-FFF2-40B4-BE49-F238E27FC236}">
                <a16:creationId xmlns:a16="http://schemas.microsoft.com/office/drawing/2014/main" id="{A1BA5368-EAA5-7E28-AC0F-6DDF2C05CA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143000"/>
            <a:ext cx="21463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112" name="Line 8">
            <a:extLst>
              <a:ext uri="{FF2B5EF4-FFF2-40B4-BE49-F238E27FC236}">
                <a16:creationId xmlns:a16="http://schemas.microsoft.com/office/drawing/2014/main" id="{3C4A1EFA-97D6-84CD-AD1E-1724A64F2C79}"/>
              </a:ext>
            </a:extLst>
          </p:cNvPr>
          <p:cNvSpPr>
            <a:spLocks noChangeShapeType="1"/>
          </p:cNvSpPr>
          <p:nvPr/>
        </p:nvSpPr>
        <p:spPr bwMode="auto">
          <a:xfrm flipV="1">
            <a:off x="5257800" y="1905000"/>
            <a:ext cx="1371600" cy="144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5113" name="Line 9">
            <a:extLst>
              <a:ext uri="{FF2B5EF4-FFF2-40B4-BE49-F238E27FC236}">
                <a16:creationId xmlns:a16="http://schemas.microsoft.com/office/drawing/2014/main" id="{24A3A0CA-61A5-4F57-42F9-4A4B21701E47}"/>
              </a:ext>
            </a:extLst>
          </p:cNvPr>
          <p:cNvSpPr>
            <a:spLocks noChangeShapeType="1"/>
          </p:cNvSpPr>
          <p:nvPr/>
        </p:nvSpPr>
        <p:spPr bwMode="auto">
          <a:xfrm>
            <a:off x="3886200" y="4191000"/>
            <a:ext cx="27432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5114" name="Line 10">
            <a:extLst>
              <a:ext uri="{FF2B5EF4-FFF2-40B4-BE49-F238E27FC236}">
                <a16:creationId xmlns:a16="http://schemas.microsoft.com/office/drawing/2014/main" id="{946A0840-67D6-1312-9F77-05AFACA10C30}"/>
              </a:ext>
            </a:extLst>
          </p:cNvPr>
          <p:cNvSpPr>
            <a:spLocks noChangeShapeType="1"/>
          </p:cNvSpPr>
          <p:nvPr/>
        </p:nvSpPr>
        <p:spPr bwMode="auto">
          <a:xfrm>
            <a:off x="4114800" y="5410200"/>
            <a:ext cx="2438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5115" name="Line 11">
            <a:extLst>
              <a:ext uri="{FF2B5EF4-FFF2-40B4-BE49-F238E27FC236}">
                <a16:creationId xmlns:a16="http://schemas.microsoft.com/office/drawing/2014/main" id="{B98C42C4-CC8A-86C1-F020-C4E605D99D27}"/>
              </a:ext>
            </a:extLst>
          </p:cNvPr>
          <p:cNvSpPr>
            <a:spLocks noChangeShapeType="1"/>
          </p:cNvSpPr>
          <p:nvPr/>
        </p:nvSpPr>
        <p:spPr bwMode="auto">
          <a:xfrm>
            <a:off x="3886200" y="4648200"/>
            <a:ext cx="26670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5109" name="Text Box 5">
            <a:extLst>
              <a:ext uri="{FF2B5EF4-FFF2-40B4-BE49-F238E27FC236}">
                <a16:creationId xmlns:a16="http://schemas.microsoft.com/office/drawing/2014/main" id="{4F5D71BE-B69B-D430-DECF-CECEF832A380}"/>
              </a:ext>
            </a:extLst>
          </p:cNvPr>
          <p:cNvSpPr txBox="1">
            <a:spLocks noChangeArrowheads="1"/>
          </p:cNvSpPr>
          <p:nvPr/>
        </p:nvSpPr>
        <p:spPr bwMode="auto">
          <a:xfrm>
            <a:off x="2286000" y="3124200"/>
            <a:ext cx="2971800" cy="650875"/>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800">
                <a:latin typeface="Arial" panose="020B0604020202020204" pitchFamily="34" charset="0"/>
              </a:rPr>
              <a:t>Selects transactions types listed under </a:t>
            </a:r>
            <a:r>
              <a:rPr lang="en-GB" altLang="en-US" sz="1800" b="1">
                <a:latin typeface="Arial" panose="020B0604020202020204" pitchFamily="34" charset="0"/>
              </a:rPr>
              <a:t>Tran Type</a:t>
            </a:r>
            <a:endParaRPr lang="en-GB" altLang="en-US" sz="1800">
              <a:latin typeface="Arial" panose="020B0604020202020204" pitchFamily="34" charset="0"/>
            </a:endParaRPr>
          </a:p>
        </p:txBody>
      </p:sp>
      <p:sp>
        <p:nvSpPr>
          <p:cNvPr id="175110" name="Text Box 6">
            <a:extLst>
              <a:ext uri="{FF2B5EF4-FFF2-40B4-BE49-F238E27FC236}">
                <a16:creationId xmlns:a16="http://schemas.microsoft.com/office/drawing/2014/main" id="{6860C4AD-5C9E-264C-59E3-22CC2DFAB74C}"/>
              </a:ext>
            </a:extLst>
          </p:cNvPr>
          <p:cNvSpPr txBox="1">
            <a:spLocks noChangeArrowheads="1"/>
          </p:cNvSpPr>
          <p:nvPr/>
        </p:nvSpPr>
        <p:spPr bwMode="auto">
          <a:xfrm>
            <a:off x="1676400" y="3886200"/>
            <a:ext cx="2971800" cy="925513"/>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800">
                <a:latin typeface="Arial" panose="020B0604020202020204" pitchFamily="34" charset="0"/>
              </a:rPr>
              <a:t>Only transactions with new or validated </a:t>
            </a:r>
            <a:r>
              <a:rPr lang="en-GB" altLang="en-US" sz="1800" b="1">
                <a:latin typeface="Arial" panose="020B0604020202020204" pitchFamily="34" charset="0"/>
              </a:rPr>
              <a:t>Tran Status</a:t>
            </a:r>
            <a:r>
              <a:rPr lang="en-GB" altLang="en-US" sz="1800">
                <a:latin typeface="Arial" panose="020B0604020202020204" pitchFamily="34" charset="0"/>
              </a:rPr>
              <a:t> &amp; Trading </a:t>
            </a:r>
            <a:r>
              <a:rPr lang="en-GB" altLang="en-US" sz="1800" b="1">
                <a:latin typeface="Arial" panose="020B0604020202020204" pitchFamily="34" charset="0"/>
              </a:rPr>
              <a:t>Asset Type</a:t>
            </a:r>
            <a:endParaRPr lang="en-GB" altLang="en-US" sz="1800">
              <a:latin typeface="Arial" panose="020B0604020202020204" pitchFamily="34" charset="0"/>
            </a:endParaRPr>
          </a:p>
        </p:txBody>
      </p:sp>
      <p:sp>
        <p:nvSpPr>
          <p:cNvPr id="175111" name="Text Box 7">
            <a:extLst>
              <a:ext uri="{FF2B5EF4-FFF2-40B4-BE49-F238E27FC236}">
                <a16:creationId xmlns:a16="http://schemas.microsoft.com/office/drawing/2014/main" id="{43E53071-2E25-ADAE-37CB-D162D4CBD34D}"/>
              </a:ext>
            </a:extLst>
          </p:cNvPr>
          <p:cNvSpPr txBox="1">
            <a:spLocks noChangeArrowheads="1"/>
          </p:cNvSpPr>
          <p:nvPr/>
        </p:nvSpPr>
        <p:spPr bwMode="auto">
          <a:xfrm>
            <a:off x="1143000" y="4953000"/>
            <a:ext cx="2971800" cy="925513"/>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800">
                <a:latin typeface="Arial" panose="020B0604020202020204" pitchFamily="34" charset="0"/>
              </a:rPr>
              <a:t>Only portfolios that you are authorised to use under </a:t>
            </a:r>
            <a:r>
              <a:rPr lang="en-GB" altLang="en-US" sz="1800" b="1">
                <a:latin typeface="Arial" panose="020B0604020202020204" pitchFamily="34" charset="0"/>
              </a:rPr>
              <a:t>Internal Portfolio</a:t>
            </a:r>
            <a:endParaRPr lang="en-GB"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175106"/>
                                        </p:tgtEl>
                                        <p:attrNameLst>
                                          <p:attrName>style.visibility</p:attrName>
                                        </p:attrNameLst>
                                      </p:cBhvr>
                                      <p:to>
                                        <p:strVal val="visible"/>
                                      </p:to>
                                    </p:set>
                                    <p:anim calcmode="lin" valueType="num">
                                      <p:cBhvr additive="base">
                                        <p:cTn id="7" dur="500" fill="hold"/>
                                        <p:tgtEl>
                                          <p:spTgt spid="175106"/>
                                        </p:tgtEl>
                                        <p:attrNameLst>
                                          <p:attrName>ppt_x</p:attrName>
                                        </p:attrNameLst>
                                      </p:cBhvr>
                                      <p:tavLst>
                                        <p:tav tm="0">
                                          <p:val>
                                            <p:strVal val="1+#ppt_w/2"/>
                                          </p:val>
                                        </p:tav>
                                        <p:tav tm="100000">
                                          <p:val>
                                            <p:strVal val="#ppt_x"/>
                                          </p:val>
                                        </p:tav>
                                      </p:tavLst>
                                    </p:anim>
                                    <p:anim calcmode="lin" valueType="num">
                                      <p:cBhvr additive="base">
                                        <p:cTn id="8" dur="500" fill="hold"/>
                                        <p:tgtEl>
                                          <p:spTgt spid="17510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0" presetClass="entr" presetSubtype="0" fill="hold" nodeType="afterEffect">
                                  <p:stCondLst>
                                    <p:cond delay="0"/>
                                  </p:stCondLst>
                                  <p:childTnLst>
                                    <p:set>
                                      <p:cBhvr>
                                        <p:cTn id="11" dur="1" fill="hold">
                                          <p:stCondLst>
                                            <p:cond delay="0"/>
                                          </p:stCondLst>
                                        </p:cTn>
                                        <p:tgtEl>
                                          <p:spTgt spid="175108"/>
                                        </p:tgtEl>
                                        <p:attrNameLst>
                                          <p:attrName>style.visibility</p:attrName>
                                        </p:attrNameLst>
                                      </p:cBhvr>
                                      <p:to>
                                        <p:strVal val="visible"/>
                                      </p:to>
                                    </p:set>
                                    <p:animEffect transition="in" filter="fade">
                                      <p:cBhvr>
                                        <p:cTn id="12" dur="1000"/>
                                        <p:tgtEl>
                                          <p:spTgt spid="175108"/>
                                        </p:tgtEl>
                                      </p:cBhvr>
                                    </p:animEffect>
                                  </p:childTnLst>
                                </p:cTn>
                              </p:par>
                            </p:childTnLst>
                          </p:cTn>
                        </p:par>
                        <p:par>
                          <p:cTn id="13" fill="hold" nodeType="afterGroup">
                            <p:stCondLst>
                              <p:cond delay="1500"/>
                            </p:stCondLst>
                            <p:childTnLst>
                              <p:par>
                                <p:cTn id="14" presetID="53" presetClass="entr" presetSubtype="0" fill="hold" nodeType="afterEffect">
                                  <p:stCondLst>
                                    <p:cond delay="0"/>
                                  </p:stCondLst>
                                  <p:childTnLst>
                                    <p:set>
                                      <p:cBhvr>
                                        <p:cTn id="15" dur="1" fill="hold">
                                          <p:stCondLst>
                                            <p:cond delay="0"/>
                                          </p:stCondLst>
                                        </p:cTn>
                                        <p:tgtEl>
                                          <p:spTgt spid="175107">
                                            <p:txEl>
                                              <p:pRg st="0" end="0"/>
                                            </p:txEl>
                                          </p:spTgt>
                                        </p:tgtEl>
                                        <p:attrNameLst>
                                          <p:attrName>style.visibility</p:attrName>
                                        </p:attrNameLst>
                                      </p:cBhvr>
                                      <p:to>
                                        <p:strVal val="visible"/>
                                      </p:to>
                                    </p:set>
                                    <p:anim calcmode="lin" valueType="num">
                                      <p:cBhvr>
                                        <p:cTn id="16" dur="500" fill="hold"/>
                                        <p:tgtEl>
                                          <p:spTgt spid="175107">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175107">
                                            <p:txEl>
                                              <p:pRg st="0" end="0"/>
                                            </p:txEl>
                                          </p:spTgt>
                                        </p:tgtEl>
                                        <p:attrNameLst>
                                          <p:attrName>ppt_h</p:attrName>
                                        </p:attrNameLst>
                                      </p:cBhvr>
                                      <p:tavLst>
                                        <p:tav tm="0">
                                          <p:val>
                                            <p:fltVal val="0"/>
                                          </p:val>
                                        </p:tav>
                                        <p:tav tm="100000">
                                          <p:val>
                                            <p:strVal val="#ppt_h"/>
                                          </p:val>
                                        </p:tav>
                                      </p:tavLst>
                                    </p:anim>
                                    <p:animEffect transition="in" filter="fade">
                                      <p:cBhvr>
                                        <p:cTn id="18" dur="500"/>
                                        <p:tgtEl>
                                          <p:spTgt spid="175107">
                                            <p:txEl>
                                              <p:pRg st="0" end="0"/>
                                            </p:txEl>
                                          </p:spTgt>
                                        </p:tgtEl>
                                      </p:cBhvr>
                                    </p:animEffect>
                                  </p:childTnLst>
                                </p:cTn>
                              </p:par>
                            </p:childTnLst>
                          </p:cTn>
                        </p:par>
                        <p:par>
                          <p:cTn id="19" fill="hold" nodeType="afterGroup">
                            <p:stCondLst>
                              <p:cond delay="2000"/>
                            </p:stCondLst>
                            <p:childTnLst>
                              <p:par>
                                <p:cTn id="20" presetID="53" presetClass="entr" presetSubtype="0" fill="hold" nodeType="afterEffect">
                                  <p:stCondLst>
                                    <p:cond delay="0"/>
                                  </p:stCondLst>
                                  <p:childTnLst>
                                    <p:set>
                                      <p:cBhvr>
                                        <p:cTn id="21" dur="1" fill="hold">
                                          <p:stCondLst>
                                            <p:cond delay="0"/>
                                          </p:stCondLst>
                                        </p:cTn>
                                        <p:tgtEl>
                                          <p:spTgt spid="175107">
                                            <p:txEl>
                                              <p:pRg st="1" end="1"/>
                                            </p:txEl>
                                          </p:spTgt>
                                        </p:tgtEl>
                                        <p:attrNameLst>
                                          <p:attrName>style.visibility</p:attrName>
                                        </p:attrNameLst>
                                      </p:cBhvr>
                                      <p:to>
                                        <p:strVal val="visible"/>
                                      </p:to>
                                    </p:set>
                                    <p:anim calcmode="lin" valueType="num">
                                      <p:cBhvr>
                                        <p:cTn id="22" dur="500" fill="hold"/>
                                        <p:tgtEl>
                                          <p:spTgt spid="175107">
                                            <p:txEl>
                                              <p:pRg st="1" end="1"/>
                                            </p:txEl>
                                          </p:spTgt>
                                        </p:tgtEl>
                                        <p:attrNameLst>
                                          <p:attrName>ppt_w</p:attrName>
                                        </p:attrNameLst>
                                      </p:cBhvr>
                                      <p:tavLst>
                                        <p:tav tm="0">
                                          <p:val>
                                            <p:fltVal val="0"/>
                                          </p:val>
                                        </p:tav>
                                        <p:tav tm="100000">
                                          <p:val>
                                            <p:strVal val="#ppt_w"/>
                                          </p:val>
                                        </p:tav>
                                      </p:tavLst>
                                    </p:anim>
                                    <p:anim calcmode="lin" valueType="num">
                                      <p:cBhvr>
                                        <p:cTn id="23" dur="500" fill="hold"/>
                                        <p:tgtEl>
                                          <p:spTgt spid="175107">
                                            <p:txEl>
                                              <p:pRg st="1" end="1"/>
                                            </p:txEl>
                                          </p:spTgt>
                                        </p:tgtEl>
                                        <p:attrNameLst>
                                          <p:attrName>ppt_h</p:attrName>
                                        </p:attrNameLst>
                                      </p:cBhvr>
                                      <p:tavLst>
                                        <p:tav tm="0">
                                          <p:val>
                                            <p:fltVal val="0"/>
                                          </p:val>
                                        </p:tav>
                                        <p:tav tm="100000">
                                          <p:val>
                                            <p:strVal val="#ppt_h"/>
                                          </p:val>
                                        </p:tav>
                                      </p:tavLst>
                                    </p:anim>
                                    <p:animEffect transition="in" filter="fade">
                                      <p:cBhvr>
                                        <p:cTn id="24" dur="500"/>
                                        <p:tgtEl>
                                          <p:spTgt spid="175107">
                                            <p:txEl>
                                              <p:pRg st="1" end="1"/>
                                            </p:txEl>
                                          </p:spTgt>
                                        </p:tgtEl>
                                      </p:cBhvr>
                                    </p:animEffect>
                                  </p:childTnLst>
                                </p:cTn>
                              </p:par>
                            </p:childTnLst>
                          </p:cTn>
                        </p:par>
                        <p:par>
                          <p:cTn id="25" fill="hold" nodeType="afterGroup">
                            <p:stCondLst>
                              <p:cond delay="2500"/>
                            </p:stCondLst>
                            <p:childTnLst>
                              <p:par>
                                <p:cTn id="26" presetID="53" presetClass="entr" presetSubtype="0" fill="hold" nodeType="afterEffect">
                                  <p:stCondLst>
                                    <p:cond delay="0"/>
                                  </p:stCondLst>
                                  <p:childTnLst>
                                    <p:set>
                                      <p:cBhvr>
                                        <p:cTn id="27" dur="1" fill="hold">
                                          <p:stCondLst>
                                            <p:cond delay="0"/>
                                          </p:stCondLst>
                                        </p:cTn>
                                        <p:tgtEl>
                                          <p:spTgt spid="175107">
                                            <p:txEl>
                                              <p:pRg st="2" end="2"/>
                                            </p:txEl>
                                          </p:spTgt>
                                        </p:tgtEl>
                                        <p:attrNameLst>
                                          <p:attrName>style.visibility</p:attrName>
                                        </p:attrNameLst>
                                      </p:cBhvr>
                                      <p:to>
                                        <p:strVal val="visible"/>
                                      </p:to>
                                    </p:set>
                                    <p:anim calcmode="lin" valueType="num">
                                      <p:cBhvr>
                                        <p:cTn id="28" dur="500" fill="hold"/>
                                        <p:tgtEl>
                                          <p:spTgt spid="175107">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75107">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75107">
                                            <p:txEl>
                                              <p:pRg st="2" end="2"/>
                                            </p:txEl>
                                          </p:spTgt>
                                        </p:tgtEl>
                                      </p:cBhvr>
                                    </p:animEffect>
                                  </p:childTnLst>
                                </p:cTn>
                              </p:par>
                            </p:childTnLst>
                          </p:cTn>
                        </p:par>
                        <p:par>
                          <p:cTn id="31" fill="hold" nodeType="afterGroup">
                            <p:stCondLst>
                              <p:cond delay="3000"/>
                            </p:stCondLst>
                            <p:childTnLst>
                              <p:par>
                                <p:cTn id="32" presetID="10" presetClass="entr" presetSubtype="0" fill="hold" nodeType="afterEffect">
                                  <p:stCondLst>
                                    <p:cond delay="0"/>
                                  </p:stCondLst>
                                  <p:childTnLst>
                                    <p:set>
                                      <p:cBhvr>
                                        <p:cTn id="33" dur="1" fill="hold">
                                          <p:stCondLst>
                                            <p:cond delay="0"/>
                                          </p:stCondLst>
                                        </p:cTn>
                                        <p:tgtEl>
                                          <p:spTgt spid="175112"/>
                                        </p:tgtEl>
                                        <p:attrNameLst>
                                          <p:attrName>style.visibility</p:attrName>
                                        </p:attrNameLst>
                                      </p:cBhvr>
                                      <p:to>
                                        <p:strVal val="visible"/>
                                      </p:to>
                                    </p:set>
                                    <p:animEffect transition="in" filter="fade">
                                      <p:cBhvr>
                                        <p:cTn id="34" dur="500"/>
                                        <p:tgtEl>
                                          <p:spTgt spid="175112"/>
                                        </p:tgtEl>
                                      </p:cBhvr>
                                    </p:animEffect>
                                  </p:childTnLst>
                                </p:cTn>
                              </p:par>
                            </p:childTnLst>
                          </p:cTn>
                        </p:par>
                        <p:par>
                          <p:cTn id="35" fill="hold" nodeType="afterGroup">
                            <p:stCondLst>
                              <p:cond delay="3500"/>
                            </p:stCondLst>
                            <p:childTnLst>
                              <p:par>
                                <p:cTn id="36" presetID="10" presetClass="entr" presetSubtype="0" fill="hold" nodeType="afterEffect">
                                  <p:stCondLst>
                                    <p:cond delay="0"/>
                                  </p:stCondLst>
                                  <p:childTnLst>
                                    <p:set>
                                      <p:cBhvr>
                                        <p:cTn id="37" dur="1" fill="hold">
                                          <p:stCondLst>
                                            <p:cond delay="0"/>
                                          </p:stCondLst>
                                        </p:cTn>
                                        <p:tgtEl>
                                          <p:spTgt spid="175109"/>
                                        </p:tgtEl>
                                        <p:attrNameLst>
                                          <p:attrName>style.visibility</p:attrName>
                                        </p:attrNameLst>
                                      </p:cBhvr>
                                      <p:to>
                                        <p:strVal val="visible"/>
                                      </p:to>
                                    </p:set>
                                    <p:animEffect transition="in" filter="fade">
                                      <p:cBhvr>
                                        <p:cTn id="38" dur="500"/>
                                        <p:tgtEl>
                                          <p:spTgt spid="175109"/>
                                        </p:tgtEl>
                                      </p:cBhvr>
                                    </p:animEffect>
                                  </p:childTnLst>
                                </p:cTn>
                              </p:par>
                            </p:childTnLst>
                          </p:cTn>
                        </p:par>
                        <p:par>
                          <p:cTn id="39" fill="hold" nodeType="afterGroup">
                            <p:stCondLst>
                              <p:cond delay="4000"/>
                            </p:stCondLst>
                            <p:childTnLst>
                              <p:par>
                                <p:cTn id="40" presetID="10" presetClass="entr" presetSubtype="0" fill="hold" nodeType="afterEffect">
                                  <p:stCondLst>
                                    <p:cond delay="0"/>
                                  </p:stCondLst>
                                  <p:childTnLst>
                                    <p:set>
                                      <p:cBhvr>
                                        <p:cTn id="41" dur="1" fill="hold">
                                          <p:stCondLst>
                                            <p:cond delay="0"/>
                                          </p:stCondLst>
                                        </p:cTn>
                                        <p:tgtEl>
                                          <p:spTgt spid="175110"/>
                                        </p:tgtEl>
                                        <p:attrNameLst>
                                          <p:attrName>style.visibility</p:attrName>
                                        </p:attrNameLst>
                                      </p:cBhvr>
                                      <p:to>
                                        <p:strVal val="visible"/>
                                      </p:to>
                                    </p:set>
                                    <p:animEffect transition="in" filter="fade">
                                      <p:cBhvr>
                                        <p:cTn id="42" dur="500"/>
                                        <p:tgtEl>
                                          <p:spTgt spid="175110"/>
                                        </p:tgtEl>
                                      </p:cBhvr>
                                    </p:animEffect>
                                  </p:childTnLst>
                                </p:cTn>
                              </p:par>
                            </p:childTnLst>
                          </p:cTn>
                        </p:par>
                        <p:par>
                          <p:cTn id="43" fill="hold" nodeType="afterGroup">
                            <p:stCondLst>
                              <p:cond delay="4500"/>
                            </p:stCondLst>
                            <p:childTnLst>
                              <p:par>
                                <p:cTn id="44" presetID="10" presetClass="entr" presetSubtype="0" fill="hold" nodeType="afterEffect">
                                  <p:stCondLst>
                                    <p:cond delay="0"/>
                                  </p:stCondLst>
                                  <p:childTnLst>
                                    <p:set>
                                      <p:cBhvr>
                                        <p:cTn id="45" dur="1" fill="hold">
                                          <p:stCondLst>
                                            <p:cond delay="0"/>
                                          </p:stCondLst>
                                        </p:cTn>
                                        <p:tgtEl>
                                          <p:spTgt spid="175113"/>
                                        </p:tgtEl>
                                        <p:attrNameLst>
                                          <p:attrName>style.visibility</p:attrName>
                                        </p:attrNameLst>
                                      </p:cBhvr>
                                      <p:to>
                                        <p:strVal val="visible"/>
                                      </p:to>
                                    </p:set>
                                    <p:animEffect transition="in" filter="fade">
                                      <p:cBhvr>
                                        <p:cTn id="46" dur="500"/>
                                        <p:tgtEl>
                                          <p:spTgt spid="175113"/>
                                        </p:tgtEl>
                                      </p:cBhvr>
                                    </p:animEffect>
                                  </p:childTnLst>
                                </p:cTn>
                              </p:par>
                            </p:childTnLst>
                          </p:cTn>
                        </p:par>
                        <p:par>
                          <p:cTn id="47" fill="hold" nodeType="afterGroup">
                            <p:stCondLst>
                              <p:cond delay="5000"/>
                            </p:stCondLst>
                            <p:childTnLst>
                              <p:par>
                                <p:cTn id="48" presetID="10" presetClass="entr" presetSubtype="0" fill="hold" nodeType="afterEffect">
                                  <p:stCondLst>
                                    <p:cond delay="0"/>
                                  </p:stCondLst>
                                  <p:childTnLst>
                                    <p:set>
                                      <p:cBhvr>
                                        <p:cTn id="49" dur="1" fill="hold">
                                          <p:stCondLst>
                                            <p:cond delay="0"/>
                                          </p:stCondLst>
                                        </p:cTn>
                                        <p:tgtEl>
                                          <p:spTgt spid="175115"/>
                                        </p:tgtEl>
                                        <p:attrNameLst>
                                          <p:attrName>style.visibility</p:attrName>
                                        </p:attrNameLst>
                                      </p:cBhvr>
                                      <p:to>
                                        <p:strVal val="visible"/>
                                      </p:to>
                                    </p:set>
                                    <p:animEffect transition="in" filter="fade">
                                      <p:cBhvr>
                                        <p:cTn id="50" dur="500"/>
                                        <p:tgtEl>
                                          <p:spTgt spid="175115"/>
                                        </p:tgtEl>
                                      </p:cBhvr>
                                    </p:animEffect>
                                  </p:childTnLst>
                                </p:cTn>
                              </p:par>
                            </p:childTnLst>
                          </p:cTn>
                        </p:par>
                        <p:par>
                          <p:cTn id="51" fill="hold" nodeType="afterGroup">
                            <p:stCondLst>
                              <p:cond delay="5500"/>
                            </p:stCondLst>
                            <p:childTnLst>
                              <p:par>
                                <p:cTn id="52" presetID="10" presetClass="entr" presetSubtype="0" fill="hold" nodeType="afterEffect">
                                  <p:stCondLst>
                                    <p:cond delay="0"/>
                                  </p:stCondLst>
                                  <p:childTnLst>
                                    <p:set>
                                      <p:cBhvr>
                                        <p:cTn id="53" dur="1" fill="hold">
                                          <p:stCondLst>
                                            <p:cond delay="0"/>
                                          </p:stCondLst>
                                        </p:cTn>
                                        <p:tgtEl>
                                          <p:spTgt spid="175114"/>
                                        </p:tgtEl>
                                        <p:attrNameLst>
                                          <p:attrName>style.visibility</p:attrName>
                                        </p:attrNameLst>
                                      </p:cBhvr>
                                      <p:to>
                                        <p:strVal val="visible"/>
                                      </p:to>
                                    </p:set>
                                    <p:animEffect transition="in" filter="fade">
                                      <p:cBhvr>
                                        <p:cTn id="54" dur="500"/>
                                        <p:tgtEl>
                                          <p:spTgt spid="175114"/>
                                        </p:tgtEl>
                                      </p:cBhvr>
                                    </p:animEffect>
                                  </p:childTnLst>
                                </p:cTn>
                              </p:par>
                            </p:childTnLst>
                          </p:cTn>
                        </p:par>
                        <p:par>
                          <p:cTn id="55" fill="hold" nodeType="afterGroup">
                            <p:stCondLst>
                              <p:cond delay="6000"/>
                            </p:stCondLst>
                            <p:childTnLst>
                              <p:par>
                                <p:cTn id="56" presetID="10" presetClass="entr" presetSubtype="0" fill="hold" nodeType="afterEffect">
                                  <p:stCondLst>
                                    <p:cond delay="0"/>
                                  </p:stCondLst>
                                  <p:childTnLst>
                                    <p:set>
                                      <p:cBhvr>
                                        <p:cTn id="57" dur="1" fill="hold">
                                          <p:stCondLst>
                                            <p:cond delay="0"/>
                                          </p:stCondLst>
                                        </p:cTn>
                                        <p:tgtEl>
                                          <p:spTgt spid="175111"/>
                                        </p:tgtEl>
                                        <p:attrNameLst>
                                          <p:attrName>style.visibility</p:attrName>
                                        </p:attrNameLst>
                                      </p:cBhvr>
                                      <p:to>
                                        <p:strVal val="visible"/>
                                      </p:to>
                                    </p:set>
                                    <p:animEffect transition="in" filter="fade">
                                      <p:cBhvr>
                                        <p:cTn id="58" dur="500"/>
                                        <p:tgtEl>
                                          <p:spTgt spid="175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p:bldP spid="175107" grpId="0" build="p"/>
      <p:bldP spid="175109" grpId="0" animBg="1"/>
      <p:bldP spid="175110" grpId="0" animBg="1"/>
      <p:bldP spid="1751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B74A0D07-E6E2-33EB-7F64-2F38D2D5678F}"/>
              </a:ext>
            </a:extLst>
          </p:cNvPr>
          <p:cNvSpPr>
            <a:spLocks noGrp="1"/>
          </p:cNvSpPr>
          <p:nvPr>
            <p:ph type="title"/>
          </p:nvPr>
        </p:nvSpPr>
        <p:spPr bwMode="auto">
          <a:xfrm>
            <a:off x="3643313" y="0"/>
            <a:ext cx="5500687" cy="1071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3600" b="1"/>
              <a:t>Additional query criteria - SQL</a:t>
            </a:r>
            <a:endParaRPr lang="en-GB" altLang="en-US" sz="3600" b="1"/>
          </a:p>
        </p:txBody>
      </p:sp>
      <p:pic>
        <p:nvPicPr>
          <p:cNvPr id="344066" name="Picture 2">
            <a:extLst>
              <a:ext uri="{FF2B5EF4-FFF2-40B4-BE49-F238E27FC236}">
                <a16:creationId xmlns:a16="http://schemas.microsoft.com/office/drawing/2014/main" id="{0FA7040D-5ADA-7916-24D9-70159FC71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9063" y="1143000"/>
            <a:ext cx="48577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2DB82AF0-C4D6-5AFB-AFA9-E56AB63E3BBF}"/>
              </a:ext>
            </a:extLst>
          </p:cNvPr>
          <p:cNvSpPr>
            <a:spLocks noChangeArrowheads="1"/>
          </p:cNvSpPr>
          <p:nvPr/>
        </p:nvSpPr>
        <p:spPr bwMode="auto">
          <a:xfrm>
            <a:off x="785813" y="5072063"/>
            <a:ext cx="2714625" cy="147796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a:latin typeface="Verdana" panose="020B0604030504040204" pitchFamily="34" charset="0"/>
              </a:rPr>
              <a:t>Type the SQL in the field provided on the right.  Click the check mark to run the query.</a:t>
            </a:r>
            <a:endParaRPr lang="en-GB" altLang="en-US" sz="1800">
              <a:latin typeface="Verdana" panose="020B0604030504040204" pitchFamily="34" charset="0"/>
            </a:endParaRPr>
          </a:p>
        </p:txBody>
      </p:sp>
      <p:sp>
        <p:nvSpPr>
          <p:cNvPr id="7" name="Rectangle 6">
            <a:extLst>
              <a:ext uri="{FF2B5EF4-FFF2-40B4-BE49-F238E27FC236}">
                <a16:creationId xmlns:a16="http://schemas.microsoft.com/office/drawing/2014/main" id="{34500FE8-3A22-2765-8C60-F664E2CFC92D}"/>
              </a:ext>
            </a:extLst>
          </p:cNvPr>
          <p:cNvSpPr>
            <a:spLocks noChangeArrowheads="1"/>
          </p:cNvSpPr>
          <p:nvPr/>
        </p:nvSpPr>
        <p:spPr bwMode="auto">
          <a:xfrm>
            <a:off x="285750" y="1571625"/>
            <a:ext cx="2714625" cy="25860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a:latin typeface="Verdana" panose="020B0604030504040204" pitchFamily="34" charset="0"/>
              </a:rPr>
              <a:t>Click the drop down arrow located on the far left-hand corner of the Query window.  A separate window displays.  This is a free-format field where the SQL can be entered.</a:t>
            </a:r>
            <a:endParaRPr lang="en-GB" altLang="en-US" sz="1800" b="1">
              <a:latin typeface="Verdana" panose="020B0604030504040204" pitchFamily="34" charset="0"/>
            </a:endParaRPr>
          </a:p>
        </p:txBody>
      </p:sp>
      <p:cxnSp>
        <p:nvCxnSpPr>
          <p:cNvPr id="13" name="Straight Arrow Connector 12">
            <a:extLst>
              <a:ext uri="{FF2B5EF4-FFF2-40B4-BE49-F238E27FC236}">
                <a16:creationId xmlns:a16="http://schemas.microsoft.com/office/drawing/2014/main" id="{34D29B5F-2F25-3DD7-710B-EE8077C2619C}"/>
              </a:ext>
            </a:extLst>
          </p:cNvPr>
          <p:cNvCxnSpPr/>
          <p:nvPr/>
        </p:nvCxnSpPr>
        <p:spPr>
          <a:xfrm rot="5400000" flipH="1" flipV="1">
            <a:off x="2928938" y="3000375"/>
            <a:ext cx="3857625" cy="2714625"/>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530EDDA-8F0C-6294-2AAB-76C0E8D20310}"/>
              </a:ext>
            </a:extLst>
          </p:cNvPr>
          <p:cNvCxnSpPr/>
          <p:nvPr/>
        </p:nvCxnSpPr>
        <p:spPr>
          <a:xfrm flipV="1">
            <a:off x="3500438" y="5357813"/>
            <a:ext cx="1428750" cy="107156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pic>
        <p:nvPicPr>
          <p:cNvPr id="24" name="Picture 2">
            <a:extLst>
              <a:ext uri="{FF2B5EF4-FFF2-40B4-BE49-F238E27FC236}">
                <a16:creationId xmlns:a16="http://schemas.microsoft.com/office/drawing/2014/main" id="{5CC8D6A0-8752-165B-AA4E-36871221FA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500" y="1143000"/>
            <a:ext cx="47450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Arrow Connector 10">
            <a:extLst>
              <a:ext uri="{FF2B5EF4-FFF2-40B4-BE49-F238E27FC236}">
                <a16:creationId xmlns:a16="http://schemas.microsoft.com/office/drawing/2014/main" id="{CFCCB92E-7B59-76E3-F406-8D345547A657}"/>
              </a:ext>
            </a:extLst>
          </p:cNvPr>
          <p:cNvCxnSpPr>
            <a:stCxn id="7" idx="3"/>
            <a:endCxn id="9" idx="0"/>
          </p:cNvCxnSpPr>
          <p:nvPr/>
        </p:nvCxnSpPr>
        <p:spPr>
          <a:xfrm>
            <a:off x="3000375" y="2863850"/>
            <a:ext cx="1143000" cy="25654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3C362B20-0B9C-BD0F-EB72-668A5D4989CB}"/>
              </a:ext>
            </a:extLst>
          </p:cNvPr>
          <p:cNvSpPr/>
          <p:nvPr/>
        </p:nvSpPr>
        <p:spPr>
          <a:xfrm>
            <a:off x="4000500" y="5429250"/>
            <a:ext cx="285750" cy="28575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9"/>
                                        </p:tgtEl>
                                      </p:cBhvr>
                                    </p:animEffect>
                                    <p:animScale>
                                      <p:cBhvr>
                                        <p:cTn id="24" dur="250" autoRev="1" fill="hold"/>
                                        <p:tgtEl>
                                          <p:spTgt spid="9"/>
                                        </p:tgtEl>
                                      </p:cBhvr>
                                      <p:by x="105000" y="105000"/>
                                    </p:animScale>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xit" presetSubtype="4" fill="hold" nodeType="clickEffect">
                                  <p:stCondLst>
                                    <p:cond delay="0"/>
                                  </p:stCondLst>
                                  <p:childTnLst>
                                    <p:anim calcmode="lin" valueType="num">
                                      <p:cBhvr additive="base">
                                        <p:cTn id="28" dur="500"/>
                                        <p:tgtEl>
                                          <p:spTgt spid="9"/>
                                        </p:tgtEl>
                                        <p:attrNameLst>
                                          <p:attrName>ppt_x</p:attrName>
                                        </p:attrNameLst>
                                      </p:cBhvr>
                                      <p:tavLst>
                                        <p:tav tm="0">
                                          <p:val>
                                            <p:strVal val="ppt_x"/>
                                          </p:val>
                                        </p:tav>
                                        <p:tav tm="100000">
                                          <p:val>
                                            <p:strVal val="ppt_x"/>
                                          </p:val>
                                        </p:tav>
                                      </p:tavLst>
                                    </p:anim>
                                    <p:anim calcmode="lin" valueType="num">
                                      <p:cBhvr additive="base">
                                        <p:cTn id="29" dur="500"/>
                                        <p:tgtEl>
                                          <p:spTgt spid="9"/>
                                        </p:tgtEl>
                                        <p:attrNameLst>
                                          <p:attrName>ppt_y</p:attrName>
                                        </p:attrNameLst>
                                      </p:cBhvr>
                                      <p:tavLst>
                                        <p:tav tm="0">
                                          <p:val>
                                            <p:strVal val="ppt_y"/>
                                          </p:val>
                                        </p:tav>
                                        <p:tav tm="100000">
                                          <p:val>
                                            <p:strVal val="1+ppt_h/2"/>
                                          </p:val>
                                        </p:tav>
                                      </p:tavLst>
                                    </p:anim>
                                    <p:set>
                                      <p:cBhvr>
                                        <p:cTn id="30" dur="1" fill="hold">
                                          <p:stCondLst>
                                            <p:cond delay="499"/>
                                          </p:stCondLst>
                                        </p:cTn>
                                        <p:tgtEl>
                                          <p:spTgt spid="9"/>
                                        </p:tgtEl>
                                        <p:attrNameLst>
                                          <p:attrName>style.visibility</p:attrName>
                                        </p:attrNameLst>
                                      </p:cBhvr>
                                      <p:to>
                                        <p:strVal val="hidden"/>
                                      </p:to>
                                    </p:set>
                                  </p:childTnLst>
                                </p:cTn>
                              </p:par>
                              <p:par>
                                <p:cTn id="31" presetID="2" presetClass="exit" presetSubtype="4" fill="hold" nodeType="withEffect">
                                  <p:stCondLst>
                                    <p:cond delay="0"/>
                                  </p:stCondLst>
                                  <p:childTnLst>
                                    <p:anim calcmode="lin" valueType="num">
                                      <p:cBhvr additive="base">
                                        <p:cTn id="32" dur="500"/>
                                        <p:tgtEl>
                                          <p:spTgt spid="11"/>
                                        </p:tgtEl>
                                        <p:attrNameLst>
                                          <p:attrName>ppt_x</p:attrName>
                                        </p:attrNameLst>
                                      </p:cBhvr>
                                      <p:tavLst>
                                        <p:tav tm="0">
                                          <p:val>
                                            <p:strVal val="ppt_x"/>
                                          </p:val>
                                        </p:tav>
                                        <p:tav tm="100000">
                                          <p:val>
                                            <p:strVal val="ppt_x"/>
                                          </p:val>
                                        </p:tav>
                                      </p:tavLst>
                                    </p:anim>
                                    <p:anim calcmode="lin" valueType="num">
                                      <p:cBhvr additive="base">
                                        <p:cTn id="33" dur="500"/>
                                        <p:tgtEl>
                                          <p:spTgt spid="11"/>
                                        </p:tgtEl>
                                        <p:attrNameLst>
                                          <p:attrName>ppt_y</p:attrName>
                                        </p:attrNameLst>
                                      </p:cBhvr>
                                      <p:tavLst>
                                        <p:tav tm="0">
                                          <p:val>
                                            <p:strVal val="ppt_y"/>
                                          </p:val>
                                        </p:tav>
                                        <p:tav tm="100000">
                                          <p:val>
                                            <p:strVal val="1+ppt_h/2"/>
                                          </p:val>
                                        </p:tav>
                                      </p:tavLst>
                                    </p:anim>
                                    <p:set>
                                      <p:cBhvr>
                                        <p:cTn id="34" dur="1" fill="hold">
                                          <p:stCondLst>
                                            <p:cond delay="499"/>
                                          </p:stCondLst>
                                        </p:cTn>
                                        <p:tgtEl>
                                          <p:spTgt spid="11"/>
                                        </p:tgtEl>
                                        <p:attrNameLst>
                                          <p:attrName>style.visibility</p:attrName>
                                        </p:attrNameLst>
                                      </p:cBhvr>
                                      <p:to>
                                        <p:strVal val="hidden"/>
                                      </p:to>
                                    </p:set>
                                  </p:childTnLst>
                                </p:cTn>
                              </p:par>
                              <p:par>
                                <p:cTn id="35" presetID="2" presetClass="exit" presetSubtype="4" fill="hold" nodeType="withEffect">
                                  <p:stCondLst>
                                    <p:cond delay="0"/>
                                  </p:stCondLst>
                                  <p:childTnLst>
                                    <p:anim calcmode="lin" valueType="num">
                                      <p:cBhvr additive="base">
                                        <p:cTn id="36" dur="500"/>
                                        <p:tgtEl>
                                          <p:spTgt spid="7"/>
                                        </p:tgtEl>
                                        <p:attrNameLst>
                                          <p:attrName>ppt_x</p:attrName>
                                        </p:attrNameLst>
                                      </p:cBhvr>
                                      <p:tavLst>
                                        <p:tav tm="0">
                                          <p:val>
                                            <p:strVal val="ppt_x"/>
                                          </p:val>
                                        </p:tav>
                                        <p:tav tm="100000">
                                          <p:val>
                                            <p:strVal val="ppt_x"/>
                                          </p:val>
                                        </p:tav>
                                      </p:tavLst>
                                    </p:anim>
                                    <p:anim calcmode="lin" valueType="num">
                                      <p:cBhvr additive="base">
                                        <p:cTn id="37" dur="500"/>
                                        <p:tgtEl>
                                          <p:spTgt spid="7"/>
                                        </p:tgtEl>
                                        <p:attrNameLst>
                                          <p:attrName>ppt_y</p:attrName>
                                        </p:attrNameLst>
                                      </p:cBhvr>
                                      <p:tavLst>
                                        <p:tav tm="0">
                                          <p:val>
                                            <p:strVal val="ppt_y"/>
                                          </p:val>
                                        </p:tav>
                                        <p:tav tm="100000">
                                          <p:val>
                                            <p:strVal val="1+ppt_h/2"/>
                                          </p:val>
                                        </p:tav>
                                      </p:tavLst>
                                    </p:anim>
                                    <p:set>
                                      <p:cBhvr>
                                        <p:cTn id="38" dur="1" fill="hold">
                                          <p:stCondLst>
                                            <p:cond delay="499"/>
                                          </p:stCondLst>
                                        </p:cTn>
                                        <p:tgtEl>
                                          <p:spTgt spid="7"/>
                                        </p:tgtEl>
                                        <p:attrNameLst>
                                          <p:attrName>style.visibility</p:attrName>
                                        </p:attrNameLst>
                                      </p:cBhvr>
                                      <p:to>
                                        <p:strVal val="hidden"/>
                                      </p:to>
                                    </p:set>
                                  </p:childTnLst>
                                </p:cTn>
                              </p:par>
                              <p:par>
                                <p:cTn id="39" presetID="2" presetClass="exit" presetSubtype="4" fill="hold" nodeType="withEffect">
                                  <p:stCondLst>
                                    <p:cond delay="0"/>
                                  </p:stCondLst>
                                  <p:childTnLst>
                                    <p:anim calcmode="lin" valueType="num">
                                      <p:cBhvr additive="base">
                                        <p:cTn id="40" dur="500"/>
                                        <p:tgtEl>
                                          <p:spTgt spid="24"/>
                                        </p:tgtEl>
                                        <p:attrNameLst>
                                          <p:attrName>ppt_x</p:attrName>
                                        </p:attrNameLst>
                                      </p:cBhvr>
                                      <p:tavLst>
                                        <p:tav tm="0">
                                          <p:val>
                                            <p:strVal val="ppt_x"/>
                                          </p:val>
                                        </p:tav>
                                        <p:tav tm="100000">
                                          <p:val>
                                            <p:strVal val="ppt_x"/>
                                          </p:val>
                                        </p:tav>
                                      </p:tavLst>
                                    </p:anim>
                                    <p:anim calcmode="lin" valueType="num">
                                      <p:cBhvr additive="base">
                                        <p:cTn id="41" dur="500"/>
                                        <p:tgtEl>
                                          <p:spTgt spid="24"/>
                                        </p:tgtEl>
                                        <p:attrNameLst>
                                          <p:attrName>ppt_y</p:attrName>
                                        </p:attrNameLst>
                                      </p:cBhvr>
                                      <p:tavLst>
                                        <p:tav tm="0">
                                          <p:val>
                                            <p:strVal val="ppt_y"/>
                                          </p:val>
                                        </p:tav>
                                        <p:tav tm="100000">
                                          <p:val>
                                            <p:strVal val="1+ppt_h/2"/>
                                          </p:val>
                                        </p:tav>
                                      </p:tavLst>
                                    </p:anim>
                                    <p:set>
                                      <p:cBhvr>
                                        <p:cTn id="42" dur="1" fill="hold">
                                          <p:stCondLst>
                                            <p:cond delay="499"/>
                                          </p:stCondLst>
                                        </p:cTn>
                                        <p:tgtEl>
                                          <p:spTgt spid="24"/>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344066"/>
                                        </p:tgtEl>
                                        <p:attrNameLst>
                                          <p:attrName>style.visibility</p:attrName>
                                        </p:attrNameLst>
                                      </p:cBhvr>
                                      <p:to>
                                        <p:strVal val="visible"/>
                                      </p:to>
                                    </p:set>
                                    <p:anim calcmode="lin" valueType="num">
                                      <p:cBhvr additive="base">
                                        <p:cTn id="47" dur="500" fill="hold"/>
                                        <p:tgtEl>
                                          <p:spTgt spid="344066"/>
                                        </p:tgtEl>
                                        <p:attrNameLst>
                                          <p:attrName>ppt_x</p:attrName>
                                        </p:attrNameLst>
                                      </p:cBhvr>
                                      <p:tavLst>
                                        <p:tav tm="0">
                                          <p:val>
                                            <p:strVal val="#ppt_x"/>
                                          </p:val>
                                        </p:tav>
                                        <p:tav tm="100000">
                                          <p:val>
                                            <p:strVal val="#ppt_x"/>
                                          </p:val>
                                        </p:tav>
                                      </p:tavLst>
                                    </p:anim>
                                    <p:anim calcmode="lin" valueType="num">
                                      <p:cBhvr additive="base">
                                        <p:cTn id="48" dur="500" fill="hold"/>
                                        <p:tgtEl>
                                          <p:spTgt spid="34406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ppt_x"/>
                                          </p:val>
                                        </p:tav>
                                        <p:tav tm="100000">
                                          <p:val>
                                            <p:strVal val="#ppt_x"/>
                                          </p:val>
                                        </p:tav>
                                      </p:tavLst>
                                    </p:anim>
                                    <p:anim calcmode="lin" valueType="num">
                                      <p:cBhvr additive="base">
                                        <p:cTn id="56" dur="500" fill="hold"/>
                                        <p:tgtEl>
                                          <p:spTgt spid="13"/>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7" grpId="1" animBg="1"/>
      <p:bldP spid="9" grpId="0" animBg="1"/>
      <p:bldP spid="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F9134399-173D-5225-4323-BD67362D5485}"/>
              </a:ext>
            </a:extLst>
          </p:cNvPr>
          <p:cNvSpPr>
            <a:spLocks noGrp="1" noChangeArrowheads="1"/>
          </p:cNvSpPr>
          <p:nvPr>
            <p:ph type="title"/>
          </p:nvPr>
        </p:nvSpPr>
        <p:spPr bwMode="auto">
          <a:xfrm>
            <a:off x="3357563" y="411163"/>
            <a:ext cx="5329237" cy="11604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b="1"/>
              <a:t>Time Period &amp; Amount Conventions</a:t>
            </a:r>
          </a:p>
        </p:txBody>
      </p:sp>
      <p:sp>
        <p:nvSpPr>
          <p:cNvPr id="41987" name="Rectangle 3">
            <a:extLst>
              <a:ext uri="{FF2B5EF4-FFF2-40B4-BE49-F238E27FC236}">
                <a16:creationId xmlns:a16="http://schemas.microsoft.com/office/drawing/2014/main" id="{6354080E-09D5-96F9-8935-9CC3B51DBC38}"/>
              </a:ext>
            </a:extLst>
          </p:cNvPr>
          <p:cNvSpPr>
            <a:spLocks noGrp="1" noChangeArrowheads="1"/>
          </p:cNvSpPr>
          <p:nvPr>
            <p:ph idx="1"/>
          </p:nvPr>
        </p:nvSpPr>
        <p:spPr bwMode="auto">
          <a:xfrm>
            <a:off x="685800" y="17526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GB" altLang="en-US" sz="2400"/>
              <a:t>Use time period shortcuts to query on a range of dates</a:t>
            </a:r>
          </a:p>
          <a:p>
            <a:pPr lvl="1" eaLnBrk="1" hangingPunct="1">
              <a:lnSpc>
                <a:spcPct val="90000"/>
              </a:lnSpc>
            </a:pPr>
            <a:r>
              <a:rPr lang="en-GB" altLang="en-US" sz="2200" i="1"/>
              <a:t>d</a:t>
            </a:r>
            <a:r>
              <a:rPr lang="en-GB" altLang="en-US" sz="2200"/>
              <a:t> for days</a:t>
            </a:r>
          </a:p>
          <a:p>
            <a:pPr lvl="1" eaLnBrk="1" hangingPunct="1">
              <a:lnSpc>
                <a:spcPct val="90000"/>
              </a:lnSpc>
            </a:pPr>
            <a:r>
              <a:rPr lang="en-GB" altLang="en-US" sz="2200" i="1"/>
              <a:t>w</a:t>
            </a:r>
            <a:r>
              <a:rPr lang="en-GB" altLang="en-US" sz="2200"/>
              <a:t> for weeks</a:t>
            </a:r>
          </a:p>
          <a:p>
            <a:pPr lvl="1" eaLnBrk="1" hangingPunct="1">
              <a:lnSpc>
                <a:spcPct val="90000"/>
              </a:lnSpc>
            </a:pPr>
            <a:r>
              <a:rPr lang="en-GB" altLang="en-US" sz="2200" i="1"/>
              <a:t>m</a:t>
            </a:r>
            <a:r>
              <a:rPr lang="en-GB" altLang="en-US" sz="2200"/>
              <a:t> for months</a:t>
            </a:r>
          </a:p>
          <a:p>
            <a:pPr lvl="1" eaLnBrk="1" hangingPunct="1">
              <a:lnSpc>
                <a:spcPct val="90000"/>
              </a:lnSpc>
            </a:pPr>
            <a:r>
              <a:rPr lang="en-GB" altLang="en-US" sz="2200" i="1"/>
              <a:t>y</a:t>
            </a:r>
            <a:r>
              <a:rPr lang="en-GB" altLang="en-US" sz="2200"/>
              <a:t> for years</a:t>
            </a:r>
          </a:p>
          <a:p>
            <a:pPr eaLnBrk="1" hangingPunct="1">
              <a:lnSpc>
                <a:spcPct val="90000"/>
              </a:lnSpc>
            </a:pPr>
            <a:r>
              <a:rPr lang="en-GB" altLang="en-US" sz="2400"/>
              <a:t>Use amount shortcuts to insert trailing 000’s on numbers</a:t>
            </a:r>
          </a:p>
          <a:p>
            <a:pPr lvl="1" eaLnBrk="1" hangingPunct="1">
              <a:lnSpc>
                <a:spcPct val="90000"/>
              </a:lnSpc>
            </a:pPr>
            <a:r>
              <a:rPr lang="en-GB" altLang="en-US" sz="2200" i="1"/>
              <a:t>k</a:t>
            </a:r>
            <a:r>
              <a:rPr lang="en-GB" altLang="en-US" sz="2200"/>
              <a:t> for thousand</a:t>
            </a:r>
          </a:p>
          <a:p>
            <a:pPr lvl="1" eaLnBrk="1" hangingPunct="1">
              <a:lnSpc>
                <a:spcPct val="90000"/>
              </a:lnSpc>
            </a:pPr>
            <a:r>
              <a:rPr lang="en-GB" altLang="en-US" sz="2200" i="1"/>
              <a:t>m</a:t>
            </a:r>
            <a:r>
              <a:rPr lang="en-GB" altLang="en-US" sz="2200"/>
              <a:t> for million</a:t>
            </a:r>
          </a:p>
          <a:p>
            <a:pPr eaLnBrk="1" hangingPunct="1">
              <a:lnSpc>
                <a:spcPct val="90000"/>
              </a:lnSpc>
            </a:pPr>
            <a:r>
              <a:rPr lang="en-GB" altLang="en-US" sz="2400"/>
              <a:t>Mix &amp; match with conditional operators</a:t>
            </a:r>
          </a:p>
        </p:txBody>
      </p:sp>
      <p:sp>
        <p:nvSpPr>
          <p:cNvPr id="41988" name="Text Box 4">
            <a:extLst>
              <a:ext uri="{FF2B5EF4-FFF2-40B4-BE49-F238E27FC236}">
                <a16:creationId xmlns:a16="http://schemas.microsoft.com/office/drawing/2014/main" id="{10A45357-81F2-203B-18C6-3618E39F1534}"/>
              </a:ext>
            </a:extLst>
          </p:cNvPr>
          <p:cNvSpPr txBox="1">
            <a:spLocks noChangeArrowheads="1"/>
          </p:cNvSpPr>
          <p:nvPr/>
        </p:nvSpPr>
        <p:spPr bwMode="auto">
          <a:xfrm>
            <a:off x="5334000" y="3048000"/>
            <a:ext cx="2057400" cy="376238"/>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GB" altLang="en-US" sz="1800">
                <a:latin typeface="Arial" panose="020B0604020202020204" pitchFamily="34" charset="0"/>
              </a:rPr>
              <a:t>e.g. 5d = 5 days</a:t>
            </a:r>
          </a:p>
        </p:txBody>
      </p:sp>
      <p:sp>
        <p:nvSpPr>
          <p:cNvPr id="41989" name="Text Box 5">
            <a:extLst>
              <a:ext uri="{FF2B5EF4-FFF2-40B4-BE49-F238E27FC236}">
                <a16:creationId xmlns:a16="http://schemas.microsoft.com/office/drawing/2014/main" id="{7B3F5DD5-CC3E-8CF7-4F86-4150FB3CCC6C}"/>
              </a:ext>
            </a:extLst>
          </p:cNvPr>
          <p:cNvSpPr txBox="1">
            <a:spLocks noChangeArrowheads="1"/>
          </p:cNvSpPr>
          <p:nvPr/>
        </p:nvSpPr>
        <p:spPr bwMode="auto">
          <a:xfrm>
            <a:off x="5334000" y="4953000"/>
            <a:ext cx="2057400" cy="376238"/>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GB" altLang="en-US" sz="1800">
                <a:latin typeface="Arial" panose="020B0604020202020204" pitchFamily="34" charset="0"/>
              </a:rPr>
              <a:t>e.g. 3k = 3’000</a:t>
            </a:r>
          </a:p>
        </p:txBody>
      </p:sp>
      <p:sp>
        <p:nvSpPr>
          <p:cNvPr id="41990" name="Text Box 6">
            <a:extLst>
              <a:ext uri="{FF2B5EF4-FFF2-40B4-BE49-F238E27FC236}">
                <a16:creationId xmlns:a16="http://schemas.microsoft.com/office/drawing/2014/main" id="{3EA54D1B-DB21-47AB-DC57-E4DC54E99446}"/>
              </a:ext>
            </a:extLst>
          </p:cNvPr>
          <p:cNvSpPr txBox="1">
            <a:spLocks noChangeArrowheads="1"/>
          </p:cNvSpPr>
          <p:nvPr/>
        </p:nvSpPr>
        <p:spPr bwMode="auto">
          <a:xfrm>
            <a:off x="4724400" y="5867400"/>
            <a:ext cx="3352800" cy="376238"/>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GB" altLang="en-US" sz="1800">
                <a:latin typeface="Arial" panose="020B0604020202020204" pitchFamily="34" charset="0"/>
              </a:rPr>
              <a:t>e.g. &gt;5d = greater than 5 days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41986"/>
                                        </p:tgtEl>
                                        <p:attrNameLst>
                                          <p:attrName>style.visibility</p:attrName>
                                        </p:attrNameLst>
                                      </p:cBhvr>
                                      <p:to>
                                        <p:strVal val="visible"/>
                                      </p:to>
                                    </p:set>
                                    <p:anim calcmode="lin" valueType="num">
                                      <p:cBhvr additive="base">
                                        <p:cTn id="7" dur="500" fill="hold"/>
                                        <p:tgtEl>
                                          <p:spTgt spid="41986"/>
                                        </p:tgtEl>
                                        <p:attrNameLst>
                                          <p:attrName>ppt_x</p:attrName>
                                        </p:attrNameLst>
                                      </p:cBhvr>
                                      <p:tavLst>
                                        <p:tav tm="0">
                                          <p:val>
                                            <p:strVal val="1+#ppt_w/2"/>
                                          </p:val>
                                        </p:tav>
                                        <p:tav tm="100000">
                                          <p:val>
                                            <p:strVal val="#ppt_x"/>
                                          </p:val>
                                        </p:tav>
                                      </p:tavLst>
                                    </p:anim>
                                    <p:anim calcmode="lin" valueType="num">
                                      <p:cBhvr additive="base">
                                        <p:cTn id="8" dur="500" fill="hold"/>
                                        <p:tgtEl>
                                          <p:spTgt spid="4198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0" presetClass="entr" presetSubtype="0" fill="hold" nodeType="afterEffect">
                                  <p:stCondLst>
                                    <p:cond delay="0"/>
                                  </p:stCondLst>
                                  <p:childTnLst>
                                    <p:set>
                                      <p:cBhvr>
                                        <p:cTn id="11" dur="1" fill="hold">
                                          <p:stCondLst>
                                            <p:cond delay="0"/>
                                          </p:stCondLst>
                                        </p:cTn>
                                        <p:tgtEl>
                                          <p:spTgt spid="41987">
                                            <p:txEl>
                                              <p:pRg st="0" end="0"/>
                                            </p:txEl>
                                          </p:spTgt>
                                        </p:tgtEl>
                                        <p:attrNameLst>
                                          <p:attrName>style.visibility</p:attrName>
                                        </p:attrNameLst>
                                      </p:cBhvr>
                                      <p:to>
                                        <p:strVal val="visible"/>
                                      </p:to>
                                    </p:set>
                                    <p:animEffect transition="in" filter="fade">
                                      <p:cBhvr>
                                        <p:cTn id="12" dur="500"/>
                                        <p:tgtEl>
                                          <p:spTgt spid="41987">
                                            <p:txEl>
                                              <p:pRg st="0" end="0"/>
                                            </p:txEl>
                                          </p:spTgt>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41987">
                                            <p:txEl>
                                              <p:pRg st="1" end="1"/>
                                            </p:txEl>
                                          </p:spTgt>
                                        </p:tgtEl>
                                        <p:attrNameLst>
                                          <p:attrName>style.visibility</p:attrName>
                                        </p:attrNameLst>
                                      </p:cBhvr>
                                      <p:to>
                                        <p:strVal val="visible"/>
                                      </p:to>
                                    </p:set>
                                    <p:animEffect transition="in" filter="fade">
                                      <p:cBhvr>
                                        <p:cTn id="16" dur="500"/>
                                        <p:tgtEl>
                                          <p:spTgt spid="41987">
                                            <p:txEl>
                                              <p:pRg st="1" end="1"/>
                                            </p:txEl>
                                          </p:spTgt>
                                        </p:tgtEl>
                                      </p:cBhvr>
                                    </p:animEffect>
                                  </p:childTnLst>
                                </p:cTn>
                              </p:par>
                            </p:childTnLst>
                          </p:cTn>
                        </p:par>
                        <p:par>
                          <p:cTn id="17" fill="hold" nodeType="afterGroup">
                            <p:stCondLst>
                              <p:cond delay="1500"/>
                            </p:stCondLst>
                            <p:childTnLst>
                              <p:par>
                                <p:cTn id="18" presetID="10" presetClass="entr" presetSubtype="0" fill="hold" nodeType="afterEffect">
                                  <p:stCondLst>
                                    <p:cond delay="0"/>
                                  </p:stCondLst>
                                  <p:childTnLst>
                                    <p:set>
                                      <p:cBhvr>
                                        <p:cTn id="19" dur="1" fill="hold">
                                          <p:stCondLst>
                                            <p:cond delay="0"/>
                                          </p:stCondLst>
                                        </p:cTn>
                                        <p:tgtEl>
                                          <p:spTgt spid="41987">
                                            <p:txEl>
                                              <p:pRg st="2" end="2"/>
                                            </p:txEl>
                                          </p:spTgt>
                                        </p:tgtEl>
                                        <p:attrNameLst>
                                          <p:attrName>style.visibility</p:attrName>
                                        </p:attrNameLst>
                                      </p:cBhvr>
                                      <p:to>
                                        <p:strVal val="visible"/>
                                      </p:to>
                                    </p:set>
                                    <p:animEffect transition="in" filter="fade">
                                      <p:cBhvr>
                                        <p:cTn id="20" dur="500"/>
                                        <p:tgtEl>
                                          <p:spTgt spid="41987">
                                            <p:txEl>
                                              <p:pRg st="2" end="2"/>
                                            </p:txEl>
                                          </p:spTgt>
                                        </p:tgtEl>
                                      </p:cBhvr>
                                    </p:animEffect>
                                  </p:childTnLst>
                                </p:cTn>
                              </p:par>
                            </p:childTnLst>
                          </p:cTn>
                        </p:par>
                        <p:par>
                          <p:cTn id="21" fill="hold" nodeType="afterGroup">
                            <p:stCondLst>
                              <p:cond delay="2000"/>
                            </p:stCondLst>
                            <p:childTnLst>
                              <p:par>
                                <p:cTn id="22" presetID="10" presetClass="entr" presetSubtype="0" fill="hold" nodeType="afterEffect">
                                  <p:stCondLst>
                                    <p:cond delay="0"/>
                                  </p:stCondLst>
                                  <p:childTnLst>
                                    <p:set>
                                      <p:cBhvr>
                                        <p:cTn id="23" dur="1" fill="hold">
                                          <p:stCondLst>
                                            <p:cond delay="0"/>
                                          </p:stCondLst>
                                        </p:cTn>
                                        <p:tgtEl>
                                          <p:spTgt spid="41987">
                                            <p:txEl>
                                              <p:pRg st="3" end="3"/>
                                            </p:txEl>
                                          </p:spTgt>
                                        </p:tgtEl>
                                        <p:attrNameLst>
                                          <p:attrName>style.visibility</p:attrName>
                                        </p:attrNameLst>
                                      </p:cBhvr>
                                      <p:to>
                                        <p:strVal val="visible"/>
                                      </p:to>
                                    </p:set>
                                    <p:animEffect transition="in" filter="fade">
                                      <p:cBhvr>
                                        <p:cTn id="24" dur="500"/>
                                        <p:tgtEl>
                                          <p:spTgt spid="41987">
                                            <p:txEl>
                                              <p:pRg st="3" end="3"/>
                                            </p:txEl>
                                          </p:spTgt>
                                        </p:tgtEl>
                                      </p:cBhvr>
                                    </p:animEffect>
                                  </p:childTnLst>
                                </p:cTn>
                              </p:par>
                            </p:childTnLst>
                          </p:cTn>
                        </p:par>
                        <p:par>
                          <p:cTn id="25" fill="hold" nodeType="afterGroup">
                            <p:stCondLst>
                              <p:cond delay="2500"/>
                            </p:stCondLst>
                            <p:childTnLst>
                              <p:par>
                                <p:cTn id="26" presetID="10" presetClass="entr" presetSubtype="0" fill="hold" nodeType="afterEffect">
                                  <p:stCondLst>
                                    <p:cond delay="0"/>
                                  </p:stCondLst>
                                  <p:childTnLst>
                                    <p:set>
                                      <p:cBhvr>
                                        <p:cTn id="27" dur="1" fill="hold">
                                          <p:stCondLst>
                                            <p:cond delay="0"/>
                                          </p:stCondLst>
                                        </p:cTn>
                                        <p:tgtEl>
                                          <p:spTgt spid="41987">
                                            <p:txEl>
                                              <p:pRg st="4" end="4"/>
                                            </p:txEl>
                                          </p:spTgt>
                                        </p:tgtEl>
                                        <p:attrNameLst>
                                          <p:attrName>style.visibility</p:attrName>
                                        </p:attrNameLst>
                                      </p:cBhvr>
                                      <p:to>
                                        <p:strVal val="visible"/>
                                      </p:to>
                                    </p:set>
                                    <p:animEffect transition="in" filter="fade">
                                      <p:cBhvr>
                                        <p:cTn id="28" dur="500"/>
                                        <p:tgtEl>
                                          <p:spTgt spid="41987">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1988"/>
                                        </p:tgtEl>
                                        <p:attrNameLst>
                                          <p:attrName>style.visibility</p:attrName>
                                        </p:attrNameLst>
                                      </p:cBhvr>
                                      <p:to>
                                        <p:strVal val="visible"/>
                                      </p:to>
                                    </p:set>
                                    <p:animEffect transition="in" filter="fade">
                                      <p:cBhvr>
                                        <p:cTn id="31" dur="500"/>
                                        <p:tgtEl>
                                          <p:spTgt spid="41988"/>
                                        </p:tgtEl>
                                      </p:cBhvr>
                                    </p:animEffect>
                                  </p:childTnLst>
                                </p:cTn>
                              </p:par>
                            </p:childTnLst>
                          </p:cTn>
                        </p:par>
                        <p:par>
                          <p:cTn id="32" fill="hold" nodeType="afterGroup">
                            <p:stCondLst>
                              <p:cond delay="3000"/>
                            </p:stCondLst>
                            <p:childTnLst>
                              <p:par>
                                <p:cTn id="33" presetID="10" presetClass="entr" presetSubtype="0" fill="hold" nodeType="afterEffect">
                                  <p:stCondLst>
                                    <p:cond delay="0"/>
                                  </p:stCondLst>
                                  <p:childTnLst>
                                    <p:set>
                                      <p:cBhvr>
                                        <p:cTn id="34" dur="1" fill="hold">
                                          <p:stCondLst>
                                            <p:cond delay="0"/>
                                          </p:stCondLst>
                                        </p:cTn>
                                        <p:tgtEl>
                                          <p:spTgt spid="41987">
                                            <p:txEl>
                                              <p:pRg st="5" end="5"/>
                                            </p:txEl>
                                          </p:spTgt>
                                        </p:tgtEl>
                                        <p:attrNameLst>
                                          <p:attrName>style.visibility</p:attrName>
                                        </p:attrNameLst>
                                      </p:cBhvr>
                                      <p:to>
                                        <p:strVal val="visible"/>
                                      </p:to>
                                    </p:set>
                                    <p:animEffect transition="in" filter="fade">
                                      <p:cBhvr>
                                        <p:cTn id="35" dur="500"/>
                                        <p:tgtEl>
                                          <p:spTgt spid="41987">
                                            <p:txEl>
                                              <p:pRg st="5" end="5"/>
                                            </p:txEl>
                                          </p:spTgt>
                                        </p:tgtEl>
                                      </p:cBhvr>
                                    </p:animEffect>
                                  </p:childTnLst>
                                </p:cTn>
                              </p:par>
                            </p:childTnLst>
                          </p:cTn>
                        </p:par>
                        <p:par>
                          <p:cTn id="36" fill="hold" nodeType="afterGroup">
                            <p:stCondLst>
                              <p:cond delay="3500"/>
                            </p:stCondLst>
                            <p:childTnLst>
                              <p:par>
                                <p:cTn id="37" presetID="10" presetClass="entr" presetSubtype="0" fill="hold" nodeType="afterEffect">
                                  <p:stCondLst>
                                    <p:cond delay="0"/>
                                  </p:stCondLst>
                                  <p:childTnLst>
                                    <p:set>
                                      <p:cBhvr>
                                        <p:cTn id="38" dur="1" fill="hold">
                                          <p:stCondLst>
                                            <p:cond delay="0"/>
                                          </p:stCondLst>
                                        </p:cTn>
                                        <p:tgtEl>
                                          <p:spTgt spid="41987">
                                            <p:txEl>
                                              <p:pRg st="6" end="6"/>
                                            </p:txEl>
                                          </p:spTgt>
                                        </p:tgtEl>
                                        <p:attrNameLst>
                                          <p:attrName>style.visibility</p:attrName>
                                        </p:attrNameLst>
                                      </p:cBhvr>
                                      <p:to>
                                        <p:strVal val="visible"/>
                                      </p:to>
                                    </p:set>
                                    <p:animEffect transition="in" filter="fade">
                                      <p:cBhvr>
                                        <p:cTn id="39" dur="500"/>
                                        <p:tgtEl>
                                          <p:spTgt spid="41987">
                                            <p:txEl>
                                              <p:pRg st="6" end="6"/>
                                            </p:txEl>
                                          </p:spTgt>
                                        </p:tgtEl>
                                      </p:cBhvr>
                                    </p:animEffect>
                                  </p:childTnLst>
                                </p:cTn>
                              </p:par>
                            </p:childTnLst>
                          </p:cTn>
                        </p:par>
                        <p:par>
                          <p:cTn id="40" fill="hold" nodeType="afterGroup">
                            <p:stCondLst>
                              <p:cond delay="4000"/>
                            </p:stCondLst>
                            <p:childTnLst>
                              <p:par>
                                <p:cTn id="41" presetID="10" presetClass="entr" presetSubtype="0" fill="hold" nodeType="afterEffect">
                                  <p:stCondLst>
                                    <p:cond delay="0"/>
                                  </p:stCondLst>
                                  <p:childTnLst>
                                    <p:set>
                                      <p:cBhvr>
                                        <p:cTn id="42" dur="1" fill="hold">
                                          <p:stCondLst>
                                            <p:cond delay="0"/>
                                          </p:stCondLst>
                                        </p:cTn>
                                        <p:tgtEl>
                                          <p:spTgt spid="41987">
                                            <p:txEl>
                                              <p:pRg st="7" end="7"/>
                                            </p:txEl>
                                          </p:spTgt>
                                        </p:tgtEl>
                                        <p:attrNameLst>
                                          <p:attrName>style.visibility</p:attrName>
                                        </p:attrNameLst>
                                      </p:cBhvr>
                                      <p:to>
                                        <p:strVal val="visible"/>
                                      </p:to>
                                    </p:set>
                                    <p:animEffect transition="in" filter="fade">
                                      <p:cBhvr>
                                        <p:cTn id="43" dur="500"/>
                                        <p:tgtEl>
                                          <p:spTgt spid="41987">
                                            <p:txEl>
                                              <p:pRg st="7" end="7"/>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1989"/>
                                        </p:tgtEl>
                                        <p:attrNameLst>
                                          <p:attrName>style.visibility</p:attrName>
                                        </p:attrNameLst>
                                      </p:cBhvr>
                                      <p:to>
                                        <p:strVal val="visible"/>
                                      </p:to>
                                    </p:set>
                                    <p:animEffect transition="in" filter="fade">
                                      <p:cBhvr>
                                        <p:cTn id="46" dur="500"/>
                                        <p:tgtEl>
                                          <p:spTgt spid="41989"/>
                                        </p:tgtEl>
                                      </p:cBhvr>
                                    </p:animEffect>
                                  </p:childTnLst>
                                </p:cTn>
                              </p:par>
                            </p:childTnLst>
                          </p:cTn>
                        </p:par>
                        <p:par>
                          <p:cTn id="47" fill="hold" nodeType="afterGroup">
                            <p:stCondLst>
                              <p:cond delay="4500"/>
                            </p:stCondLst>
                            <p:childTnLst>
                              <p:par>
                                <p:cTn id="48" presetID="10" presetClass="entr" presetSubtype="0" fill="hold" nodeType="afterEffect">
                                  <p:stCondLst>
                                    <p:cond delay="0"/>
                                  </p:stCondLst>
                                  <p:childTnLst>
                                    <p:set>
                                      <p:cBhvr>
                                        <p:cTn id="49" dur="1" fill="hold">
                                          <p:stCondLst>
                                            <p:cond delay="0"/>
                                          </p:stCondLst>
                                        </p:cTn>
                                        <p:tgtEl>
                                          <p:spTgt spid="41987">
                                            <p:txEl>
                                              <p:pRg st="8" end="8"/>
                                            </p:txEl>
                                          </p:spTgt>
                                        </p:tgtEl>
                                        <p:attrNameLst>
                                          <p:attrName>style.visibility</p:attrName>
                                        </p:attrNameLst>
                                      </p:cBhvr>
                                      <p:to>
                                        <p:strVal val="visible"/>
                                      </p:to>
                                    </p:set>
                                    <p:animEffect transition="in" filter="fade">
                                      <p:cBhvr>
                                        <p:cTn id="50" dur="500"/>
                                        <p:tgtEl>
                                          <p:spTgt spid="41987">
                                            <p:txEl>
                                              <p:pRg st="8" end="8"/>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41990"/>
                                        </p:tgtEl>
                                        <p:attrNameLst>
                                          <p:attrName>style.visibility</p:attrName>
                                        </p:attrNameLst>
                                      </p:cBhvr>
                                      <p:to>
                                        <p:strVal val="visible"/>
                                      </p:to>
                                    </p:set>
                                    <p:animEffect transition="in" filter="fade">
                                      <p:cBhvr>
                                        <p:cTn id="53" dur="500"/>
                                        <p:tgtEl>
                                          <p:spTgt spid="4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P spid="41987" grpId="0" build="p"/>
      <p:bldP spid="41988" grpId="0" animBg="1"/>
      <p:bldP spid="41989" grpId="0" animBg="1"/>
      <p:bldP spid="4199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9E7F0208-9139-D59B-7192-D3517EF1D7A6}"/>
              </a:ext>
            </a:extLst>
          </p:cNvPr>
          <p:cNvSpPr>
            <a:spLocks noGrp="1"/>
          </p:cNvSpPr>
          <p:nvPr>
            <p:ph type="title"/>
          </p:nvPr>
        </p:nvSpPr>
        <p:spPr bwMode="auto">
          <a:xfrm>
            <a:off x="3814763" y="214313"/>
            <a:ext cx="5329237" cy="66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b="1"/>
              <a:t>Table Viewer</a:t>
            </a:r>
            <a:endParaRPr lang="en-GB" altLang="en-US" b="1"/>
          </a:p>
        </p:txBody>
      </p:sp>
      <p:pic>
        <p:nvPicPr>
          <p:cNvPr id="28675" name="Picture 2">
            <a:extLst>
              <a:ext uri="{FF2B5EF4-FFF2-40B4-BE49-F238E27FC236}">
                <a16:creationId xmlns:a16="http://schemas.microsoft.com/office/drawing/2014/main" id="{7CADF03E-047E-E52D-F9C9-AE47FF064C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700" y="2714625"/>
            <a:ext cx="7869238"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1CC04820-48C2-506C-EAC8-BEF01ADC547C}"/>
              </a:ext>
            </a:extLst>
          </p:cNvPr>
          <p:cNvSpPr txBox="1">
            <a:spLocks noChangeArrowheads="1"/>
          </p:cNvSpPr>
          <p:nvPr/>
        </p:nvSpPr>
        <p:spPr bwMode="auto">
          <a:xfrm>
            <a:off x="928688" y="1000125"/>
            <a:ext cx="7772400" cy="1447800"/>
          </a:xfrm>
          <a:prstGeom prst="rect">
            <a:avLst/>
          </a:prstGeom>
          <a:noFill/>
          <a:ln w="9525">
            <a:noFill/>
            <a:miter lim="800000"/>
            <a:headEnd/>
            <a:tailEnd/>
          </a:ln>
        </p:spPr>
        <p:txBody>
          <a:bodyPr/>
          <a:lstStyle/>
          <a:p>
            <a:pPr marL="342900" indent="-342900">
              <a:lnSpc>
                <a:spcPct val="90000"/>
              </a:lnSpc>
              <a:spcBef>
                <a:spcPct val="20000"/>
              </a:spcBef>
              <a:buFontTx/>
              <a:buChar char="•"/>
              <a:defRPr/>
            </a:pPr>
            <a:r>
              <a:rPr lang="en-GB" sz="2800" kern="0" dirty="0">
                <a:solidFill>
                  <a:srgbClr val="2F2F2F"/>
                </a:solidFill>
                <a:latin typeface="+mn-lt"/>
                <a:cs typeface="+mn-cs"/>
              </a:rPr>
              <a:t>Used to display list of data</a:t>
            </a:r>
          </a:p>
          <a:p>
            <a:pPr marL="342900" indent="-342900">
              <a:lnSpc>
                <a:spcPct val="90000"/>
              </a:lnSpc>
              <a:spcBef>
                <a:spcPct val="20000"/>
              </a:spcBef>
              <a:buFontTx/>
              <a:buChar char="•"/>
              <a:defRPr/>
            </a:pPr>
            <a:r>
              <a:rPr lang="en-GB" sz="2800" kern="0" dirty="0">
                <a:solidFill>
                  <a:srgbClr val="2F2F2F"/>
                </a:solidFill>
                <a:latin typeface="+mn-lt"/>
                <a:cs typeface="+mn-cs"/>
              </a:rPr>
              <a:t>Functionality consistent throughout system</a:t>
            </a:r>
          </a:p>
          <a:p>
            <a:pPr marL="342900" indent="-342900">
              <a:lnSpc>
                <a:spcPct val="90000"/>
              </a:lnSpc>
              <a:spcBef>
                <a:spcPct val="20000"/>
              </a:spcBef>
              <a:buFontTx/>
              <a:buChar char="•"/>
              <a:defRPr/>
            </a:pPr>
            <a:r>
              <a:rPr lang="en-GB" sz="2800" kern="0" dirty="0">
                <a:solidFill>
                  <a:srgbClr val="2F2F2F"/>
                </a:solidFill>
                <a:latin typeface="+mn-lt"/>
                <a:cs typeface="+mn-cs"/>
              </a:rPr>
              <a:t>Can modify table structure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p:cTn id="13"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5">
                                            <p:txEl>
                                              <p:pRg st="1" end="1"/>
                                            </p:txEl>
                                          </p:spTgt>
                                        </p:tgtEl>
                                      </p:cBhvr>
                                    </p:animEffect>
                                  </p:childTnLst>
                                </p:cTn>
                              </p:par>
                            </p:childTnLst>
                          </p:cTn>
                        </p:par>
                        <p:par>
                          <p:cTn id="16" fill="hold" nodeType="afterGroup">
                            <p:stCondLst>
                              <p:cond delay="1000"/>
                            </p:stCondLst>
                            <p:childTnLst>
                              <p:par>
                                <p:cTn id="17" presetID="53" presetClass="entr" presetSubtype="0" fill="hold"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p:cTn id="19"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85F0F-34CE-978D-02FE-D12B20607791}"/>
              </a:ext>
            </a:extLst>
          </p:cNvPr>
          <p:cNvSpPr>
            <a:spLocks noGrp="1"/>
          </p:cNvSpPr>
          <p:nvPr>
            <p:ph type="title"/>
          </p:nvPr>
        </p:nvSpPr>
        <p:spPr>
          <a:xfrm>
            <a:off x="0" y="1214438"/>
            <a:ext cx="9144000" cy="928687"/>
          </a:xfrm>
        </p:spPr>
        <p:txBody>
          <a:bodyPr/>
          <a:lstStyle/>
          <a:p>
            <a:pPr eaLnBrk="1" hangingPunct="1">
              <a:defRPr/>
            </a:pPr>
            <a:r>
              <a:rPr lang="en-US" sz="3000" kern="1200" dirty="0">
                <a:solidFill>
                  <a:schemeClr val="tx1"/>
                </a:solidFill>
                <a:latin typeface="Times New Roman" pitchFamily="18" charset="0"/>
              </a:rPr>
              <a:t>Exporting Table Viewer Data into an Excel Spreadsheet</a:t>
            </a:r>
            <a:endParaRPr lang="en-GB" sz="3000" dirty="0"/>
          </a:p>
        </p:txBody>
      </p:sp>
      <p:pic>
        <p:nvPicPr>
          <p:cNvPr id="29699" name="Picture 2">
            <a:extLst>
              <a:ext uri="{FF2B5EF4-FFF2-40B4-BE49-F238E27FC236}">
                <a16:creationId xmlns:a16="http://schemas.microsoft.com/office/drawing/2014/main" id="{47BE8468-0CCE-731A-0CB9-25C7018B981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42938" y="1857375"/>
            <a:ext cx="7929562" cy="425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533340E2-3E80-19F6-90C0-9A965F30FB4A}"/>
              </a:ext>
            </a:extLst>
          </p:cNvPr>
          <p:cNvSpPr txBox="1">
            <a:spLocks/>
          </p:cNvSpPr>
          <p:nvPr/>
        </p:nvSpPr>
        <p:spPr>
          <a:xfrm>
            <a:off x="4143375" y="0"/>
            <a:ext cx="5000625" cy="1214438"/>
          </a:xfrm>
          <a:prstGeom prst="rect">
            <a:avLst/>
          </a:prstGeom>
        </p:spPr>
        <p:txBody>
          <a:bodyPr/>
          <a:lstStyle/>
          <a:p>
            <a:pPr algn="ctr">
              <a:defRPr/>
            </a:pPr>
            <a:r>
              <a:rPr lang="en-US" sz="4000" b="1" kern="0" dirty="0">
                <a:solidFill>
                  <a:schemeClr val="tx2"/>
                </a:solidFill>
                <a:latin typeface="+mj-lt"/>
                <a:ea typeface="+mj-ea"/>
                <a:cs typeface="+mj-cs"/>
              </a:rPr>
              <a:t>Table Viewer – Export Data</a:t>
            </a:r>
            <a:endParaRPr lang="en-GB" sz="4000" b="1" kern="0" dirty="0">
              <a:solidFill>
                <a:schemeClr val="tx2"/>
              </a:solidFill>
              <a:latin typeface="+mj-lt"/>
              <a:ea typeface="+mj-ea"/>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86C02-B522-CB49-402F-1E421908869E}"/>
              </a:ext>
            </a:extLst>
          </p:cNvPr>
          <p:cNvSpPr>
            <a:spLocks noGrp="1"/>
          </p:cNvSpPr>
          <p:nvPr>
            <p:ph type="title"/>
          </p:nvPr>
        </p:nvSpPr>
        <p:spPr>
          <a:xfrm>
            <a:off x="3571875" y="0"/>
            <a:ext cx="5329238" cy="1303338"/>
          </a:xfrm>
        </p:spPr>
        <p:txBody>
          <a:bodyPr/>
          <a:lstStyle/>
          <a:p>
            <a:pPr eaLnBrk="1" hangingPunct="1">
              <a:defRPr/>
            </a:pPr>
            <a:r>
              <a:rPr lang="en-US" b="1" kern="1200" dirty="0">
                <a:solidFill>
                  <a:schemeClr val="tx1"/>
                </a:solidFill>
                <a:latin typeface="Times New Roman" pitchFamily="18" charset="0"/>
              </a:rPr>
              <a:t>Searching the Table Viewer </a:t>
            </a:r>
            <a:endParaRPr lang="en-GB" b="1" dirty="0"/>
          </a:p>
        </p:txBody>
      </p:sp>
      <p:pic>
        <p:nvPicPr>
          <p:cNvPr id="30723" name="Picture 2">
            <a:extLst>
              <a:ext uri="{FF2B5EF4-FFF2-40B4-BE49-F238E27FC236}">
                <a16:creationId xmlns:a16="http://schemas.microsoft.com/office/drawing/2014/main" id="{08643E0F-03EE-1F49-90F0-D16AF505E04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8566" t="12190" r="39999" b="42090"/>
          <a:stretch>
            <a:fillRect/>
          </a:stretch>
        </p:blipFill>
        <p:spPr bwMode="auto">
          <a:xfrm>
            <a:off x="500063" y="1500188"/>
            <a:ext cx="8215312" cy="4762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C3597084-ADC0-8EE8-7D97-F6AA37C6C5E0}"/>
              </a:ext>
            </a:extLst>
          </p:cNvPr>
          <p:cNvSpPr>
            <a:spLocks noGrp="1"/>
          </p:cNvSpPr>
          <p:nvPr>
            <p:ph type="title"/>
          </p:nvPr>
        </p:nvSpPr>
        <p:spPr bwMode="auto">
          <a:xfrm>
            <a:off x="4214813" y="0"/>
            <a:ext cx="447198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4000" b="1"/>
              <a:t>Table Viewer Configuration</a:t>
            </a:r>
            <a:endParaRPr lang="en-GB" altLang="en-US" sz="4000" b="1"/>
          </a:p>
        </p:txBody>
      </p:sp>
      <p:pic>
        <p:nvPicPr>
          <p:cNvPr id="31747" name="Picture 2">
            <a:extLst>
              <a:ext uri="{FF2B5EF4-FFF2-40B4-BE49-F238E27FC236}">
                <a16:creationId xmlns:a16="http://schemas.microsoft.com/office/drawing/2014/main" id="{C4898354-EFB3-2EAE-B523-EC5064CBE8C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57188" y="1571625"/>
            <a:ext cx="4357687" cy="4830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3">
            <a:extLst>
              <a:ext uri="{FF2B5EF4-FFF2-40B4-BE49-F238E27FC236}">
                <a16:creationId xmlns:a16="http://schemas.microsoft.com/office/drawing/2014/main" id="{50E1CE18-EA64-5B06-9001-506658A3A8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063" y="1428750"/>
            <a:ext cx="370522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4">
            <a:extLst>
              <a:ext uri="{FF2B5EF4-FFF2-40B4-BE49-F238E27FC236}">
                <a16:creationId xmlns:a16="http://schemas.microsoft.com/office/drawing/2014/main" id="{F2B9821F-274F-6309-AAC3-9BFCCA594B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69572"/>
          <a:stretch>
            <a:fillRect/>
          </a:stretch>
        </p:blipFill>
        <p:spPr bwMode="auto">
          <a:xfrm>
            <a:off x="5072063" y="4357688"/>
            <a:ext cx="3786187"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Oval 5">
            <a:extLst>
              <a:ext uri="{FF2B5EF4-FFF2-40B4-BE49-F238E27FC236}">
                <a16:creationId xmlns:a16="http://schemas.microsoft.com/office/drawing/2014/main" id="{E6332B15-8846-D2E8-BFCE-9DF0658508FB}"/>
              </a:ext>
            </a:extLst>
          </p:cNvPr>
          <p:cNvSpPr>
            <a:spLocks noChangeArrowheads="1"/>
          </p:cNvSpPr>
          <p:nvPr/>
        </p:nvSpPr>
        <p:spPr bwMode="auto">
          <a:xfrm>
            <a:off x="7192963" y="5072063"/>
            <a:ext cx="1951037" cy="1114425"/>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4DDB29C7-52D9-753C-FB7D-FEB21E0AE048}"/>
              </a:ext>
            </a:extLst>
          </p:cNvPr>
          <p:cNvSpPr>
            <a:spLocks noGrp="1" noChangeArrowheads="1"/>
          </p:cNvSpPr>
          <p:nvPr>
            <p:ph type="title"/>
          </p:nvPr>
        </p:nvSpPr>
        <p:spPr bwMode="auto">
          <a:xfrm>
            <a:off x="3929063" y="228600"/>
            <a:ext cx="51387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Any Questions ?</a:t>
            </a:r>
          </a:p>
        </p:txBody>
      </p:sp>
      <p:pic>
        <p:nvPicPr>
          <p:cNvPr id="203781" name="Picture 5" descr="j0078811">
            <a:extLst>
              <a:ext uri="{FF2B5EF4-FFF2-40B4-BE49-F238E27FC236}">
                <a16:creationId xmlns:a16="http://schemas.microsoft.com/office/drawing/2014/main" id="{55183873-A1B1-DA9C-CEE3-6473FF8732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371600"/>
            <a:ext cx="5029200" cy="469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03778"/>
                                        </p:tgtEl>
                                        <p:attrNameLst>
                                          <p:attrName>style.visibility</p:attrName>
                                        </p:attrNameLst>
                                      </p:cBhvr>
                                      <p:to>
                                        <p:strVal val="visible"/>
                                      </p:to>
                                    </p:set>
                                    <p:anim calcmode="lin" valueType="num">
                                      <p:cBhvr additive="base">
                                        <p:cTn id="7" dur="500" fill="hold"/>
                                        <p:tgtEl>
                                          <p:spTgt spid="203778"/>
                                        </p:tgtEl>
                                        <p:attrNameLst>
                                          <p:attrName>ppt_x</p:attrName>
                                        </p:attrNameLst>
                                      </p:cBhvr>
                                      <p:tavLst>
                                        <p:tav tm="0">
                                          <p:val>
                                            <p:strVal val="1+#ppt_w/2"/>
                                          </p:val>
                                        </p:tav>
                                        <p:tav tm="100000">
                                          <p:val>
                                            <p:strVal val="#ppt_x"/>
                                          </p:val>
                                        </p:tav>
                                      </p:tavLst>
                                    </p:anim>
                                    <p:anim calcmode="lin" valueType="num">
                                      <p:cBhvr additive="base">
                                        <p:cTn id="8" dur="500" fill="hold"/>
                                        <p:tgtEl>
                                          <p:spTgt spid="20377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3" presetClass="entr" presetSubtype="16" fill="hold" nodeType="afterEffect">
                                  <p:stCondLst>
                                    <p:cond delay="0"/>
                                  </p:stCondLst>
                                  <p:childTnLst>
                                    <p:set>
                                      <p:cBhvr>
                                        <p:cTn id="11" dur="1" fill="hold">
                                          <p:stCondLst>
                                            <p:cond delay="0"/>
                                          </p:stCondLst>
                                        </p:cTn>
                                        <p:tgtEl>
                                          <p:spTgt spid="203781"/>
                                        </p:tgtEl>
                                        <p:attrNameLst>
                                          <p:attrName>style.visibility</p:attrName>
                                        </p:attrNameLst>
                                      </p:cBhvr>
                                      <p:to>
                                        <p:strVal val="visible"/>
                                      </p:to>
                                    </p:set>
                                    <p:anim calcmode="lin" valueType="num">
                                      <p:cBhvr>
                                        <p:cTn id="12" dur="500" fill="hold"/>
                                        <p:tgtEl>
                                          <p:spTgt spid="203781"/>
                                        </p:tgtEl>
                                        <p:attrNameLst>
                                          <p:attrName>ppt_w</p:attrName>
                                        </p:attrNameLst>
                                      </p:cBhvr>
                                      <p:tavLst>
                                        <p:tav tm="0">
                                          <p:val>
                                            <p:fltVal val="0"/>
                                          </p:val>
                                        </p:tav>
                                        <p:tav tm="100000">
                                          <p:val>
                                            <p:strVal val="#ppt_w"/>
                                          </p:val>
                                        </p:tav>
                                      </p:tavLst>
                                    </p:anim>
                                    <p:anim calcmode="lin" valueType="num">
                                      <p:cBhvr>
                                        <p:cTn id="13" dur="500" fill="hold"/>
                                        <p:tgtEl>
                                          <p:spTgt spid="20378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0BE628E-17FB-FA0D-DDDB-B7BC50DD46DF}"/>
              </a:ext>
            </a:extLst>
          </p:cNvPr>
          <p:cNvSpPr>
            <a:spLocks noGrp="1" noChangeArrowheads="1"/>
          </p:cNvSpPr>
          <p:nvPr>
            <p:ph type="title"/>
          </p:nvPr>
        </p:nvSpPr>
        <p:spPr bwMode="auto">
          <a:xfrm>
            <a:off x="1000125" y="1285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Admin Manager</a:t>
            </a:r>
          </a:p>
        </p:txBody>
      </p:sp>
      <p:pic>
        <p:nvPicPr>
          <p:cNvPr id="33795" name="Picture 4">
            <a:extLst>
              <a:ext uri="{FF2B5EF4-FFF2-40B4-BE49-F238E27FC236}">
                <a16:creationId xmlns:a16="http://schemas.microsoft.com/office/drawing/2014/main" id="{DFC48CA2-0350-E49A-6123-5478ADB7E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75" y="2643188"/>
            <a:ext cx="7439025"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a:extLst>
              <a:ext uri="{FF2B5EF4-FFF2-40B4-BE49-F238E27FC236}">
                <a16:creationId xmlns:a16="http://schemas.microsoft.com/office/drawing/2014/main" id="{ACE2FF6C-E6CA-AF70-ECCB-CBBF90B9D5EE}"/>
              </a:ext>
            </a:extLst>
          </p:cNvPr>
          <p:cNvSpPr/>
          <p:nvPr/>
        </p:nvSpPr>
        <p:spPr>
          <a:xfrm>
            <a:off x="5429250" y="2786063"/>
            <a:ext cx="1285875" cy="1928812"/>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10CFD81-A885-AFAB-8B8A-410E4B214A45}"/>
              </a:ext>
            </a:extLst>
          </p:cNvPr>
          <p:cNvSpPr>
            <a:spLocks noGrp="1" noChangeArrowheads="1"/>
          </p:cNvSpPr>
          <p:nvPr>
            <p:ph type="title"/>
          </p:nvPr>
        </p:nvSpPr>
        <p:spPr bwMode="auto">
          <a:xfrm>
            <a:off x="3643313" y="228600"/>
            <a:ext cx="542448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Admin Manager</a:t>
            </a:r>
          </a:p>
        </p:txBody>
      </p:sp>
      <p:sp>
        <p:nvSpPr>
          <p:cNvPr id="28676" name="Rectangle 4">
            <a:extLst>
              <a:ext uri="{FF2B5EF4-FFF2-40B4-BE49-F238E27FC236}">
                <a16:creationId xmlns:a16="http://schemas.microsoft.com/office/drawing/2014/main" id="{AA671DBD-5EFC-B7E5-EC3B-2A632CA38370}"/>
              </a:ext>
            </a:extLst>
          </p:cNvPr>
          <p:cNvSpPr>
            <a:spLocks noGrp="1" noChangeArrowheads="1"/>
          </p:cNvSpPr>
          <p:nvPr>
            <p:ph type="body" sz="half" idx="2"/>
          </p:nvPr>
        </p:nvSpPr>
        <p:spPr bwMode="auto">
          <a:xfrm>
            <a:off x="3200400" y="1905000"/>
            <a:ext cx="52578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GB" altLang="en-US" sz="2400"/>
              <a:t>Performs multiple administrative tasks:</a:t>
            </a:r>
          </a:p>
          <a:p>
            <a:pPr lvl="1" eaLnBrk="1" hangingPunct="1"/>
            <a:r>
              <a:rPr lang="en-GB" altLang="en-US" sz="2200"/>
              <a:t>System configuration</a:t>
            </a:r>
          </a:p>
          <a:p>
            <a:pPr lvl="1" eaLnBrk="1" hangingPunct="1"/>
            <a:r>
              <a:rPr lang="en-GB" altLang="en-US" sz="2200"/>
              <a:t>Maintenance of static data</a:t>
            </a:r>
          </a:p>
          <a:p>
            <a:pPr lvl="1" eaLnBrk="1" hangingPunct="1"/>
            <a:r>
              <a:rPr lang="en-GB" altLang="en-US" sz="2200"/>
              <a:t>Security privileges</a:t>
            </a:r>
          </a:p>
          <a:p>
            <a:pPr lvl="1" eaLnBrk="1" hangingPunct="1"/>
            <a:r>
              <a:rPr lang="en-GB" altLang="en-US" sz="2200"/>
              <a:t>Data Model Extension</a:t>
            </a:r>
          </a:p>
          <a:p>
            <a:pPr lvl="1" eaLnBrk="1" hangingPunct="1"/>
            <a:endParaRPr lang="en-GB" altLang="en-US" sz="2200"/>
          </a:p>
        </p:txBody>
      </p:sp>
      <p:pic>
        <p:nvPicPr>
          <p:cNvPr id="28677" name="Picture 5" descr="image011">
            <a:extLst>
              <a:ext uri="{FF2B5EF4-FFF2-40B4-BE49-F238E27FC236}">
                <a16:creationId xmlns:a16="http://schemas.microsoft.com/office/drawing/2014/main" id="{13F8D129-4E7D-95A3-9231-6737E2E8345E}"/>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81200"/>
            <a:ext cx="1954213" cy="1357313"/>
          </a:xfrm>
          <a:prstGeom prst="rect">
            <a:avLst/>
          </a:prstGeom>
          <a:solidFill>
            <a:srgbClr val="FFFFFF"/>
          </a:solidFill>
          <a:ln w="9525">
            <a:solidFill>
              <a:srgbClr val="000000"/>
            </a:solidFill>
            <a:round/>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additive="base">
                                        <p:cTn id="7" dur="500" fill="hold"/>
                                        <p:tgtEl>
                                          <p:spTgt spid="28674"/>
                                        </p:tgtEl>
                                        <p:attrNameLst>
                                          <p:attrName>ppt_x</p:attrName>
                                        </p:attrNameLst>
                                      </p:cBhvr>
                                      <p:tavLst>
                                        <p:tav tm="0">
                                          <p:val>
                                            <p:strVal val="1+#ppt_w/2"/>
                                          </p:val>
                                        </p:tav>
                                        <p:tav tm="100000">
                                          <p:val>
                                            <p:strVal val="#ppt_x"/>
                                          </p:val>
                                        </p:tav>
                                      </p:tavLst>
                                    </p:anim>
                                    <p:anim calcmode="lin" valueType="num">
                                      <p:cBhvr additive="base">
                                        <p:cTn id="8" dur="500" fill="hold"/>
                                        <p:tgtEl>
                                          <p:spTgt spid="2867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0" presetClass="entr" presetSubtype="0" fill="hold" nodeType="after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fade">
                                      <p:cBhvr>
                                        <p:cTn id="12" dur="1000"/>
                                        <p:tgtEl>
                                          <p:spTgt spid="28677"/>
                                        </p:tgtEl>
                                      </p:cBhvr>
                                    </p:animEffect>
                                  </p:childTnLst>
                                </p:cTn>
                              </p:par>
                            </p:childTnLst>
                          </p:cTn>
                        </p:par>
                        <p:par>
                          <p:cTn id="13" fill="hold" nodeType="afterGroup">
                            <p:stCondLst>
                              <p:cond delay="1500"/>
                            </p:stCondLst>
                            <p:childTnLst>
                              <p:par>
                                <p:cTn id="14" presetID="53" presetClass="entr" presetSubtype="0" fill="hold" nodeType="afterEffect">
                                  <p:stCondLst>
                                    <p:cond delay="0"/>
                                  </p:stCondLst>
                                  <p:childTnLst>
                                    <p:set>
                                      <p:cBhvr>
                                        <p:cTn id="15" dur="1" fill="hold">
                                          <p:stCondLst>
                                            <p:cond delay="0"/>
                                          </p:stCondLst>
                                        </p:cTn>
                                        <p:tgtEl>
                                          <p:spTgt spid="28676">
                                            <p:txEl>
                                              <p:pRg st="0" end="0"/>
                                            </p:txEl>
                                          </p:spTgt>
                                        </p:tgtEl>
                                        <p:attrNameLst>
                                          <p:attrName>style.visibility</p:attrName>
                                        </p:attrNameLst>
                                      </p:cBhvr>
                                      <p:to>
                                        <p:strVal val="visible"/>
                                      </p:to>
                                    </p:set>
                                    <p:anim calcmode="lin" valueType="num">
                                      <p:cBhvr>
                                        <p:cTn id="16" dur="500" fill="hold"/>
                                        <p:tgtEl>
                                          <p:spTgt spid="28676">
                                            <p:txEl>
                                              <p:pRg st="0" end="0"/>
                                            </p:txEl>
                                          </p:spTgt>
                                        </p:tgtEl>
                                        <p:attrNameLst>
                                          <p:attrName>ppt_w</p:attrName>
                                        </p:attrNameLst>
                                      </p:cBhvr>
                                      <p:tavLst>
                                        <p:tav tm="0">
                                          <p:val>
                                            <p:fltVal val="0"/>
                                          </p:val>
                                        </p:tav>
                                        <p:tav tm="100000">
                                          <p:val>
                                            <p:strVal val="#ppt_w"/>
                                          </p:val>
                                        </p:tav>
                                      </p:tavLst>
                                    </p:anim>
                                    <p:anim calcmode="lin" valueType="num">
                                      <p:cBhvr>
                                        <p:cTn id="17" dur="500" fill="hold"/>
                                        <p:tgtEl>
                                          <p:spTgt spid="28676">
                                            <p:txEl>
                                              <p:pRg st="0" end="0"/>
                                            </p:txEl>
                                          </p:spTgt>
                                        </p:tgtEl>
                                        <p:attrNameLst>
                                          <p:attrName>ppt_h</p:attrName>
                                        </p:attrNameLst>
                                      </p:cBhvr>
                                      <p:tavLst>
                                        <p:tav tm="0">
                                          <p:val>
                                            <p:fltVal val="0"/>
                                          </p:val>
                                        </p:tav>
                                        <p:tav tm="100000">
                                          <p:val>
                                            <p:strVal val="#ppt_h"/>
                                          </p:val>
                                        </p:tav>
                                      </p:tavLst>
                                    </p:anim>
                                    <p:animEffect transition="in" filter="fade">
                                      <p:cBhvr>
                                        <p:cTn id="18" dur="500"/>
                                        <p:tgtEl>
                                          <p:spTgt spid="28676">
                                            <p:txEl>
                                              <p:pRg st="0" end="0"/>
                                            </p:txEl>
                                          </p:spTgt>
                                        </p:tgtEl>
                                      </p:cBhvr>
                                    </p:animEffect>
                                  </p:childTnLst>
                                </p:cTn>
                              </p:par>
                              <p:par>
                                <p:cTn id="19" presetID="53" presetClass="entr" presetSubtype="0" fill="hold" nodeType="withEffect">
                                  <p:stCondLst>
                                    <p:cond delay="0"/>
                                  </p:stCondLst>
                                  <p:childTnLst>
                                    <p:set>
                                      <p:cBhvr>
                                        <p:cTn id="20" dur="1" fill="hold">
                                          <p:stCondLst>
                                            <p:cond delay="0"/>
                                          </p:stCondLst>
                                        </p:cTn>
                                        <p:tgtEl>
                                          <p:spTgt spid="28676">
                                            <p:txEl>
                                              <p:pRg st="1" end="1"/>
                                            </p:txEl>
                                          </p:spTgt>
                                        </p:tgtEl>
                                        <p:attrNameLst>
                                          <p:attrName>style.visibility</p:attrName>
                                        </p:attrNameLst>
                                      </p:cBhvr>
                                      <p:to>
                                        <p:strVal val="visible"/>
                                      </p:to>
                                    </p:set>
                                    <p:anim calcmode="lin" valueType="num">
                                      <p:cBhvr>
                                        <p:cTn id="21" dur="500" fill="hold"/>
                                        <p:tgtEl>
                                          <p:spTgt spid="28676">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28676">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28676">
                                            <p:txEl>
                                              <p:pRg st="1" end="1"/>
                                            </p:txEl>
                                          </p:spTgt>
                                        </p:tgtEl>
                                      </p:cBhvr>
                                    </p:animEffect>
                                  </p:childTnLst>
                                </p:cTn>
                              </p:par>
                            </p:childTnLst>
                          </p:cTn>
                        </p:par>
                        <p:par>
                          <p:cTn id="24" fill="hold" nodeType="afterGroup">
                            <p:stCondLst>
                              <p:cond delay="2000"/>
                            </p:stCondLst>
                            <p:childTnLst>
                              <p:par>
                                <p:cTn id="25" presetID="53" presetClass="entr" presetSubtype="0" fill="hold" nodeType="afterEffect">
                                  <p:stCondLst>
                                    <p:cond delay="0"/>
                                  </p:stCondLst>
                                  <p:childTnLst>
                                    <p:set>
                                      <p:cBhvr>
                                        <p:cTn id="26" dur="1" fill="hold">
                                          <p:stCondLst>
                                            <p:cond delay="0"/>
                                          </p:stCondLst>
                                        </p:cTn>
                                        <p:tgtEl>
                                          <p:spTgt spid="28676">
                                            <p:txEl>
                                              <p:pRg st="2" end="2"/>
                                            </p:txEl>
                                          </p:spTgt>
                                        </p:tgtEl>
                                        <p:attrNameLst>
                                          <p:attrName>style.visibility</p:attrName>
                                        </p:attrNameLst>
                                      </p:cBhvr>
                                      <p:to>
                                        <p:strVal val="visible"/>
                                      </p:to>
                                    </p:set>
                                    <p:anim calcmode="lin" valueType="num">
                                      <p:cBhvr>
                                        <p:cTn id="27" dur="500" fill="hold"/>
                                        <p:tgtEl>
                                          <p:spTgt spid="28676">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28676">
                                            <p:txEl>
                                              <p:pRg st="2" end="2"/>
                                            </p:txEl>
                                          </p:spTgt>
                                        </p:tgtEl>
                                        <p:attrNameLst>
                                          <p:attrName>ppt_h</p:attrName>
                                        </p:attrNameLst>
                                      </p:cBhvr>
                                      <p:tavLst>
                                        <p:tav tm="0">
                                          <p:val>
                                            <p:fltVal val="0"/>
                                          </p:val>
                                        </p:tav>
                                        <p:tav tm="100000">
                                          <p:val>
                                            <p:strVal val="#ppt_h"/>
                                          </p:val>
                                        </p:tav>
                                      </p:tavLst>
                                    </p:anim>
                                    <p:animEffect transition="in" filter="fade">
                                      <p:cBhvr>
                                        <p:cTn id="29" dur="500"/>
                                        <p:tgtEl>
                                          <p:spTgt spid="28676">
                                            <p:txEl>
                                              <p:pRg st="2" end="2"/>
                                            </p:txEl>
                                          </p:spTgt>
                                        </p:tgtEl>
                                      </p:cBhvr>
                                    </p:animEffect>
                                  </p:childTnLst>
                                </p:cTn>
                              </p:par>
                            </p:childTnLst>
                          </p:cTn>
                        </p:par>
                        <p:par>
                          <p:cTn id="30" fill="hold" nodeType="afterGroup">
                            <p:stCondLst>
                              <p:cond delay="2500"/>
                            </p:stCondLst>
                            <p:childTnLst>
                              <p:par>
                                <p:cTn id="31" presetID="53" presetClass="entr" presetSubtype="0" fill="hold" nodeType="afterEffect">
                                  <p:stCondLst>
                                    <p:cond delay="0"/>
                                  </p:stCondLst>
                                  <p:childTnLst>
                                    <p:set>
                                      <p:cBhvr>
                                        <p:cTn id="32" dur="1" fill="hold">
                                          <p:stCondLst>
                                            <p:cond delay="0"/>
                                          </p:stCondLst>
                                        </p:cTn>
                                        <p:tgtEl>
                                          <p:spTgt spid="28676">
                                            <p:txEl>
                                              <p:pRg st="3" end="3"/>
                                            </p:txEl>
                                          </p:spTgt>
                                        </p:tgtEl>
                                        <p:attrNameLst>
                                          <p:attrName>style.visibility</p:attrName>
                                        </p:attrNameLst>
                                      </p:cBhvr>
                                      <p:to>
                                        <p:strVal val="visible"/>
                                      </p:to>
                                    </p:set>
                                    <p:anim calcmode="lin" valueType="num">
                                      <p:cBhvr>
                                        <p:cTn id="33" dur="500" fill="hold"/>
                                        <p:tgtEl>
                                          <p:spTgt spid="28676">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28676">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28676">
                                            <p:txEl>
                                              <p:pRg st="3" end="3"/>
                                            </p:txEl>
                                          </p:spTgt>
                                        </p:tgtEl>
                                      </p:cBhvr>
                                    </p:animEffect>
                                  </p:childTnLst>
                                </p:cTn>
                              </p:par>
                            </p:childTnLst>
                          </p:cTn>
                        </p:par>
                        <p:par>
                          <p:cTn id="36" fill="hold" nodeType="afterGroup">
                            <p:stCondLst>
                              <p:cond delay="3000"/>
                            </p:stCondLst>
                            <p:childTnLst>
                              <p:par>
                                <p:cTn id="37" presetID="53" presetClass="entr" presetSubtype="0" fill="hold" nodeType="afterEffect">
                                  <p:stCondLst>
                                    <p:cond delay="0"/>
                                  </p:stCondLst>
                                  <p:childTnLst>
                                    <p:set>
                                      <p:cBhvr>
                                        <p:cTn id="38" dur="1" fill="hold">
                                          <p:stCondLst>
                                            <p:cond delay="0"/>
                                          </p:stCondLst>
                                        </p:cTn>
                                        <p:tgtEl>
                                          <p:spTgt spid="28676">
                                            <p:txEl>
                                              <p:pRg st="4" end="4"/>
                                            </p:txEl>
                                          </p:spTgt>
                                        </p:tgtEl>
                                        <p:attrNameLst>
                                          <p:attrName>style.visibility</p:attrName>
                                        </p:attrNameLst>
                                      </p:cBhvr>
                                      <p:to>
                                        <p:strVal val="visible"/>
                                      </p:to>
                                    </p:set>
                                    <p:anim calcmode="lin" valueType="num">
                                      <p:cBhvr>
                                        <p:cTn id="39" dur="500" fill="hold"/>
                                        <p:tgtEl>
                                          <p:spTgt spid="28676">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28676">
                                            <p:txEl>
                                              <p:pRg st="4" end="4"/>
                                            </p:txEl>
                                          </p:spTgt>
                                        </p:tgtEl>
                                        <p:attrNameLst>
                                          <p:attrName>ppt_h</p:attrName>
                                        </p:attrNameLst>
                                      </p:cBhvr>
                                      <p:tavLst>
                                        <p:tav tm="0">
                                          <p:val>
                                            <p:fltVal val="0"/>
                                          </p:val>
                                        </p:tav>
                                        <p:tav tm="100000">
                                          <p:val>
                                            <p:strVal val="#ppt_h"/>
                                          </p:val>
                                        </p:tav>
                                      </p:tavLst>
                                    </p:anim>
                                    <p:animEffect transition="in" filter="fade">
                                      <p:cBhvr>
                                        <p:cTn id="41" dur="500"/>
                                        <p:tgtEl>
                                          <p:spTgt spid="286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7D3FFF01-EC1E-60C0-AE51-A210E969ED7B}"/>
              </a:ext>
            </a:extLst>
          </p:cNvPr>
          <p:cNvSpPr>
            <a:spLocks noGrp="1"/>
          </p:cNvSpPr>
          <p:nvPr>
            <p:ph type="title"/>
          </p:nvPr>
        </p:nvSpPr>
        <p:spPr bwMode="auto">
          <a:xfrm>
            <a:off x="3643313" y="411163"/>
            <a:ext cx="504348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Admin Manager</a:t>
            </a:r>
          </a:p>
        </p:txBody>
      </p:sp>
      <p:pic>
        <p:nvPicPr>
          <p:cNvPr id="35843" name="Picture 4">
            <a:extLst>
              <a:ext uri="{FF2B5EF4-FFF2-40B4-BE49-F238E27FC236}">
                <a16:creationId xmlns:a16="http://schemas.microsoft.com/office/drawing/2014/main" id="{FC79C1E4-460A-86D8-28E2-27B8D431A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1285875"/>
            <a:ext cx="771525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40D8C8F2-1BEC-BAAE-66FD-1A4117ABDFFA}"/>
              </a:ext>
            </a:extLst>
          </p:cNvPr>
          <p:cNvSpPr>
            <a:spLocks noGrp="1"/>
          </p:cNvSpPr>
          <p:nvPr>
            <p:ph type="title"/>
          </p:nvPr>
        </p:nvSpPr>
        <p:spPr bwMode="auto">
          <a:xfrm>
            <a:off x="3643313" y="411163"/>
            <a:ext cx="504348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Admin Manager</a:t>
            </a:r>
          </a:p>
        </p:txBody>
      </p:sp>
      <p:graphicFrame>
        <p:nvGraphicFramePr>
          <p:cNvPr id="5" name="Content Placeholder 4">
            <a:extLst>
              <a:ext uri="{FF2B5EF4-FFF2-40B4-BE49-F238E27FC236}">
                <a16:creationId xmlns:a16="http://schemas.microsoft.com/office/drawing/2014/main" id="{4C685CC8-65CA-EC2E-1CB3-337B29902A18}"/>
              </a:ext>
            </a:extLst>
          </p:cNvPr>
          <p:cNvGraphicFramePr>
            <a:graphicFrameLocks noGrp="1"/>
          </p:cNvGraphicFramePr>
          <p:nvPr>
            <p:ph idx="1"/>
          </p:nvPr>
        </p:nvGraphicFramePr>
        <p:xfrm>
          <a:off x="214313" y="1905000"/>
          <a:ext cx="8643937" cy="4024327"/>
        </p:xfrm>
        <a:graphic>
          <a:graphicData uri="http://schemas.openxmlformats.org/drawingml/2006/table">
            <a:tbl>
              <a:tblPr firstRow="1" bandRow="1">
                <a:tableStyleId>{5C22544A-7EE6-4342-B048-85BDC9FD1C3A}</a:tableStyleId>
              </a:tblPr>
              <a:tblGrid>
                <a:gridCol w="3686380">
                  <a:extLst>
                    <a:ext uri="{9D8B030D-6E8A-4147-A177-3AD203B41FA5}">
                      <a16:colId xmlns:a16="http://schemas.microsoft.com/office/drawing/2014/main" val="20000"/>
                    </a:ext>
                  </a:extLst>
                </a:gridCol>
                <a:gridCol w="4957557">
                  <a:extLst>
                    <a:ext uri="{9D8B030D-6E8A-4147-A177-3AD203B41FA5}">
                      <a16:colId xmlns:a16="http://schemas.microsoft.com/office/drawing/2014/main" val="20001"/>
                    </a:ext>
                  </a:extLst>
                </a:gridCol>
              </a:tblGrid>
              <a:tr h="640077">
                <a:tc>
                  <a:txBody>
                    <a:bodyPr/>
                    <a:lstStyle/>
                    <a:p>
                      <a:r>
                        <a:rPr lang="en-GB" sz="1800" b="1" kern="1200" baseline="0" dirty="0">
                          <a:solidFill>
                            <a:schemeClr val="tx1"/>
                          </a:solidFill>
                          <a:latin typeface="Times New Roman" pitchFamily="18" charset="0"/>
                          <a:ea typeface="+mn-ea"/>
                          <a:cs typeface="+mn-cs"/>
                        </a:rPr>
                        <a:t>General Administration</a:t>
                      </a:r>
                      <a:endParaRPr lang="en-GB" sz="1800" dirty="0"/>
                    </a:p>
                  </a:txBody>
                  <a:tcPr marL="91439" marR="91439"/>
                </a:tc>
                <a:tc>
                  <a:txBody>
                    <a:bodyPr/>
                    <a:lstStyle/>
                    <a:p>
                      <a:r>
                        <a:rPr lang="en-GB" sz="1800" b="1" kern="1200" baseline="0" dirty="0">
                          <a:solidFill>
                            <a:schemeClr val="tx1"/>
                          </a:solidFill>
                          <a:latin typeface="Times New Roman" pitchFamily="18" charset="0"/>
                          <a:ea typeface="+mn-ea"/>
                          <a:cs typeface="+mn-cs"/>
                        </a:rPr>
                        <a:t>Contains links to the general tasks used to set up Endur .</a:t>
                      </a:r>
                      <a:endParaRPr lang="en-GB" sz="1800" dirty="0"/>
                    </a:p>
                  </a:txBody>
                  <a:tcPr marL="91439" marR="91439"/>
                </a:tc>
                <a:extLst>
                  <a:ext uri="{0D108BD9-81ED-4DB2-BD59-A6C34878D82A}">
                    <a16:rowId xmlns:a16="http://schemas.microsoft.com/office/drawing/2014/main" val="10000"/>
                  </a:ext>
                </a:extLst>
              </a:tr>
              <a:tr h="640077">
                <a:tc>
                  <a:txBody>
                    <a:bodyPr/>
                    <a:lstStyle/>
                    <a:p>
                      <a:r>
                        <a:rPr lang="en-GB" sz="1800" b="1" kern="1200" baseline="0" dirty="0">
                          <a:solidFill>
                            <a:schemeClr val="tx1"/>
                          </a:solidFill>
                          <a:latin typeface="Times New Roman" pitchFamily="18" charset="0"/>
                          <a:ea typeface="+mn-ea"/>
                          <a:cs typeface="+mn-cs"/>
                        </a:rPr>
                        <a:t>Compliance</a:t>
                      </a:r>
                      <a:endParaRPr lang="en-GB" sz="1800" dirty="0"/>
                    </a:p>
                  </a:txBody>
                  <a:tcPr marL="91439" marR="91439"/>
                </a:tc>
                <a:tc>
                  <a:txBody>
                    <a:bodyPr/>
                    <a:lstStyle/>
                    <a:p>
                      <a:r>
                        <a:rPr lang="en-GB" sz="1800" b="1" kern="1200" baseline="0" dirty="0">
                          <a:solidFill>
                            <a:schemeClr val="tx1"/>
                          </a:solidFill>
                          <a:latin typeface="Times New Roman" pitchFamily="18" charset="0"/>
                          <a:ea typeface="+mn-ea"/>
                          <a:cs typeface="+mn-cs"/>
                        </a:rPr>
                        <a:t>Contains compliance related tasks, such as </a:t>
                      </a:r>
                      <a:r>
                        <a:rPr lang="en-GB" sz="1800" b="1" i="1" kern="1200" baseline="0" dirty="0">
                          <a:solidFill>
                            <a:schemeClr val="tx1"/>
                          </a:solidFill>
                          <a:latin typeface="Times New Roman" pitchFamily="18" charset="0"/>
                          <a:ea typeface="+mn-ea"/>
                          <a:cs typeface="+mn-cs"/>
                        </a:rPr>
                        <a:t>Security Groups and Activity Audit .</a:t>
                      </a:r>
                      <a:endParaRPr lang="en-GB" sz="1800" dirty="0"/>
                    </a:p>
                  </a:txBody>
                  <a:tcPr marL="91439" marR="91439"/>
                </a:tc>
                <a:extLst>
                  <a:ext uri="{0D108BD9-81ED-4DB2-BD59-A6C34878D82A}">
                    <a16:rowId xmlns:a16="http://schemas.microsoft.com/office/drawing/2014/main" val="10001"/>
                  </a:ext>
                </a:extLst>
              </a:tr>
              <a:tr h="640077">
                <a:tc>
                  <a:txBody>
                    <a:bodyPr/>
                    <a:lstStyle/>
                    <a:p>
                      <a:r>
                        <a:rPr lang="en-GB" sz="1800" b="1" kern="1200" baseline="0" dirty="0">
                          <a:solidFill>
                            <a:schemeClr val="tx1"/>
                          </a:solidFill>
                          <a:latin typeface="Times New Roman" pitchFamily="18" charset="0"/>
                          <a:ea typeface="+mn-ea"/>
                          <a:cs typeface="+mn-cs"/>
                        </a:rPr>
                        <a:t>Data Model Extension</a:t>
                      </a:r>
                      <a:endParaRPr lang="en-GB" sz="1800" dirty="0"/>
                    </a:p>
                  </a:txBody>
                  <a:tcPr marL="91439" marR="91439"/>
                </a:tc>
                <a:tc>
                  <a:txBody>
                    <a:bodyPr/>
                    <a:lstStyle/>
                    <a:p>
                      <a:r>
                        <a:rPr lang="en-GB" sz="1800" b="1" kern="1200" baseline="0" dirty="0">
                          <a:solidFill>
                            <a:schemeClr val="tx1"/>
                          </a:solidFill>
                          <a:latin typeface="Times New Roman" pitchFamily="18" charset="0"/>
                          <a:ea typeface="+mn-ea"/>
                          <a:cs typeface="+mn-cs"/>
                        </a:rPr>
                        <a:t>Used to create fields beyond those stored in the base system .</a:t>
                      </a:r>
                      <a:endParaRPr lang="en-GB" sz="1800" dirty="0"/>
                    </a:p>
                  </a:txBody>
                  <a:tcPr marL="91439" marR="91439"/>
                </a:tc>
                <a:extLst>
                  <a:ext uri="{0D108BD9-81ED-4DB2-BD59-A6C34878D82A}">
                    <a16:rowId xmlns:a16="http://schemas.microsoft.com/office/drawing/2014/main" val="10002"/>
                  </a:ext>
                </a:extLst>
              </a:tr>
              <a:tr h="1463034">
                <a:tc>
                  <a:txBody>
                    <a:bodyPr/>
                    <a:lstStyle/>
                    <a:p>
                      <a:r>
                        <a:rPr lang="en-GB" sz="1800" b="1" kern="1200" baseline="0" dirty="0">
                          <a:solidFill>
                            <a:schemeClr val="tx1"/>
                          </a:solidFill>
                          <a:latin typeface="Times New Roman" pitchFamily="18" charset="0"/>
                          <a:ea typeface="+mn-ea"/>
                          <a:cs typeface="+mn-cs"/>
                        </a:rPr>
                        <a:t>Energy Administration </a:t>
                      </a:r>
                      <a:endParaRPr lang="en-GB" sz="1800" dirty="0"/>
                    </a:p>
                  </a:txBody>
                  <a:tcPr marL="91439" marR="91439"/>
                </a:tc>
                <a:tc>
                  <a:txBody>
                    <a:bodyPr/>
                    <a:lstStyle/>
                    <a:p>
                      <a:r>
                        <a:rPr lang="en-GB" sz="1800" b="1" kern="1200" baseline="0" dirty="0">
                          <a:solidFill>
                            <a:schemeClr val="tx1"/>
                          </a:solidFill>
                          <a:latin typeface="Times New Roman" pitchFamily="18" charset="0"/>
                          <a:ea typeface="+mn-ea"/>
                          <a:cs typeface="+mn-cs"/>
                        </a:rPr>
                        <a:t>Tasks specific to the energy industry such as pipelines, locations, zones, products, and time zones.  </a:t>
                      </a:r>
                    </a:p>
                    <a:p>
                      <a:r>
                        <a:rPr lang="en-GB" sz="1800" b="1" kern="1200" baseline="0" dirty="0">
                          <a:solidFill>
                            <a:schemeClr val="tx1"/>
                          </a:solidFill>
                          <a:latin typeface="Times New Roman" pitchFamily="18" charset="0"/>
                          <a:ea typeface="+mn-ea"/>
                          <a:cs typeface="+mn-cs"/>
                        </a:rPr>
                        <a:t>Note: This section is covered in a separate document entitled Energy Administration. 	</a:t>
                      </a:r>
                    </a:p>
                  </a:txBody>
                  <a:tcPr marL="91439" marR="91439"/>
                </a:tc>
                <a:extLst>
                  <a:ext uri="{0D108BD9-81ED-4DB2-BD59-A6C34878D82A}">
                    <a16:rowId xmlns:a16="http://schemas.microsoft.com/office/drawing/2014/main" val="10003"/>
                  </a:ext>
                </a:extLst>
              </a:tr>
              <a:tr h="641047">
                <a:tc>
                  <a:txBody>
                    <a:bodyPr/>
                    <a:lstStyle/>
                    <a:p>
                      <a:pPr marL="0" algn="l" defTabSz="914400" rtl="0" eaLnBrk="1" latinLnBrk="0" hangingPunct="1"/>
                      <a:r>
                        <a:rPr lang="en-GB" sz="1800" b="1" kern="1200" baseline="0" dirty="0">
                          <a:solidFill>
                            <a:schemeClr val="tx1"/>
                          </a:solidFill>
                          <a:latin typeface="Times New Roman" pitchFamily="18" charset="0"/>
                          <a:ea typeface="+mn-ea"/>
                          <a:cs typeface="+mn-cs"/>
                        </a:rPr>
                        <a:t>System Administration</a:t>
                      </a:r>
                    </a:p>
                  </a:txBody>
                  <a:tcPr marL="91439" marR="91439"/>
                </a:tc>
                <a:tc>
                  <a:txBody>
                    <a:bodyPr/>
                    <a:lstStyle/>
                    <a:p>
                      <a:pPr marL="0" algn="l" defTabSz="914400" rtl="0" eaLnBrk="1" latinLnBrk="0" hangingPunct="1"/>
                      <a:r>
                        <a:rPr lang="en-GB" sz="1800" b="1" kern="1200" baseline="0" dirty="0">
                          <a:solidFill>
                            <a:schemeClr val="tx1"/>
                          </a:solidFill>
                          <a:latin typeface="Times New Roman" pitchFamily="18" charset="0"/>
                          <a:ea typeface="+mn-ea"/>
                          <a:cs typeface="+mn-cs"/>
                        </a:rPr>
                        <a:t>System Administration tasks such as auto start-up</a:t>
                      </a:r>
                    </a:p>
                  </a:txBody>
                  <a:tcPr marL="91439" marR="91439"/>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B3CDDCE1-D846-87EA-1F7A-E653DD6C64DE}"/>
              </a:ext>
            </a:extLst>
          </p:cNvPr>
          <p:cNvSpPr>
            <a:spLocks noGrp="1" noChangeArrowheads="1"/>
          </p:cNvSpPr>
          <p:nvPr>
            <p:ph type="title"/>
          </p:nvPr>
        </p:nvSpPr>
        <p:spPr bwMode="auto">
          <a:xfrm>
            <a:off x="3357563" y="411163"/>
            <a:ext cx="53292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b="1"/>
              <a:t>Admin Manager</a:t>
            </a:r>
            <a:br>
              <a:rPr lang="en-GB" altLang="en-US" sz="3600" b="1"/>
            </a:br>
            <a:r>
              <a:rPr lang="en-GB" altLang="en-US" sz="3600" b="1"/>
              <a:t>General Administration</a:t>
            </a:r>
          </a:p>
        </p:txBody>
      </p:sp>
      <p:sp>
        <p:nvSpPr>
          <p:cNvPr id="231427" name="Rectangle 3">
            <a:extLst>
              <a:ext uri="{FF2B5EF4-FFF2-40B4-BE49-F238E27FC236}">
                <a16:creationId xmlns:a16="http://schemas.microsoft.com/office/drawing/2014/main" id="{BF1E5FDC-9486-00F6-DD88-D69E05B2CF65}"/>
              </a:ext>
            </a:extLst>
          </p:cNvPr>
          <p:cNvSpPr>
            <a:spLocks noGrp="1" noChangeArrowheads="1"/>
          </p:cNvSpPr>
          <p:nvPr>
            <p:ph idx="1"/>
          </p:nvPr>
        </p:nvSpPr>
        <p:spPr bwMode="auto">
          <a:xfrm>
            <a:off x="428625" y="1643063"/>
            <a:ext cx="8286750" cy="4643437"/>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GB" kern="1200" dirty="0">
                <a:latin typeface="Times New Roman" pitchFamily="18" charset="0"/>
              </a:rPr>
              <a:t>Broadcast Channel</a:t>
            </a:r>
          </a:p>
          <a:p>
            <a:pPr eaLnBrk="1" hangingPunct="1">
              <a:defRPr/>
            </a:pPr>
            <a:r>
              <a:rPr lang="en-GB" kern="1200" dirty="0">
                <a:latin typeface="Times New Roman" pitchFamily="18" charset="0"/>
              </a:rPr>
              <a:t>Date Sequence</a:t>
            </a:r>
          </a:p>
          <a:p>
            <a:pPr eaLnBrk="1" hangingPunct="1">
              <a:defRPr/>
            </a:pPr>
            <a:r>
              <a:rPr lang="en-GB" kern="1200" dirty="0">
                <a:latin typeface="Times New Roman" pitchFamily="18" charset="0"/>
              </a:rPr>
              <a:t>Portfolio Groups</a:t>
            </a:r>
          </a:p>
          <a:p>
            <a:pPr eaLnBrk="1" hangingPunct="1">
              <a:defRPr/>
            </a:pPr>
            <a:r>
              <a:rPr lang="en-GB" kern="1200" dirty="0">
                <a:latin typeface="Times New Roman" pitchFamily="18" charset="0"/>
              </a:rPr>
              <a:t>Printer Set-up</a:t>
            </a:r>
          </a:p>
          <a:p>
            <a:pPr eaLnBrk="1" hangingPunct="1">
              <a:defRPr/>
            </a:pPr>
            <a:r>
              <a:rPr lang="en-GB" kern="1200" dirty="0">
                <a:latin typeface="Times New Roman" pitchFamily="18" charset="0"/>
              </a:rPr>
              <a:t>Purge Configuration</a:t>
            </a:r>
          </a:p>
          <a:p>
            <a:pPr eaLnBrk="1" hangingPunct="1">
              <a:defRPr/>
            </a:pPr>
            <a:r>
              <a:rPr lang="en-GB" kern="1200" dirty="0">
                <a:latin typeface="Times New Roman" pitchFamily="18" charset="0"/>
              </a:rPr>
              <a:t>Static Data</a:t>
            </a:r>
          </a:p>
          <a:p>
            <a:pPr eaLnBrk="1" hangingPunct="1">
              <a:defRPr/>
            </a:pPr>
            <a:r>
              <a:rPr lang="en-GB" kern="1200" dirty="0">
                <a:latin typeface="Times New Roman" pitchFamily="18" charset="0"/>
              </a:rPr>
              <a:t>System Wide Configuration</a:t>
            </a:r>
          </a:p>
          <a:p>
            <a:pPr eaLnBrk="1" hangingPunct="1">
              <a:defRPr/>
            </a:pPr>
            <a:r>
              <a:rPr lang="en-GB" kern="1200" dirty="0">
                <a:latin typeface="Times New Roman" pitchFamily="18" charset="0"/>
              </a:rPr>
              <a:t>Unit conversion</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231426"/>
                                        </p:tgtEl>
                                        <p:attrNameLst>
                                          <p:attrName>style.visibility</p:attrName>
                                        </p:attrNameLst>
                                      </p:cBhvr>
                                      <p:to>
                                        <p:strVal val="visible"/>
                                      </p:to>
                                    </p:set>
                                    <p:anim calcmode="lin" valueType="num">
                                      <p:cBhvr>
                                        <p:cTn id="7" dur="500" fill="hold"/>
                                        <p:tgtEl>
                                          <p:spTgt spid="231426"/>
                                        </p:tgtEl>
                                        <p:attrNameLst>
                                          <p:attrName>ppt_w</p:attrName>
                                        </p:attrNameLst>
                                      </p:cBhvr>
                                      <p:tavLst>
                                        <p:tav tm="0">
                                          <p:val>
                                            <p:fltVal val="0"/>
                                          </p:val>
                                        </p:tav>
                                        <p:tav tm="100000">
                                          <p:val>
                                            <p:strVal val="#ppt_w"/>
                                          </p:val>
                                        </p:tav>
                                      </p:tavLst>
                                    </p:anim>
                                    <p:anim calcmode="lin" valueType="num">
                                      <p:cBhvr>
                                        <p:cTn id="8" dur="500" fill="hold"/>
                                        <p:tgtEl>
                                          <p:spTgt spid="231426"/>
                                        </p:tgtEl>
                                        <p:attrNameLst>
                                          <p:attrName>ppt_h</p:attrName>
                                        </p:attrNameLst>
                                      </p:cBhvr>
                                      <p:tavLst>
                                        <p:tav tm="0">
                                          <p:val>
                                            <p:fltVal val="0"/>
                                          </p:val>
                                        </p:tav>
                                        <p:tav tm="100000">
                                          <p:val>
                                            <p:strVal val="#ppt_h"/>
                                          </p:val>
                                        </p:tav>
                                      </p:tavLst>
                                    </p:anim>
                                    <p:animEffect transition="in" filter="fade">
                                      <p:cBhvr>
                                        <p:cTn id="9" dur="500"/>
                                        <p:tgtEl>
                                          <p:spTgt spid="231426"/>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231427">
                                            <p:txEl>
                                              <p:pRg st="0" end="0"/>
                                            </p:txEl>
                                          </p:spTgt>
                                        </p:tgtEl>
                                        <p:attrNameLst>
                                          <p:attrName>style.visibility</p:attrName>
                                        </p:attrNameLst>
                                      </p:cBhvr>
                                      <p:to>
                                        <p:strVal val="visible"/>
                                      </p:to>
                                    </p:set>
                                    <p:anim calcmode="lin" valueType="num">
                                      <p:cBhvr>
                                        <p:cTn id="13" dur="500" fill="hold"/>
                                        <p:tgtEl>
                                          <p:spTgt spid="2314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23142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231427">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231427">
                                            <p:txEl>
                                              <p:pRg st="1" end="1"/>
                                            </p:txEl>
                                          </p:spTgt>
                                        </p:tgtEl>
                                        <p:attrNameLst>
                                          <p:attrName>style.visibility</p:attrName>
                                        </p:attrNameLst>
                                      </p:cBhvr>
                                      <p:to>
                                        <p:strVal val="visible"/>
                                      </p:to>
                                    </p:set>
                                    <p:anim calcmode="lin" valueType="num">
                                      <p:cBhvr>
                                        <p:cTn id="20" dur="500" fill="hold"/>
                                        <p:tgtEl>
                                          <p:spTgt spid="231427">
                                            <p:txEl>
                                              <p:pRg st="1" end="1"/>
                                            </p:txEl>
                                          </p:spTgt>
                                        </p:tgtEl>
                                        <p:attrNameLst>
                                          <p:attrName>ppt_w</p:attrName>
                                        </p:attrNameLst>
                                      </p:cBhvr>
                                      <p:tavLst>
                                        <p:tav tm="0">
                                          <p:val>
                                            <p:fltVal val="0"/>
                                          </p:val>
                                        </p:tav>
                                        <p:tav tm="100000">
                                          <p:val>
                                            <p:strVal val="#ppt_w"/>
                                          </p:val>
                                        </p:tav>
                                      </p:tavLst>
                                    </p:anim>
                                    <p:anim calcmode="lin" valueType="num">
                                      <p:cBhvr>
                                        <p:cTn id="21" dur="500" fill="hold"/>
                                        <p:tgtEl>
                                          <p:spTgt spid="231427">
                                            <p:txEl>
                                              <p:pRg st="1" end="1"/>
                                            </p:txEl>
                                          </p:spTgt>
                                        </p:tgtEl>
                                        <p:attrNameLst>
                                          <p:attrName>ppt_h</p:attrName>
                                        </p:attrNameLst>
                                      </p:cBhvr>
                                      <p:tavLst>
                                        <p:tav tm="0">
                                          <p:val>
                                            <p:fltVal val="0"/>
                                          </p:val>
                                        </p:tav>
                                        <p:tav tm="100000">
                                          <p:val>
                                            <p:strVal val="#ppt_h"/>
                                          </p:val>
                                        </p:tav>
                                      </p:tavLst>
                                    </p:anim>
                                    <p:animEffect transition="in" filter="fade">
                                      <p:cBhvr>
                                        <p:cTn id="22" dur="500"/>
                                        <p:tgtEl>
                                          <p:spTgt spid="23142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0" fill="hold" nodeType="clickEffect">
                                  <p:stCondLst>
                                    <p:cond delay="0"/>
                                  </p:stCondLst>
                                  <p:childTnLst>
                                    <p:set>
                                      <p:cBhvr>
                                        <p:cTn id="26" dur="1" fill="hold">
                                          <p:stCondLst>
                                            <p:cond delay="0"/>
                                          </p:stCondLst>
                                        </p:cTn>
                                        <p:tgtEl>
                                          <p:spTgt spid="231427">
                                            <p:txEl>
                                              <p:pRg st="2" end="2"/>
                                            </p:txEl>
                                          </p:spTgt>
                                        </p:tgtEl>
                                        <p:attrNameLst>
                                          <p:attrName>style.visibility</p:attrName>
                                        </p:attrNameLst>
                                      </p:cBhvr>
                                      <p:to>
                                        <p:strVal val="visible"/>
                                      </p:to>
                                    </p:set>
                                    <p:anim calcmode="lin" valueType="num">
                                      <p:cBhvr>
                                        <p:cTn id="27" dur="500" fill="hold"/>
                                        <p:tgtEl>
                                          <p:spTgt spid="231427">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231427">
                                            <p:txEl>
                                              <p:pRg st="2" end="2"/>
                                            </p:txEl>
                                          </p:spTgt>
                                        </p:tgtEl>
                                        <p:attrNameLst>
                                          <p:attrName>ppt_h</p:attrName>
                                        </p:attrNameLst>
                                      </p:cBhvr>
                                      <p:tavLst>
                                        <p:tav tm="0">
                                          <p:val>
                                            <p:fltVal val="0"/>
                                          </p:val>
                                        </p:tav>
                                        <p:tav tm="100000">
                                          <p:val>
                                            <p:strVal val="#ppt_h"/>
                                          </p:val>
                                        </p:tav>
                                      </p:tavLst>
                                    </p:anim>
                                    <p:animEffect transition="in" filter="fade">
                                      <p:cBhvr>
                                        <p:cTn id="29" dur="500"/>
                                        <p:tgtEl>
                                          <p:spTgt spid="231427">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0" fill="hold" nodeType="clickEffect">
                                  <p:stCondLst>
                                    <p:cond delay="0"/>
                                  </p:stCondLst>
                                  <p:childTnLst>
                                    <p:set>
                                      <p:cBhvr>
                                        <p:cTn id="33" dur="1" fill="hold">
                                          <p:stCondLst>
                                            <p:cond delay="0"/>
                                          </p:stCondLst>
                                        </p:cTn>
                                        <p:tgtEl>
                                          <p:spTgt spid="231427">
                                            <p:txEl>
                                              <p:pRg st="3" end="3"/>
                                            </p:txEl>
                                          </p:spTgt>
                                        </p:tgtEl>
                                        <p:attrNameLst>
                                          <p:attrName>style.visibility</p:attrName>
                                        </p:attrNameLst>
                                      </p:cBhvr>
                                      <p:to>
                                        <p:strVal val="visible"/>
                                      </p:to>
                                    </p:set>
                                    <p:anim calcmode="lin" valueType="num">
                                      <p:cBhvr>
                                        <p:cTn id="34" dur="500" fill="hold"/>
                                        <p:tgtEl>
                                          <p:spTgt spid="231427">
                                            <p:txEl>
                                              <p:pRg st="3" end="3"/>
                                            </p:txEl>
                                          </p:spTgt>
                                        </p:tgtEl>
                                        <p:attrNameLst>
                                          <p:attrName>ppt_w</p:attrName>
                                        </p:attrNameLst>
                                      </p:cBhvr>
                                      <p:tavLst>
                                        <p:tav tm="0">
                                          <p:val>
                                            <p:fltVal val="0"/>
                                          </p:val>
                                        </p:tav>
                                        <p:tav tm="100000">
                                          <p:val>
                                            <p:strVal val="#ppt_w"/>
                                          </p:val>
                                        </p:tav>
                                      </p:tavLst>
                                    </p:anim>
                                    <p:anim calcmode="lin" valueType="num">
                                      <p:cBhvr>
                                        <p:cTn id="35" dur="500" fill="hold"/>
                                        <p:tgtEl>
                                          <p:spTgt spid="231427">
                                            <p:txEl>
                                              <p:pRg st="3" end="3"/>
                                            </p:txEl>
                                          </p:spTgt>
                                        </p:tgtEl>
                                        <p:attrNameLst>
                                          <p:attrName>ppt_h</p:attrName>
                                        </p:attrNameLst>
                                      </p:cBhvr>
                                      <p:tavLst>
                                        <p:tav tm="0">
                                          <p:val>
                                            <p:fltVal val="0"/>
                                          </p:val>
                                        </p:tav>
                                        <p:tav tm="100000">
                                          <p:val>
                                            <p:strVal val="#ppt_h"/>
                                          </p:val>
                                        </p:tav>
                                      </p:tavLst>
                                    </p:anim>
                                    <p:animEffect transition="in" filter="fade">
                                      <p:cBhvr>
                                        <p:cTn id="36" dur="500"/>
                                        <p:tgtEl>
                                          <p:spTgt spid="231427">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0" fill="hold" nodeType="clickEffect">
                                  <p:stCondLst>
                                    <p:cond delay="0"/>
                                  </p:stCondLst>
                                  <p:childTnLst>
                                    <p:set>
                                      <p:cBhvr>
                                        <p:cTn id="40" dur="1" fill="hold">
                                          <p:stCondLst>
                                            <p:cond delay="0"/>
                                          </p:stCondLst>
                                        </p:cTn>
                                        <p:tgtEl>
                                          <p:spTgt spid="231427">
                                            <p:txEl>
                                              <p:pRg st="4" end="4"/>
                                            </p:txEl>
                                          </p:spTgt>
                                        </p:tgtEl>
                                        <p:attrNameLst>
                                          <p:attrName>style.visibility</p:attrName>
                                        </p:attrNameLst>
                                      </p:cBhvr>
                                      <p:to>
                                        <p:strVal val="visible"/>
                                      </p:to>
                                    </p:set>
                                    <p:anim calcmode="lin" valueType="num">
                                      <p:cBhvr>
                                        <p:cTn id="41" dur="500" fill="hold"/>
                                        <p:tgtEl>
                                          <p:spTgt spid="231427">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231427">
                                            <p:txEl>
                                              <p:pRg st="4" end="4"/>
                                            </p:txEl>
                                          </p:spTgt>
                                        </p:tgtEl>
                                        <p:attrNameLst>
                                          <p:attrName>ppt_h</p:attrName>
                                        </p:attrNameLst>
                                      </p:cBhvr>
                                      <p:tavLst>
                                        <p:tav tm="0">
                                          <p:val>
                                            <p:fltVal val="0"/>
                                          </p:val>
                                        </p:tav>
                                        <p:tav tm="100000">
                                          <p:val>
                                            <p:strVal val="#ppt_h"/>
                                          </p:val>
                                        </p:tav>
                                      </p:tavLst>
                                    </p:anim>
                                    <p:animEffect transition="in" filter="fade">
                                      <p:cBhvr>
                                        <p:cTn id="43" dur="500"/>
                                        <p:tgtEl>
                                          <p:spTgt spid="231427">
                                            <p:txEl>
                                              <p:pRg st="4" end="4"/>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3" presetClass="entr" presetSubtype="0" fill="hold" nodeType="clickEffect">
                                  <p:stCondLst>
                                    <p:cond delay="0"/>
                                  </p:stCondLst>
                                  <p:childTnLst>
                                    <p:set>
                                      <p:cBhvr>
                                        <p:cTn id="47" dur="1" fill="hold">
                                          <p:stCondLst>
                                            <p:cond delay="0"/>
                                          </p:stCondLst>
                                        </p:cTn>
                                        <p:tgtEl>
                                          <p:spTgt spid="231427">
                                            <p:txEl>
                                              <p:pRg st="5" end="5"/>
                                            </p:txEl>
                                          </p:spTgt>
                                        </p:tgtEl>
                                        <p:attrNameLst>
                                          <p:attrName>style.visibility</p:attrName>
                                        </p:attrNameLst>
                                      </p:cBhvr>
                                      <p:to>
                                        <p:strVal val="visible"/>
                                      </p:to>
                                    </p:set>
                                    <p:anim calcmode="lin" valueType="num">
                                      <p:cBhvr>
                                        <p:cTn id="48" dur="500" fill="hold"/>
                                        <p:tgtEl>
                                          <p:spTgt spid="231427">
                                            <p:txEl>
                                              <p:pRg st="5" end="5"/>
                                            </p:txEl>
                                          </p:spTgt>
                                        </p:tgtEl>
                                        <p:attrNameLst>
                                          <p:attrName>ppt_w</p:attrName>
                                        </p:attrNameLst>
                                      </p:cBhvr>
                                      <p:tavLst>
                                        <p:tav tm="0">
                                          <p:val>
                                            <p:fltVal val="0"/>
                                          </p:val>
                                        </p:tav>
                                        <p:tav tm="100000">
                                          <p:val>
                                            <p:strVal val="#ppt_w"/>
                                          </p:val>
                                        </p:tav>
                                      </p:tavLst>
                                    </p:anim>
                                    <p:anim calcmode="lin" valueType="num">
                                      <p:cBhvr>
                                        <p:cTn id="49" dur="500" fill="hold"/>
                                        <p:tgtEl>
                                          <p:spTgt spid="231427">
                                            <p:txEl>
                                              <p:pRg st="5" end="5"/>
                                            </p:txEl>
                                          </p:spTgt>
                                        </p:tgtEl>
                                        <p:attrNameLst>
                                          <p:attrName>ppt_h</p:attrName>
                                        </p:attrNameLst>
                                      </p:cBhvr>
                                      <p:tavLst>
                                        <p:tav tm="0">
                                          <p:val>
                                            <p:fltVal val="0"/>
                                          </p:val>
                                        </p:tav>
                                        <p:tav tm="100000">
                                          <p:val>
                                            <p:strVal val="#ppt_h"/>
                                          </p:val>
                                        </p:tav>
                                      </p:tavLst>
                                    </p:anim>
                                    <p:animEffect transition="in" filter="fade">
                                      <p:cBhvr>
                                        <p:cTn id="50" dur="500"/>
                                        <p:tgtEl>
                                          <p:spTgt spid="231427">
                                            <p:txEl>
                                              <p:pRg st="5" end="5"/>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53" presetClass="entr" presetSubtype="0" fill="hold" nodeType="clickEffect">
                                  <p:stCondLst>
                                    <p:cond delay="0"/>
                                  </p:stCondLst>
                                  <p:childTnLst>
                                    <p:set>
                                      <p:cBhvr>
                                        <p:cTn id="54" dur="1" fill="hold">
                                          <p:stCondLst>
                                            <p:cond delay="0"/>
                                          </p:stCondLst>
                                        </p:cTn>
                                        <p:tgtEl>
                                          <p:spTgt spid="231427">
                                            <p:txEl>
                                              <p:pRg st="6" end="6"/>
                                            </p:txEl>
                                          </p:spTgt>
                                        </p:tgtEl>
                                        <p:attrNameLst>
                                          <p:attrName>style.visibility</p:attrName>
                                        </p:attrNameLst>
                                      </p:cBhvr>
                                      <p:to>
                                        <p:strVal val="visible"/>
                                      </p:to>
                                    </p:set>
                                    <p:anim calcmode="lin" valueType="num">
                                      <p:cBhvr>
                                        <p:cTn id="55" dur="500" fill="hold"/>
                                        <p:tgtEl>
                                          <p:spTgt spid="231427">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231427">
                                            <p:txEl>
                                              <p:pRg st="6" end="6"/>
                                            </p:txEl>
                                          </p:spTgt>
                                        </p:tgtEl>
                                        <p:attrNameLst>
                                          <p:attrName>ppt_h</p:attrName>
                                        </p:attrNameLst>
                                      </p:cBhvr>
                                      <p:tavLst>
                                        <p:tav tm="0">
                                          <p:val>
                                            <p:fltVal val="0"/>
                                          </p:val>
                                        </p:tav>
                                        <p:tav tm="100000">
                                          <p:val>
                                            <p:strVal val="#ppt_h"/>
                                          </p:val>
                                        </p:tav>
                                      </p:tavLst>
                                    </p:anim>
                                    <p:animEffect transition="in" filter="fade">
                                      <p:cBhvr>
                                        <p:cTn id="57" dur="500"/>
                                        <p:tgtEl>
                                          <p:spTgt spid="231427">
                                            <p:txEl>
                                              <p:pRg st="6" end="6"/>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3" presetClass="entr" presetSubtype="0" fill="hold" nodeType="clickEffect">
                                  <p:stCondLst>
                                    <p:cond delay="0"/>
                                  </p:stCondLst>
                                  <p:childTnLst>
                                    <p:set>
                                      <p:cBhvr>
                                        <p:cTn id="61" dur="1" fill="hold">
                                          <p:stCondLst>
                                            <p:cond delay="0"/>
                                          </p:stCondLst>
                                        </p:cTn>
                                        <p:tgtEl>
                                          <p:spTgt spid="231427">
                                            <p:txEl>
                                              <p:pRg st="7" end="7"/>
                                            </p:txEl>
                                          </p:spTgt>
                                        </p:tgtEl>
                                        <p:attrNameLst>
                                          <p:attrName>style.visibility</p:attrName>
                                        </p:attrNameLst>
                                      </p:cBhvr>
                                      <p:to>
                                        <p:strVal val="visible"/>
                                      </p:to>
                                    </p:set>
                                    <p:anim calcmode="lin" valueType="num">
                                      <p:cBhvr>
                                        <p:cTn id="62" dur="500" fill="hold"/>
                                        <p:tgtEl>
                                          <p:spTgt spid="231427">
                                            <p:txEl>
                                              <p:pRg st="7" end="7"/>
                                            </p:txEl>
                                          </p:spTgt>
                                        </p:tgtEl>
                                        <p:attrNameLst>
                                          <p:attrName>ppt_w</p:attrName>
                                        </p:attrNameLst>
                                      </p:cBhvr>
                                      <p:tavLst>
                                        <p:tav tm="0">
                                          <p:val>
                                            <p:fltVal val="0"/>
                                          </p:val>
                                        </p:tav>
                                        <p:tav tm="100000">
                                          <p:val>
                                            <p:strVal val="#ppt_w"/>
                                          </p:val>
                                        </p:tav>
                                      </p:tavLst>
                                    </p:anim>
                                    <p:anim calcmode="lin" valueType="num">
                                      <p:cBhvr>
                                        <p:cTn id="63" dur="500" fill="hold"/>
                                        <p:tgtEl>
                                          <p:spTgt spid="231427">
                                            <p:txEl>
                                              <p:pRg st="7" end="7"/>
                                            </p:txEl>
                                          </p:spTgt>
                                        </p:tgtEl>
                                        <p:attrNameLst>
                                          <p:attrName>ppt_h</p:attrName>
                                        </p:attrNameLst>
                                      </p:cBhvr>
                                      <p:tavLst>
                                        <p:tav tm="0">
                                          <p:val>
                                            <p:fltVal val="0"/>
                                          </p:val>
                                        </p:tav>
                                        <p:tav tm="100000">
                                          <p:val>
                                            <p:strVal val="#ppt_h"/>
                                          </p:val>
                                        </p:tav>
                                      </p:tavLst>
                                    </p:anim>
                                    <p:animEffect transition="in" filter="fade">
                                      <p:cBhvr>
                                        <p:cTn id="64" dur="500"/>
                                        <p:tgtEl>
                                          <p:spTgt spid="2314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p:bldP spid="23142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D830837B-6214-0C56-CD42-58400ADC52DB}"/>
              </a:ext>
            </a:extLst>
          </p:cNvPr>
          <p:cNvSpPr>
            <a:spLocks noGrp="1" noChangeArrowheads="1"/>
          </p:cNvSpPr>
          <p:nvPr>
            <p:ph type="title"/>
          </p:nvPr>
        </p:nvSpPr>
        <p:spPr bwMode="auto">
          <a:xfrm>
            <a:off x="1785938" y="500063"/>
            <a:ext cx="73580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b="1"/>
              <a:t>Admin Manager</a:t>
            </a:r>
            <a:br>
              <a:rPr lang="en-GB" altLang="en-US" sz="3600" b="1"/>
            </a:br>
            <a:r>
              <a:rPr lang="en-GB" altLang="en-US" sz="3600"/>
              <a:t> </a:t>
            </a:r>
            <a:r>
              <a:rPr lang="en-GB" altLang="en-US" sz="3600" b="1"/>
              <a:t>Compliance </a:t>
            </a:r>
          </a:p>
        </p:txBody>
      </p:sp>
      <p:sp>
        <p:nvSpPr>
          <p:cNvPr id="231427" name="Rectangle 3">
            <a:extLst>
              <a:ext uri="{FF2B5EF4-FFF2-40B4-BE49-F238E27FC236}">
                <a16:creationId xmlns:a16="http://schemas.microsoft.com/office/drawing/2014/main" id="{B5FB535B-3D80-9469-9FDB-DB069B75A4A5}"/>
              </a:ext>
            </a:extLst>
          </p:cNvPr>
          <p:cNvSpPr>
            <a:spLocks noGrp="1" noChangeArrowheads="1"/>
          </p:cNvSpPr>
          <p:nvPr>
            <p:ph idx="1"/>
          </p:nvPr>
        </p:nvSpPr>
        <p:spPr bwMode="auto">
          <a:xfrm>
            <a:off x="428625" y="2071688"/>
            <a:ext cx="8286750" cy="4214812"/>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GB" kern="1200" dirty="0">
                <a:latin typeface="Times New Roman" pitchFamily="18" charset="0"/>
              </a:rPr>
              <a:t>Activity Audit</a:t>
            </a:r>
          </a:p>
          <a:p>
            <a:pPr eaLnBrk="1" hangingPunct="1">
              <a:defRPr/>
            </a:pPr>
            <a:r>
              <a:rPr lang="en-GB" kern="1200" dirty="0">
                <a:latin typeface="Times New Roman" pitchFamily="18" charset="0"/>
              </a:rPr>
              <a:t>Error Log &amp; Console Viewer </a:t>
            </a:r>
          </a:p>
          <a:p>
            <a:pPr eaLnBrk="1" hangingPunct="1">
              <a:defRPr/>
            </a:pPr>
            <a:r>
              <a:rPr lang="en-GB" kern="1200" dirty="0">
                <a:latin typeface="Times New Roman" pitchFamily="18" charset="0"/>
              </a:rPr>
              <a:t>Password Modification</a:t>
            </a:r>
          </a:p>
          <a:p>
            <a:pPr eaLnBrk="1" hangingPunct="1">
              <a:defRPr/>
            </a:pPr>
            <a:r>
              <a:rPr lang="en-GB" kern="1200" dirty="0">
                <a:latin typeface="Times New Roman" pitchFamily="18" charset="0"/>
              </a:rPr>
              <a:t>Security Groups</a:t>
            </a:r>
          </a:p>
          <a:p>
            <a:pPr eaLnBrk="1" hangingPunct="1">
              <a:defRPr/>
            </a:pPr>
            <a:r>
              <a:rPr lang="en-GB" kern="1200" dirty="0">
                <a:latin typeface="Times New Roman" pitchFamily="18" charset="0"/>
              </a:rPr>
              <a:t>System Shutdown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231426"/>
                                        </p:tgtEl>
                                        <p:attrNameLst>
                                          <p:attrName>style.visibility</p:attrName>
                                        </p:attrNameLst>
                                      </p:cBhvr>
                                      <p:to>
                                        <p:strVal val="visible"/>
                                      </p:to>
                                    </p:set>
                                    <p:anim calcmode="lin" valueType="num">
                                      <p:cBhvr>
                                        <p:cTn id="7" dur="500" fill="hold"/>
                                        <p:tgtEl>
                                          <p:spTgt spid="231426"/>
                                        </p:tgtEl>
                                        <p:attrNameLst>
                                          <p:attrName>ppt_w</p:attrName>
                                        </p:attrNameLst>
                                      </p:cBhvr>
                                      <p:tavLst>
                                        <p:tav tm="0">
                                          <p:val>
                                            <p:fltVal val="0"/>
                                          </p:val>
                                        </p:tav>
                                        <p:tav tm="100000">
                                          <p:val>
                                            <p:strVal val="#ppt_w"/>
                                          </p:val>
                                        </p:tav>
                                      </p:tavLst>
                                    </p:anim>
                                    <p:anim calcmode="lin" valueType="num">
                                      <p:cBhvr>
                                        <p:cTn id="8" dur="500" fill="hold"/>
                                        <p:tgtEl>
                                          <p:spTgt spid="231426"/>
                                        </p:tgtEl>
                                        <p:attrNameLst>
                                          <p:attrName>ppt_h</p:attrName>
                                        </p:attrNameLst>
                                      </p:cBhvr>
                                      <p:tavLst>
                                        <p:tav tm="0">
                                          <p:val>
                                            <p:fltVal val="0"/>
                                          </p:val>
                                        </p:tav>
                                        <p:tav tm="100000">
                                          <p:val>
                                            <p:strVal val="#ppt_h"/>
                                          </p:val>
                                        </p:tav>
                                      </p:tavLst>
                                    </p:anim>
                                    <p:animEffect transition="in" filter="fade">
                                      <p:cBhvr>
                                        <p:cTn id="9" dur="500"/>
                                        <p:tgtEl>
                                          <p:spTgt spid="231426"/>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231427">
                                            <p:txEl>
                                              <p:pRg st="0" end="0"/>
                                            </p:txEl>
                                          </p:spTgt>
                                        </p:tgtEl>
                                        <p:attrNameLst>
                                          <p:attrName>style.visibility</p:attrName>
                                        </p:attrNameLst>
                                      </p:cBhvr>
                                      <p:to>
                                        <p:strVal val="visible"/>
                                      </p:to>
                                    </p:set>
                                    <p:anim calcmode="lin" valueType="num">
                                      <p:cBhvr>
                                        <p:cTn id="13" dur="500" fill="hold"/>
                                        <p:tgtEl>
                                          <p:spTgt spid="2314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23142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231427">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231427">
                                            <p:txEl>
                                              <p:pRg st="1" end="1"/>
                                            </p:txEl>
                                          </p:spTgt>
                                        </p:tgtEl>
                                        <p:attrNameLst>
                                          <p:attrName>style.visibility</p:attrName>
                                        </p:attrNameLst>
                                      </p:cBhvr>
                                      <p:to>
                                        <p:strVal val="visible"/>
                                      </p:to>
                                    </p:set>
                                    <p:anim calcmode="lin" valueType="num">
                                      <p:cBhvr>
                                        <p:cTn id="20" dur="500" fill="hold"/>
                                        <p:tgtEl>
                                          <p:spTgt spid="231427">
                                            <p:txEl>
                                              <p:pRg st="1" end="1"/>
                                            </p:txEl>
                                          </p:spTgt>
                                        </p:tgtEl>
                                        <p:attrNameLst>
                                          <p:attrName>ppt_w</p:attrName>
                                        </p:attrNameLst>
                                      </p:cBhvr>
                                      <p:tavLst>
                                        <p:tav tm="0">
                                          <p:val>
                                            <p:fltVal val="0"/>
                                          </p:val>
                                        </p:tav>
                                        <p:tav tm="100000">
                                          <p:val>
                                            <p:strVal val="#ppt_w"/>
                                          </p:val>
                                        </p:tav>
                                      </p:tavLst>
                                    </p:anim>
                                    <p:anim calcmode="lin" valueType="num">
                                      <p:cBhvr>
                                        <p:cTn id="21" dur="500" fill="hold"/>
                                        <p:tgtEl>
                                          <p:spTgt spid="231427">
                                            <p:txEl>
                                              <p:pRg st="1" end="1"/>
                                            </p:txEl>
                                          </p:spTgt>
                                        </p:tgtEl>
                                        <p:attrNameLst>
                                          <p:attrName>ppt_h</p:attrName>
                                        </p:attrNameLst>
                                      </p:cBhvr>
                                      <p:tavLst>
                                        <p:tav tm="0">
                                          <p:val>
                                            <p:fltVal val="0"/>
                                          </p:val>
                                        </p:tav>
                                        <p:tav tm="100000">
                                          <p:val>
                                            <p:strVal val="#ppt_h"/>
                                          </p:val>
                                        </p:tav>
                                      </p:tavLst>
                                    </p:anim>
                                    <p:animEffect transition="in" filter="fade">
                                      <p:cBhvr>
                                        <p:cTn id="22" dur="500"/>
                                        <p:tgtEl>
                                          <p:spTgt spid="23142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0" fill="hold" nodeType="clickEffect">
                                  <p:stCondLst>
                                    <p:cond delay="0"/>
                                  </p:stCondLst>
                                  <p:childTnLst>
                                    <p:set>
                                      <p:cBhvr>
                                        <p:cTn id="26" dur="1" fill="hold">
                                          <p:stCondLst>
                                            <p:cond delay="0"/>
                                          </p:stCondLst>
                                        </p:cTn>
                                        <p:tgtEl>
                                          <p:spTgt spid="231427">
                                            <p:txEl>
                                              <p:pRg st="2" end="2"/>
                                            </p:txEl>
                                          </p:spTgt>
                                        </p:tgtEl>
                                        <p:attrNameLst>
                                          <p:attrName>style.visibility</p:attrName>
                                        </p:attrNameLst>
                                      </p:cBhvr>
                                      <p:to>
                                        <p:strVal val="visible"/>
                                      </p:to>
                                    </p:set>
                                    <p:anim calcmode="lin" valueType="num">
                                      <p:cBhvr>
                                        <p:cTn id="27" dur="500" fill="hold"/>
                                        <p:tgtEl>
                                          <p:spTgt spid="231427">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231427">
                                            <p:txEl>
                                              <p:pRg st="2" end="2"/>
                                            </p:txEl>
                                          </p:spTgt>
                                        </p:tgtEl>
                                        <p:attrNameLst>
                                          <p:attrName>ppt_h</p:attrName>
                                        </p:attrNameLst>
                                      </p:cBhvr>
                                      <p:tavLst>
                                        <p:tav tm="0">
                                          <p:val>
                                            <p:fltVal val="0"/>
                                          </p:val>
                                        </p:tav>
                                        <p:tav tm="100000">
                                          <p:val>
                                            <p:strVal val="#ppt_h"/>
                                          </p:val>
                                        </p:tav>
                                      </p:tavLst>
                                    </p:anim>
                                    <p:animEffect transition="in" filter="fade">
                                      <p:cBhvr>
                                        <p:cTn id="29" dur="500"/>
                                        <p:tgtEl>
                                          <p:spTgt spid="231427">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0" fill="hold" nodeType="clickEffect">
                                  <p:stCondLst>
                                    <p:cond delay="0"/>
                                  </p:stCondLst>
                                  <p:childTnLst>
                                    <p:set>
                                      <p:cBhvr>
                                        <p:cTn id="33" dur="1" fill="hold">
                                          <p:stCondLst>
                                            <p:cond delay="0"/>
                                          </p:stCondLst>
                                        </p:cTn>
                                        <p:tgtEl>
                                          <p:spTgt spid="231427">
                                            <p:txEl>
                                              <p:pRg st="3" end="3"/>
                                            </p:txEl>
                                          </p:spTgt>
                                        </p:tgtEl>
                                        <p:attrNameLst>
                                          <p:attrName>style.visibility</p:attrName>
                                        </p:attrNameLst>
                                      </p:cBhvr>
                                      <p:to>
                                        <p:strVal val="visible"/>
                                      </p:to>
                                    </p:set>
                                    <p:anim calcmode="lin" valueType="num">
                                      <p:cBhvr>
                                        <p:cTn id="34" dur="500" fill="hold"/>
                                        <p:tgtEl>
                                          <p:spTgt spid="231427">
                                            <p:txEl>
                                              <p:pRg st="3" end="3"/>
                                            </p:txEl>
                                          </p:spTgt>
                                        </p:tgtEl>
                                        <p:attrNameLst>
                                          <p:attrName>ppt_w</p:attrName>
                                        </p:attrNameLst>
                                      </p:cBhvr>
                                      <p:tavLst>
                                        <p:tav tm="0">
                                          <p:val>
                                            <p:fltVal val="0"/>
                                          </p:val>
                                        </p:tav>
                                        <p:tav tm="100000">
                                          <p:val>
                                            <p:strVal val="#ppt_w"/>
                                          </p:val>
                                        </p:tav>
                                      </p:tavLst>
                                    </p:anim>
                                    <p:anim calcmode="lin" valueType="num">
                                      <p:cBhvr>
                                        <p:cTn id="35" dur="500" fill="hold"/>
                                        <p:tgtEl>
                                          <p:spTgt spid="231427">
                                            <p:txEl>
                                              <p:pRg st="3" end="3"/>
                                            </p:txEl>
                                          </p:spTgt>
                                        </p:tgtEl>
                                        <p:attrNameLst>
                                          <p:attrName>ppt_h</p:attrName>
                                        </p:attrNameLst>
                                      </p:cBhvr>
                                      <p:tavLst>
                                        <p:tav tm="0">
                                          <p:val>
                                            <p:fltVal val="0"/>
                                          </p:val>
                                        </p:tav>
                                        <p:tav tm="100000">
                                          <p:val>
                                            <p:strVal val="#ppt_h"/>
                                          </p:val>
                                        </p:tav>
                                      </p:tavLst>
                                    </p:anim>
                                    <p:animEffect transition="in" filter="fade">
                                      <p:cBhvr>
                                        <p:cTn id="36" dur="500"/>
                                        <p:tgtEl>
                                          <p:spTgt spid="231427">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0" fill="hold" nodeType="clickEffect">
                                  <p:stCondLst>
                                    <p:cond delay="0"/>
                                  </p:stCondLst>
                                  <p:childTnLst>
                                    <p:set>
                                      <p:cBhvr>
                                        <p:cTn id="40" dur="1" fill="hold">
                                          <p:stCondLst>
                                            <p:cond delay="0"/>
                                          </p:stCondLst>
                                        </p:cTn>
                                        <p:tgtEl>
                                          <p:spTgt spid="231427">
                                            <p:txEl>
                                              <p:pRg st="4" end="4"/>
                                            </p:txEl>
                                          </p:spTgt>
                                        </p:tgtEl>
                                        <p:attrNameLst>
                                          <p:attrName>style.visibility</p:attrName>
                                        </p:attrNameLst>
                                      </p:cBhvr>
                                      <p:to>
                                        <p:strVal val="visible"/>
                                      </p:to>
                                    </p:set>
                                    <p:anim calcmode="lin" valueType="num">
                                      <p:cBhvr>
                                        <p:cTn id="41" dur="500" fill="hold"/>
                                        <p:tgtEl>
                                          <p:spTgt spid="231427">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231427">
                                            <p:txEl>
                                              <p:pRg st="4" end="4"/>
                                            </p:txEl>
                                          </p:spTgt>
                                        </p:tgtEl>
                                        <p:attrNameLst>
                                          <p:attrName>ppt_h</p:attrName>
                                        </p:attrNameLst>
                                      </p:cBhvr>
                                      <p:tavLst>
                                        <p:tav tm="0">
                                          <p:val>
                                            <p:fltVal val="0"/>
                                          </p:val>
                                        </p:tav>
                                        <p:tav tm="100000">
                                          <p:val>
                                            <p:strVal val="#ppt_h"/>
                                          </p:val>
                                        </p:tav>
                                      </p:tavLst>
                                    </p:anim>
                                    <p:animEffect transition="in" filter="fade">
                                      <p:cBhvr>
                                        <p:cTn id="43" dur="500"/>
                                        <p:tgtEl>
                                          <p:spTgt spid="2314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p:bldP spid="23142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7D418DC9-F797-FEEC-7818-960B8B249AA5}"/>
              </a:ext>
            </a:extLst>
          </p:cNvPr>
          <p:cNvSpPr>
            <a:spLocks noGrp="1" noChangeArrowheads="1"/>
          </p:cNvSpPr>
          <p:nvPr>
            <p:ph type="title"/>
          </p:nvPr>
        </p:nvSpPr>
        <p:spPr bwMode="auto">
          <a:xfrm>
            <a:off x="1785938" y="500063"/>
            <a:ext cx="73580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b="1"/>
              <a:t>Admin Manager</a:t>
            </a:r>
            <a:br>
              <a:rPr lang="en-GB" altLang="en-US" sz="3600" b="1"/>
            </a:br>
            <a:r>
              <a:rPr lang="en-GB" altLang="en-US" sz="3600"/>
              <a:t> </a:t>
            </a:r>
            <a:r>
              <a:rPr lang="en-GB" altLang="en-US" sz="3600" b="1"/>
              <a:t>Data Model Extension </a:t>
            </a:r>
          </a:p>
        </p:txBody>
      </p:sp>
      <p:sp>
        <p:nvSpPr>
          <p:cNvPr id="231427" name="Rectangle 3">
            <a:extLst>
              <a:ext uri="{FF2B5EF4-FFF2-40B4-BE49-F238E27FC236}">
                <a16:creationId xmlns:a16="http://schemas.microsoft.com/office/drawing/2014/main" id="{01C69B2D-142C-1D96-19F7-970D992E9410}"/>
              </a:ext>
            </a:extLst>
          </p:cNvPr>
          <p:cNvSpPr>
            <a:spLocks noGrp="1" noChangeArrowheads="1"/>
          </p:cNvSpPr>
          <p:nvPr>
            <p:ph idx="1"/>
          </p:nvPr>
        </p:nvSpPr>
        <p:spPr bwMode="auto">
          <a:xfrm>
            <a:off x="428625" y="2000250"/>
            <a:ext cx="8286750" cy="4214813"/>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GB" kern="1200" dirty="0">
                <a:latin typeface="Times New Roman" pitchFamily="18" charset="0"/>
              </a:rPr>
              <a:t>Adhoc Query</a:t>
            </a:r>
          </a:p>
          <a:p>
            <a:pPr eaLnBrk="1" hangingPunct="1">
              <a:defRPr/>
            </a:pPr>
            <a:r>
              <a:rPr lang="en-GB" kern="1200" dirty="0">
                <a:latin typeface="Times New Roman" pitchFamily="18" charset="0"/>
              </a:rPr>
              <a:t>Index Info </a:t>
            </a:r>
          </a:p>
          <a:p>
            <a:pPr eaLnBrk="1" hangingPunct="1">
              <a:defRPr/>
            </a:pPr>
            <a:r>
              <a:rPr lang="en-GB" kern="1200" dirty="0">
                <a:latin typeface="Times New Roman" pitchFamily="18" charset="0"/>
              </a:rPr>
              <a:t>Instrument Builder/Tran Info</a:t>
            </a:r>
          </a:p>
          <a:p>
            <a:pPr eaLnBrk="1" hangingPunct="1">
              <a:defRPr/>
            </a:pPr>
            <a:r>
              <a:rPr lang="en-GB" kern="1200" dirty="0">
                <a:latin typeface="Times New Roman" pitchFamily="18" charset="0"/>
              </a:rPr>
              <a:t>Password Modification</a:t>
            </a:r>
          </a:p>
          <a:p>
            <a:pPr eaLnBrk="1" hangingPunct="1">
              <a:defRPr/>
            </a:pPr>
            <a:r>
              <a:rPr lang="en-GB" kern="1200" dirty="0">
                <a:latin typeface="Times New Roman" pitchFamily="18" charset="0"/>
              </a:rPr>
              <a:t>Security Groups</a:t>
            </a:r>
          </a:p>
          <a:p>
            <a:pPr eaLnBrk="1" hangingPunct="1">
              <a:defRPr/>
            </a:pPr>
            <a:r>
              <a:rPr lang="en-GB" kern="1200" dirty="0">
                <a:latin typeface="Times New Roman" pitchFamily="18" charset="0"/>
              </a:rPr>
              <a:t>System Shutdown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231426"/>
                                        </p:tgtEl>
                                        <p:attrNameLst>
                                          <p:attrName>style.visibility</p:attrName>
                                        </p:attrNameLst>
                                      </p:cBhvr>
                                      <p:to>
                                        <p:strVal val="visible"/>
                                      </p:to>
                                    </p:set>
                                    <p:anim calcmode="lin" valueType="num">
                                      <p:cBhvr>
                                        <p:cTn id="7" dur="500" fill="hold"/>
                                        <p:tgtEl>
                                          <p:spTgt spid="231426"/>
                                        </p:tgtEl>
                                        <p:attrNameLst>
                                          <p:attrName>ppt_w</p:attrName>
                                        </p:attrNameLst>
                                      </p:cBhvr>
                                      <p:tavLst>
                                        <p:tav tm="0">
                                          <p:val>
                                            <p:fltVal val="0"/>
                                          </p:val>
                                        </p:tav>
                                        <p:tav tm="100000">
                                          <p:val>
                                            <p:strVal val="#ppt_w"/>
                                          </p:val>
                                        </p:tav>
                                      </p:tavLst>
                                    </p:anim>
                                    <p:anim calcmode="lin" valueType="num">
                                      <p:cBhvr>
                                        <p:cTn id="8" dur="500" fill="hold"/>
                                        <p:tgtEl>
                                          <p:spTgt spid="231426"/>
                                        </p:tgtEl>
                                        <p:attrNameLst>
                                          <p:attrName>ppt_h</p:attrName>
                                        </p:attrNameLst>
                                      </p:cBhvr>
                                      <p:tavLst>
                                        <p:tav tm="0">
                                          <p:val>
                                            <p:fltVal val="0"/>
                                          </p:val>
                                        </p:tav>
                                        <p:tav tm="100000">
                                          <p:val>
                                            <p:strVal val="#ppt_h"/>
                                          </p:val>
                                        </p:tav>
                                      </p:tavLst>
                                    </p:anim>
                                    <p:animEffect transition="in" filter="fade">
                                      <p:cBhvr>
                                        <p:cTn id="9" dur="500"/>
                                        <p:tgtEl>
                                          <p:spTgt spid="231426"/>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231427">
                                            <p:txEl>
                                              <p:pRg st="0" end="0"/>
                                            </p:txEl>
                                          </p:spTgt>
                                        </p:tgtEl>
                                        <p:attrNameLst>
                                          <p:attrName>style.visibility</p:attrName>
                                        </p:attrNameLst>
                                      </p:cBhvr>
                                      <p:to>
                                        <p:strVal val="visible"/>
                                      </p:to>
                                    </p:set>
                                    <p:anim calcmode="lin" valueType="num">
                                      <p:cBhvr>
                                        <p:cTn id="13" dur="500" fill="hold"/>
                                        <p:tgtEl>
                                          <p:spTgt spid="2314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23142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231427">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231427">
                                            <p:txEl>
                                              <p:pRg st="1" end="1"/>
                                            </p:txEl>
                                          </p:spTgt>
                                        </p:tgtEl>
                                        <p:attrNameLst>
                                          <p:attrName>style.visibility</p:attrName>
                                        </p:attrNameLst>
                                      </p:cBhvr>
                                      <p:to>
                                        <p:strVal val="visible"/>
                                      </p:to>
                                    </p:set>
                                    <p:anim calcmode="lin" valueType="num">
                                      <p:cBhvr>
                                        <p:cTn id="20" dur="500" fill="hold"/>
                                        <p:tgtEl>
                                          <p:spTgt spid="231427">
                                            <p:txEl>
                                              <p:pRg st="1" end="1"/>
                                            </p:txEl>
                                          </p:spTgt>
                                        </p:tgtEl>
                                        <p:attrNameLst>
                                          <p:attrName>ppt_w</p:attrName>
                                        </p:attrNameLst>
                                      </p:cBhvr>
                                      <p:tavLst>
                                        <p:tav tm="0">
                                          <p:val>
                                            <p:fltVal val="0"/>
                                          </p:val>
                                        </p:tav>
                                        <p:tav tm="100000">
                                          <p:val>
                                            <p:strVal val="#ppt_w"/>
                                          </p:val>
                                        </p:tav>
                                      </p:tavLst>
                                    </p:anim>
                                    <p:anim calcmode="lin" valueType="num">
                                      <p:cBhvr>
                                        <p:cTn id="21" dur="500" fill="hold"/>
                                        <p:tgtEl>
                                          <p:spTgt spid="231427">
                                            <p:txEl>
                                              <p:pRg st="1" end="1"/>
                                            </p:txEl>
                                          </p:spTgt>
                                        </p:tgtEl>
                                        <p:attrNameLst>
                                          <p:attrName>ppt_h</p:attrName>
                                        </p:attrNameLst>
                                      </p:cBhvr>
                                      <p:tavLst>
                                        <p:tav tm="0">
                                          <p:val>
                                            <p:fltVal val="0"/>
                                          </p:val>
                                        </p:tav>
                                        <p:tav tm="100000">
                                          <p:val>
                                            <p:strVal val="#ppt_h"/>
                                          </p:val>
                                        </p:tav>
                                      </p:tavLst>
                                    </p:anim>
                                    <p:animEffect transition="in" filter="fade">
                                      <p:cBhvr>
                                        <p:cTn id="22" dur="500"/>
                                        <p:tgtEl>
                                          <p:spTgt spid="23142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3" presetClass="entr" presetSubtype="0" fill="hold" nodeType="clickEffect">
                                  <p:stCondLst>
                                    <p:cond delay="0"/>
                                  </p:stCondLst>
                                  <p:childTnLst>
                                    <p:set>
                                      <p:cBhvr>
                                        <p:cTn id="26" dur="1" fill="hold">
                                          <p:stCondLst>
                                            <p:cond delay="0"/>
                                          </p:stCondLst>
                                        </p:cTn>
                                        <p:tgtEl>
                                          <p:spTgt spid="231427">
                                            <p:txEl>
                                              <p:pRg st="2" end="2"/>
                                            </p:txEl>
                                          </p:spTgt>
                                        </p:tgtEl>
                                        <p:attrNameLst>
                                          <p:attrName>style.visibility</p:attrName>
                                        </p:attrNameLst>
                                      </p:cBhvr>
                                      <p:to>
                                        <p:strVal val="visible"/>
                                      </p:to>
                                    </p:set>
                                    <p:anim calcmode="lin" valueType="num">
                                      <p:cBhvr>
                                        <p:cTn id="27" dur="500" fill="hold"/>
                                        <p:tgtEl>
                                          <p:spTgt spid="231427">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231427">
                                            <p:txEl>
                                              <p:pRg st="2" end="2"/>
                                            </p:txEl>
                                          </p:spTgt>
                                        </p:tgtEl>
                                        <p:attrNameLst>
                                          <p:attrName>ppt_h</p:attrName>
                                        </p:attrNameLst>
                                      </p:cBhvr>
                                      <p:tavLst>
                                        <p:tav tm="0">
                                          <p:val>
                                            <p:fltVal val="0"/>
                                          </p:val>
                                        </p:tav>
                                        <p:tav tm="100000">
                                          <p:val>
                                            <p:strVal val="#ppt_h"/>
                                          </p:val>
                                        </p:tav>
                                      </p:tavLst>
                                    </p:anim>
                                    <p:animEffect transition="in" filter="fade">
                                      <p:cBhvr>
                                        <p:cTn id="29" dur="500"/>
                                        <p:tgtEl>
                                          <p:spTgt spid="231427">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0" fill="hold" nodeType="clickEffect">
                                  <p:stCondLst>
                                    <p:cond delay="0"/>
                                  </p:stCondLst>
                                  <p:childTnLst>
                                    <p:set>
                                      <p:cBhvr>
                                        <p:cTn id="33" dur="1" fill="hold">
                                          <p:stCondLst>
                                            <p:cond delay="0"/>
                                          </p:stCondLst>
                                        </p:cTn>
                                        <p:tgtEl>
                                          <p:spTgt spid="231427">
                                            <p:txEl>
                                              <p:pRg st="3" end="3"/>
                                            </p:txEl>
                                          </p:spTgt>
                                        </p:tgtEl>
                                        <p:attrNameLst>
                                          <p:attrName>style.visibility</p:attrName>
                                        </p:attrNameLst>
                                      </p:cBhvr>
                                      <p:to>
                                        <p:strVal val="visible"/>
                                      </p:to>
                                    </p:set>
                                    <p:anim calcmode="lin" valueType="num">
                                      <p:cBhvr>
                                        <p:cTn id="34" dur="500" fill="hold"/>
                                        <p:tgtEl>
                                          <p:spTgt spid="231427">
                                            <p:txEl>
                                              <p:pRg st="3" end="3"/>
                                            </p:txEl>
                                          </p:spTgt>
                                        </p:tgtEl>
                                        <p:attrNameLst>
                                          <p:attrName>ppt_w</p:attrName>
                                        </p:attrNameLst>
                                      </p:cBhvr>
                                      <p:tavLst>
                                        <p:tav tm="0">
                                          <p:val>
                                            <p:fltVal val="0"/>
                                          </p:val>
                                        </p:tav>
                                        <p:tav tm="100000">
                                          <p:val>
                                            <p:strVal val="#ppt_w"/>
                                          </p:val>
                                        </p:tav>
                                      </p:tavLst>
                                    </p:anim>
                                    <p:anim calcmode="lin" valueType="num">
                                      <p:cBhvr>
                                        <p:cTn id="35" dur="500" fill="hold"/>
                                        <p:tgtEl>
                                          <p:spTgt spid="231427">
                                            <p:txEl>
                                              <p:pRg st="3" end="3"/>
                                            </p:txEl>
                                          </p:spTgt>
                                        </p:tgtEl>
                                        <p:attrNameLst>
                                          <p:attrName>ppt_h</p:attrName>
                                        </p:attrNameLst>
                                      </p:cBhvr>
                                      <p:tavLst>
                                        <p:tav tm="0">
                                          <p:val>
                                            <p:fltVal val="0"/>
                                          </p:val>
                                        </p:tav>
                                        <p:tav tm="100000">
                                          <p:val>
                                            <p:strVal val="#ppt_h"/>
                                          </p:val>
                                        </p:tav>
                                      </p:tavLst>
                                    </p:anim>
                                    <p:animEffect transition="in" filter="fade">
                                      <p:cBhvr>
                                        <p:cTn id="36" dur="500"/>
                                        <p:tgtEl>
                                          <p:spTgt spid="231427">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ntr" presetSubtype="0" fill="hold" nodeType="clickEffect">
                                  <p:stCondLst>
                                    <p:cond delay="0"/>
                                  </p:stCondLst>
                                  <p:childTnLst>
                                    <p:set>
                                      <p:cBhvr>
                                        <p:cTn id="40" dur="1" fill="hold">
                                          <p:stCondLst>
                                            <p:cond delay="0"/>
                                          </p:stCondLst>
                                        </p:cTn>
                                        <p:tgtEl>
                                          <p:spTgt spid="231427">
                                            <p:txEl>
                                              <p:pRg st="4" end="4"/>
                                            </p:txEl>
                                          </p:spTgt>
                                        </p:tgtEl>
                                        <p:attrNameLst>
                                          <p:attrName>style.visibility</p:attrName>
                                        </p:attrNameLst>
                                      </p:cBhvr>
                                      <p:to>
                                        <p:strVal val="visible"/>
                                      </p:to>
                                    </p:set>
                                    <p:anim calcmode="lin" valueType="num">
                                      <p:cBhvr>
                                        <p:cTn id="41" dur="500" fill="hold"/>
                                        <p:tgtEl>
                                          <p:spTgt spid="231427">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231427">
                                            <p:txEl>
                                              <p:pRg st="4" end="4"/>
                                            </p:txEl>
                                          </p:spTgt>
                                        </p:tgtEl>
                                        <p:attrNameLst>
                                          <p:attrName>ppt_h</p:attrName>
                                        </p:attrNameLst>
                                      </p:cBhvr>
                                      <p:tavLst>
                                        <p:tav tm="0">
                                          <p:val>
                                            <p:fltVal val="0"/>
                                          </p:val>
                                        </p:tav>
                                        <p:tav tm="100000">
                                          <p:val>
                                            <p:strVal val="#ppt_h"/>
                                          </p:val>
                                        </p:tav>
                                      </p:tavLst>
                                    </p:anim>
                                    <p:animEffect transition="in" filter="fade">
                                      <p:cBhvr>
                                        <p:cTn id="43" dur="500"/>
                                        <p:tgtEl>
                                          <p:spTgt spid="231427">
                                            <p:txEl>
                                              <p:pRg st="4" end="4"/>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3" presetClass="entr" presetSubtype="0" fill="hold" nodeType="clickEffect">
                                  <p:stCondLst>
                                    <p:cond delay="0"/>
                                  </p:stCondLst>
                                  <p:childTnLst>
                                    <p:set>
                                      <p:cBhvr>
                                        <p:cTn id="47" dur="1" fill="hold">
                                          <p:stCondLst>
                                            <p:cond delay="0"/>
                                          </p:stCondLst>
                                        </p:cTn>
                                        <p:tgtEl>
                                          <p:spTgt spid="231427">
                                            <p:txEl>
                                              <p:pRg st="5" end="5"/>
                                            </p:txEl>
                                          </p:spTgt>
                                        </p:tgtEl>
                                        <p:attrNameLst>
                                          <p:attrName>style.visibility</p:attrName>
                                        </p:attrNameLst>
                                      </p:cBhvr>
                                      <p:to>
                                        <p:strVal val="visible"/>
                                      </p:to>
                                    </p:set>
                                    <p:anim calcmode="lin" valueType="num">
                                      <p:cBhvr>
                                        <p:cTn id="48" dur="500" fill="hold"/>
                                        <p:tgtEl>
                                          <p:spTgt spid="231427">
                                            <p:txEl>
                                              <p:pRg st="5" end="5"/>
                                            </p:txEl>
                                          </p:spTgt>
                                        </p:tgtEl>
                                        <p:attrNameLst>
                                          <p:attrName>ppt_w</p:attrName>
                                        </p:attrNameLst>
                                      </p:cBhvr>
                                      <p:tavLst>
                                        <p:tav tm="0">
                                          <p:val>
                                            <p:fltVal val="0"/>
                                          </p:val>
                                        </p:tav>
                                        <p:tav tm="100000">
                                          <p:val>
                                            <p:strVal val="#ppt_w"/>
                                          </p:val>
                                        </p:tav>
                                      </p:tavLst>
                                    </p:anim>
                                    <p:anim calcmode="lin" valueType="num">
                                      <p:cBhvr>
                                        <p:cTn id="49" dur="500" fill="hold"/>
                                        <p:tgtEl>
                                          <p:spTgt spid="231427">
                                            <p:txEl>
                                              <p:pRg st="5" end="5"/>
                                            </p:txEl>
                                          </p:spTgt>
                                        </p:tgtEl>
                                        <p:attrNameLst>
                                          <p:attrName>ppt_h</p:attrName>
                                        </p:attrNameLst>
                                      </p:cBhvr>
                                      <p:tavLst>
                                        <p:tav tm="0">
                                          <p:val>
                                            <p:fltVal val="0"/>
                                          </p:val>
                                        </p:tav>
                                        <p:tav tm="100000">
                                          <p:val>
                                            <p:strVal val="#ppt_h"/>
                                          </p:val>
                                        </p:tav>
                                      </p:tavLst>
                                    </p:anim>
                                    <p:animEffect transition="in" filter="fade">
                                      <p:cBhvr>
                                        <p:cTn id="50" dur="500"/>
                                        <p:tgtEl>
                                          <p:spTgt spid="2314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p:bldP spid="23142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A6EBF410-403A-37D8-9783-CDB15BDAE1A6}"/>
              </a:ext>
            </a:extLst>
          </p:cNvPr>
          <p:cNvSpPr>
            <a:spLocks noGrp="1" noChangeArrowheads="1"/>
          </p:cNvSpPr>
          <p:nvPr>
            <p:ph type="title"/>
          </p:nvPr>
        </p:nvSpPr>
        <p:spPr bwMode="auto">
          <a:xfrm>
            <a:off x="1785938" y="500063"/>
            <a:ext cx="73580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b="1"/>
              <a:t>Admin Manager</a:t>
            </a:r>
            <a:br>
              <a:rPr lang="en-GB" altLang="en-US" sz="3600" b="1"/>
            </a:br>
            <a:r>
              <a:rPr lang="en-GB" altLang="en-US" sz="3600"/>
              <a:t>Transportation Network</a:t>
            </a:r>
            <a:endParaRPr lang="en-GB" altLang="en-US" sz="3600" b="1"/>
          </a:p>
        </p:txBody>
      </p:sp>
      <p:sp>
        <p:nvSpPr>
          <p:cNvPr id="231427" name="Rectangle 3">
            <a:extLst>
              <a:ext uri="{FF2B5EF4-FFF2-40B4-BE49-F238E27FC236}">
                <a16:creationId xmlns:a16="http://schemas.microsoft.com/office/drawing/2014/main" id="{663D213A-610F-E500-ACB3-3DEC2135505F}"/>
              </a:ext>
            </a:extLst>
          </p:cNvPr>
          <p:cNvSpPr>
            <a:spLocks noGrp="1" noChangeArrowheads="1"/>
          </p:cNvSpPr>
          <p:nvPr>
            <p:ph idx="1"/>
          </p:nvPr>
        </p:nvSpPr>
        <p:spPr bwMode="auto">
          <a:xfrm>
            <a:off x="357188" y="2286000"/>
            <a:ext cx="8286750" cy="2928938"/>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GB" kern="1200" dirty="0">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231426"/>
                                        </p:tgtEl>
                                        <p:attrNameLst>
                                          <p:attrName>style.visibility</p:attrName>
                                        </p:attrNameLst>
                                      </p:cBhvr>
                                      <p:to>
                                        <p:strVal val="visible"/>
                                      </p:to>
                                    </p:set>
                                    <p:anim calcmode="lin" valueType="num">
                                      <p:cBhvr>
                                        <p:cTn id="7" dur="500" fill="hold"/>
                                        <p:tgtEl>
                                          <p:spTgt spid="231426"/>
                                        </p:tgtEl>
                                        <p:attrNameLst>
                                          <p:attrName>ppt_w</p:attrName>
                                        </p:attrNameLst>
                                      </p:cBhvr>
                                      <p:tavLst>
                                        <p:tav tm="0">
                                          <p:val>
                                            <p:fltVal val="0"/>
                                          </p:val>
                                        </p:tav>
                                        <p:tav tm="100000">
                                          <p:val>
                                            <p:strVal val="#ppt_w"/>
                                          </p:val>
                                        </p:tav>
                                      </p:tavLst>
                                    </p:anim>
                                    <p:anim calcmode="lin" valueType="num">
                                      <p:cBhvr>
                                        <p:cTn id="8" dur="500" fill="hold"/>
                                        <p:tgtEl>
                                          <p:spTgt spid="231426"/>
                                        </p:tgtEl>
                                        <p:attrNameLst>
                                          <p:attrName>ppt_h</p:attrName>
                                        </p:attrNameLst>
                                      </p:cBhvr>
                                      <p:tavLst>
                                        <p:tav tm="0">
                                          <p:val>
                                            <p:fltVal val="0"/>
                                          </p:val>
                                        </p:tav>
                                        <p:tav tm="100000">
                                          <p:val>
                                            <p:strVal val="#ppt_h"/>
                                          </p:val>
                                        </p:tav>
                                      </p:tavLst>
                                    </p:anim>
                                    <p:animEffect transition="in" filter="fade">
                                      <p:cBhvr>
                                        <p:cTn id="9" dur="500"/>
                                        <p:tgtEl>
                                          <p:spTgt spid="231426"/>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231427">
                                            <p:txEl>
                                              <p:pRg st="0" end="0"/>
                                            </p:txEl>
                                          </p:spTgt>
                                        </p:tgtEl>
                                        <p:attrNameLst>
                                          <p:attrName>style.visibility</p:attrName>
                                        </p:attrNameLst>
                                      </p:cBhvr>
                                      <p:to>
                                        <p:strVal val="visible"/>
                                      </p:to>
                                    </p:set>
                                    <p:anim calcmode="lin" valueType="num">
                                      <p:cBhvr>
                                        <p:cTn id="13" dur="500" fill="hold"/>
                                        <p:tgtEl>
                                          <p:spTgt spid="2314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23142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2314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p:bldP spid="23142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2C4E417-88B6-C611-BD86-E40D8C24082F}"/>
              </a:ext>
            </a:extLst>
          </p:cNvPr>
          <p:cNvSpPr>
            <a:spLocks noGrp="1" noChangeArrowheads="1"/>
          </p:cNvSpPr>
          <p:nvPr>
            <p:ph type="title"/>
          </p:nvPr>
        </p:nvSpPr>
        <p:spPr bwMode="auto">
          <a:xfrm>
            <a:off x="762000" y="2133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Reference Manager</a:t>
            </a:r>
          </a:p>
        </p:txBody>
      </p:sp>
      <p:pic>
        <p:nvPicPr>
          <p:cNvPr id="41987" name="Picture 5" descr="image009">
            <a:extLst>
              <a:ext uri="{FF2B5EF4-FFF2-40B4-BE49-F238E27FC236}">
                <a16:creationId xmlns:a16="http://schemas.microsoft.com/office/drawing/2014/main" id="{B3A6C2D9-BA4F-BDAA-A51A-06021B3849D9}"/>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657600"/>
            <a:ext cx="1905000" cy="1390650"/>
          </a:xfrm>
          <a:prstGeom prst="rect">
            <a:avLst/>
          </a:prstGeom>
          <a:solidFill>
            <a:srgbClr val="FFFFFF"/>
          </a:solidFill>
          <a:ln w="9525">
            <a:solidFill>
              <a:srgbClr val="000000"/>
            </a:solidFill>
            <a:round/>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81A1703-A321-BDC4-548F-7D8465A49244}"/>
              </a:ext>
            </a:extLst>
          </p:cNvPr>
          <p:cNvSpPr>
            <a:spLocks noGrp="1" noChangeArrowheads="1"/>
          </p:cNvSpPr>
          <p:nvPr>
            <p:ph type="title"/>
          </p:nvPr>
        </p:nvSpPr>
        <p:spPr bwMode="auto">
          <a:xfrm>
            <a:off x="3571875" y="228600"/>
            <a:ext cx="549592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Reference Manager</a:t>
            </a:r>
          </a:p>
        </p:txBody>
      </p:sp>
      <p:pic>
        <p:nvPicPr>
          <p:cNvPr id="29704" name="Picture 8" descr="image009">
            <a:extLst>
              <a:ext uri="{FF2B5EF4-FFF2-40B4-BE49-F238E27FC236}">
                <a16:creationId xmlns:a16="http://schemas.microsoft.com/office/drawing/2014/main" id="{4B1FF211-5E37-35FD-A6FA-A63C675A9FF5}"/>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1214438"/>
            <a:ext cx="1071562" cy="928687"/>
          </a:xfrm>
          <a:prstGeom prst="rect">
            <a:avLst/>
          </a:prstGeom>
          <a:solidFill>
            <a:srgbClr val="FFFFFF"/>
          </a:solidFill>
          <a:ln w="9525">
            <a:solidFill>
              <a:srgbClr val="000000"/>
            </a:solidFill>
            <a:round/>
            <a:headEnd/>
            <a:tailEnd/>
          </a:ln>
        </p:spPr>
      </p:pic>
      <p:sp>
        <p:nvSpPr>
          <p:cNvPr id="56324" name="Rectangle 4">
            <a:extLst>
              <a:ext uri="{FF2B5EF4-FFF2-40B4-BE49-F238E27FC236}">
                <a16:creationId xmlns:a16="http://schemas.microsoft.com/office/drawing/2014/main" id="{3CE015F4-ADA5-3511-4570-B230C2DD8A46}"/>
              </a:ext>
            </a:extLst>
          </p:cNvPr>
          <p:cNvSpPr>
            <a:spLocks noChangeArrowheads="1"/>
          </p:cNvSpPr>
          <p:nvPr/>
        </p:nvSpPr>
        <p:spPr bwMode="auto">
          <a:xfrm>
            <a:off x="1785938" y="2571750"/>
            <a:ext cx="171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2800"/>
              <a:t>Portfolio</a:t>
            </a:r>
          </a:p>
        </p:txBody>
      </p:sp>
      <p:sp>
        <p:nvSpPr>
          <p:cNvPr id="56325" name="Rectangle 6">
            <a:extLst>
              <a:ext uri="{FF2B5EF4-FFF2-40B4-BE49-F238E27FC236}">
                <a16:creationId xmlns:a16="http://schemas.microsoft.com/office/drawing/2014/main" id="{A38C2553-75FD-B840-53E3-47C7F3087F9B}"/>
              </a:ext>
            </a:extLst>
          </p:cNvPr>
          <p:cNvSpPr>
            <a:spLocks noChangeArrowheads="1"/>
          </p:cNvSpPr>
          <p:nvPr/>
        </p:nvSpPr>
        <p:spPr bwMode="auto">
          <a:xfrm>
            <a:off x="5929313" y="2500313"/>
            <a:ext cx="1643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2800"/>
              <a:t>Personnel</a:t>
            </a:r>
            <a:r>
              <a:rPr lang="en-GB" altLang="en-US"/>
              <a:t> </a:t>
            </a:r>
          </a:p>
        </p:txBody>
      </p:sp>
      <p:sp>
        <p:nvSpPr>
          <p:cNvPr id="56326" name="Rectangle 7">
            <a:extLst>
              <a:ext uri="{FF2B5EF4-FFF2-40B4-BE49-F238E27FC236}">
                <a16:creationId xmlns:a16="http://schemas.microsoft.com/office/drawing/2014/main" id="{A4F23055-4822-B936-8B2E-B79F2F5B6D3B}"/>
              </a:ext>
            </a:extLst>
          </p:cNvPr>
          <p:cNvSpPr>
            <a:spLocks noChangeArrowheads="1"/>
          </p:cNvSpPr>
          <p:nvPr/>
        </p:nvSpPr>
        <p:spPr bwMode="auto">
          <a:xfrm>
            <a:off x="3857625" y="1000125"/>
            <a:ext cx="1571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3200"/>
              <a:t>Parties</a:t>
            </a:r>
            <a:r>
              <a:rPr lang="en-GB" altLang="en-US"/>
              <a:t> </a:t>
            </a:r>
          </a:p>
        </p:txBody>
      </p:sp>
      <p:sp>
        <p:nvSpPr>
          <p:cNvPr id="9" name="Isosceles Triangle 8">
            <a:extLst>
              <a:ext uri="{FF2B5EF4-FFF2-40B4-BE49-F238E27FC236}">
                <a16:creationId xmlns:a16="http://schemas.microsoft.com/office/drawing/2014/main" id="{75820DD8-3BFC-5C6D-2035-7A1C002DDEA7}"/>
              </a:ext>
            </a:extLst>
          </p:cNvPr>
          <p:cNvSpPr/>
          <p:nvPr/>
        </p:nvSpPr>
        <p:spPr>
          <a:xfrm>
            <a:off x="3500438" y="1500188"/>
            <a:ext cx="2071687" cy="14287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pic>
        <p:nvPicPr>
          <p:cNvPr id="43016" name="Picture 5">
            <a:extLst>
              <a:ext uri="{FF2B5EF4-FFF2-40B4-BE49-F238E27FC236}">
                <a16:creationId xmlns:a16="http://schemas.microsoft.com/office/drawing/2014/main" id="{E33F95AB-E7FB-AD0F-55E0-84507439DF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3214688"/>
            <a:ext cx="8215313"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9698"/>
                                        </p:tgtEl>
                                        <p:attrNameLst>
                                          <p:attrName>style.visibility</p:attrName>
                                        </p:attrNameLst>
                                      </p:cBhvr>
                                      <p:to>
                                        <p:strVal val="visible"/>
                                      </p:to>
                                    </p:set>
                                    <p:anim calcmode="lin" valueType="num">
                                      <p:cBhvr additive="base">
                                        <p:cTn id="7" dur="500" fill="hold"/>
                                        <p:tgtEl>
                                          <p:spTgt spid="29698"/>
                                        </p:tgtEl>
                                        <p:attrNameLst>
                                          <p:attrName>ppt_x</p:attrName>
                                        </p:attrNameLst>
                                      </p:cBhvr>
                                      <p:tavLst>
                                        <p:tav tm="0">
                                          <p:val>
                                            <p:strVal val="1+#ppt_w/2"/>
                                          </p:val>
                                        </p:tav>
                                        <p:tav tm="100000">
                                          <p:val>
                                            <p:strVal val="#ppt_x"/>
                                          </p:val>
                                        </p:tav>
                                      </p:tavLst>
                                    </p:anim>
                                    <p:anim calcmode="lin" valueType="num">
                                      <p:cBhvr additive="base">
                                        <p:cTn id="8" dur="500" fill="hold"/>
                                        <p:tgtEl>
                                          <p:spTgt spid="2969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0" presetClass="entr" presetSubtype="0" fill="hold" nodeType="afterEffect">
                                  <p:stCondLst>
                                    <p:cond delay="0"/>
                                  </p:stCondLst>
                                  <p:childTnLst>
                                    <p:set>
                                      <p:cBhvr>
                                        <p:cTn id="11" dur="1" fill="hold">
                                          <p:stCondLst>
                                            <p:cond delay="0"/>
                                          </p:stCondLst>
                                        </p:cTn>
                                        <p:tgtEl>
                                          <p:spTgt spid="29704"/>
                                        </p:tgtEl>
                                        <p:attrNameLst>
                                          <p:attrName>style.visibility</p:attrName>
                                        </p:attrNameLst>
                                      </p:cBhvr>
                                      <p:to>
                                        <p:strVal val="visible"/>
                                      </p:to>
                                    </p:set>
                                    <p:animEffect transition="in" filter="fade">
                                      <p:cBhvr>
                                        <p:cTn id="12" dur="1000"/>
                                        <p:tgtEl>
                                          <p:spTgt spid="297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6326"/>
                                        </p:tgtEl>
                                        <p:attrNameLst>
                                          <p:attrName>style.visibility</p:attrName>
                                        </p:attrNameLst>
                                      </p:cBhvr>
                                      <p:to>
                                        <p:strVal val="visible"/>
                                      </p:to>
                                    </p:set>
                                    <p:animEffect transition="in" filter="dissolve">
                                      <p:cBhvr>
                                        <p:cTn id="17" dur="500"/>
                                        <p:tgtEl>
                                          <p:spTgt spid="563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6324"/>
                                        </p:tgtEl>
                                        <p:attrNameLst>
                                          <p:attrName>style.visibility</p:attrName>
                                        </p:attrNameLst>
                                      </p:cBhvr>
                                      <p:to>
                                        <p:strVal val="visible"/>
                                      </p:to>
                                    </p:set>
                                    <p:animEffect transition="in" filter="dissolve">
                                      <p:cBhvr>
                                        <p:cTn id="22" dur="500"/>
                                        <p:tgtEl>
                                          <p:spTgt spid="563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6325"/>
                                        </p:tgtEl>
                                        <p:attrNameLst>
                                          <p:attrName>style.visibility</p:attrName>
                                        </p:attrNameLst>
                                      </p:cBhvr>
                                      <p:to>
                                        <p:strVal val="visible"/>
                                      </p:to>
                                    </p:set>
                                    <p:animEffect transition="in" filter="dissolve">
                                      <p:cBhvr>
                                        <p:cTn id="27" dur="500"/>
                                        <p:tgtEl>
                                          <p:spTgt spid="56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56324" grpId="0"/>
      <p:bldP spid="56325" grpId="0"/>
      <p:bldP spid="5632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C13A2171-108F-D78B-6C67-3CEA453AEE5D}"/>
              </a:ext>
            </a:extLst>
          </p:cNvPr>
          <p:cNvSpPr>
            <a:spLocks noGrp="1" noChangeArrowheads="1"/>
          </p:cNvSpPr>
          <p:nvPr>
            <p:ph type="title"/>
          </p:nvPr>
        </p:nvSpPr>
        <p:spPr bwMode="auto">
          <a:xfrm>
            <a:off x="3576638" y="0"/>
            <a:ext cx="55673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Reference Manager Portfolios</a:t>
            </a:r>
          </a:p>
        </p:txBody>
      </p:sp>
      <p:sp>
        <p:nvSpPr>
          <p:cNvPr id="44035" name="Rectangle 19">
            <a:extLst>
              <a:ext uri="{FF2B5EF4-FFF2-40B4-BE49-F238E27FC236}">
                <a16:creationId xmlns:a16="http://schemas.microsoft.com/office/drawing/2014/main" id="{01220551-AEDF-621A-491B-3F1D90984261}"/>
              </a:ext>
            </a:extLst>
          </p:cNvPr>
          <p:cNvSpPr>
            <a:spLocks noChangeArrowheads="1"/>
          </p:cNvSpPr>
          <p:nvPr/>
        </p:nvSpPr>
        <p:spPr bwMode="auto">
          <a:xfrm>
            <a:off x="722313" y="3570288"/>
            <a:ext cx="1731962" cy="866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44036" name="Rectangle 33">
            <a:extLst>
              <a:ext uri="{FF2B5EF4-FFF2-40B4-BE49-F238E27FC236}">
                <a16:creationId xmlns:a16="http://schemas.microsoft.com/office/drawing/2014/main" id="{757F4135-9607-1AC5-AE0B-0F75DE1FD7A5}"/>
              </a:ext>
            </a:extLst>
          </p:cNvPr>
          <p:cNvSpPr>
            <a:spLocks noChangeArrowheads="1"/>
          </p:cNvSpPr>
          <p:nvPr/>
        </p:nvSpPr>
        <p:spPr bwMode="auto">
          <a:xfrm>
            <a:off x="1587500" y="2687638"/>
            <a:ext cx="2109788" cy="5064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44037" name="Rectangle 41">
            <a:extLst>
              <a:ext uri="{FF2B5EF4-FFF2-40B4-BE49-F238E27FC236}">
                <a16:creationId xmlns:a16="http://schemas.microsoft.com/office/drawing/2014/main" id="{8A570DC7-97E8-2E76-1A14-81FE6526C102}"/>
              </a:ext>
            </a:extLst>
          </p:cNvPr>
          <p:cNvSpPr>
            <a:spLocks noChangeArrowheads="1"/>
          </p:cNvSpPr>
          <p:nvPr/>
        </p:nvSpPr>
        <p:spPr bwMode="auto">
          <a:xfrm>
            <a:off x="4643438" y="3500438"/>
            <a:ext cx="1733550" cy="866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44038" name="Rectangle 44">
            <a:extLst>
              <a:ext uri="{FF2B5EF4-FFF2-40B4-BE49-F238E27FC236}">
                <a16:creationId xmlns:a16="http://schemas.microsoft.com/office/drawing/2014/main" id="{843E273A-2880-D663-945E-E8F0EFF0B7F8}"/>
              </a:ext>
            </a:extLst>
          </p:cNvPr>
          <p:cNvSpPr>
            <a:spLocks noChangeArrowheads="1"/>
          </p:cNvSpPr>
          <p:nvPr/>
        </p:nvSpPr>
        <p:spPr bwMode="auto">
          <a:xfrm>
            <a:off x="6689725" y="3570288"/>
            <a:ext cx="1731963" cy="866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44039" name="Rectangle 48">
            <a:extLst>
              <a:ext uri="{FF2B5EF4-FFF2-40B4-BE49-F238E27FC236}">
                <a16:creationId xmlns:a16="http://schemas.microsoft.com/office/drawing/2014/main" id="{3271A6F2-0259-CAA0-9ED1-39430D1E9A17}"/>
              </a:ext>
            </a:extLst>
          </p:cNvPr>
          <p:cNvSpPr>
            <a:spLocks noChangeArrowheads="1"/>
          </p:cNvSpPr>
          <p:nvPr/>
        </p:nvSpPr>
        <p:spPr bwMode="auto">
          <a:xfrm>
            <a:off x="5537200" y="2687638"/>
            <a:ext cx="2108200" cy="5064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44040" name="Rectangle 51">
            <a:extLst>
              <a:ext uri="{FF2B5EF4-FFF2-40B4-BE49-F238E27FC236}">
                <a16:creationId xmlns:a16="http://schemas.microsoft.com/office/drawing/2014/main" id="{B62E162A-C73F-EC49-95C7-86C204ECF902}"/>
              </a:ext>
            </a:extLst>
          </p:cNvPr>
          <p:cNvSpPr>
            <a:spLocks noChangeArrowheads="1"/>
          </p:cNvSpPr>
          <p:nvPr/>
        </p:nvSpPr>
        <p:spPr bwMode="auto">
          <a:xfrm>
            <a:off x="3517900" y="1804988"/>
            <a:ext cx="2108200" cy="5064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44041" name="Rectangle 48">
            <a:extLst>
              <a:ext uri="{FF2B5EF4-FFF2-40B4-BE49-F238E27FC236}">
                <a16:creationId xmlns:a16="http://schemas.microsoft.com/office/drawing/2014/main" id="{280FDDC9-5471-E544-9E4A-9F61C1928488}"/>
              </a:ext>
            </a:extLst>
          </p:cNvPr>
          <p:cNvSpPr>
            <a:spLocks noChangeArrowheads="1"/>
          </p:cNvSpPr>
          <p:nvPr/>
        </p:nvSpPr>
        <p:spPr bwMode="auto">
          <a:xfrm>
            <a:off x="785813" y="1428750"/>
            <a:ext cx="7715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3200"/>
              <a:t>Portfolios – The trader’s “book” structure. </a:t>
            </a:r>
          </a:p>
        </p:txBody>
      </p:sp>
      <p:pic>
        <p:nvPicPr>
          <p:cNvPr id="44042" name="Picture 49">
            <a:extLst>
              <a:ext uri="{FF2B5EF4-FFF2-40B4-BE49-F238E27FC236}">
                <a16:creationId xmlns:a16="http://schemas.microsoft.com/office/drawing/2014/main" id="{8AABA0E6-B647-D85E-6889-2D25240DC5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000250"/>
            <a:ext cx="7715250"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229378"/>
                                        </p:tgtEl>
                                        <p:attrNameLst>
                                          <p:attrName>style.visibility</p:attrName>
                                        </p:attrNameLst>
                                      </p:cBhvr>
                                      <p:to>
                                        <p:strVal val="visible"/>
                                      </p:to>
                                    </p:set>
                                    <p:anim calcmode="lin" valueType="num">
                                      <p:cBhvr>
                                        <p:cTn id="7" dur="500" fill="hold"/>
                                        <p:tgtEl>
                                          <p:spTgt spid="229378"/>
                                        </p:tgtEl>
                                        <p:attrNameLst>
                                          <p:attrName>ppt_w</p:attrName>
                                        </p:attrNameLst>
                                      </p:cBhvr>
                                      <p:tavLst>
                                        <p:tav tm="0">
                                          <p:val>
                                            <p:fltVal val="0"/>
                                          </p:val>
                                        </p:tav>
                                        <p:tav tm="100000">
                                          <p:val>
                                            <p:strVal val="#ppt_w"/>
                                          </p:val>
                                        </p:tav>
                                      </p:tavLst>
                                    </p:anim>
                                    <p:anim calcmode="lin" valueType="num">
                                      <p:cBhvr>
                                        <p:cTn id="8" dur="500" fill="hold"/>
                                        <p:tgtEl>
                                          <p:spTgt spid="229378"/>
                                        </p:tgtEl>
                                        <p:attrNameLst>
                                          <p:attrName>ppt_h</p:attrName>
                                        </p:attrNameLst>
                                      </p:cBhvr>
                                      <p:tavLst>
                                        <p:tav tm="0">
                                          <p:val>
                                            <p:fltVal val="0"/>
                                          </p:val>
                                        </p:tav>
                                        <p:tav tm="100000">
                                          <p:val>
                                            <p:strVal val="#ppt_h"/>
                                          </p:val>
                                        </p:tav>
                                      </p:tavLst>
                                    </p:anim>
                                    <p:animEffect transition="in" filter="fade">
                                      <p:cBhvr>
                                        <p:cTn id="9" dur="500"/>
                                        <p:tgtEl>
                                          <p:spTgt spid="229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6B4FC618-5E7C-2C9C-7E44-B5F0D7F4FF38}"/>
              </a:ext>
            </a:extLst>
          </p:cNvPr>
          <p:cNvSpPr>
            <a:spLocks noGrp="1" noChangeArrowheads="1"/>
          </p:cNvSpPr>
          <p:nvPr>
            <p:ph type="title"/>
          </p:nvPr>
        </p:nvSpPr>
        <p:spPr bwMode="auto">
          <a:xfrm>
            <a:off x="3576638" y="0"/>
            <a:ext cx="55673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Reference Manager Personnel</a:t>
            </a:r>
          </a:p>
        </p:txBody>
      </p:sp>
      <p:sp>
        <p:nvSpPr>
          <p:cNvPr id="45059" name="Rectangle 19">
            <a:extLst>
              <a:ext uri="{FF2B5EF4-FFF2-40B4-BE49-F238E27FC236}">
                <a16:creationId xmlns:a16="http://schemas.microsoft.com/office/drawing/2014/main" id="{7B83C50E-D472-6D7E-C35C-32A2C8C4C964}"/>
              </a:ext>
            </a:extLst>
          </p:cNvPr>
          <p:cNvSpPr>
            <a:spLocks noChangeArrowheads="1"/>
          </p:cNvSpPr>
          <p:nvPr/>
        </p:nvSpPr>
        <p:spPr bwMode="auto">
          <a:xfrm>
            <a:off x="722313" y="3570288"/>
            <a:ext cx="1731962" cy="866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45060" name="Rectangle 33">
            <a:extLst>
              <a:ext uri="{FF2B5EF4-FFF2-40B4-BE49-F238E27FC236}">
                <a16:creationId xmlns:a16="http://schemas.microsoft.com/office/drawing/2014/main" id="{0E2A2694-59A7-48FA-63B2-FE90443DA21A}"/>
              </a:ext>
            </a:extLst>
          </p:cNvPr>
          <p:cNvSpPr>
            <a:spLocks noChangeArrowheads="1"/>
          </p:cNvSpPr>
          <p:nvPr/>
        </p:nvSpPr>
        <p:spPr bwMode="auto">
          <a:xfrm>
            <a:off x="2928938" y="1928813"/>
            <a:ext cx="3286125" cy="1169987"/>
          </a:xfrm>
          <a:prstGeom prst="rect">
            <a:avLst/>
          </a:prstGeom>
          <a:solidFill>
            <a:srgbClr val="FFFFFF"/>
          </a:solidFill>
          <a:ln w="9525">
            <a:solidFill>
              <a:schemeClr val="tx1"/>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t>Contacts in counterparty organizations </a:t>
            </a:r>
          </a:p>
          <a:p>
            <a:pPr eaLnBrk="1" hangingPunct="1"/>
            <a:r>
              <a:rPr lang="en-GB" altLang="en-US"/>
              <a:t>	</a:t>
            </a:r>
          </a:p>
        </p:txBody>
      </p:sp>
      <p:sp>
        <p:nvSpPr>
          <p:cNvPr id="45061" name="Rectangle 41">
            <a:extLst>
              <a:ext uri="{FF2B5EF4-FFF2-40B4-BE49-F238E27FC236}">
                <a16:creationId xmlns:a16="http://schemas.microsoft.com/office/drawing/2014/main" id="{1EFEF85F-32EA-13C4-AFAB-5DB76B0CF323}"/>
              </a:ext>
            </a:extLst>
          </p:cNvPr>
          <p:cNvSpPr>
            <a:spLocks noChangeArrowheads="1"/>
          </p:cNvSpPr>
          <p:nvPr/>
        </p:nvSpPr>
        <p:spPr bwMode="auto">
          <a:xfrm flipV="1">
            <a:off x="4643438" y="4367213"/>
            <a:ext cx="1733550" cy="2047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45062" name="Rectangle 44">
            <a:extLst>
              <a:ext uri="{FF2B5EF4-FFF2-40B4-BE49-F238E27FC236}">
                <a16:creationId xmlns:a16="http://schemas.microsoft.com/office/drawing/2014/main" id="{B6648F42-019C-FF77-24BB-6E903B4CC009}"/>
              </a:ext>
            </a:extLst>
          </p:cNvPr>
          <p:cNvSpPr>
            <a:spLocks noChangeArrowheads="1"/>
          </p:cNvSpPr>
          <p:nvPr/>
        </p:nvSpPr>
        <p:spPr bwMode="auto">
          <a:xfrm>
            <a:off x="428625" y="3786188"/>
            <a:ext cx="1731963" cy="866775"/>
          </a:xfrm>
          <a:prstGeom prst="rect">
            <a:avLst/>
          </a:prstGeom>
          <a:solidFill>
            <a:srgbClr val="FFFFFF"/>
          </a:solidFill>
          <a:ln w="9525">
            <a:solidFill>
              <a:schemeClr val="tx1"/>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b="1"/>
          </a:p>
          <a:p>
            <a:pPr eaLnBrk="1" hangingPunct="1"/>
            <a:r>
              <a:rPr lang="en-GB" altLang="en-US" b="1"/>
              <a:t>Internal</a:t>
            </a:r>
            <a:endParaRPr lang="en-GB" altLang="en-US"/>
          </a:p>
        </p:txBody>
      </p:sp>
      <p:sp>
        <p:nvSpPr>
          <p:cNvPr id="45063" name="Rectangle 48">
            <a:extLst>
              <a:ext uri="{FF2B5EF4-FFF2-40B4-BE49-F238E27FC236}">
                <a16:creationId xmlns:a16="http://schemas.microsoft.com/office/drawing/2014/main" id="{A8A84696-E36A-32B0-1E35-8DB1C64D85BA}"/>
              </a:ext>
            </a:extLst>
          </p:cNvPr>
          <p:cNvSpPr>
            <a:spLocks noChangeArrowheads="1"/>
          </p:cNvSpPr>
          <p:nvPr/>
        </p:nvSpPr>
        <p:spPr bwMode="auto">
          <a:xfrm>
            <a:off x="6786563" y="2143125"/>
            <a:ext cx="1963737" cy="928688"/>
          </a:xfrm>
          <a:prstGeom prst="rect">
            <a:avLst/>
          </a:prstGeom>
          <a:solidFill>
            <a:srgbClr val="FFFFFF"/>
          </a:solidFill>
          <a:ln w="9525">
            <a:solidFill>
              <a:schemeClr val="tx1"/>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E.G.: broker contacts </a:t>
            </a:r>
          </a:p>
        </p:txBody>
      </p:sp>
      <p:sp>
        <p:nvSpPr>
          <p:cNvPr id="45064" name="Rectangle 48">
            <a:extLst>
              <a:ext uri="{FF2B5EF4-FFF2-40B4-BE49-F238E27FC236}">
                <a16:creationId xmlns:a16="http://schemas.microsoft.com/office/drawing/2014/main" id="{43542327-17FE-A674-BA3F-A116F6707B1F}"/>
              </a:ext>
            </a:extLst>
          </p:cNvPr>
          <p:cNvSpPr>
            <a:spLocks noChangeArrowheads="1"/>
          </p:cNvSpPr>
          <p:nvPr/>
        </p:nvSpPr>
        <p:spPr bwMode="auto">
          <a:xfrm>
            <a:off x="785813" y="1214438"/>
            <a:ext cx="7715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3200"/>
              <a:t>Personnel - users in the system. </a:t>
            </a:r>
          </a:p>
        </p:txBody>
      </p:sp>
      <p:sp>
        <p:nvSpPr>
          <p:cNvPr id="45065" name="Rectangle 10">
            <a:extLst>
              <a:ext uri="{FF2B5EF4-FFF2-40B4-BE49-F238E27FC236}">
                <a16:creationId xmlns:a16="http://schemas.microsoft.com/office/drawing/2014/main" id="{7C5F0756-DCBE-C59D-6A03-8DA11AB778A7}"/>
              </a:ext>
            </a:extLst>
          </p:cNvPr>
          <p:cNvSpPr>
            <a:spLocks noChangeArrowheads="1"/>
          </p:cNvSpPr>
          <p:nvPr/>
        </p:nvSpPr>
        <p:spPr bwMode="auto">
          <a:xfrm>
            <a:off x="357188" y="2286000"/>
            <a:ext cx="1785937" cy="830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a:p>
            <a:pPr eaLnBrk="1" hangingPunct="1"/>
            <a:r>
              <a:rPr lang="en-GB" altLang="en-US" b="1"/>
              <a:t>External</a:t>
            </a:r>
            <a:endParaRPr lang="en-GB" altLang="en-US"/>
          </a:p>
        </p:txBody>
      </p:sp>
      <p:sp>
        <p:nvSpPr>
          <p:cNvPr id="45066" name="Rectangle 33">
            <a:extLst>
              <a:ext uri="{FF2B5EF4-FFF2-40B4-BE49-F238E27FC236}">
                <a16:creationId xmlns:a16="http://schemas.microsoft.com/office/drawing/2014/main" id="{EEEBFA61-3E20-8CDD-3C4A-A87D33876812}"/>
              </a:ext>
            </a:extLst>
          </p:cNvPr>
          <p:cNvSpPr>
            <a:spLocks noChangeArrowheads="1"/>
          </p:cNvSpPr>
          <p:nvPr/>
        </p:nvSpPr>
        <p:spPr bwMode="auto">
          <a:xfrm>
            <a:off x="2928938" y="3500438"/>
            <a:ext cx="3286125" cy="1169987"/>
          </a:xfrm>
          <a:prstGeom prst="rect">
            <a:avLst/>
          </a:prstGeom>
          <a:solidFill>
            <a:srgbClr val="FFFFFF"/>
          </a:solidFill>
          <a:ln w="9525">
            <a:solidFill>
              <a:schemeClr val="tx1"/>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t>Contacts in your Organisation (Non-System users)</a:t>
            </a:r>
            <a:r>
              <a:rPr lang="en-GB" altLang="en-US"/>
              <a:t>	</a:t>
            </a:r>
          </a:p>
        </p:txBody>
      </p:sp>
      <p:sp>
        <p:nvSpPr>
          <p:cNvPr id="45067" name="Rectangle 48">
            <a:extLst>
              <a:ext uri="{FF2B5EF4-FFF2-40B4-BE49-F238E27FC236}">
                <a16:creationId xmlns:a16="http://schemas.microsoft.com/office/drawing/2014/main" id="{172DA829-B591-2777-F62C-6E4C13CB6D7F}"/>
              </a:ext>
            </a:extLst>
          </p:cNvPr>
          <p:cNvSpPr>
            <a:spLocks noChangeArrowheads="1"/>
          </p:cNvSpPr>
          <p:nvPr/>
        </p:nvSpPr>
        <p:spPr bwMode="auto">
          <a:xfrm>
            <a:off x="6786563" y="3714750"/>
            <a:ext cx="1963737" cy="928688"/>
          </a:xfrm>
          <a:prstGeom prst="rect">
            <a:avLst/>
          </a:prstGeom>
          <a:solidFill>
            <a:srgbClr val="FFFFFF"/>
          </a:solidFill>
          <a:ln w="9525">
            <a:solidFill>
              <a:schemeClr val="tx1"/>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E.G.: Admin Staff/Manager</a:t>
            </a:r>
          </a:p>
        </p:txBody>
      </p:sp>
      <p:sp>
        <p:nvSpPr>
          <p:cNvPr id="45068" name="Rectangle 44">
            <a:extLst>
              <a:ext uri="{FF2B5EF4-FFF2-40B4-BE49-F238E27FC236}">
                <a16:creationId xmlns:a16="http://schemas.microsoft.com/office/drawing/2014/main" id="{529C7B1E-A7C4-7701-C2A2-19AECEC78205}"/>
              </a:ext>
            </a:extLst>
          </p:cNvPr>
          <p:cNvSpPr>
            <a:spLocks noChangeArrowheads="1"/>
          </p:cNvSpPr>
          <p:nvPr/>
        </p:nvSpPr>
        <p:spPr bwMode="auto">
          <a:xfrm>
            <a:off x="428625" y="5429250"/>
            <a:ext cx="1731963" cy="866775"/>
          </a:xfrm>
          <a:prstGeom prst="rect">
            <a:avLst/>
          </a:prstGeom>
          <a:solidFill>
            <a:srgbClr val="FFFFFF"/>
          </a:solidFill>
          <a:ln w="9525">
            <a:solidFill>
              <a:schemeClr val="tx1"/>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t>Licensed user</a:t>
            </a:r>
            <a:endParaRPr lang="en-GB" altLang="en-US"/>
          </a:p>
        </p:txBody>
      </p:sp>
      <p:sp>
        <p:nvSpPr>
          <p:cNvPr id="45069" name="Rectangle 33">
            <a:extLst>
              <a:ext uri="{FF2B5EF4-FFF2-40B4-BE49-F238E27FC236}">
                <a16:creationId xmlns:a16="http://schemas.microsoft.com/office/drawing/2014/main" id="{5E6940AB-018C-02BD-55CF-929F609A82CE}"/>
              </a:ext>
            </a:extLst>
          </p:cNvPr>
          <p:cNvSpPr>
            <a:spLocks noChangeArrowheads="1"/>
          </p:cNvSpPr>
          <p:nvPr/>
        </p:nvSpPr>
        <p:spPr bwMode="auto">
          <a:xfrm>
            <a:off x="2857500" y="5000625"/>
            <a:ext cx="3429000" cy="1428750"/>
          </a:xfrm>
          <a:prstGeom prst="rect">
            <a:avLst/>
          </a:prstGeom>
          <a:solidFill>
            <a:srgbClr val="FFFFFF"/>
          </a:solidFill>
          <a:ln w="9525">
            <a:solidFill>
              <a:schemeClr val="tx1"/>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t>Contacts in your Organisation (Authorized System users)</a:t>
            </a:r>
            <a:r>
              <a:rPr lang="en-GB" altLang="en-US"/>
              <a:t>	</a:t>
            </a:r>
          </a:p>
        </p:txBody>
      </p:sp>
      <p:sp>
        <p:nvSpPr>
          <p:cNvPr id="45070" name="Rectangle 48">
            <a:extLst>
              <a:ext uri="{FF2B5EF4-FFF2-40B4-BE49-F238E27FC236}">
                <a16:creationId xmlns:a16="http://schemas.microsoft.com/office/drawing/2014/main" id="{EB1EB4AE-F0F7-DA34-81A4-024D9AABE240}"/>
              </a:ext>
            </a:extLst>
          </p:cNvPr>
          <p:cNvSpPr>
            <a:spLocks noChangeArrowheads="1"/>
          </p:cNvSpPr>
          <p:nvPr/>
        </p:nvSpPr>
        <p:spPr bwMode="auto">
          <a:xfrm>
            <a:off x="6786563" y="5357813"/>
            <a:ext cx="1963737" cy="928687"/>
          </a:xfrm>
          <a:prstGeom prst="rect">
            <a:avLst/>
          </a:prstGeom>
          <a:solidFill>
            <a:srgbClr val="FFFFFF"/>
          </a:solidFill>
          <a:ln w="9525">
            <a:solidFill>
              <a:schemeClr val="tx1"/>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E.G.: Traders</a:t>
            </a:r>
          </a:p>
        </p:txBody>
      </p:sp>
      <p:sp>
        <p:nvSpPr>
          <p:cNvPr id="19" name="Right Arrow 18">
            <a:extLst>
              <a:ext uri="{FF2B5EF4-FFF2-40B4-BE49-F238E27FC236}">
                <a16:creationId xmlns:a16="http://schemas.microsoft.com/office/drawing/2014/main" id="{4F069477-CEB7-9426-6E53-013977F7457D}"/>
              </a:ext>
            </a:extLst>
          </p:cNvPr>
          <p:cNvSpPr/>
          <p:nvPr/>
        </p:nvSpPr>
        <p:spPr>
          <a:xfrm>
            <a:off x="2143125" y="2428875"/>
            <a:ext cx="785813"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20" name="Right Arrow 19">
            <a:extLst>
              <a:ext uri="{FF2B5EF4-FFF2-40B4-BE49-F238E27FC236}">
                <a16:creationId xmlns:a16="http://schemas.microsoft.com/office/drawing/2014/main" id="{7A71E12B-8111-7EA0-B1FD-42F1E3A5EFE1}"/>
              </a:ext>
            </a:extLst>
          </p:cNvPr>
          <p:cNvSpPr/>
          <p:nvPr/>
        </p:nvSpPr>
        <p:spPr>
          <a:xfrm>
            <a:off x="2143125" y="3929063"/>
            <a:ext cx="785813"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21" name="Right Arrow 20">
            <a:extLst>
              <a:ext uri="{FF2B5EF4-FFF2-40B4-BE49-F238E27FC236}">
                <a16:creationId xmlns:a16="http://schemas.microsoft.com/office/drawing/2014/main" id="{EDAB8F2D-C87D-F6FF-0CE0-EADD0CD26F51}"/>
              </a:ext>
            </a:extLst>
          </p:cNvPr>
          <p:cNvSpPr/>
          <p:nvPr/>
        </p:nvSpPr>
        <p:spPr>
          <a:xfrm>
            <a:off x="2143125" y="5643563"/>
            <a:ext cx="785813"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22" name="Right Arrow 21">
            <a:extLst>
              <a:ext uri="{FF2B5EF4-FFF2-40B4-BE49-F238E27FC236}">
                <a16:creationId xmlns:a16="http://schemas.microsoft.com/office/drawing/2014/main" id="{C5ECE6C5-9919-5411-C27C-42074530B718}"/>
              </a:ext>
            </a:extLst>
          </p:cNvPr>
          <p:cNvSpPr/>
          <p:nvPr/>
        </p:nvSpPr>
        <p:spPr>
          <a:xfrm>
            <a:off x="6143625" y="2428875"/>
            <a:ext cx="785813"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23" name="Right Arrow 22">
            <a:extLst>
              <a:ext uri="{FF2B5EF4-FFF2-40B4-BE49-F238E27FC236}">
                <a16:creationId xmlns:a16="http://schemas.microsoft.com/office/drawing/2014/main" id="{7B21AB3A-E07E-9C64-ECCE-ED36723189EA}"/>
              </a:ext>
            </a:extLst>
          </p:cNvPr>
          <p:cNvSpPr/>
          <p:nvPr/>
        </p:nvSpPr>
        <p:spPr>
          <a:xfrm>
            <a:off x="6072188" y="3929063"/>
            <a:ext cx="785812"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24" name="Right Arrow 23">
            <a:extLst>
              <a:ext uri="{FF2B5EF4-FFF2-40B4-BE49-F238E27FC236}">
                <a16:creationId xmlns:a16="http://schemas.microsoft.com/office/drawing/2014/main" id="{C193BD41-C58A-7EB6-600F-F82782735D39}"/>
              </a:ext>
            </a:extLst>
          </p:cNvPr>
          <p:cNvSpPr/>
          <p:nvPr/>
        </p:nvSpPr>
        <p:spPr>
          <a:xfrm>
            <a:off x="6072188" y="5643563"/>
            <a:ext cx="785812"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229378"/>
                                        </p:tgtEl>
                                        <p:attrNameLst>
                                          <p:attrName>style.visibility</p:attrName>
                                        </p:attrNameLst>
                                      </p:cBhvr>
                                      <p:to>
                                        <p:strVal val="visible"/>
                                      </p:to>
                                    </p:set>
                                    <p:anim calcmode="lin" valueType="num">
                                      <p:cBhvr>
                                        <p:cTn id="7" dur="500" fill="hold"/>
                                        <p:tgtEl>
                                          <p:spTgt spid="229378"/>
                                        </p:tgtEl>
                                        <p:attrNameLst>
                                          <p:attrName>ppt_w</p:attrName>
                                        </p:attrNameLst>
                                      </p:cBhvr>
                                      <p:tavLst>
                                        <p:tav tm="0">
                                          <p:val>
                                            <p:fltVal val="0"/>
                                          </p:val>
                                        </p:tav>
                                        <p:tav tm="100000">
                                          <p:val>
                                            <p:strVal val="#ppt_w"/>
                                          </p:val>
                                        </p:tav>
                                      </p:tavLst>
                                    </p:anim>
                                    <p:anim calcmode="lin" valueType="num">
                                      <p:cBhvr>
                                        <p:cTn id="8" dur="500" fill="hold"/>
                                        <p:tgtEl>
                                          <p:spTgt spid="229378"/>
                                        </p:tgtEl>
                                        <p:attrNameLst>
                                          <p:attrName>ppt_h</p:attrName>
                                        </p:attrNameLst>
                                      </p:cBhvr>
                                      <p:tavLst>
                                        <p:tav tm="0">
                                          <p:val>
                                            <p:fltVal val="0"/>
                                          </p:val>
                                        </p:tav>
                                        <p:tav tm="100000">
                                          <p:val>
                                            <p:strVal val="#ppt_h"/>
                                          </p:val>
                                        </p:tav>
                                      </p:tavLst>
                                    </p:anim>
                                    <p:animEffect transition="in" filter="fade">
                                      <p:cBhvr>
                                        <p:cTn id="9" dur="500"/>
                                        <p:tgtEl>
                                          <p:spTgt spid="229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a:extLst>
              <a:ext uri="{FF2B5EF4-FFF2-40B4-BE49-F238E27FC236}">
                <a16:creationId xmlns:a16="http://schemas.microsoft.com/office/drawing/2014/main" id="{B1B79F40-9A97-D044-BBCC-CEB4E77A86F9}"/>
              </a:ext>
            </a:extLst>
          </p:cNvPr>
          <p:cNvPicPr>
            <a:picLocks noGrp="1" noChangeAspect="1" noChangeArrowheads="1"/>
          </p:cNvPicPr>
          <p:nvPr>
            <p:ph type="dgm" idx="1"/>
          </p:nvPr>
        </p:nvPicPr>
        <p:blipFill>
          <a:blip r:embed="rId3">
            <a:extLst>
              <a:ext uri="{28A0092B-C50C-407E-A947-70E740481C1C}">
                <a14:useLocalDpi xmlns:a14="http://schemas.microsoft.com/office/drawing/2010/main" val="0"/>
              </a:ext>
            </a:extLst>
          </a:blip>
          <a:srcRect/>
          <a:stretch>
            <a:fillRect/>
          </a:stretch>
        </p:blipFill>
        <p:spPr bwMode="auto">
          <a:xfrm>
            <a:off x="357188" y="1500188"/>
            <a:ext cx="8393112" cy="6429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DE08C8D7-D97F-020E-E1A5-CE3C3FE40338}"/>
              </a:ext>
            </a:extLst>
          </p:cNvPr>
          <p:cNvSpPr>
            <a:spLocks noGrp="1" noChangeArrowheads="1"/>
          </p:cNvSpPr>
          <p:nvPr>
            <p:ph type="title"/>
          </p:nvPr>
        </p:nvSpPr>
        <p:spPr bwMode="auto">
          <a:xfrm>
            <a:off x="3500438" y="228600"/>
            <a:ext cx="5567362" cy="1700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Reference Manager Personnel</a:t>
            </a:r>
          </a:p>
        </p:txBody>
      </p:sp>
      <p:pic>
        <p:nvPicPr>
          <p:cNvPr id="46084" name="Picture 4">
            <a:extLst>
              <a:ext uri="{FF2B5EF4-FFF2-40B4-BE49-F238E27FC236}">
                <a16:creationId xmlns:a16="http://schemas.microsoft.com/office/drawing/2014/main" id="{D3466CC0-C76F-8D9F-26AD-BF428BA877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5381" t="16348" r="12842" b="17233"/>
          <a:stretch>
            <a:fillRect/>
          </a:stretch>
        </p:blipFill>
        <p:spPr bwMode="auto">
          <a:xfrm>
            <a:off x="357188" y="2214563"/>
            <a:ext cx="8501062"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5EBEB6C7-DF83-B62A-F12E-27939ABB42DB}"/>
              </a:ext>
            </a:extLst>
          </p:cNvPr>
          <p:cNvSpPr>
            <a:spLocks noChangeArrowheads="1"/>
          </p:cNvSpPr>
          <p:nvPr/>
        </p:nvSpPr>
        <p:spPr bwMode="auto">
          <a:xfrm>
            <a:off x="357188" y="1071563"/>
            <a:ext cx="77866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A corporate structure is a “party group” in the system. </a:t>
            </a:r>
          </a:p>
          <a:p>
            <a:pPr lvl="1" eaLnBrk="1" hangingPunct="1">
              <a:buFont typeface="Arial" panose="020B0604020202020204" pitchFamily="34" charset="0"/>
              <a:buChar char="•"/>
            </a:pPr>
            <a:r>
              <a:rPr lang="en-GB" altLang="en-US"/>
              <a:t>Legal entities </a:t>
            </a:r>
          </a:p>
          <a:p>
            <a:pPr lvl="1" eaLnBrk="1" hangingPunct="1">
              <a:buFont typeface="Arial" panose="020B0604020202020204" pitchFamily="34" charset="0"/>
              <a:buChar char="•"/>
            </a:pPr>
            <a:r>
              <a:rPr lang="en-GB" altLang="en-US"/>
              <a:t>Business units.</a:t>
            </a:r>
          </a:p>
        </p:txBody>
      </p:sp>
      <p:sp>
        <p:nvSpPr>
          <p:cNvPr id="6" name="Rectangle 2">
            <a:extLst>
              <a:ext uri="{FF2B5EF4-FFF2-40B4-BE49-F238E27FC236}">
                <a16:creationId xmlns:a16="http://schemas.microsoft.com/office/drawing/2014/main" id="{14A7A1E0-FE6E-BB40-A906-4D7675130CF7}"/>
              </a:ext>
            </a:extLst>
          </p:cNvPr>
          <p:cNvSpPr>
            <a:spLocks noGrp="1" noChangeArrowheads="1"/>
          </p:cNvSpPr>
          <p:nvPr>
            <p:ph type="title"/>
          </p:nvPr>
        </p:nvSpPr>
        <p:spPr bwMode="auto">
          <a:xfrm>
            <a:off x="3576638" y="0"/>
            <a:ext cx="5567362" cy="1071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3600"/>
              <a:t>Reference Manager   Party Group</a:t>
            </a:r>
          </a:p>
        </p:txBody>
      </p:sp>
      <p:pic>
        <p:nvPicPr>
          <p:cNvPr id="47108" name="Picture 3">
            <a:extLst>
              <a:ext uri="{FF2B5EF4-FFF2-40B4-BE49-F238E27FC236}">
                <a16:creationId xmlns:a16="http://schemas.microsoft.com/office/drawing/2014/main" id="{142B6DFF-B474-B318-8F6A-39417AC32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703" t="22411" r="6787" b="14236"/>
          <a:stretch>
            <a:fillRect/>
          </a:stretch>
        </p:blipFill>
        <p:spPr bwMode="auto">
          <a:xfrm>
            <a:off x="285750" y="2214563"/>
            <a:ext cx="8858250" cy="464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7942B68B-A8D4-238B-2B32-A88D07EDBE23}"/>
              </a:ext>
            </a:extLst>
          </p:cNvPr>
          <p:cNvSpPr>
            <a:spLocks noGrp="1"/>
          </p:cNvSpPr>
          <p:nvPr>
            <p:ph type="title"/>
          </p:nvPr>
        </p:nvSpPr>
        <p:spPr bwMode="auto">
          <a:xfrm>
            <a:off x="3643313" y="228600"/>
            <a:ext cx="5424487" cy="14144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Reference Manager   Party Group</a:t>
            </a:r>
          </a:p>
        </p:txBody>
      </p:sp>
      <p:pic>
        <p:nvPicPr>
          <p:cNvPr id="48131" name="Picture 2">
            <a:extLst>
              <a:ext uri="{FF2B5EF4-FFF2-40B4-BE49-F238E27FC236}">
                <a16:creationId xmlns:a16="http://schemas.microsoft.com/office/drawing/2014/main" id="{589C5B5A-208D-304A-BAE6-C981DE5FB37C}"/>
              </a:ext>
            </a:extLst>
          </p:cNvPr>
          <p:cNvPicPr>
            <a:picLocks noGrp="1" noChangeAspect="1" noChangeArrowheads="1"/>
          </p:cNvPicPr>
          <p:nvPr>
            <p:ph type="dgm" idx="1"/>
          </p:nvPr>
        </p:nvPicPr>
        <p:blipFill>
          <a:blip r:embed="rId3">
            <a:extLst>
              <a:ext uri="{28A0092B-C50C-407E-A947-70E740481C1C}">
                <a14:useLocalDpi xmlns:a14="http://schemas.microsoft.com/office/drawing/2010/main" val="0"/>
              </a:ext>
            </a:extLst>
          </a:blip>
          <a:srcRect/>
          <a:stretch>
            <a:fillRect/>
          </a:stretch>
        </p:blipFill>
        <p:spPr bwMode="auto">
          <a:xfrm>
            <a:off x="928688" y="1857375"/>
            <a:ext cx="7191375" cy="3857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DBF8C3F9-E313-6BFE-9DBD-13D010DCAB48}"/>
              </a:ext>
            </a:extLst>
          </p:cNvPr>
          <p:cNvSpPr>
            <a:spLocks noGrp="1"/>
          </p:cNvSpPr>
          <p:nvPr>
            <p:ph type="title"/>
          </p:nvPr>
        </p:nvSpPr>
        <p:spPr bwMode="auto">
          <a:xfrm>
            <a:off x="3571875" y="228600"/>
            <a:ext cx="549592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GB" altLang="en-US" sz="3600" b="1"/>
              <a:t>Party Group - Required Party Information </a:t>
            </a:r>
          </a:p>
        </p:txBody>
      </p:sp>
      <p:sp>
        <p:nvSpPr>
          <p:cNvPr id="49155" name="Rectangle 4">
            <a:extLst>
              <a:ext uri="{FF2B5EF4-FFF2-40B4-BE49-F238E27FC236}">
                <a16:creationId xmlns:a16="http://schemas.microsoft.com/office/drawing/2014/main" id="{2673EA14-549B-21D9-4E90-55D6B4E043F4}"/>
              </a:ext>
            </a:extLst>
          </p:cNvPr>
          <p:cNvSpPr>
            <a:spLocks noChangeArrowheads="1"/>
          </p:cNvSpPr>
          <p:nvPr/>
        </p:nvSpPr>
        <p:spPr bwMode="auto">
          <a:xfrm>
            <a:off x="285750" y="1643063"/>
            <a:ext cx="8643938"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a:p>
            <a:pPr eaLnBrk="1" hangingPunct="1">
              <a:buFont typeface="Arial" panose="020B0604020202020204" pitchFamily="34" charset="0"/>
              <a:buChar char="•"/>
            </a:pPr>
            <a:r>
              <a:rPr lang="en-GB" altLang="en-US"/>
              <a:t>An Account  - to be used for trading.  </a:t>
            </a:r>
          </a:p>
          <a:p>
            <a:pPr eaLnBrk="1" hangingPunct="1"/>
            <a:endParaRPr lang="en-GB" altLang="en-US"/>
          </a:p>
          <a:p>
            <a:pPr eaLnBrk="1" hangingPunct="1">
              <a:buFont typeface="Arial" panose="020B0604020202020204" pitchFamily="34" charset="0"/>
              <a:buChar char="•"/>
            </a:pPr>
            <a:r>
              <a:rPr lang="en-GB" altLang="en-US"/>
              <a:t>Settlement Instructions  - Tells the system how to settle each instrument in the currency or commodity traded. </a:t>
            </a:r>
          </a:p>
          <a:p>
            <a:pPr eaLnBrk="1" hangingPunct="1"/>
            <a:endParaRPr lang="en-GB" altLang="en-US"/>
          </a:p>
          <a:p>
            <a:pPr eaLnBrk="1" hangingPunct="1">
              <a:buFont typeface="Arial" panose="020B0604020202020204" pitchFamily="34" charset="0"/>
              <a:buChar char="•"/>
            </a:pPr>
            <a:r>
              <a:rPr lang="en-GB" altLang="en-US"/>
              <a:t>Party Agreement and Agreement Conditions  - created and maintained within the Legal Entity to determine the terms of the trades that will be booked by the party.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6961C3A6-7DB2-7E1E-A409-97C7D36025C6}"/>
              </a:ext>
            </a:extLst>
          </p:cNvPr>
          <p:cNvSpPr>
            <a:spLocks noGrp="1"/>
          </p:cNvSpPr>
          <p:nvPr>
            <p:ph type="title"/>
          </p:nvPr>
        </p:nvSpPr>
        <p:spPr bwMode="auto">
          <a:xfrm>
            <a:off x="4791075" y="214313"/>
            <a:ext cx="435292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GB" altLang="en-US"/>
              <a:t>Party Group Business Unit </a:t>
            </a:r>
          </a:p>
        </p:txBody>
      </p:sp>
      <p:pic>
        <p:nvPicPr>
          <p:cNvPr id="50179" name="Picture 2">
            <a:extLst>
              <a:ext uri="{FF2B5EF4-FFF2-40B4-BE49-F238E27FC236}">
                <a16:creationId xmlns:a16="http://schemas.microsoft.com/office/drawing/2014/main" id="{A7183082-7AE7-A0BC-A2F4-410CC256419A}"/>
              </a:ext>
            </a:extLst>
          </p:cNvPr>
          <p:cNvPicPr>
            <a:picLocks noGrp="1" noChangeAspect="1" noChangeArrowheads="1"/>
          </p:cNvPicPr>
          <p:nvPr>
            <p:ph type="dgm" idx="1"/>
          </p:nvPr>
        </p:nvPicPr>
        <p:blipFill>
          <a:blip r:embed="rId3">
            <a:extLst>
              <a:ext uri="{28A0092B-C50C-407E-A947-70E740481C1C}">
                <a14:useLocalDpi xmlns:a14="http://schemas.microsoft.com/office/drawing/2010/main" val="0"/>
              </a:ext>
            </a:extLst>
          </a:blip>
          <a:srcRect l="5199" t="24884" r="1466" b="5672"/>
          <a:stretch>
            <a:fillRect/>
          </a:stretch>
        </p:blipFill>
        <p:spPr bwMode="auto">
          <a:xfrm>
            <a:off x="214313" y="1571625"/>
            <a:ext cx="8929687" cy="5286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a:extLst>
              <a:ext uri="{FF2B5EF4-FFF2-40B4-BE49-F238E27FC236}">
                <a16:creationId xmlns:a16="http://schemas.microsoft.com/office/drawing/2014/main" id="{6F083A71-FEC4-AE9D-98E6-97C5B6FEBA80}"/>
              </a:ext>
            </a:extLst>
          </p:cNvPr>
          <p:cNvPicPr>
            <a:picLocks noGrp="1" noChangeAspect="1" noChangeArrowheads="1"/>
          </p:cNvPicPr>
          <p:nvPr>
            <p:ph type="dgm" idx="1"/>
          </p:nvPr>
        </p:nvPicPr>
        <p:blipFill>
          <a:blip r:embed="rId3">
            <a:extLst>
              <a:ext uri="{28A0092B-C50C-407E-A947-70E740481C1C}">
                <a14:useLocalDpi xmlns:a14="http://schemas.microsoft.com/office/drawing/2010/main" val="0"/>
              </a:ext>
            </a:extLst>
          </a:blip>
          <a:srcRect l="28844" t="12730" r="6444" b="10880"/>
          <a:stretch>
            <a:fillRect/>
          </a:stretch>
        </p:blipFill>
        <p:spPr bwMode="auto">
          <a:xfrm>
            <a:off x="285750" y="1658938"/>
            <a:ext cx="8501063" cy="4627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440390AA-C5A2-02DD-4DB1-95FF270E31CB}"/>
              </a:ext>
            </a:extLst>
          </p:cNvPr>
          <p:cNvSpPr txBox="1">
            <a:spLocks/>
          </p:cNvSpPr>
          <p:nvPr/>
        </p:nvSpPr>
        <p:spPr>
          <a:xfrm>
            <a:off x="5786438" y="285750"/>
            <a:ext cx="3357562" cy="1143000"/>
          </a:xfrm>
          <a:prstGeom prst="rect">
            <a:avLst/>
          </a:prstGeom>
        </p:spPr>
        <p:txBody>
          <a:bodyPr/>
          <a:lstStyle/>
          <a:p>
            <a:pPr>
              <a:defRPr/>
            </a:pPr>
            <a:r>
              <a:rPr lang="en-GB" sz="4400" kern="0" dirty="0">
                <a:solidFill>
                  <a:schemeClr val="tx2"/>
                </a:solidFill>
                <a:latin typeface="+mj-lt"/>
                <a:ea typeface="+mj-ea"/>
                <a:cs typeface="+mj-cs"/>
              </a:rPr>
              <a:t>Party Group Legal Entity </a:t>
            </a:r>
          </a:p>
        </p:txBody>
      </p:sp>
      <p:sp>
        <p:nvSpPr>
          <p:cNvPr id="51204" name="Rectangle 5">
            <a:extLst>
              <a:ext uri="{FF2B5EF4-FFF2-40B4-BE49-F238E27FC236}">
                <a16:creationId xmlns:a16="http://schemas.microsoft.com/office/drawing/2014/main" id="{8CC545D2-F07D-6235-99A5-B3FFDE5ECE80}"/>
              </a:ext>
            </a:extLst>
          </p:cNvPr>
          <p:cNvSpPr>
            <a:spLocks noChangeArrowheads="1"/>
          </p:cNvSpPr>
          <p:nvPr/>
        </p:nvSpPr>
        <p:spPr bwMode="auto">
          <a:xfrm>
            <a:off x="214313" y="1214438"/>
            <a:ext cx="5500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Contractual obligations of the Party Group</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martArt Placeholder 2">
            <a:extLst>
              <a:ext uri="{FF2B5EF4-FFF2-40B4-BE49-F238E27FC236}">
                <a16:creationId xmlns:a16="http://schemas.microsoft.com/office/drawing/2014/main" id="{9D2A7F65-7E93-3CA2-5C26-08C19DE6AAC9}"/>
              </a:ext>
            </a:extLst>
          </p:cNvPr>
          <p:cNvSpPr>
            <a:spLocks noGrp="1"/>
          </p:cNvSpPr>
          <p:nvPr>
            <p:ph type="dgm"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sp>
        <p:nvSpPr>
          <p:cNvPr id="52227" name="Title 1">
            <a:extLst>
              <a:ext uri="{FF2B5EF4-FFF2-40B4-BE49-F238E27FC236}">
                <a16:creationId xmlns:a16="http://schemas.microsoft.com/office/drawing/2014/main" id="{64D98139-D462-143C-2988-3C8F3D1B7240}"/>
              </a:ext>
            </a:extLst>
          </p:cNvPr>
          <p:cNvSpPr txBox="1">
            <a:spLocks noGrp="1"/>
          </p:cNvSpPr>
          <p:nvPr>
            <p:ph type="title"/>
          </p:nvPr>
        </p:nvSpPr>
        <p:spPr bwMode="auto">
          <a:xfrm>
            <a:off x="4143375" y="228600"/>
            <a:ext cx="492442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a:t>Party Group   Party Agreements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4CDA5EF-2D5E-0A94-8A8D-CF80D1F4B1CC}"/>
              </a:ext>
            </a:extLst>
          </p:cNvPr>
          <p:cNvSpPr>
            <a:spLocks noGrp="1" noChangeArrowheads="1"/>
          </p:cNvSpPr>
          <p:nvPr>
            <p:ph type="title"/>
          </p:nvPr>
        </p:nvSpPr>
        <p:spPr bwMode="auto">
          <a:xfrm>
            <a:off x="762000" y="2133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Market Manager</a:t>
            </a:r>
          </a:p>
        </p:txBody>
      </p:sp>
      <p:pic>
        <p:nvPicPr>
          <p:cNvPr id="53251" name="Picture 5">
            <a:extLst>
              <a:ext uri="{FF2B5EF4-FFF2-40B4-BE49-F238E27FC236}">
                <a16:creationId xmlns:a16="http://schemas.microsoft.com/office/drawing/2014/main" id="{3700DFDD-7BC5-98B4-73C0-B6DC69BE6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8100" y="3213100"/>
            <a:ext cx="144621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A24978B-36B0-5B34-4662-2AE8B1A94393}"/>
              </a:ext>
            </a:extLst>
          </p:cNvPr>
          <p:cNvSpPr>
            <a:spLocks noGrp="1" noChangeArrowheads="1"/>
          </p:cNvSpPr>
          <p:nvPr>
            <p:ph type="title"/>
          </p:nvPr>
        </p:nvSpPr>
        <p:spPr bwMode="auto">
          <a:xfrm>
            <a:off x="4500563" y="228600"/>
            <a:ext cx="45672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Market Manager</a:t>
            </a:r>
          </a:p>
        </p:txBody>
      </p:sp>
      <p:sp>
        <p:nvSpPr>
          <p:cNvPr id="30723" name="Rectangle 3">
            <a:extLst>
              <a:ext uri="{FF2B5EF4-FFF2-40B4-BE49-F238E27FC236}">
                <a16:creationId xmlns:a16="http://schemas.microsoft.com/office/drawing/2014/main" id="{30CF2A49-7ADC-D407-984C-759FDEBEE2F8}"/>
              </a:ext>
            </a:extLst>
          </p:cNvPr>
          <p:cNvSpPr>
            <a:spLocks noGrp="1" noChangeArrowheads="1"/>
          </p:cNvSpPr>
          <p:nvPr>
            <p:ph type="body" sz="half" idx="2"/>
          </p:nvPr>
        </p:nvSpPr>
        <p:spPr bwMode="auto">
          <a:xfrm>
            <a:off x="214313" y="1000125"/>
            <a:ext cx="8572500" cy="1785938"/>
          </a:xfrm>
          <a:ln>
            <a:miter lim="800000"/>
            <a:headEnd/>
            <a:tailEnd/>
          </a:ln>
        </p:spPr>
        <p:txBody>
          <a:bodyPr vert="horz" wrap="square" lIns="91440" tIns="45720" rIns="91440" bIns="45720" numCol="1" anchor="t" anchorCtr="0" compatLnSpc="1">
            <a:prstTxWarp prst="textNoShape">
              <a:avLst/>
            </a:prstTxWarp>
          </a:bodyPr>
          <a:lstStyle/>
          <a:p>
            <a:pPr eaLnBrk="1" hangingPunct="1">
              <a:buFontTx/>
              <a:buNone/>
              <a:defRPr/>
            </a:pPr>
            <a:r>
              <a:rPr lang="en-GB" sz="1600" dirty="0"/>
              <a:t>Define, modify, and view prices, rates, volatilities, and correlations. </a:t>
            </a:r>
          </a:p>
          <a:p>
            <a:pPr eaLnBrk="1" hangingPunct="1">
              <a:defRPr/>
            </a:pPr>
            <a:r>
              <a:rPr lang="en-GB" sz="1600" dirty="0"/>
              <a:t>Indexes/Curves</a:t>
            </a:r>
          </a:p>
          <a:p>
            <a:pPr lvl="1" eaLnBrk="1" hangingPunct="1">
              <a:defRPr/>
            </a:pPr>
            <a:r>
              <a:rPr lang="en-GB" sz="1600" dirty="0">
                <a:ea typeface="+mn-ea"/>
              </a:rPr>
              <a:t>Grid point represents a price or rate for different time periods. </a:t>
            </a:r>
          </a:p>
          <a:p>
            <a:pPr lvl="1" eaLnBrk="1" hangingPunct="1">
              <a:defRPr/>
            </a:pPr>
            <a:r>
              <a:rPr lang="en-GB" sz="1600" dirty="0">
                <a:ea typeface="+mn-ea"/>
              </a:rPr>
              <a:t>Grid points on a Spot FX curve represents currencies. </a:t>
            </a:r>
          </a:p>
          <a:p>
            <a:pPr lvl="1" eaLnBrk="1" hangingPunct="1">
              <a:defRPr/>
            </a:pPr>
            <a:r>
              <a:rPr lang="en-GB" sz="1600" dirty="0">
                <a:ea typeface="+mn-ea"/>
              </a:rPr>
              <a:t>Prices, Rates etc can be obtained from market feeds, entered manually, or calculated via internal or user-supplied logic. </a:t>
            </a:r>
            <a:endParaRPr lang="en-GB" sz="1600" dirty="0"/>
          </a:p>
        </p:txBody>
      </p:sp>
      <p:pic>
        <p:nvPicPr>
          <p:cNvPr id="54276" name="Picture 2">
            <a:extLst>
              <a:ext uri="{FF2B5EF4-FFF2-40B4-BE49-F238E27FC236}">
                <a16:creationId xmlns:a16="http://schemas.microsoft.com/office/drawing/2014/main" id="{8646DCD9-AAB1-9434-17FF-64CC4B8404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184" t="24390" r="6250" b="17683"/>
          <a:stretch>
            <a:fillRect/>
          </a:stretch>
        </p:blipFill>
        <p:spPr bwMode="auto">
          <a:xfrm>
            <a:off x="214313" y="2786063"/>
            <a:ext cx="8715375" cy="407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1+#ppt_w/2"/>
                                          </p:val>
                                        </p:tav>
                                        <p:tav tm="100000">
                                          <p:val>
                                            <p:strVal val="#ppt_x"/>
                                          </p:val>
                                        </p:tav>
                                      </p:tavLst>
                                    </p:anim>
                                    <p:anim calcmode="lin" valueType="num">
                                      <p:cBhvr additive="base">
                                        <p:cTn id="8" dur="500" fill="hold"/>
                                        <p:tgtEl>
                                          <p:spTgt spid="3072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0" fill="hold" nodeType="afterEffect">
                                  <p:stCondLst>
                                    <p:cond delay="0"/>
                                  </p:stCondLst>
                                  <p:childTnLst>
                                    <p:set>
                                      <p:cBhvr>
                                        <p:cTn id="11" dur="1" fill="hold">
                                          <p:stCondLst>
                                            <p:cond delay="0"/>
                                          </p:stCondLst>
                                        </p:cTn>
                                        <p:tgtEl>
                                          <p:spTgt spid="30723">
                                            <p:txEl>
                                              <p:pRg st="0" end="0"/>
                                            </p:txEl>
                                          </p:spTgt>
                                        </p:tgtEl>
                                        <p:attrNameLst>
                                          <p:attrName>style.visibility</p:attrName>
                                        </p:attrNameLst>
                                      </p:cBhvr>
                                      <p:to>
                                        <p:strVal val="visible"/>
                                      </p:to>
                                    </p:set>
                                    <p:anim calcmode="lin" valueType="num">
                                      <p:cBhvr>
                                        <p:cTn id="12" dur="500" fill="hold"/>
                                        <p:tgtEl>
                                          <p:spTgt spid="3072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072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0723">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30723">
                                            <p:txEl>
                                              <p:pRg st="1" end="1"/>
                                            </p:txEl>
                                          </p:spTgt>
                                        </p:tgtEl>
                                        <p:attrNameLst>
                                          <p:attrName>style.visibility</p:attrName>
                                        </p:attrNameLst>
                                      </p:cBhvr>
                                      <p:to>
                                        <p:strVal val="visible"/>
                                      </p:to>
                                    </p:set>
                                    <p:anim calcmode="lin" valueType="num">
                                      <p:cBhvr>
                                        <p:cTn id="19" dur="500" fill="hold"/>
                                        <p:tgtEl>
                                          <p:spTgt spid="3072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072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0723">
                                            <p:txEl>
                                              <p:pRg st="1" end="1"/>
                                            </p:txEl>
                                          </p:spTgt>
                                        </p:tgtEl>
                                      </p:cBhvr>
                                    </p:animEffect>
                                  </p:childTnLst>
                                </p:cTn>
                              </p:par>
                              <p:par>
                                <p:cTn id="22" presetID="53" presetClass="entr" presetSubtype="0" fill="hold" nodeType="withEffect">
                                  <p:stCondLst>
                                    <p:cond delay="0"/>
                                  </p:stCondLst>
                                  <p:childTnLst>
                                    <p:set>
                                      <p:cBhvr>
                                        <p:cTn id="23" dur="1" fill="hold">
                                          <p:stCondLst>
                                            <p:cond delay="0"/>
                                          </p:stCondLst>
                                        </p:cTn>
                                        <p:tgtEl>
                                          <p:spTgt spid="30723">
                                            <p:txEl>
                                              <p:pRg st="2" end="2"/>
                                            </p:txEl>
                                          </p:spTgt>
                                        </p:tgtEl>
                                        <p:attrNameLst>
                                          <p:attrName>style.visibility</p:attrName>
                                        </p:attrNameLst>
                                      </p:cBhvr>
                                      <p:to>
                                        <p:strVal val="visible"/>
                                      </p:to>
                                    </p:set>
                                    <p:anim calcmode="lin" valueType="num">
                                      <p:cBhvr>
                                        <p:cTn id="24" dur="500" fill="hold"/>
                                        <p:tgtEl>
                                          <p:spTgt spid="30723">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0723">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30723">
                                            <p:txEl>
                                              <p:pRg st="2" end="2"/>
                                            </p:txEl>
                                          </p:spTgt>
                                        </p:tgtEl>
                                      </p:cBhvr>
                                    </p:animEffect>
                                  </p:childTnLst>
                                </p:cTn>
                              </p:par>
                              <p:par>
                                <p:cTn id="27" presetID="53" presetClass="entr" presetSubtype="0" fill="hold" nodeType="withEffect">
                                  <p:stCondLst>
                                    <p:cond delay="0"/>
                                  </p:stCondLst>
                                  <p:childTnLst>
                                    <p:set>
                                      <p:cBhvr>
                                        <p:cTn id="28" dur="1" fill="hold">
                                          <p:stCondLst>
                                            <p:cond delay="0"/>
                                          </p:stCondLst>
                                        </p:cTn>
                                        <p:tgtEl>
                                          <p:spTgt spid="30723">
                                            <p:txEl>
                                              <p:pRg st="3" end="3"/>
                                            </p:txEl>
                                          </p:spTgt>
                                        </p:tgtEl>
                                        <p:attrNameLst>
                                          <p:attrName>style.visibility</p:attrName>
                                        </p:attrNameLst>
                                      </p:cBhvr>
                                      <p:to>
                                        <p:strVal val="visible"/>
                                      </p:to>
                                    </p:set>
                                    <p:anim calcmode="lin" valueType="num">
                                      <p:cBhvr>
                                        <p:cTn id="29" dur="500" fill="hold"/>
                                        <p:tgtEl>
                                          <p:spTgt spid="30723">
                                            <p:txEl>
                                              <p:pRg st="3" end="3"/>
                                            </p:txEl>
                                          </p:spTgt>
                                        </p:tgtEl>
                                        <p:attrNameLst>
                                          <p:attrName>ppt_w</p:attrName>
                                        </p:attrNameLst>
                                      </p:cBhvr>
                                      <p:tavLst>
                                        <p:tav tm="0">
                                          <p:val>
                                            <p:fltVal val="0"/>
                                          </p:val>
                                        </p:tav>
                                        <p:tav tm="100000">
                                          <p:val>
                                            <p:strVal val="#ppt_w"/>
                                          </p:val>
                                        </p:tav>
                                      </p:tavLst>
                                    </p:anim>
                                    <p:anim calcmode="lin" valueType="num">
                                      <p:cBhvr>
                                        <p:cTn id="30" dur="500" fill="hold"/>
                                        <p:tgtEl>
                                          <p:spTgt spid="30723">
                                            <p:txEl>
                                              <p:pRg st="3" end="3"/>
                                            </p:txEl>
                                          </p:spTgt>
                                        </p:tgtEl>
                                        <p:attrNameLst>
                                          <p:attrName>ppt_h</p:attrName>
                                        </p:attrNameLst>
                                      </p:cBhvr>
                                      <p:tavLst>
                                        <p:tav tm="0">
                                          <p:val>
                                            <p:fltVal val="0"/>
                                          </p:val>
                                        </p:tav>
                                        <p:tav tm="100000">
                                          <p:val>
                                            <p:strVal val="#ppt_h"/>
                                          </p:val>
                                        </p:tav>
                                      </p:tavLst>
                                    </p:anim>
                                    <p:animEffect transition="in" filter="fade">
                                      <p:cBhvr>
                                        <p:cTn id="31" dur="500"/>
                                        <p:tgtEl>
                                          <p:spTgt spid="30723">
                                            <p:txEl>
                                              <p:pRg st="3" end="3"/>
                                            </p:txEl>
                                          </p:spTgt>
                                        </p:tgtEl>
                                      </p:cBhvr>
                                    </p:animEffect>
                                  </p:childTnLst>
                                </p:cTn>
                              </p:par>
                              <p:par>
                                <p:cTn id="32" presetID="53" presetClass="entr" presetSubtype="0" fill="hold" nodeType="withEffect">
                                  <p:stCondLst>
                                    <p:cond delay="0"/>
                                  </p:stCondLst>
                                  <p:childTnLst>
                                    <p:set>
                                      <p:cBhvr>
                                        <p:cTn id="33" dur="1" fill="hold">
                                          <p:stCondLst>
                                            <p:cond delay="0"/>
                                          </p:stCondLst>
                                        </p:cTn>
                                        <p:tgtEl>
                                          <p:spTgt spid="30723">
                                            <p:txEl>
                                              <p:pRg st="4" end="4"/>
                                            </p:txEl>
                                          </p:spTgt>
                                        </p:tgtEl>
                                        <p:attrNameLst>
                                          <p:attrName>style.visibility</p:attrName>
                                        </p:attrNameLst>
                                      </p:cBhvr>
                                      <p:to>
                                        <p:strVal val="visible"/>
                                      </p:to>
                                    </p:set>
                                    <p:anim calcmode="lin" valueType="num">
                                      <p:cBhvr>
                                        <p:cTn id="34" dur="500" fill="hold"/>
                                        <p:tgtEl>
                                          <p:spTgt spid="30723">
                                            <p:txEl>
                                              <p:pRg st="4" end="4"/>
                                            </p:txEl>
                                          </p:spTgt>
                                        </p:tgtEl>
                                        <p:attrNameLst>
                                          <p:attrName>ppt_w</p:attrName>
                                        </p:attrNameLst>
                                      </p:cBhvr>
                                      <p:tavLst>
                                        <p:tav tm="0">
                                          <p:val>
                                            <p:fltVal val="0"/>
                                          </p:val>
                                        </p:tav>
                                        <p:tav tm="100000">
                                          <p:val>
                                            <p:strVal val="#ppt_w"/>
                                          </p:val>
                                        </p:tav>
                                      </p:tavLst>
                                    </p:anim>
                                    <p:anim calcmode="lin" valueType="num">
                                      <p:cBhvr>
                                        <p:cTn id="35" dur="500" fill="hold"/>
                                        <p:tgtEl>
                                          <p:spTgt spid="30723">
                                            <p:txEl>
                                              <p:pRg st="4" end="4"/>
                                            </p:txEl>
                                          </p:spTgt>
                                        </p:tgtEl>
                                        <p:attrNameLst>
                                          <p:attrName>ppt_h</p:attrName>
                                        </p:attrNameLst>
                                      </p:cBhvr>
                                      <p:tavLst>
                                        <p:tav tm="0">
                                          <p:val>
                                            <p:fltVal val="0"/>
                                          </p:val>
                                        </p:tav>
                                        <p:tav tm="100000">
                                          <p:val>
                                            <p:strVal val="#ppt_h"/>
                                          </p:val>
                                        </p:tav>
                                      </p:tavLst>
                                    </p:anim>
                                    <p:animEffect transition="in" filter="fade">
                                      <p:cBhvr>
                                        <p:cTn id="36" dur="500"/>
                                        <p:tgtEl>
                                          <p:spTgt spid="307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BB08ABCC-6D2F-147E-7CED-FF6FA71ACA02}"/>
              </a:ext>
            </a:extLst>
          </p:cNvPr>
          <p:cNvSpPr>
            <a:spLocks noGrp="1" noChangeArrowheads="1"/>
          </p:cNvSpPr>
          <p:nvPr>
            <p:ph type="title"/>
          </p:nvPr>
        </p:nvSpPr>
        <p:spPr bwMode="auto">
          <a:xfrm>
            <a:off x="4576763" y="0"/>
            <a:ext cx="45672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4000"/>
              <a:t>Market Manager</a:t>
            </a:r>
            <a:br>
              <a:rPr lang="en-GB" altLang="en-US" sz="4000"/>
            </a:br>
            <a:r>
              <a:rPr lang="en-GB" altLang="en-US" sz="4000"/>
              <a:t>Indexes</a:t>
            </a:r>
          </a:p>
        </p:txBody>
      </p:sp>
      <p:pic>
        <p:nvPicPr>
          <p:cNvPr id="55299" name="Picture 2">
            <a:extLst>
              <a:ext uri="{FF2B5EF4-FFF2-40B4-BE49-F238E27FC236}">
                <a16:creationId xmlns:a16="http://schemas.microsoft.com/office/drawing/2014/main" id="{0786D9E1-F5BA-23A2-792F-EB8EBFE4D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846" t="23373" r="14307" b="2438"/>
          <a:stretch>
            <a:fillRect/>
          </a:stretch>
        </p:blipFill>
        <p:spPr bwMode="auto">
          <a:xfrm>
            <a:off x="214313" y="1214438"/>
            <a:ext cx="6715125" cy="521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Box 8">
            <a:extLst>
              <a:ext uri="{FF2B5EF4-FFF2-40B4-BE49-F238E27FC236}">
                <a16:creationId xmlns:a16="http://schemas.microsoft.com/office/drawing/2014/main" id="{D7C09611-A83F-741F-8FAC-2741928F55B1}"/>
              </a:ext>
            </a:extLst>
          </p:cNvPr>
          <p:cNvSpPr txBox="1">
            <a:spLocks noChangeArrowheads="1"/>
          </p:cNvSpPr>
          <p:nvPr/>
        </p:nvSpPr>
        <p:spPr bwMode="auto">
          <a:xfrm>
            <a:off x="6929438" y="5357813"/>
            <a:ext cx="17145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TYPES OF INDEXES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ADF03EAC-529A-40D6-66DE-D22263ACC727}"/>
              </a:ext>
            </a:extLst>
          </p:cNvPr>
          <p:cNvSpPr>
            <a:spLocks noGrp="1"/>
          </p:cNvSpPr>
          <p:nvPr>
            <p:ph type="title"/>
          </p:nvPr>
        </p:nvSpPr>
        <p:spPr bwMode="auto">
          <a:xfrm>
            <a:off x="4500563" y="0"/>
            <a:ext cx="46434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Market Manager</a:t>
            </a:r>
            <a:br>
              <a:rPr lang="en-GB" altLang="en-US"/>
            </a:br>
            <a:r>
              <a:rPr lang="en-GB" altLang="en-US"/>
              <a:t>Indexes</a:t>
            </a:r>
          </a:p>
        </p:txBody>
      </p:sp>
      <p:pic>
        <p:nvPicPr>
          <p:cNvPr id="56323" name="Picture 2">
            <a:extLst>
              <a:ext uri="{FF2B5EF4-FFF2-40B4-BE49-F238E27FC236}">
                <a16:creationId xmlns:a16="http://schemas.microsoft.com/office/drawing/2014/main" id="{C91C9245-4189-712B-103A-9FF5CF0E733B}"/>
              </a:ext>
            </a:extLst>
          </p:cNvPr>
          <p:cNvPicPr>
            <a:picLocks noGrp="1" noChangeAspect="1" noChangeArrowheads="1"/>
          </p:cNvPicPr>
          <p:nvPr>
            <p:ph type="chart" sz="half" idx="1"/>
          </p:nvPr>
        </p:nvPicPr>
        <p:blipFill>
          <a:blip r:embed="rId3">
            <a:extLst>
              <a:ext uri="{28A0092B-C50C-407E-A947-70E740481C1C}">
                <a14:useLocalDpi xmlns:a14="http://schemas.microsoft.com/office/drawing/2010/main" val="0"/>
              </a:ext>
            </a:extLst>
          </a:blip>
          <a:srcRect l="14868" t="30647" r="20384" b="12785"/>
          <a:stretch>
            <a:fillRect/>
          </a:stretch>
        </p:blipFill>
        <p:spPr bwMode="auto">
          <a:xfrm>
            <a:off x="714375" y="1428750"/>
            <a:ext cx="7858125" cy="4948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DCB166E-134B-E71E-3447-909BE34BBE8C}"/>
              </a:ext>
            </a:extLst>
          </p:cNvPr>
          <p:cNvSpPr>
            <a:spLocks noGrp="1"/>
          </p:cNvSpPr>
          <p:nvPr>
            <p:ph type="title"/>
          </p:nvPr>
        </p:nvSpPr>
        <p:spPr bwMode="auto">
          <a:xfrm>
            <a:off x="5505450" y="0"/>
            <a:ext cx="363855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GB" altLang="en-US"/>
              <a:t>Index </a:t>
            </a:r>
            <a:br>
              <a:rPr lang="en-GB" altLang="en-US"/>
            </a:br>
            <a:r>
              <a:rPr lang="en-GB" altLang="en-US"/>
              <a:t>Definition</a:t>
            </a:r>
          </a:p>
        </p:txBody>
      </p:sp>
      <p:pic>
        <p:nvPicPr>
          <p:cNvPr id="57347" name="Picture 2">
            <a:extLst>
              <a:ext uri="{FF2B5EF4-FFF2-40B4-BE49-F238E27FC236}">
                <a16:creationId xmlns:a16="http://schemas.microsoft.com/office/drawing/2014/main" id="{B8E917B3-CD0A-82DB-06DA-ED0796784B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648" t="30487" r="9911" b="10568"/>
          <a:stretch>
            <a:fillRect/>
          </a:stretch>
        </p:blipFill>
        <p:spPr bwMode="auto">
          <a:xfrm>
            <a:off x="285750" y="1357313"/>
            <a:ext cx="8429625"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4F77976F-C42C-5324-F14C-38D9E23B5FA5}"/>
              </a:ext>
            </a:extLst>
          </p:cNvPr>
          <p:cNvSpPr>
            <a:spLocks noGrp="1"/>
          </p:cNvSpPr>
          <p:nvPr>
            <p:ph type="title"/>
          </p:nvPr>
        </p:nvSpPr>
        <p:spPr bwMode="auto">
          <a:xfrm>
            <a:off x="5576888" y="0"/>
            <a:ext cx="3567112" cy="137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GB" altLang="en-US" b="1"/>
              <a:t>Index Input </a:t>
            </a:r>
            <a:br>
              <a:rPr lang="en-GB" altLang="en-US" b="1"/>
            </a:br>
            <a:endParaRPr lang="en-GB" altLang="en-US"/>
          </a:p>
        </p:txBody>
      </p:sp>
      <p:pic>
        <p:nvPicPr>
          <p:cNvPr id="58371" name="Picture 2">
            <a:extLst>
              <a:ext uri="{FF2B5EF4-FFF2-40B4-BE49-F238E27FC236}">
                <a16:creationId xmlns:a16="http://schemas.microsoft.com/office/drawing/2014/main" id="{7417AB47-75FC-C6FC-F1A9-FEB01EDE8C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043" t="27438" r="26025" b="51219"/>
          <a:stretch>
            <a:fillRect/>
          </a:stretch>
        </p:blipFill>
        <p:spPr bwMode="auto">
          <a:xfrm>
            <a:off x="2286000" y="1500188"/>
            <a:ext cx="5357813"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TextBox 5">
            <a:extLst>
              <a:ext uri="{FF2B5EF4-FFF2-40B4-BE49-F238E27FC236}">
                <a16:creationId xmlns:a16="http://schemas.microsoft.com/office/drawing/2014/main" id="{8FE49F3F-F1E0-769D-310F-CB6DDBFBC7A2}"/>
              </a:ext>
            </a:extLst>
          </p:cNvPr>
          <p:cNvSpPr txBox="1">
            <a:spLocks noChangeArrowheads="1"/>
          </p:cNvSpPr>
          <p:nvPr/>
        </p:nvSpPr>
        <p:spPr bwMode="auto">
          <a:xfrm>
            <a:off x="7572375" y="1928813"/>
            <a:ext cx="1571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2000"/>
              <a:t>Input/Output types</a:t>
            </a:r>
          </a:p>
        </p:txBody>
      </p:sp>
      <p:sp>
        <p:nvSpPr>
          <p:cNvPr id="58373" name="Rectangle 6">
            <a:extLst>
              <a:ext uri="{FF2B5EF4-FFF2-40B4-BE49-F238E27FC236}">
                <a16:creationId xmlns:a16="http://schemas.microsoft.com/office/drawing/2014/main" id="{7A412660-A5A2-705B-FAB3-470AF1F64D7D}"/>
              </a:ext>
            </a:extLst>
          </p:cNvPr>
          <p:cNvSpPr>
            <a:spLocks noChangeArrowheads="1"/>
          </p:cNvSpPr>
          <p:nvPr/>
        </p:nvSpPr>
        <p:spPr bwMode="auto">
          <a:xfrm>
            <a:off x="428625" y="1071563"/>
            <a:ext cx="8715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2000"/>
              <a:t>Data sets are stored in the Index Input window. Input and output types vary based on the type of curve </a:t>
            </a:r>
          </a:p>
        </p:txBody>
      </p:sp>
      <p:pic>
        <p:nvPicPr>
          <p:cNvPr id="58374" name="Picture 3">
            <a:extLst>
              <a:ext uri="{FF2B5EF4-FFF2-40B4-BE49-F238E27FC236}">
                <a16:creationId xmlns:a16="http://schemas.microsoft.com/office/drawing/2014/main" id="{D877285A-CE35-3426-50CA-EC046A8A42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2928938"/>
            <a:ext cx="8072438"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A8EB6B88-DD39-F0D8-7D28-6D0392DFDB8C}"/>
              </a:ext>
            </a:extLst>
          </p:cNvPr>
          <p:cNvSpPr>
            <a:spLocks noGrp="1"/>
          </p:cNvSpPr>
          <p:nvPr>
            <p:ph type="title"/>
          </p:nvPr>
        </p:nvSpPr>
        <p:spPr bwMode="auto">
          <a:xfrm>
            <a:off x="4643438" y="228600"/>
            <a:ext cx="44243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GB" altLang="en-US" sz="3600"/>
              <a:t>Market Manager</a:t>
            </a:r>
            <a:br>
              <a:rPr lang="en-GB" altLang="en-US" sz="3600"/>
            </a:br>
            <a:r>
              <a:rPr lang="en-GB" altLang="en-US" sz="3600"/>
              <a:t>Viewing and Saving Prices</a:t>
            </a:r>
          </a:p>
        </p:txBody>
      </p:sp>
      <p:pic>
        <p:nvPicPr>
          <p:cNvPr id="59395" name="Picture 2">
            <a:extLst>
              <a:ext uri="{FF2B5EF4-FFF2-40B4-BE49-F238E27FC236}">
                <a16:creationId xmlns:a16="http://schemas.microsoft.com/office/drawing/2014/main" id="{7D768FD2-2D97-EF78-5E1F-C78E0A7444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357313"/>
            <a:ext cx="336232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3">
            <a:extLst>
              <a:ext uri="{FF2B5EF4-FFF2-40B4-BE49-F238E27FC236}">
                <a16:creationId xmlns:a16="http://schemas.microsoft.com/office/drawing/2014/main" id="{A7EB664F-C15A-6CC7-2586-D7C6ABF7DE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25" y="1928813"/>
            <a:ext cx="4370388"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4">
            <a:extLst>
              <a:ext uri="{FF2B5EF4-FFF2-40B4-BE49-F238E27FC236}">
                <a16:creationId xmlns:a16="http://schemas.microsoft.com/office/drawing/2014/main" id="{9798901B-2C51-8D42-732C-A34BDAE9EF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2571750"/>
            <a:ext cx="4214812"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74192E8-673A-521B-2370-2959ED1DD2A1}"/>
              </a:ext>
            </a:extLst>
          </p:cNvPr>
          <p:cNvSpPr>
            <a:spLocks noGrp="1" noChangeArrowheads="1"/>
          </p:cNvSpPr>
          <p:nvPr>
            <p:ph type="title"/>
          </p:nvPr>
        </p:nvSpPr>
        <p:spPr bwMode="auto">
          <a:xfrm>
            <a:off x="762000" y="2133600"/>
            <a:ext cx="7772400" cy="16525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Overview of Endur</a:t>
            </a:r>
            <a:br>
              <a:rPr lang="en-GB" altLang="en-US"/>
            </a:br>
            <a:r>
              <a:rPr lang="en-GB" altLang="en-US"/>
              <a:t> </a:t>
            </a:r>
            <a:br>
              <a:rPr lang="en-GB" altLang="en-US"/>
            </a:br>
            <a:r>
              <a:rPr lang="en-GB" altLang="en-US"/>
              <a:t>Trading Manager</a:t>
            </a:r>
          </a:p>
        </p:txBody>
      </p:sp>
      <p:pic>
        <p:nvPicPr>
          <p:cNvPr id="60419" name="Picture 4" descr="image003">
            <a:extLst>
              <a:ext uri="{FF2B5EF4-FFF2-40B4-BE49-F238E27FC236}">
                <a16:creationId xmlns:a16="http://schemas.microsoft.com/office/drawing/2014/main" id="{9A089C57-0FD9-850A-1444-8C4A83135522}"/>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4143375"/>
            <a:ext cx="1905000" cy="1295400"/>
          </a:xfrm>
          <a:prstGeom prst="rect">
            <a:avLst/>
          </a:prstGeom>
          <a:solidFill>
            <a:srgbClr val="FFFFFF"/>
          </a:solidFill>
          <a:ln w="9525">
            <a:solidFill>
              <a:srgbClr val="000000"/>
            </a:solidFill>
            <a:round/>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2D29B7B-4DBF-5641-818C-28B9EB46F043}"/>
              </a:ext>
            </a:extLst>
          </p:cNvPr>
          <p:cNvSpPr>
            <a:spLocks noGrp="1" noChangeArrowheads="1"/>
          </p:cNvSpPr>
          <p:nvPr>
            <p:ph type="title"/>
          </p:nvPr>
        </p:nvSpPr>
        <p:spPr bwMode="auto">
          <a:xfrm>
            <a:off x="4572000" y="228600"/>
            <a:ext cx="4495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Trading Manager</a:t>
            </a:r>
          </a:p>
        </p:txBody>
      </p:sp>
      <p:sp>
        <p:nvSpPr>
          <p:cNvPr id="31747" name="Rectangle 3">
            <a:extLst>
              <a:ext uri="{FF2B5EF4-FFF2-40B4-BE49-F238E27FC236}">
                <a16:creationId xmlns:a16="http://schemas.microsoft.com/office/drawing/2014/main" id="{505CC432-4DB1-A721-03B7-91172B855599}"/>
              </a:ext>
            </a:extLst>
          </p:cNvPr>
          <p:cNvSpPr>
            <a:spLocks noGrp="1" noChangeArrowheads="1"/>
          </p:cNvSpPr>
          <p:nvPr>
            <p:ph type="body" sz="half" idx="2"/>
          </p:nvPr>
        </p:nvSpPr>
        <p:spPr bwMode="auto">
          <a:xfrm>
            <a:off x="3200400" y="1905000"/>
            <a:ext cx="5257800" cy="2738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2400"/>
              <a:t>Captures deals</a:t>
            </a:r>
          </a:p>
          <a:p>
            <a:pPr eaLnBrk="1" hangingPunct="1"/>
            <a:r>
              <a:rPr lang="en-GB" altLang="en-US" sz="2400"/>
              <a:t>Retrieve &amp; view existing trades</a:t>
            </a:r>
          </a:p>
          <a:p>
            <a:pPr eaLnBrk="1" hangingPunct="1"/>
            <a:r>
              <a:rPr lang="en-GB" altLang="en-US" sz="2400"/>
              <a:t>Run &amp; view reports</a:t>
            </a:r>
          </a:p>
          <a:p>
            <a:pPr eaLnBrk="1" hangingPunct="1"/>
            <a:r>
              <a:rPr lang="en-GB" altLang="en-US" sz="2400"/>
              <a:t>Performs on-the-fly simulations</a:t>
            </a:r>
          </a:p>
          <a:p>
            <a:pPr eaLnBrk="1" hangingPunct="1"/>
            <a:r>
              <a:rPr lang="en-GB" altLang="en-US" sz="2400"/>
              <a:t>Revalue portfolios</a:t>
            </a:r>
          </a:p>
          <a:p>
            <a:pPr eaLnBrk="1" hangingPunct="1"/>
            <a:endParaRPr lang="en-GB" altLang="en-US" sz="2400"/>
          </a:p>
        </p:txBody>
      </p:sp>
      <p:pic>
        <p:nvPicPr>
          <p:cNvPr id="31749" name="Picture 5" descr="image003">
            <a:extLst>
              <a:ext uri="{FF2B5EF4-FFF2-40B4-BE49-F238E27FC236}">
                <a16:creationId xmlns:a16="http://schemas.microsoft.com/office/drawing/2014/main" id="{6119F5F0-133A-41DD-3F83-5C008317416E}"/>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285875"/>
            <a:ext cx="1905000" cy="1295400"/>
          </a:xfrm>
          <a:prstGeom prst="rect">
            <a:avLst/>
          </a:prstGeom>
          <a:solidFill>
            <a:srgbClr val="FFFFFF"/>
          </a:solidFill>
          <a:ln w="9525">
            <a:solidFill>
              <a:srgbClr val="000000"/>
            </a:solidFill>
            <a:round/>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1+#ppt_w/2"/>
                                          </p:val>
                                        </p:tav>
                                        <p:tav tm="100000">
                                          <p:val>
                                            <p:strVal val="#ppt_x"/>
                                          </p:val>
                                        </p:tav>
                                      </p:tavLst>
                                    </p:anim>
                                    <p:anim calcmode="lin" valueType="num">
                                      <p:cBhvr additive="base">
                                        <p:cTn id="8" dur="500" fill="hold"/>
                                        <p:tgtEl>
                                          <p:spTgt spid="31746"/>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1749"/>
                                        </p:tgtEl>
                                        <p:attrNameLst>
                                          <p:attrName>style.visibility</p:attrName>
                                        </p:attrNameLst>
                                      </p:cBhvr>
                                      <p:to>
                                        <p:strVal val="visible"/>
                                      </p:to>
                                    </p:set>
                                    <p:animEffect transition="in" filter="fade">
                                      <p:cBhvr>
                                        <p:cTn id="11" dur="1000"/>
                                        <p:tgtEl>
                                          <p:spTgt spid="31749"/>
                                        </p:tgtEl>
                                      </p:cBhvr>
                                    </p:animEffect>
                                  </p:childTnLst>
                                </p:cTn>
                              </p:par>
                            </p:childTnLst>
                          </p:cTn>
                        </p:par>
                        <p:par>
                          <p:cTn id="12" fill="hold" nodeType="afterGroup">
                            <p:stCondLst>
                              <p:cond delay="1000"/>
                            </p:stCondLst>
                            <p:childTnLst>
                              <p:par>
                                <p:cTn id="13" presetID="53" presetClass="entr" presetSubtype="0" fill="hold" nodeType="afterEffect">
                                  <p:stCondLst>
                                    <p:cond delay="0"/>
                                  </p:stCondLst>
                                  <p:childTnLst>
                                    <p:set>
                                      <p:cBhvr>
                                        <p:cTn id="14" dur="1" fill="hold">
                                          <p:stCondLst>
                                            <p:cond delay="0"/>
                                          </p:stCondLst>
                                        </p:cTn>
                                        <p:tgtEl>
                                          <p:spTgt spid="31747">
                                            <p:txEl>
                                              <p:pRg st="0" end="0"/>
                                            </p:txEl>
                                          </p:spTgt>
                                        </p:tgtEl>
                                        <p:attrNameLst>
                                          <p:attrName>style.visibility</p:attrName>
                                        </p:attrNameLst>
                                      </p:cBhvr>
                                      <p:to>
                                        <p:strVal val="visible"/>
                                      </p:to>
                                    </p:set>
                                    <p:anim calcmode="lin" valueType="num">
                                      <p:cBhvr>
                                        <p:cTn id="15" dur="500" fill="hold"/>
                                        <p:tgtEl>
                                          <p:spTgt spid="31747">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31747">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31747">
                                            <p:txEl>
                                              <p:pRg st="0" end="0"/>
                                            </p:txEl>
                                          </p:spTgt>
                                        </p:tgtEl>
                                      </p:cBhvr>
                                    </p:animEffect>
                                  </p:childTnLst>
                                </p:cTn>
                              </p:par>
                            </p:childTnLst>
                          </p:cTn>
                        </p:par>
                        <p:par>
                          <p:cTn id="18" fill="hold" nodeType="afterGroup">
                            <p:stCondLst>
                              <p:cond delay="1500"/>
                            </p:stCondLst>
                            <p:childTnLst>
                              <p:par>
                                <p:cTn id="19" presetID="53" presetClass="entr" presetSubtype="0" fill="hold" nodeType="afterEffect">
                                  <p:stCondLst>
                                    <p:cond delay="0"/>
                                  </p:stCondLst>
                                  <p:childTnLst>
                                    <p:set>
                                      <p:cBhvr>
                                        <p:cTn id="20" dur="1" fill="hold">
                                          <p:stCondLst>
                                            <p:cond delay="0"/>
                                          </p:stCondLst>
                                        </p:cTn>
                                        <p:tgtEl>
                                          <p:spTgt spid="31747">
                                            <p:txEl>
                                              <p:pRg st="1" end="1"/>
                                            </p:txEl>
                                          </p:spTgt>
                                        </p:tgtEl>
                                        <p:attrNameLst>
                                          <p:attrName>style.visibility</p:attrName>
                                        </p:attrNameLst>
                                      </p:cBhvr>
                                      <p:to>
                                        <p:strVal val="visible"/>
                                      </p:to>
                                    </p:set>
                                    <p:anim calcmode="lin" valueType="num">
                                      <p:cBhvr>
                                        <p:cTn id="21" dur="500" fill="hold"/>
                                        <p:tgtEl>
                                          <p:spTgt spid="31747">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1747">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1747">
                                            <p:txEl>
                                              <p:pRg st="1" end="1"/>
                                            </p:txEl>
                                          </p:spTgt>
                                        </p:tgtEl>
                                      </p:cBhvr>
                                    </p:animEffect>
                                  </p:childTnLst>
                                </p:cTn>
                              </p:par>
                            </p:childTnLst>
                          </p:cTn>
                        </p:par>
                        <p:par>
                          <p:cTn id="24" fill="hold" nodeType="afterGroup">
                            <p:stCondLst>
                              <p:cond delay="2000"/>
                            </p:stCondLst>
                            <p:childTnLst>
                              <p:par>
                                <p:cTn id="25" presetID="53" presetClass="entr" presetSubtype="0" fill="hold" nodeType="afterEffect">
                                  <p:stCondLst>
                                    <p:cond delay="0"/>
                                  </p:stCondLst>
                                  <p:childTnLst>
                                    <p:set>
                                      <p:cBhvr>
                                        <p:cTn id="26" dur="1" fill="hold">
                                          <p:stCondLst>
                                            <p:cond delay="0"/>
                                          </p:stCondLst>
                                        </p:cTn>
                                        <p:tgtEl>
                                          <p:spTgt spid="31747">
                                            <p:txEl>
                                              <p:pRg st="2" end="2"/>
                                            </p:txEl>
                                          </p:spTgt>
                                        </p:tgtEl>
                                        <p:attrNameLst>
                                          <p:attrName>style.visibility</p:attrName>
                                        </p:attrNameLst>
                                      </p:cBhvr>
                                      <p:to>
                                        <p:strVal val="visible"/>
                                      </p:to>
                                    </p:set>
                                    <p:anim calcmode="lin" valueType="num">
                                      <p:cBhvr>
                                        <p:cTn id="27" dur="500" fill="hold"/>
                                        <p:tgtEl>
                                          <p:spTgt spid="31747">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31747">
                                            <p:txEl>
                                              <p:pRg st="2" end="2"/>
                                            </p:txEl>
                                          </p:spTgt>
                                        </p:tgtEl>
                                        <p:attrNameLst>
                                          <p:attrName>ppt_h</p:attrName>
                                        </p:attrNameLst>
                                      </p:cBhvr>
                                      <p:tavLst>
                                        <p:tav tm="0">
                                          <p:val>
                                            <p:fltVal val="0"/>
                                          </p:val>
                                        </p:tav>
                                        <p:tav tm="100000">
                                          <p:val>
                                            <p:strVal val="#ppt_h"/>
                                          </p:val>
                                        </p:tav>
                                      </p:tavLst>
                                    </p:anim>
                                    <p:animEffect transition="in" filter="fade">
                                      <p:cBhvr>
                                        <p:cTn id="29" dur="500"/>
                                        <p:tgtEl>
                                          <p:spTgt spid="31747">
                                            <p:txEl>
                                              <p:pRg st="2" end="2"/>
                                            </p:txEl>
                                          </p:spTgt>
                                        </p:tgtEl>
                                      </p:cBhvr>
                                    </p:animEffect>
                                  </p:childTnLst>
                                </p:cTn>
                              </p:par>
                            </p:childTnLst>
                          </p:cTn>
                        </p:par>
                        <p:par>
                          <p:cTn id="30" fill="hold" nodeType="afterGroup">
                            <p:stCondLst>
                              <p:cond delay="2500"/>
                            </p:stCondLst>
                            <p:childTnLst>
                              <p:par>
                                <p:cTn id="31" presetID="53" presetClass="entr" presetSubtype="0" fill="hold" nodeType="afterEffect">
                                  <p:stCondLst>
                                    <p:cond delay="0"/>
                                  </p:stCondLst>
                                  <p:childTnLst>
                                    <p:set>
                                      <p:cBhvr>
                                        <p:cTn id="32" dur="1" fill="hold">
                                          <p:stCondLst>
                                            <p:cond delay="0"/>
                                          </p:stCondLst>
                                        </p:cTn>
                                        <p:tgtEl>
                                          <p:spTgt spid="31747">
                                            <p:txEl>
                                              <p:pRg st="3" end="3"/>
                                            </p:txEl>
                                          </p:spTgt>
                                        </p:tgtEl>
                                        <p:attrNameLst>
                                          <p:attrName>style.visibility</p:attrName>
                                        </p:attrNameLst>
                                      </p:cBhvr>
                                      <p:to>
                                        <p:strVal val="visible"/>
                                      </p:to>
                                    </p:set>
                                    <p:anim calcmode="lin" valueType="num">
                                      <p:cBhvr>
                                        <p:cTn id="33" dur="500" fill="hold"/>
                                        <p:tgtEl>
                                          <p:spTgt spid="3174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31747">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31747">
                                            <p:txEl>
                                              <p:pRg st="3" end="3"/>
                                            </p:txEl>
                                          </p:spTgt>
                                        </p:tgtEl>
                                      </p:cBhvr>
                                    </p:animEffect>
                                  </p:childTnLst>
                                </p:cTn>
                              </p:par>
                            </p:childTnLst>
                          </p:cTn>
                        </p:par>
                        <p:par>
                          <p:cTn id="36" fill="hold" nodeType="afterGroup">
                            <p:stCondLst>
                              <p:cond delay="3000"/>
                            </p:stCondLst>
                            <p:childTnLst>
                              <p:par>
                                <p:cTn id="37" presetID="53" presetClass="entr" presetSubtype="0" fill="hold" nodeType="afterEffect">
                                  <p:stCondLst>
                                    <p:cond delay="0"/>
                                  </p:stCondLst>
                                  <p:childTnLst>
                                    <p:set>
                                      <p:cBhvr>
                                        <p:cTn id="38" dur="1" fill="hold">
                                          <p:stCondLst>
                                            <p:cond delay="0"/>
                                          </p:stCondLst>
                                        </p:cTn>
                                        <p:tgtEl>
                                          <p:spTgt spid="31747">
                                            <p:txEl>
                                              <p:pRg st="4" end="4"/>
                                            </p:txEl>
                                          </p:spTgt>
                                        </p:tgtEl>
                                        <p:attrNameLst>
                                          <p:attrName>style.visibility</p:attrName>
                                        </p:attrNameLst>
                                      </p:cBhvr>
                                      <p:to>
                                        <p:strVal val="visible"/>
                                      </p:to>
                                    </p:set>
                                    <p:anim calcmode="lin" valueType="num">
                                      <p:cBhvr>
                                        <p:cTn id="39" dur="500" fill="hold"/>
                                        <p:tgtEl>
                                          <p:spTgt spid="31747">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31747">
                                            <p:txEl>
                                              <p:pRg st="4" end="4"/>
                                            </p:txEl>
                                          </p:spTgt>
                                        </p:tgtEl>
                                        <p:attrNameLst>
                                          <p:attrName>ppt_h</p:attrName>
                                        </p:attrNameLst>
                                      </p:cBhvr>
                                      <p:tavLst>
                                        <p:tav tm="0">
                                          <p:val>
                                            <p:fltVal val="0"/>
                                          </p:val>
                                        </p:tav>
                                        <p:tav tm="100000">
                                          <p:val>
                                            <p:strVal val="#ppt_h"/>
                                          </p:val>
                                        </p:tav>
                                      </p:tavLst>
                                    </p:anim>
                                    <p:animEffect transition="in" filter="fade">
                                      <p:cBhvr>
                                        <p:cTn id="41"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7"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9F9D747F-DF80-DCD2-C37B-4BE0F1FB2EFC}"/>
              </a:ext>
            </a:extLst>
          </p:cNvPr>
          <p:cNvSpPr>
            <a:spLocks noGrp="1"/>
          </p:cNvSpPr>
          <p:nvPr>
            <p:ph type="title"/>
          </p:nvPr>
        </p:nvSpPr>
        <p:spPr bwMode="auto">
          <a:xfrm>
            <a:off x="4576763" y="0"/>
            <a:ext cx="45672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3600" b="1"/>
              <a:t>Trading Manager Browser </a:t>
            </a:r>
            <a:br>
              <a:rPr lang="en-GB" altLang="en-US" sz="3600" b="1"/>
            </a:br>
            <a:endParaRPr lang="en-GB" altLang="en-US" sz="3600"/>
          </a:p>
        </p:txBody>
      </p:sp>
      <p:pic>
        <p:nvPicPr>
          <p:cNvPr id="62467" name="Picture 2">
            <a:extLst>
              <a:ext uri="{FF2B5EF4-FFF2-40B4-BE49-F238E27FC236}">
                <a16:creationId xmlns:a16="http://schemas.microsoft.com/office/drawing/2014/main" id="{A545372B-FD83-1C00-7915-2F6EB44C5B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451" t="27588" r="6250" b="7016"/>
          <a:stretch>
            <a:fillRect/>
          </a:stretch>
        </p:blipFill>
        <p:spPr bwMode="auto">
          <a:xfrm>
            <a:off x="571500" y="1143000"/>
            <a:ext cx="7929563"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0F963DE6-F150-0A79-CFFC-C57CC0F6DD1E}"/>
              </a:ext>
            </a:extLst>
          </p:cNvPr>
          <p:cNvSpPr>
            <a:spLocks noGrp="1" noChangeArrowheads="1"/>
          </p:cNvSpPr>
          <p:nvPr>
            <p:ph type="title"/>
          </p:nvPr>
        </p:nvSpPr>
        <p:spPr bwMode="auto">
          <a:xfrm>
            <a:off x="3500438" y="411163"/>
            <a:ext cx="51863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Trade Numbering</a:t>
            </a:r>
          </a:p>
        </p:txBody>
      </p:sp>
      <p:grpSp>
        <p:nvGrpSpPr>
          <p:cNvPr id="2" name="Group 15">
            <a:extLst>
              <a:ext uri="{FF2B5EF4-FFF2-40B4-BE49-F238E27FC236}">
                <a16:creationId xmlns:a16="http://schemas.microsoft.com/office/drawing/2014/main" id="{629EF01B-F369-F847-CCF1-4E34E48F74D9}"/>
              </a:ext>
            </a:extLst>
          </p:cNvPr>
          <p:cNvGrpSpPr>
            <a:grpSpLocks/>
          </p:cNvGrpSpPr>
          <p:nvPr/>
        </p:nvGrpSpPr>
        <p:grpSpPr bwMode="auto">
          <a:xfrm>
            <a:off x="914400" y="1828800"/>
            <a:ext cx="7696200" cy="3581400"/>
            <a:chOff x="576" y="1152"/>
            <a:chExt cx="4848" cy="2256"/>
          </a:xfrm>
        </p:grpSpPr>
        <p:sp>
          <p:nvSpPr>
            <p:cNvPr id="63493" name="Text Box 4">
              <a:extLst>
                <a:ext uri="{FF2B5EF4-FFF2-40B4-BE49-F238E27FC236}">
                  <a16:creationId xmlns:a16="http://schemas.microsoft.com/office/drawing/2014/main" id="{6768248D-8F9B-DDD9-B363-04233F5A3307}"/>
                </a:ext>
              </a:extLst>
            </p:cNvPr>
            <p:cNvSpPr txBox="1">
              <a:spLocks noChangeArrowheads="1"/>
            </p:cNvSpPr>
            <p:nvPr/>
          </p:nvSpPr>
          <p:spPr bwMode="auto">
            <a:xfrm>
              <a:off x="2352" y="1152"/>
              <a:ext cx="1488" cy="52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anchor="ctr" anchorCtr="1"/>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b="1">
                  <a:solidFill>
                    <a:srgbClr val="333399"/>
                  </a:solidFill>
                  <a:latin typeface="Arial" panose="020B0604020202020204" pitchFamily="34" charset="0"/>
                </a:rPr>
                <a:t>Toolsets</a:t>
              </a:r>
            </a:p>
          </p:txBody>
        </p:sp>
        <p:sp>
          <p:nvSpPr>
            <p:cNvPr id="63494" name="Text Box 5">
              <a:extLst>
                <a:ext uri="{FF2B5EF4-FFF2-40B4-BE49-F238E27FC236}">
                  <a16:creationId xmlns:a16="http://schemas.microsoft.com/office/drawing/2014/main" id="{D39E8661-764C-7828-90B9-962A898DE97A}"/>
                </a:ext>
              </a:extLst>
            </p:cNvPr>
            <p:cNvSpPr txBox="1">
              <a:spLocks noChangeArrowheads="1"/>
            </p:cNvSpPr>
            <p:nvPr/>
          </p:nvSpPr>
          <p:spPr bwMode="auto">
            <a:xfrm>
              <a:off x="2352" y="2016"/>
              <a:ext cx="1488" cy="52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anchor="ctr" anchorCtr="1"/>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b="1">
                  <a:solidFill>
                    <a:srgbClr val="333399"/>
                  </a:solidFill>
                  <a:latin typeface="Arial" panose="020B0604020202020204" pitchFamily="34" charset="0"/>
                </a:rPr>
                <a:t>Instruments</a:t>
              </a:r>
            </a:p>
          </p:txBody>
        </p:sp>
        <p:sp>
          <p:nvSpPr>
            <p:cNvPr id="63495" name="Text Box 6">
              <a:extLst>
                <a:ext uri="{FF2B5EF4-FFF2-40B4-BE49-F238E27FC236}">
                  <a16:creationId xmlns:a16="http://schemas.microsoft.com/office/drawing/2014/main" id="{59A96AA8-CA71-E7A6-76A7-F2B4AFB103B4}"/>
                </a:ext>
              </a:extLst>
            </p:cNvPr>
            <p:cNvSpPr txBox="1">
              <a:spLocks noChangeArrowheads="1"/>
            </p:cNvSpPr>
            <p:nvPr/>
          </p:nvSpPr>
          <p:spPr bwMode="auto">
            <a:xfrm>
              <a:off x="2352" y="2880"/>
              <a:ext cx="1488" cy="52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anchor="ctr" anchorCtr="1"/>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b="1">
                  <a:solidFill>
                    <a:srgbClr val="333399"/>
                  </a:solidFill>
                  <a:latin typeface="Arial" panose="020B0604020202020204" pitchFamily="34" charset="0"/>
                </a:rPr>
                <a:t>Transactions</a:t>
              </a:r>
            </a:p>
          </p:txBody>
        </p:sp>
        <p:sp>
          <p:nvSpPr>
            <p:cNvPr id="63496" name="Line 7">
              <a:extLst>
                <a:ext uri="{FF2B5EF4-FFF2-40B4-BE49-F238E27FC236}">
                  <a16:creationId xmlns:a16="http://schemas.microsoft.com/office/drawing/2014/main" id="{FABBD6FF-5A3E-3102-220F-D8C561AA4F97}"/>
                </a:ext>
              </a:extLst>
            </p:cNvPr>
            <p:cNvSpPr>
              <a:spLocks noChangeShapeType="1"/>
            </p:cNvSpPr>
            <p:nvPr/>
          </p:nvSpPr>
          <p:spPr bwMode="auto">
            <a:xfrm>
              <a:off x="3072" y="1680"/>
              <a:ext cx="0" cy="336"/>
            </a:xfrm>
            <a:prstGeom prst="line">
              <a:avLst/>
            </a:prstGeom>
            <a:noFill/>
            <a:ln w="7620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497" name="Line 8">
              <a:extLst>
                <a:ext uri="{FF2B5EF4-FFF2-40B4-BE49-F238E27FC236}">
                  <a16:creationId xmlns:a16="http://schemas.microsoft.com/office/drawing/2014/main" id="{51EAFD46-B58E-785B-A40F-F2382433A323}"/>
                </a:ext>
              </a:extLst>
            </p:cNvPr>
            <p:cNvSpPr>
              <a:spLocks noChangeShapeType="1"/>
            </p:cNvSpPr>
            <p:nvPr/>
          </p:nvSpPr>
          <p:spPr bwMode="auto">
            <a:xfrm>
              <a:off x="3072" y="2544"/>
              <a:ext cx="0" cy="336"/>
            </a:xfrm>
            <a:prstGeom prst="line">
              <a:avLst/>
            </a:prstGeom>
            <a:noFill/>
            <a:ln w="7620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498" name="Text Box 9">
              <a:extLst>
                <a:ext uri="{FF2B5EF4-FFF2-40B4-BE49-F238E27FC236}">
                  <a16:creationId xmlns:a16="http://schemas.microsoft.com/office/drawing/2014/main" id="{43D3F0AA-3AEA-3FB5-F339-4D63D7060D47}"/>
                </a:ext>
              </a:extLst>
            </p:cNvPr>
            <p:cNvSpPr txBox="1">
              <a:spLocks noChangeArrowheads="1"/>
            </p:cNvSpPr>
            <p:nvPr/>
          </p:nvSpPr>
          <p:spPr bwMode="auto">
            <a:xfrm>
              <a:off x="576" y="2064"/>
              <a:ext cx="1152" cy="410"/>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800">
                  <a:latin typeface="Arial" panose="020B0604020202020204" pitchFamily="34" charset="0"/>
                </a:rPr>
                <a:t>Instrument Number</a:t>
              </a:r>
            </a:p>
          </p:txBody>
        </p:sp>
        <p:sp>
          <p:nvSpPr>
            <p:cNvPr id="63499" name="Line 10">
              <a:extLst>
                <a:ext uri="{FF2B5EF4-FFF2-40B4-BE49-F238E27FC236}">
                  <a16:creationId xmlns:a16="http://schemas.microsoft.com/office/drawing/2014/main" id="{A6C10822-0847-815C-62D5-2193249D82CE}"/>
                </a:ext>
              </a:extLst>
            </p:cNvPr>
            <p:cNvSpPr>
              <a:spLocks noChangeShapeType="1"/>
            </p:cNvSpPr>
            <p:nvPr/>
          </p:nvSpPr>
          <p:spPr bwMode="auto">
            <a:xfrm>
              <a:off x="1728" y="2256"/>
              <a:ext cx="62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3500" name="Text Box 11">
              <a:extLst>
                <a:ext uri="{FF2B5EF4-FFF2-40B4-BE49-F238E27FC236}">
                  <a16:creationId xmlns:a16="http://schemas.microsoft.com/office/drawing/2014/main" id="{6E85B3C5-2E68-0BE7-67E3-472FCF149C1B}"/>
                </a:ext>
              </a:extLst>
            </p:cNvPr>
            <p:cNvSpPr txBox="1">
              <a:spLocks noChangeArrowheads="1"/>
            </p:cNvSpPr>
            <p:nvPr/>
          </p:nvSpPr>
          <p:spPr bwMode="auto">
            <a:xfrm>
              <a:off x="4272" y="2880"/>
              <a:ext cx="1152" cy="410"/>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800">
                  <a:latin typeface="Arial" panose="020B0604020202020204" pitchFamily="34" charset="0"/>
                </a:rPr>
                <a:t>Transaction Number</a:t>
              </a:r>
            </a:p>
          </p:txBody>
        </p:sp>
        <p:sp>
          <p:nvSpPr>
            <p:cNvPr id="63501" name="Text Box 12">
              <a:extLst>
                <a:ext uri="{FF2B5EF4-FFF2-40B4-BE49-F238E27FC236}">
                  <a16:creationId xmlns:a16="http://schemas.microsoft.com/office/drawing/2014/main" id="{85709612-B064-4B68-7475-5DE9B574DF02}"/>
                </a:ext>
              </a:extLst>
            </p:cNvPr>
            <p:cNvSpPr txBox="1">
              <a:spLocks noChangeArrowheads="1"/>
            </p:cNvSpPr>
            <p:nvPr/>
          </p:nvSpPr>
          <p:spPr bwMode="auto">
            <a:xfrm>
              <a:off x="624" y="2979"/>
              <a:ext cx="1152" cy="237"/>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sz="1800">
                  <a:latin typeface="Arial" panose="020B0604020202020204" pitchFamily="34" charset="0"/>
                </a:rPr>
                <a:t>Deal Number</a:t>
              </a:r>
            </a:p>
          </p:txBody>
        </p:sp>
        <p:sp>
          <p:nvSpPr>
            <p:cNvPr id="63502" name="Line 13">
              <a:extLst>
                <a:ext uri="{FF2B5EF4-FFF2-40B4-BE49-F238E27FC236}">
                  <a16:creationId xmlns:a16="http://schemas.microsoft.com/office/drawing/2014/main" id="{98C440B9-3442-48AC-2D58-25D0C0BEB914}"/>
                </a:ext>
              </a:extLst>
            </p:cNvPr>
            <p:cNvSpPr>
              <a:spLocks noChangeShapeType="1"/>
            </p:cNvSpPr>
            <p:nvPr/>
          </p:nvSpPr>
          <p:spPr bwMode="auto">
            <a:xfrm>
              <a:off x="1776" y="3120"/>
              <a:ext cx="57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3503" name="Line 14">
              <a:extLst>
                <a:ext uri="{FF2B5EF4-FFF2-40B4-BE49-F238E27FC236}">
                  <a16:creationId xmlns:a16="http://schemas.microsoft.com/office/drawing/2014/main" id="{0A39C047-07C7-2C76-6FDA-D5BB2BC5FC6C}"/>
                </a:ext>
              </a:extLst>
            </p:cNvPr>
            <p:cNvSpPr>
              <a:spLocks noChangeShapeType="1"/>
            </p:cNvSpPr>
            <p:nvPr/>
          </p:nvSpPr>
          <p:spPr bwMode="auto">
            <a:xfrm>
              <a:off x="3840" y="3120"/>
              <a:ext cx="43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3492" name="Rectangle 14">
            <a:extLst>
              <a:ext uri="{FF2B5EF4-FFF2-40B4-BE49-F238E27FC236}">
                <a16:creationId xmlns:a16="http://schemas.microsoft.com/office/drawing/2014/main" id="{6E1E64D7-3BFA-A5D9-5E36-18A12D22E298}"/>
              </a:ext>
            </a:extLst>
          </p:cNvPr>
          <p:cNvSpPr>
            <a:spLocks noChangeArrowheads="1"/>
          </p:cNvSpPr>
          <p:nvPr/>
        </p:nvSpPr>
        <p:spPr bwMode="auto">
          <a:xfrm>
            <a:off x="285750" y="1143000"/>
            <a:ext cx="32146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a:t>Each trade has specific identification numbers and dates assigned to it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188418"/>
                                        </p:tgtEl>
                                        <p:attrNameLst>
                                          <p:attrName>style.visibility</p:attrName>
                                        </p:attrNameLst>
                                      </p:cBhvr>
                                      <p:to>
                                        <p:strVal val="visible"/>
                                      </p:to>
                                    </p:set>
                                    <p:anim calcmode="lin" valueType="num">
                                      <p:cBhvr>
                                        <p:cTn id="7" dur="500" fill="hold"/>
                                        <p:tgtEl>
                                          <p:spTgt spid="188418"/>
                                        </p:tgtEl>
                                        <p:attrNameLst>
                                          <p:attrName>ppt_w</p:attrName>
                                        </p:attrNameLst>
                                      </p:cBhvr>
                                      <p:tavLst>
                                        <p:tav tm="0">
                                          <p:val>
                                            <p:fltVal val="0"/>
                                          </p:val>
                                        </p:tav>
                                        <p:tav tm="100000">
                                          <p:val>
                                            <p:strVal val="#ppt_w"/>
                                          </p:val>
                                        </p:tav>
                                      </p:tavLst>
                                    </p:anim>
                                    <p:anim calcmode="lin" valueType="num">
                                      <p:cBhvr>
                                        <p:cTn id="8" dur="500" fill="hold"/>
                                        <p:tgtEl>
                                          <p:spTgt spid="188418"/>
                                        </p:tgtEl>
                                        <p:attrNameLst>
                                          <p:attrName>ppt_h</p:attrName>
                                        </p:attrNameLst>
                                      </p:cBhvr>
                                      <p:tavLst>
                                        <p:tav tm="0">
                                          <p:val>
                                            <p:fltVal val="0"/>
                                          </p:val>
                                        </p:tav>
                                        <p:tav tm="100000">
                                          <p:val>
                                            <p:strVal val="#ppt_h"/>
                                          </p:val>
                                        </p:tav>
                                      </p:tavLst>
                                    </p:anim>
                                    <p:animEffect transition="in" filter="fade">
                                      <p:cBhvr>
                                        <p:cTn id="9" dur="500"/>
                                        <p:tgtEl>
                                          <p:spTgt spid="188418"/>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A26E0E52-08AE-192F-178F-769563D6AF56}"/>
              </a:ext>
            </a:extLst>
          </p:cNvPr>
          <p:cNvSpPr>
            <a:spLocks noGrp="1" noChangeArrowheads="1"/>
          </p:cNvSpPr>
          <p:nvPr>
            <p:ph type="title"/>
          </p:nvPr>
        </p:nvSpPr>
        <p:spPr bwMode="auto">
          <a:xfrm>
            <a:off x="3500438" y="411163"/>
            <a:ext cx="51863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Trade Dates</a:t>
            </a:r>
          </a:p>
        </p:txBody>
      </p:sp>
      <p:grpSp>
        <p:nvGrpSpPr>
          <p:cNvPr id="2" name="Group 15">
            <a:extLst>
              <a:ext uri="{FF2B5EF4-FFF2-40B4-BE49-F238E27FC236}">
                <a16:creationId xmlns:a16="http://schemas.microsoft.com/office/drawing/2014/main" id="{BAFE1507-860F-32F0-16B9-A6735DB0309F}"/>
              </a:ext>
            </a:extLst>
          </p:cNvPr>
          <p:cNvGrpSpPr>
            <a:grpSpLocks/>
          </p:cNvGrpSpPr>
          <p:nvPr/>
        </p:nvGrpSpPr>
        <p:grpSpPr bwMode="auto">
          <a:xfrm>
            <a:off x="3714750" y="1785938"/>
            <a:ext cx="2362200" cy="3581400"/>
            <a:chOff x="2352" y="1152"/>
            <a:chExt cx="1488" cy="2256"/>
          </a:xfrm>
        </p:grpSpPr>
        <p:sp>
          <p:nvSpPr>
            <p:cNvPr id="64516" name="Text Box 4">
              <a:extLst>
                <a:ext uri="{FF2B5EF4-FFF2-40B4-BE49-F238E27FC236}">
                  <a16:creationId xmlns:a16="http://schemas.microsoft.com/office/drawing/2014/main" id="{46FF80D0-78B2-06B4-BF43-DBEF82DB4952}"/>
                </a:ext>
              </a:extLst>
            </p:cNvPr>
            <p:cNvSpPr txBox="1">
              <a:spLocks noChangeArrowheads="1"/>
            </p:cNvSpPr>
            <p:nvPr/>
          </p:nvSpPr>
          <p:spPr bwMode="auto">
            <a:xfrm>
              <a:off x="2352" y="1152"/>
              <a:ext cx="1488" cy="52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anchor="ctr" anchorCtr="1"/>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b="1">
                  <a:solidFill>
                    <a:srgbClr val="333399"/>
                  </a:solidFill>
                  <a:latin typeface="Arial" panose="020B0604020202020204" pitchFamily="34" charset="0"/>
                </a:rPr>
                <a:t>Input Date</a:t>
              </a:r>
            </a:p>
          </p:txBody>
        </p:sp>
        <p:sp>
          <p:nvSpPr>
            <p:cNvPr id="64517" name="Text Box 5">
              <a:extLst>
                <a:ext uri="{FF2B5EF4-FFF2-40B4-BE49-F238E27FC236}">
                  <a16:creationId xmlns:a16="http://schemas.microsoft.com/office/drawing/2014/main" id="{BF352B3F-67DE-CA67-695C-E15002E5F603}"/>
                </a:ext>
              </a:extLst>
            </p:cNvPr>
            <p:cNvSpPr txBox="1">
              <a:spLocks noChangeArrowheads="1"/>
            </p:cNvSpPr>
            <p:nvPr/>
          </p:nvSpPr>
          <p:spPr bwMode="auto">
            <a:xfrm>
              <a:off x="2352" y="2016"/>
              <a:ext cx="1488" cy="52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anchor="ctr" anchorCtr="1"/>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b="1">
                  <a:solidFill>
                    <a:srgbClr val="333399"/>
                  </a:solidFill>
                  <a:latin typeface="Arial" panose="020B0604020202020204" pitchFamily="34" charset="0"/>
                </a:rPr>
                <a:t>Deal</a:t>
              </a:r>
            </a:p>
          </p:txBody>
        </p:sp>
        <p:sp>
          <p:nvSpPr>
            <p:cNvPr id="64518" name="Text Box 6">
              <a:extLst>
                <a:ext uri="{FF2B5EF4-FFF2-40B4-BE49-F238E27FC236}">
                  <a16:creationId xmlns:a16="http://schemas.microsoft.com/office/drawing/2014/main" id="{AA74BC56-013D-76B1-5C66-6CB37256C759}"/>
                </a:ext>
              </a:extLst>
            </p:cNvPr>
            <p:cNvSpPr txBox="1">
              <a:spLocks noChangeArrowheads="1"/>
            </p:cNvSpPr>
            <p:nvPr/>
          </p:nvSpPr>
          <p:spPr bwMode="auto">
            <a:xfrm>
              <a:off x="2352" y="2880"/>
              <a:ext cx="1488" cy="52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anchor="ctr" anchorCtr="1"/>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GB" altLang="en-US" b="1">
                  <a:solidFill>
                    <a:srgbClr val="333399"/>
                  </a:solidFill>
                  <a:latin typeface="Arial" panose="020B0604020202020204" pitchFamily="34" charset="0"/>
                </a:rPr>
                <a:t>Trade Date</a:t>
              </a:r>
            </a:p>
          </p:txBody>
        </p:sp>
        <p:sp>
          <p:nvSpPr>
            <p:cNvPr id="64519" name="Line 7">
              <a:extLst>
                <a:ext uri="{FF2B5EF4-FFF2-40B4-BE49-F238E27FC236}">
                  <a16:creationId xmlns:a16="http://schemas.microsoft.com/office/drawing/2014/main" id="{909CEBA1-0713-2981-7656-C8B9B0812DCA}"/>
                </a:ext>
              </a:extLst>
            </p:cNvPr>
            <p:cNvSpPr>
              <a:spLocks noChangeShapeType="1"/>
            </p:cNvSpPr>
            <p:nvPr/>
          </p:nvSpPr>
          <p:spPr bwMode="auto">
            <a:xfrm>
              <a:off x="3072" y="1680"/>
              <a:ext cx="0" cy="336"/>
            </a:xfrm>
            <a:prstGeom prst="line">
              <a:avLst/>
            </a:prstGeom>
            <a:noFill/>
            <a:ln w="7620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520" name="Line 8">
              <a:extLst>
                <a:ext uri="{FF2B5EF4-FFF2-40B4-BE49-F238E27FC236}">
                  <a16:creationId xmlns:a16="http://schemas.microsoft.com/office/drawing/2014/main" id="{739F4826-9F11-2780-4C41-B8AEB5B35FAB}"/>
                </a:ext>
              </a:extLst>
            </p:cNvPr>
            <p:cNvSpPr>
              <a:spLocks noChangeShapeType="1"/>
            </p:cNvSpPr>
            <p:nvPr/>
          </p:nvSpPr>
          <p:spPr bwMode="auto">
            <a:xfrm flipV="1">
              <a:off x="3072" y="2547"/>
              <a:ext cx="29" cy="312"/>
            </a:xfrm>
            <a:prstGeom prst="line">
              <a:avLst/>
            </a:prstGeom>
            <a:noFill/>
            <a:ln w="7620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188418"/>
                                        </p:tgtEl>
                                        <p:attrNameLst>
                                          <p:attrName>style.visibility</p:attrName>
                                        </p:attrNameLst>
                                      </p:cBhvr>
                                      <p:to>
                                        <p:strVal val="visible"/>
                                      </p:to>
                                    </p:set>
                                    <p:anim calcmode="lin" valueType="num">
                                      <p:cBhvr>
                                        <p:cTn id="7" dur="500" fill="hold"/>
                                        <p:tgtEl>
                                          <p:spTgt spid="188418"/>
                                        </p:tgtEl>
                                        <p:attrNameLst>
                                          <p:attrName>ppt_w</p:attrName>
                                        </p:attrNameLst>
                                      </p:cBhvr>
                                      <p:tavLst>
                                        <p:tav tm="0">
                                          <p:val>
                                            <p:fltVal val="0"/>
                                          </p:val>
                                        </p:tav>
                                        <p:tav tm="100000">
                                          <p:val>
                                            <p:strVal val="#ppt_w"/>
                                          </p:val>
                                        </p:tav>
                                      </p:tavLst>
                                    </p:anim>
                                    <p:anim calcmode="lin" valueType="num">
                                      <p:cBhvr>
                                        <p:cTn id="8" dur="500" fill="hold"/>
                                        <p:tgtEl>
                                          <p:spTgt spid="188418"/>
                                        </p:tgtEl>
                                        <p:attrNameLst>
                                          <p:attrName>ppt_h</p:attrName>
                                        </p:attrNameLst>
                                      </p:cBhvr>
                                      <p:tavLst>
                                        <p:tav tm="0">
                                          <p:val>
                                            <p:fltVal val="0"/>
                                          </p:val>
                                        </p:tav>
                                        <p:tav tm="100000">
                                          <p:val>
                                            <p:strVal val="#ppt_h"/>
                                          </p:val>
                                        </p:tav>
                                      </p:tavLst>
                                    </p:anim>
                                    <p:animEffect transition="in" filter="fade">
                                      <p:cBhvr>
                                        <p:cTn id="9" dur="500"/>
                                        <p:tgtEl>
                                          <p:spTgt spid="188418"/>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2BC73BF-FE11-DC3D-6C81-45B7BB72F472}"/>
              </a:ext>
            </a:extLst>
          </p:cNvPr>
          <p:cNvSpPr>
            <a:spLocks noGrp="1" noChangeArrowheads="1"/>
          </p:cNvSpPr>
          <p:nvPr>
            <p:ph type="title"/>
          </p:nvPr>
        </p:nvSpPr>
        <p:spPr bwMode="auto">
          <a:xfrm>
            <a:off x="3714750" y="411163"/>
            <a:ext cx="497205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Trading Platform</a:t>
            </a:r>
          </a:p>
        </p:txBody>
      </p:sp>
      <p:sp>
        <p:nvSpPr>
          <p:cNvPr id="65539" name="Rectangle 3">
            <a:extLst>
              <a:ext uri="{FF2B5EF4-FFF2-40B4-BE49-F238E27FC236}">
                <a16:creationId xmlns:a16="http://schemas.microsoft.com/office/drawing/2014/main" id="{186AF3D9-1A3B-42B1-57E9-F660B934ABB3}"/>
              </a:ext>
            </a:extLst>
          </p:cNvPr>
          <p:cNvSpPr>
            <a:spLocks noGrp="1" noChangeArrowheads="1"/>
          </p:cNvSpPr>
          <p:nvPr>
            <p:ph idx="1"/>
          </p:nvPr>
        </p:nvSpPr>
        <p:spPr bwMode="auto">
          <a:xfrm>
            <a:off x="642938" y="17145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Browser window</a:t>
            </a:r>
          </a:p>
          <a:p>
            <a:pPr eaLnBrk="1" hangingPunct="1"/>
            <a:r>
              <a:rPr lang="en-GB" altLang="en-US"/>
              <a:t>Trading query</a:t>
            </a:r>
          </a:p>
          <a:p>
            <a:pPr eaLnBrk="1" hangingPunct="1"/>
            <a:r>
              <a:rPr lang="en-GB" altLang="en-US"/>
              <a:t>Customisable browser</a:t>
            </a:r>
          </a:p>
          <a:p>
            <a:pPr eaLnBrk="1" hangingPunct="1"/>
            <a:r>
              <a:rPr lang="en-GB" altLang="en-US"/>
              <a:t>Trade key concepts:</a:t>
            </a:r>
          </a:p>
        </p:txBody>
      </p:sp>
      <p:sp>
        <p:nvSpPr>
          <p:cNvPr id="65540" name="Rectangle 4">
            <a:extLst>
              <a:ext uri="{FF2B5EF4-FFF2-40B4-BE49-F238E27FC236}">
                <a16:creationId xmlns:a16="http://schemas.microsoft.com/office/drawing/2014/main" id="{E53359B6-FB8A-D8B6-D6D6-592733AE5258}"/>
              </a:ext>
            </a:extLst>
          </p:cNvPr>
          <p:cNvSpPr>
            <a:spLocks noChangeArrowheads="1"/>
          </p:cNvSpPr>
          <p:nvPr/>
        </p:nvSpPr>
        <p:spPr bwMode="auto">
          <a:xfrm>
            <a:off x="4929188" y="4143375"/>
            <a:ext cx="36576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lvl="1" eaLnBrk="1" hangingPunct="1">
              <a:spcBef>
                <a:spcPct val="20000"/>
              </a:spcBef>
              <a:buFontTx/>
              <a:buChar char="•"/>
            </a:pPr>
            <a:r>
              <a:rPr lang="en-GB" altLang="en-US" sz="2600">
                <a:solidFill>
                  <a:srgbClr val="002B6D"/>
                </a:solidFill>
                <a:latin typeface="Arial" panose="020B0604020202020204" pitchFamily="34" charset="0"/>
              </a:rPr>
              <a:t>Dates</a:t>
            </a:r>
          </a:p>
          <a:p>
            <a:pPr lvl="2" eaLnBrk="1" hangingPunct="1">
              <a:spcBef>
                <a:spcPct val="20000"/>
              </a:spcBef>
              <a:buFontTx/>
              <a:buChar char="•"/>
            </a:pPr>
            <a:r>
              <a:rPr lang="en-GB" altLang="en-US">
                <a:solidFill>
                  <a:srgbClr val="2F2F2F"/>
                </a:solidFill>
                <a:latin typeface="Arial" panose="020B0604020202020204" pitchFamily="34" charset="0"/>
              </a:rPr>
              <a:t>Input</a:t>
            </a:r>
          </a:p>
          <a:p>
            <a:pPr lvl="2" eaLnBrk="1" hangingPunct="1">
              <a:spcBef>
                <a:spcPct val="20000"/>
              </a:spcBef>
              <a:buFontTx/>
              <a:buChar char="•"/>
            </a:pPr>
            <a:r>
              <a:rPr lang="en-GB" altLang="en-US">
                <a:solidFill>
                  <a:srgbClr val="2F2F2F"/>
                </a:solidFill>
                <a:latin typeface="Arial" panose="020B0604020202020204" pitchFamily="34" charset="0"/>
              </a:rPr>
              <a:t>Trade</a:t>
            </a:r>
          </a:p>
        </p:txBody>
      </p:sp>
      <p:sp>
        <p:nvSpPr>
          <p:cNvPr id="65541" name="Rectangle 4">
            <a:extLst>
              <a:ext uri="{FF2B5EF4-FFF2-40B4-BE49-F238E27FC236}">
                <a16:creationId xmlns:a16="http://schemas.microsoft.com/office/drawing/2014/main" id="{6DE4CB83-24B7-C929-8B3A-5FD57D79E38E}"/>
              </a:ext>
            </a:extLst>
          </p:cNvPr>
          <p:cNvSpPr>
            <a:spLocks noChangeArrowheads="1"/>
          </p:cNvSpPr>
          <p:nvPr/>
        </p:nvSpPr>
        <p:spPr bwMode="auto">
          <a:xfrm>
            <a:off x="1071563" y="4143375"/>
            <a:ext cx="3657600"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lvl="1" eaLnBrk="1" hangingPunct="1">
              <a:spcBef>
                <a:spcPct val="20000"/>
              </a:spcBef>
              <a:buFontTx/>
              <a:buChar char="•"/>
            </a:pPr>
            <a:r>
              <a:rPr lang="en-GB" altLang="en-US" sz="2600">
                <a:solidFill>
                  <a:srgbClr val="002B6D"/>
                </a:solidFill>
                <a:latin typeface="Arial" panose="020B0604020202020204" pitchFamily="34" charset="0"/>
              </a:rPr>
              <a:t>Numbers</a:t>
            </a:r>
          </a:p>
          <a:p>
            <a:pPr lvl="2" eaLnBrk="1" hangingPunct="1">
              <a:spcBef>
                <a:spcPct val="20000"/>
              </a:spcBef>
              <a:buFontTx/>
              <a:buChar char="•"/>
            </a:pPr>
            <a:r>
              <a:rPr lang="en-GB" altLang="en-US">
                <a:solidFill>
                  <a:srgbClr val="2F2F2F"/>
                </a:solidFill>
                <a:latin typeface="Arial" panose="020B0604020202020204" pitchFamily="34" charset="0"/>
              </a:rPr>
              <a:t>Instrument</a:t>
            </a:r>
          </a:p>
          <a:p>
            <a:pPr lvl="2" eaLnBrk="1" hangingPunct="1">
              <a:spcBef>
                <a:spcPct val="20000"/>
              </a:spcBef>
              <a:buFontTx/>
              <a:buChar char="•"/>
            </a:pPr>
            <a:r>
              <a:rPr lang="en-GB" altLang="en-US">
                <a:solidFill>
                  <a:srgbClr val="2F2F2F"/>
                </a:solidFill>
                <a:latin typeface="Arial" panose="020B0604020202020204" pitchFamily="34" charset="0"/>
              </a:rPr>
              <a:t>Deal</a:t>
            </a:r>
          </a:p>
          <a:p>
            <a:pPr lvl="2" eaLnBrk="1" hangingPunct="1">
              <a:spcBef>
                <a:spcPct val="20000"/>
              </a:spcBef>
              <a:buFontTx/>
              <a:buChar char="•"/>
            </a:pPr>
            <a:r>
              <a:rPr lang="en-GB" altLang="en-US">
                <a:solidFill>
                  <a:srgbClr val="2F2F2F"/>
                </a:solidFill>
                <a:latin typeface="Arial" panose="020B0604020202020204" pitchFamily="34" charset="0"/>
              </a:rPr>
              <a:t>Transaction</a:t>
            </a:r>
          </a:p>
          <a:p>
            <a:pPr lvl="2" eaLnBrk="1" hangingPunct="1">
              <a:spcBef>
                <a:spcPct val="20000"/>
              </a:spcBef>
              <a:buFontTx/>
              <a:buChar char="•"/>
            </a:pPr>
            <a:endParaRPr lang="en-GB" altLang="en-US">
              <a:solidFill>
                <a:srgbClr val="2F2F2F"/>
              </a:solidFill>
              <a:latin typeface="Arial" panose="020B0604020202020204" pitchFamily="34"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7A2D70E1-0BA5-3353-C073-95900D3A94F1}"/>
              </a:ext>
            </a:extLst>
          </p:cNvPr>
          <p:cNvSpPr>
            <a:spLocks noGrp="1" noChangeArrowheads="1"/>
          </p:cNvSpPr>
          <p:nvPr>
            <p:ph type="title"/>
          </p:nvPr>
        </p:nvSpPr>
        <p:spPr bwMode="auto">
          <a:xfrm>
            <a:off x="4457700" y="0"/>
            <a:ext cx="46863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sz="4000"/>
              <a:t>Transaction Lifecycle</a:t>
            </a:r>
          </a:p>
        </p:txBody>
      </p:sp>
      <p:pic>
        <p:nvPicPr>
          <p:cNvPr id="66563" name="Picture 4">
            <a:extLst>
              <a:ext uri="{FF2B5EF4-FFF2-40B4-BE49-F238E27FC236}">
                <a16:creationId xmlns:a16="http://schemas.microsoft.com/office/drawing/2014/main" id="{CB6DDE89-88C7-588D-9589-A77711EBC4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715" t="43539" r="8464" b="11516"/>
          <a:stretch>
            <a:fillRect/>
          </a:stretch>
        </p:blipFill>
        <p:spPr bwMode="auto">
          <a:xfrm>
            <a:off x="285750" y="1785938"/>
            <a:ext cx="8616950"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181250"/>
                                        </p:tgtEl>
                                        <p:attrNameLst>
                                          <p:attrName>style.visibility</p:attrName>
                                        </p:attrNameLst>
                                      </p:cBhvr>
                                      <p:to>
                                        <p:strVal val="visible"/>
                                      </p:to>
                                    </p:set>
                                    <p:anim calcmode="lin" valueType="num">
                                      <p:cBhvr>
                                        <p:cTn id="7" dur="500" fill="hold"/>
                                        <p:tgtEl>
                                          <p:spTgt spid="181250"/>
                                        </p:tgtEl>
                                        <p:attrNameLst>
                                          <p:attrName>ppt_w</p:attrName>
                                        </p:attrNameLst>
                                      </p:cBhvr>
                                      <p:tavLst>
                                        <p:tav tm="0">
                                          <p:val>
                                            <p:fltVal val="0"/>
                                          </p:val>
                                        </p:tav>
                                        <p:tav tm="100000">
                                          <p:val>
                                            <p:strVal val="#ppt_w"/>
                                          </p:val>
                                        </p:tav>
                                      </p:tavLst>
                                    </p:anim>
                                    <p:anim calcmode="lin" valueType="num">
                                      <p:cBhvr>
                                        <p:cTn id="8" dur="500" fill="hold"/>
                                        <p:tgtEl>
                                          <p:spTgt spid="181250"/>
                                        </p:tgtEl>
                                        <p:attrNameLst>
                                          <p:attrName>ppt_h</p:attrName>
                                        </p:attrNameLst>
                                      </p:cBhvr>
                                      <p:tavLst>
                                        <p:tav tm="0">
                                          <p:val>
                                            <p:fltVal val="0"/>
                                          </p:val>
                                        </p:tav>
                                        <p:tav tm="100000">
                                          <p:val>
                                            <p:strVal val="#ppt_h"/>
                                          </p:val>
                                        </p:tav>
                                      </p:tavLst>
                                    </p:anim>
                                    <p:animEffect transition="in" filter="fade">
                                      <p:cBhvr>
                                        <p:cTn id="9" dur="500"/>
                                        <p:tgtEl>
                                          <p:spTgt spid="181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7309AF4E-5B2A-804A-BA79-AEB684394B55}"/>
              </a:ext>
            </a:extLst>
          </p:cNvPr>
          <p:cNvSpPr>
            <a:spLocks noGrp="1" noChangeArrowheads="1"/>
          </p:cNvSpPr>
          <p:nvPr>
            <p:ph type="title"/>
          </p:nvPr>
        </p:nvSpPr>
        <p:spPr bwMode="auto">
          <a:xfrm>
            <a:off x="4214813" y="411163"/>
            <a:ext cx="447198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Trade Events</a:t>
            </a:r>
          </a:p>
        </p:txBody>
      </p:sp>
      <p:sp>
        <p:nvSpPr>
          <p:cNvPr id="239619" name="Rectangle 3">
            <a:extLst>
              <a:ext uri="{FF2B5EF4-FFF2-40B4-BE49-F238E27FC236}">
                <a16:creationId xmlns:a16="http://schemas.microsoft.com/office/drawing/2014/main" id="{A0535FDF-AC5E-556F-475C-86541FBA72C2}"/>
              </a:ext>
            </a:extLst>
          </p:cNvPr>
          <p:cNvSpPr>
            <a:spLocks noGrp="1" noChangeArrowheads="1"/>
          </p:cNvSpPr>
          <p:nvPr>
            <p:ph type="body" idx="1"/>
          </p:nvPr>
        </p:nvSpPr>
        <p:spPr bwMode="auto">
          <a:xfrm>
            <a:off x="685800" y="4191000"/>
            <a:ext cx="7772400" cy="182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Generated when deals are booked to </a:t>
            </a:r>
            <a:r>
              <a:rPr lang="en-GB" altLang="en-US" b="1"/>
              <a:t>Validated</a:t>
            </a:r>
            <a:r>
              <a:rPr lang="en-GB" altLang="en-US"/>
              <a:t> status</a:t>
            </a:r>
          </a:p>
          <a:p>
            <a:pPr eaLnBrk="1" hangingPunct="1"/>
            <a:r>
              <a:rPr lang="en-GB" altLang="en-US"/>
              <a:t>Represent a roadmap operating on the deal</a:t>
            </a:r>
          </a:p>
          <a:p>
            <a:pPr eaLnBrk="1" hangingPunct="1"/>
            <a:endParaRPr lang="en-GB" altLang="en-US" i="1"/>
          </a:p>
        </p:txBody>
      </p:sp>
      <p:pic>
        <p:nvPicPr>
          <p:cNvPr id="67588" name="Picture 6">
            <a:extLst>
              <a:ext uri="{FF2B5EF4-FFF2-40B4-BE49-F238E27FC236}">
                <a16:creationId xmlns:a16="http://schemas.microsoft.com/office/drawing/2014/main" id="{6AFA7974-2419-850A-8C24-BF57A5F1B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5695"/>
          <a:stretch>
            <a:fillRect/>
          </a:stretch>
        </p:blipFill>
        <p:spPr bwMode="auto">
          <a:xfrm>
            <a:off x="190500" y="1285875"/>
            <a:ext cx="895350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239618"/>
                                        </p:tgtEl>
                                        <p:attrNameLst>
                                          <p:attrName>style.visibility</p:attrName>
                                        </p:attrNameLst>
                                      </p:cBhvr>
                                      <p:to>
                                        <p:strVal val="visible"/>
                                      </p:to>
                                    </p:set>
                                    <p:anim calcmode="lin" valueType="num">
                                      <p:cBhvr>
                                        <p:cTn id="7" dur="500" fill="hold"/>
                                        <p:tgtEl>
                                          <p:spTgt spid="239618"/>
                                        </p:tgtEl>
                                        <p:attrNameLst>
                                          <p:attrName>ppt_w</p:attrName>
                                        </p:attrNameLst>
                                      </p:cBhvr>
                                      <p:tavLst>
                                        <p:tav tm="0">
                                          <p:val>
                                            <p:fltVal val="0"/>
                                          </p:val>
                                        </p:tav>
                                        <p:tav tm="100000">
                                          <p:val>
                                            <p:strVal val="#ppt_w"/>
                                          </p:val>
                                        </p:tav>
                                      </p:tavLst>
                                    </p:anim>
                                    <p:anim calcmode="lin" valueType="num">
                                      <p:cBhvr>
                                        <p:cTn id="8" dur="500" fill="hold"/>
                                        <p:tgtEl>
                                          <p:spTgt spid="239618"/>
                                        </p:tgtEl>
                                        <p:attrNameLst>
                                          <p:attrName>ppt_h</p:attrName>
                                        </p:attrNameLst>
                                      </p:cBhvr>
                                      <p:tavLst>
                                        <p:tav tm="0">
                                          <p:val>
                                            <p:fltVal val="0"/>
                                          </p:val>
                                        </p:tav>
                                        <p:tav tm="100000">
                                          <p:val>
                                            <p:strVal val="#ppt_h"/>
                                          </p:val>
                                        </p:tav>
                                      </p:tavLst>
                                    </p:anim>
                                    <p:animEffect transition="in" filter="fade">
                                      <p:cBhvr>
                                        <p:cTn id="9" dur="500"/>
                                        <p:tgtEl>
                                          <p:spTgt spid="239618"/>
                                        </p:tgtEl>
                                      </p:cBhvr>
                                    </p:animEffect>
                                  </p:childTnLst>
                                </p:cTn>
                              </p:par>
                              <p:par>
                                <p:cTn id="10" presetID="53" presetClass="entr" presetSubtype="0" fill="hold" nodeType="withEffect">
                                  <p:stCondLst>
                                    <p:cond delay="0"/>
                                  </p:stCondLst>
                                  <p:childTnLst>
                                    <p:set>
                                      <p:cBhvr>
                                        <p:cTn id="11" dur="1" fill="hold">
                                          <p:stCondLst>
                                            <p:cond delay="0"/>
                                          </p:stCondLst>
                                        </p:cTn>
                                        <p:tgtEl>
                                          <p:spTgt spid="239619">
                                            <p:txEl>
                                              <p:pRg st="0" end="0"/>
                                            </p:txEl>
                                          </p:spTgt>
                                        </p:tgtEl>
                                        <p:attrNameLst>
                                          <p:attrName>style.visibility</p:attrName>
                                        </p:attrNameLst>
                                      </p:cBhvr>
                                      <p:to>
                                        <p:strVal val="visible"/>
                                      </p:to>
                                    </p:set>
                                    <p:anim calcmode="lin" valueType="num">
                                      <p:cBhvr>
                                        <p:cTn id="12" dur="500" fill="hold"/>
                                        <p:tgtEl>
                                          <p:spTgt spid="239619">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239619">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239619">
                                            <p:txEl>
                                              <p:pRg st="0" end="0"/>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239619">
                                            <p:txEl>
                                              <p:pRg st="1" end="1"/>
                                            </p:txEl>
                                          </p:spTgt>
                                        </p:tgtEl>
                                        <p:attrNameLst>
                                          <p:attrName>style.visibility</p:attrName>
                                        </p:attrNameLst>
                                      </p:cBhvr>
                                      <p:to>
                                        <p:strVal val="visible"/>
                                      </p:to>
                                    </p:set>
                                    <p:anim calcmode="lin" valueType="num">
                                      <p:cBhvr>
                                        <p:cTn id="17" dur="500" fill="hold"/>
                                        <p:tgtEl>
                                          <p:spTgt spid="239619">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239619">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2396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p:bldP spid="239619"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18A09FAF-DF12-DD80-916A-2DA84910383E}"/>
              </a:ext>
            </a:extLst>
          </p:cNvPr>
          <p:cNvSpPr>
            <a:spLocks noGrp="1"/>
          </p:cNvSpPr>
          <p:nvPr>
            <p:ph type="title"/>
          </p:nvPr>
        </p:nvSpPr>
        <p:spPr bwMode="auto">
          <a:xfrm>
            <a:off x="4672013" y="0"/>
            <a:ext cx="447198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3600"/>
              <a:t>Trade Numbering</a:t>
            </a:r>
          </a:p>
        </p:txBody>
      </p:sp>
      <p:pic>
        <p:nvPicPr>
          <p:cNvPr id="68611" name="Picture 2">
            <a:extLst>
              <a:ext uri="{FF2B5EF4-FFF2-40B4-BE49-F238E27FC236}">
                <a16:creationId xmlns:a16="http://schemas.microsoft.com/office/drawing/2014/main" id="{205F644C-B3BB-DAD3-74CA-112D6EFB2B4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6093" t="29990" b="47913"/>
          <a:stretch>
            <a:fillRect/>
          </a:stretch>
        </p:blipFill>
        <p:spPr bwMode="auto">
          <a:xfrm>
            <a:off x="428625" y="928688"/>
            <a:ext cx="8286750" cy="1857375"/>
          </a:xfrm>
          <a:noFill/>
          <a:ln>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8612" name="Picture 3">
            <a:extLst>
              <a:ext uri="{FF2B5EF4-FFF2-40B4-BE49-F238E27FC236}">
                <a16:creationId xmlns:a16="http://schemas.microsoft.com/office/drawing/2014/main" id="{B6991D5E-2D20-701F-1ECF-59D649907D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939" t="61443" r="25000" b="15672"/>
          <a:stretch>
            <a:fillRect/>
          </a:stretch>
        </p:blipFill>
        <p:spPr bwMode="auto">
          <a:xfrm>
            <a:off x="357188" y="3000375"/>
            <a:ext cx="8358187" cy="157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68613" name="Picture 4">
            <a:extLst>
              <a:ext uri="{FF2B5EF4-FFF2-40B4-BE49-F238E27FC236}">
                <a16:creationId xmlns:a16="http://schemas.microsoft.com/office/drawing/2014/main" id="{489D6825-06E3-4FFF-F5E6-9360AD381D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4786313"/>
            <a:ext cx="8643938"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BBC9493F-1384-6EFD-D18D-77C612C3FC55}"/>
              </a:ext>
            </a:extLst>
          </p:cNvPr>
          <p:cNvSpPr>
            <a:spLocks noGrp="1"/>
          </p:cNvSpPr>
          <p:nvPr>
            <p:ph type="title"/>
          </p:nvPr>
        </p:nvSpPr>
        <p:spPr bwMode="auto">
          <a:xfrm>
            <a:off x="5600700" y="0"/>
            <a:ext cx="35433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Power Trading</a:t>
            </a:r>
          </a:p>
        </p:txBody>
      </p:sp>
      <p:sp>
        <p:nvSpPr>
          <p:cNvPr id="69635" name="Content Placeholder 2">
            <a:extLst>
              <a:ext uri="{FF2B5EF4-FFF2-40B4-BE49-F238E27FC236}">
                <a16:creationId xmlns:a16="http://schemas.microsoft.com/office/drawing/2014/main" id="{971F824C-B732-6E44-87B9-2AD7D7A608A5}"/>
              </a:ext>
            </a:extLst>
          </p:cNvPr>
          <p:cNvSpPr>
            <a:spLocks noGrp="1"/>
          </p:cNvSpPr>
          <p:nvPr>
            <p:ph idx="1"/>
          </p:nvPr>
        </p:nvSpPr>
        <p:spPr bwMode="auto">
          <a:xfrm>
            <a:off x="428625" y="1571625"/>
            <a:ext cx="8229600" cy="414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Products - </a:t>
            </a:r>
            <a:r>
              <a:rPr lang="en-GB" altLang="en-US" sz="2800"/>
              <a:t>defines the days and hours, including holidays, in which electricity will be delivered </a:t>
            </a:r>
            <a:r>
              <a:rPr lang="en-GB" altLang="en-US"/>
              <a:t>	</a:t>
            </a:r>
          </a:p>
          <a:p>
            <a:pPr lvl="1" eaLnBrk="1" hangingPunct="1"/>
            <a:r>
              <a:rPr lang="en-GB" altLang="en-US"/>
              <a:t>Custom</a:t>
            </a:r>
          </a:p>
          <a:p>
            <a:pPr lvl="1" eaLnBrk="1" hangingPunct="1"/>
            <a:r>
              <a:rPr lang="en-GB" altLang="en-US"/>
              <a:t>Full requirement</a:t>
            </a:r>
          </a:p>
          <a:p>
            <a:pPr lvl="1" eaLnBrk="1" hangingPunct="1"/>
            <a:r>
              <a:rPr lang="en-GB" altLang="en-US"/>
              <a:t>Hourly Products</a:t>
            </a:r>
          </a:p>
          <a:p>
            <a:pPr lvl="1" eaLnBrk="1" hangingPunct="1">
              <a:buFontTx/>
              <a:buNone/>
            </a:pPr>
            <a:endParaRPr lang="en-GB"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48F61662-907C-6D94-E1EA-3C260ADDCE88}"/>
              </a:ext>
            </a:extLst>
          </p:cNvPr>
          <p:cNvSpPr>
            <a:spLocks noGrp="1"/>
          </p:cNvSpPr>
          <p:nvPr>
            <p:ph type="title"/>
          </p:nvPr>
        </p:nvSpPr>
        <p:spPr bwMode="auto">
          <a:xfrm>
            <a:off x="3500438" y="0"/>
            <a:ext cx="592931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GB" altLang="en-US" sz="3200" b="1"/>
              <a:t>Price Bands, Power Products, Power Curves and Delivery Locations </a:t>
            </a:r>
            <a:br>
              <a:rPr lang="en-GB" altLang="en-US"/>
            </a:br>
            <a:br>
              <a:rPr lang="en-GB" altLang="en-US"/>
            </a:br>
            <a:br>
              <a:rPr lang="en-GB" altLang="en-US" sz="3200"/>
            </a:br>
            <a:br>
              <a:rPr lang="en-GB" altLang="en-US" b="1"/>
            </a:br>
            <a:endParaRPr lang="en-GB" altLang="en-US"/>
          </a:p>
        </p:txBody>
      </p:sp>
      <p:sp>
        <p:nvSpPr>
          <p:cNvPr id="82947" name="TextBox 4">
            <a:extLst>
              <a:ext uri="{FF2B5EF4-FFF2-40B4-BE49-F238E27FC236}">
                <a16:creationId xmlns:a16="http://schemas.microsoft.com/office/drawing/2014/main" id="{F593A645-68A4-1BE4-49DB-4FA12276D0B9}"/>
              </a:ext>
            </a:extLst>
          </p:cNvPr>
          <p:cNvSpPr txBox="1">
            <a:spLocks noChangeArrowheads="1"/>
          </p:cNvSpPr>
          <p:nvPr/>
        </p:nvSpPr>
        <p:spPr bwMode="auto">
          <a:xfrm>
            <a:off x="357188" y="2000250"/>
            <a:ext cx="1428750" cy="830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chemeClr val="tx2"/>
                </a:solidFill>
              </a:rPr>
              <a:t>Power Curves</a:t>
            </a:r>
            <a:endParaRPr lang="en-GB" altLang="en-US"/>
          </a:p>
        </p:txBody>
      </p:sp>
      <p:sp>
        <p:nvSpPr>
          <p:cNvPr id="82948" name="TextBox 5">
            <a:extLst>
              <a:ext uri="{FF2B5EF4-FFF2-40B4-BE49-F238E27FC236}">
                <a16:creationId xmlns:a16="http://schemas.microsoft.com/office/drawing/2014/main" id="{7144D8BE-C166-F1EB-16AB-C03B108E8E08}"/>
              </a:ext>
            </a:extLst>
          </p:cNvPr>
          <p:cNvSpPr txBox="1">
            <a:spLocks noChangeArrowheads="1"/>
          </p:cNvSpPr>
          <p:nvPr/>
        </p:nvSpPr>
        <p:spPr bwMode="auto">
          <a:xfrm>
            <a:off x="2428875" y="3500438"/>
            <a:ext cx="1428750"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chemeClr val="tx2"/>
                </a:solidFill>
              </a:rPr>
              <a:t>Power Product</a:t>
            </a:r>
            <a:endParaRPr lang="en-GB" altLang="en-US"/>
          </a:p>
        </p:txBody>
      </p:sp>
      <p:sp>
        <p:nvSpPr>
          <p:cNvPr id="82949" name="TextBox 6">
            <a:extLst>
              <a:ext uri="{FF2B5EF4-FFF2-40B4-BE49-F238E27FC236}">
                <a16:creationId xmlns:a16="http://schemas.microsoft.com/office/drawing/2014/main" id="{3AF6C34C-40CB-CA21-A2DB-6D0D3AEF16F5}"/>
              </a:ext>
            </a:extLst>
          </p:cNvPr>
          <p:cNvSpPr txBox="1">
            <a:spLocks noChangeArrowheads="1"/>
          </p:cNvSpPr>
          <p:nvPr/>
        </p:nvSpPr>
        <p:spPr bwMode="auto">
          <a:xfrm>
            <a:off x="2357438" y="2000250"/>
            <a:ext cx="1428750" cy="830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chemeClr val="tx2"/>
                </a:solidFill>
              </a:rPr>
              <a:t>Price Bands</a:t>
            </a:r>
            <a:endParaRPr lang="en-GB" altLang="en-US"/>
          </a:p>
        </p:txBody>
      </p:sp>
      <p:sp>
        <p:nvSpPr>
          <p:cNvPr id="82950" name="Rectangle 7">
            <a:extLst>
              <a:ext uri="{FF2B5EF4-FFF2-40B4-BE49-F238E27FC236}">
                <a16:creationId xmlns:a16="http://schemas.microsoft.com/office/drawing/2014/main" id="{78D66FC9-7910-B241-622C-3DB274B8004B}"/>
              </a:ext>
            </a:extLst>
          </p:cNvPr>
          <p:cNvSpPr>
            <a:spLocks noChangeArrowheads="1"/>
          </p:cNvSpPr>
          <p:nvPr/>
        </p:nvSpPr>
        <p:spPr bwMode="auto">
          <a:xfrm>
            <a:off x="5929313" y="5214938"/>
            <a:ext cx="2652712" cy="461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chemeClr val="tx2"/>
                </a:solidFill>
              </a:rPr>
              <a:t>Delivery Locations</a:t>
            </a:r>
            <a:endParaRPr lang="en-GB" altLang="en-US"/>
          </a:p>
        </p:txBody>
      </p:sp>
      <p:sp>
        <p:nvSpPr>
          <p:cNvPr id="82951" name="Rectangle 8">
            <a:extLst>
              <a:ext uri="{FF2B5EF4-FFF2-40B4-BE49-F238E27FC236}">
                <a16:creationId xmlns:a16="http://schemas.microsoft.com/office/drawing/2014/main" id="{309E5F52-5F42-94B3-7EB5-EB633031940B}"/>
              </a:ext>
            </a:extLst>
          </p:cNvPr>
          <p:cNvSpPr>
            <a:spLocks noChangeArrowheads="1"/>
          </p:cNvSpPr>
          <p:nvPr/>
        </p:nvSpPr>
        <p:spPr bwMode="auto">
          <a:xfrm>
            <a:off x="4286250" y="1643063"/>
            <a:ext cx="833438" cy="461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chemeClr val="tx2"/>
                </a:solidFill>
              </a:rPr>
              <a:t>Peak</a:t>
            </a:r>
            <a:endParaRPr lang="en-GB" altLang="en-US"/>
          </a:p>
        </p:txBody>
      </p:sp>
      <p:sp>
        <p:nvSpPr>
          <p:cNvPr id="82952" name="Rectangle 9">
            <a:extLst>
              <a:ext uri="{FF2B5EF4-FFF2-40B4-BE49-F238E27FC236}">
                <a16:creationId xmlns:a16="http://schemas.microsoft.com/office/drawing/2014/main" id="{CF214805-CF4F-A2BF-3401-08C2EFC16333}"/>
              </a:ext>
            </a:extLst>
          </p:cNvPr>
          <p:cNvSpPr>
            <a:spLocks noChangeArrowheads="1"/>
          </p:cNvSpPr>
          <p:nvPr/>
        </p:nvSpPr>
        <p:spPr bwMode="auto">
          <a:xfrm>
            <a:off x="4286250" y="2286000"/>
            <a:ext cx="1381125"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b="1">
                <a:solidFill>
                  <a:schemeClr val="tx2"/>
                </a:solidFill>
              </a:rPr>
              <a:t>Off-Peak</a:t>
            </a:r>
            <a:endParaRPr lang="en-GB" altLang="en-US"/>
          </a:p>
        </p:txBody>
      </p:sp>
      <p:sp>
        <p:nvSpPr>
          <p:cNvPr id="82953" name="Rectangle 10">
            <a:extLst>
              <a:ext uri="{FF2B5EF4-FFF2-40B4-BE49-F238E27FC236}">
                <a16:creationId xmlns:a16="http://schemas.microsoft.com/office/drawing/2014/main" id="{768F5E3B-7407-D4E0-9209-388D2FC66D8A}"/>
              </a:ext>
            </a:extLst>
          </p:cNvPr>
          <p:cNvSpPr>
            <a:spLocks noChangeArrowheads="1"/>
          </p:cNvSpPr>
          <p:nvPr/>
        </p:nvSpPr>
        <p:spPr bwMode="auto">
          <a:xfrm>
            <a:off x="4286250" y="2928938"/>
            <a:ext cx="1123950" cy="461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chemeClr val="tx2"/>
                </a:solidFill>
              </a:rPr>
              <a:t>Hourly</a:t>
            </a:r>
          </a:p>
        </p:txBody>
      </p:sp>
      <p:sp>
        <p:nvSpPr>
          <p:cNvPr id="12" name="Right Arrow 11">
            <a:extLst>
              <a:ext uri="{FF2B5EF4-FFF2-40B4-BE49-F238E27FC236}">
                <a16:creationId xmlns:a16="http://schemas.microsoft.com/office/drawing/2014/main" id="{E939348E-3825-7B35-30DE-4BAF7B210B42}"/>
              </a:ext>
            </a:extLst>
          </p:cNvPr>
          <p:cNvSpPr/>
          <p:nvPr/>
        </p:nvSpPr>
        <p:spPr>
          <a:xfrm>
            <a:off x="1785938" y="2357438"/>
            <a:ext cx="571500" cy="285750"/>
          </a:xfrm>
          <a:prstGeom prst="rightArrow">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13" name="Down Arrow 12">
            <a:extLst>
              <a:ext uri="{FF2B5EF4-FFF2-40B4-BE49-F238E27FC236}">
                <a16:creationId xmlns:a16="http://schemas.microsoft.com/office/drawing/2014/main" id="{A70BBF16-F847-3DDD-4962-4AA559CE63C8}"/>
              </a:ext>
            </a:extLst>
          </p:cNvPr>
          <p:cNvSpPr/>
          <p:nvPr/>
        </p:nvSpPr>
        <p:spPr>
          <a:xfrm>
            <a:off x="2928938" y="2857500"/>
            <a:ext cx="357187" cy="642938"/>
          </a:xfrm>
          <a:prstGeom prst="downArrow">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cxnSp>
        <p:nvCxnSpPr>
          <p:cNvPr id="15" name="Elbow Connector 14">
            <a:extLst>
              <a:ext uri="{FF2B5EF4-FFF2-40B4-BE49-F238E27FC236}">
                <a16:creationId xmlns:a16="http://schemas.microsoft.com/office/drawing/2014/main" id="{14CC8A8C-9A27-3534-551B-CAB8274CA474}"/>
              </a:ext>
            </a:extLst>
          </p:cNvPr>
          <p:cNvCxnSpPr>
            <a:stCxn id="82949" idx="3"/>
            <a:endCxn id="82953" idx="1"/>
          </p:cNvCxnSpPr>
          <p:nvPr/>
        </p:nvCxnSpPr>
        <p:spPr>
          <a:xfrm>
            <a:off x="3786188" y="2416175"/>
            <a:ext cx="500062" cy="742950"/>
          </a:xfrm>
          <a:prstGeom prst="bent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57930C6A-46ED-6F0E-5563-4D2E250111FB}"/>
              </a:ext>
            </a:extLst>
          </p:cNvPr>
          <p:cNvCxnSpPr>
            <a:stCxn id="82949" idx="3"/>
            <a:endCxn id="82952" idx="1"/>
          </p:cNvCxnSpPr>
          <p:nvPr/>
        </p:nvCxnSpPr>
        <p:spPr>
          <a:xfrm>
            <a:off x="3786188" y="2416175"/>
            <a:ext cx="500062" cy="100013"/>
          </a:xfrm>
          <a:prstGeom prst="bent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05C4CB1A-9D83-C687-3EFA-5E57384548B4}"/>
              </a:ext>
            </a:extLst>
          </p:cNvPr>
          <p:cNvCxnSpPr>
            <a:stCxn id="82949" idx="3"/>
            <a:endCxn id="82951" idx="1"/>
          </p:cNvCxnSpPr>
          <p:nvPr/>
        </p:nvCxnSpPr>
        <p:spPr>
          <a:xfrm flipV="1">
            <a:off x="3786188" y="1873250"/>
            <a:ext cx="500062" cy="542925"/>
          </a:xfrm>
          <a:prstGeom prst="bent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20" name="Down Arrow 19">
            <a:extLst>
              <a:ext uri="{FF2B5EF4-FFF2-40B4-BE49-F238E27FC236}">
                <a16:creationId xmlns:a16="http://schemas.microsoft.com/office/drawing/2014/main" id="{586F9DB8-5A4C-F958-61F6-A4428FC965E2}"/>
              </a:ext>
            </a:extLst>
          </p:cNvPr>
          <p:cNvSpPr/>
          <p:nvPr/>
        </p:nvSpPr>
        <p:spPr>
          <a:xfrm>
            <a:off x="2857500" y="4357688"/>
            <a:ext cx="412750" cy="835025"/>
          </a:xfrm>
          <a:prstGeom prst="downArrow">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82960" name="TextBox 21">
            <a:extLst>
              <a:ext uri="{FF2B5EF4-FFF2-40B4-BE49-F238E27FC236}">
                <a16:creationId xmlns:a16="http://schemas.microsoft.com/office/drawing/2014/main" id="{DABE3573-85F1-A784-C82F-2120FEC481B2}"/>
              </a:ext>
            </a:extLst>
          </p:cNvPr>
          <p:cNvSpPr txBox="1">
            <a:spLocks noChangeArrowheads="1"/>
          </p:cNvSpPr>
          <p:nvPr/>
        </p:nvSpPr>
        <p:spPr bwMode="auto">
          <a:xfrm>
            <a:off x="6500813" y="2071688"/>
            <a:ext cx="1571625"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chemeClr val="tx2"/>
                </a:solidFill>
              </a:rPr>
              <a:t>Valuation Curve</a:t>
            </a:r>
            <a:endParaRPr lang="en-GB" altLang="en-US"/>
          </a:p>
        </p:txBody>
      </p:sp>
      <p:cxnSp>
        <p:nvCxnSpPr>
          <p:cNvPr id="24" name="Elbow Connector 23">
            <a:extLst>
              <a:ext uri="{FF2B5EF4-FFF2-40B4-BE49-F238E27FC236}">
                <a16:creationId xmlns:a16="http://schemas.microsoft.com/office/drawing/2014/main" id="{9E4A25EC-FC6F-D7F9-81AC-33BDBBEC34B6}"/>
              </a:ext>
            </a:extLst>
          </p:cNvPr>
          <p:cNvCxnSpPr>
            <a:stCxn id="82951" idx="3"/>
          </p:cNvCxnSpPr>
          <p:nvPr/>
        </p:nvCxnSpPr>
        <p:spPr>
          <a:xfrm>
            <a:off x="5119688" y="1873250"/>
            <a:ext cx="1381125" cy="341313"/>
          </a:xfrm>
          <a:prstGeom prst="bent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82D5CF31-1CE7-F62C-0769-62D7C6D14AC0}"/>
              </a:ext>
            </a:extLst>
          </p:cNvPr>
          <p:cNvCxnSpPr>
            <a:stCxn id="82953" idx="3"/>
          </p:cNvCxnSpPr>
          <p:nvPr/>
        </p:nvCxnSpPr>
        <p:spPr>
          <a:xfrm flipV="1">
            <a:off x="5410200" y="2714625"/>
            <a:ext cx="1090613" cy="444500"/>
          </a:xfrm>
          <a:prstGeom prst="bent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8049ADC0-B59F-7328-56E4-C009863DBFAF}"/>
              </a:ext>
            </a:extLst>
          </p:cNvPr>
          <p:cNvCxnSpPr>
            <a:stCxn id="82952" idx="3"/>
            <a:endCxn id="82960" idx="1"/>
          </p:cNvCxnSpPr>
          <p:nvPr/>
        </p:nvCxnSpPr>
        <p:spPr>
          <a:xfrm flipV="1">
            <a:off x="5667375" y="2487613"/>
            <a:ext cx="833438" cy="28575"/>
          </a:xfrm>
          <a:prstGeom prst="bent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82964" name="Rectangle 37">
            <a:extLst>
              <a:ext uri="{FF2B5EF4-FFF2-40B4-BE49-F238E27FC236}">
                <a16:creationId xmlns:a16="http://schemas.microsoft.com/office/drawing/2014/main" id="{9CA5A48A-1B91-2F24-24DC-B80E41275ED7}"/>
              </a:ext>
            </a:extLst>
          </p:cNvPr>
          <p:cNvSpPr>
            <a:spLocks noChangeArrowheads="1"/>
          </p:cNvSpPr>
          <p:nvPr/>
        </p:nvSpPr>
        <p:spPr bwMode="auto">
          <a:xfrm>
            <a:off x="1857375" y="5214938"/>
            <a:ext cx="2571750" cy="461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GB" altLang="en-US" b="1">
                <a:solidFill>
                  <a:schemeClr val="tx2"/>
                </a:solidFill>
              </a:rPr>
              <a:t>Valuation product</a:t>
            </a:r>
            <a:endParaRPr lang="en-GB" altLang="en-US"/>
          </a:p>
        </p:txBody>
      </p:sp>
      <p:sp>
        <p:nvSpPr>
          <p:cNvPr id="39" name="Down Arrow 38">
            <a:extLst>
              <a:ext uri="{FF2B5EF4-FFF2-40B4-BE49-F238E27FC236}">
                <a16:creationId xmlns:a16="http://schemas.microsoft.com/office/drawing/2014/main" id="{1BAEF05D-29F4-8EB1-996C-FC96899E4123}"/>
              </a:ext>
            </a:extLst>
          </p:cNvPr>
          <p:cNvSpPr/>
          <p:nvPr/>
        </p:nvSpPr>
        <p:spPr>
          <a:xfrm>
            <a:off x="7072313" y="2928938"/>
            <a:ext cx="428625" cy="2286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40" name="Down Arrow 39">
            <a:extLst>
              <a:ext uri="{FF2B5EF4-FFF2-40B4-BE49-F238E27FC236}">
                <a16:creationId xmlns:a16="http://schemas.microsoft.com/office/drawing/2014/main" id="{E900305B-83BB-9096-5146-99E65AFD2336}"/>
              </a:ext>
            </a:extLst>
          </p:cNvPr>
          <p:cNvSpPr/>
          <p:nvPr/>
        </p:nvSpPr>
        <p:spPr>
          <a:xfrm rot="5400000">
            <a:off x="4929187" y="4643438"/>
            <a:ext cx="500063" cy="15001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41" name="Oval 40">
            <a:extLst>
              <a:ext uri="{FF2B5EF4-FFF2-40B4-BE49-F238E27FC236}">
                <a16:creationId xmlns:a16="http://schemas.microsoft.com/office/drawing/2014/main" id="{235DAD8D-EFC3-6909-44DB-ACA47D3C7DFF}"/>
              </a:ext>
            </a:extLst>
          </p:cNvPr>
          <p:cNvSpPr/>
          <p:nvPr/>
        </p:nvSpPr>
        <p:spPr>
          <a:xfrm>
            <a:off x="4857750" y="3857625"/>
            <a:ext cx="1571625" cy="100012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dirty="0"/>
              <a:t>Deal</a:t>
            </a:r>
          </a:p>
        </p:txBody>
      </p:sp>
      <p:cxnSp>
        <p:nvCxnSpPr>
          <p:cNvPr id="43" name="Straight Arrow Connector 42">
            <a:extLst>
              <a:ext uri="{FF2B5EF4-FFF2-40B4-BE49-F238E27FC236}">
                <a16:creationId xmlns:a16="http://schemas.microsoft.com/office/drawing/2014/main" id="{EADB3722-88C5-3E12-CDFA-6BA8BE2A9449}"/>
              </a:ext>
            </a:extLst>
          </p:cNvPr>
          <p:cNvCxnSpPr>
            <a:endCxn id="41" idx="0"/>
          </p:cNvCxnSpPr>
          <p:nvPr/>
        </p:nvCxnSpPr>
        <p:spPr>
          <a:xfrm rot="10800000" flipV="1">
            <a:off x="5643563" y="2857500"/>
            <a:ext cx="1143000" cy="10001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FAA8C48-B9AE-3A9C-1050-0F578BEB017F}"/>
              </a:ext>
            </a:extLst>
          </p:cNvPr>
          <p:cNvCxnSpPr>
            <a:stCxn id="82948" idx="3"/>
            <a:endCxn id="41" idx="2"/>
          </p:cNvCxnSpPr>
          <p:nvPr/>
        </p:nvCxnSpPr>
        <p:spPr>
          <a:xfrm>
            <a:off x="3857625" y="3916363"/>
            <a:ext cx="1000125" cy="4413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2AA1058-BB13-72B9-FB81-C967051CC464}"/>
              </a:ext>
            </a:extLst>
          </p:cNvPr>
          <p:cNvCxnSpPr>
            <a:endCxn id="41" idx="5"/>
          </p:cNvCxnSpPr>
          <p:nvPr/>
        </p:nvCxnSpPr>
        <p:spPr>
          <a:xfrm rot="10800000">
            <a:off x="6199188" y="4711700"/>
            <a:ext cx="515937" cy="5032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2947"/>
                                        </p:tgtEl>
                                        <p:attrNameLst>
                                          <p:attrName>style.visibility</p:attrName>
                                        </p:attrNameLst>
                                      </p:cBhvr>
                                      <p:to>
                                        <p:strVal val="visible"/>
                                      </p:to>
                                    </p:set>
                                    <p:anim calcmode="lin" valueType="num">
                                      <p:cBhvr additive="base">
                                        <p:cTn id="7" dur="500" fill="hold"/>
                                        <p:tgtEl>
                                          <p:spTgt spid="82947"/>
                                        </p:tgtEl>
                                        <p:attrNameLst>
                                          <p:attrName>ppt_x</p:attrName>
                                        </p:attrNameLst>
                                      </p:cBhvr>
                                      <p:tavLst>
                                        <p:tav tm="0">
                                          <p:val>
                                            <p:strVal val="#ppt_x"/>
                                          </p:val>
                                        </p:tav>
                                        <p:tav tm="100000">
                                          <p:val>
                                            <p:strVal val="#ppt_x"/>
                                          </p:val>
                                        </p:tav>
                                      </p:tavLst>
                                    </p:anim>
                                    <p:anim calcmode="lin" valueType="num">
                                      <p:cBhvr additive="base">
                                        <p:cTn id="8" dur="500" fill="hold"/>
                                        <p:tgtEl>
                                          <p:spTgt spid="8294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dissolve">
                                      <p:cBhvr>
                                        <p:cTn id="13" dur="500"/>
                                        <p:tgtEl>
                                          <p:spTgt spid="12"/>
                                        </p:tgtEl>
                                      </p:cBhvr>
                                    </p:animEffect>
                                  </p:childTnLst>
                                </p:cTn>
                              </p:par>
                              <p:par>
                                <p:cTn id="14" presetID="9" presetClass="entr" presetSubtype="0" fill="hold" nodeType="withEffect">
                                  <p:stCondLst>
                                    <p:cond delay="0"/>
                                  </p:stCondLst>
                                  <p:childTnLst>
                                    <p:set>
                                      <p:cBhvr>
                                        <p:cTn id="15" dur="1" fill="hold">
                                          <p:stCondLst>
                                            <p:cond delay="0"/>
                                          </p:stCondLst>
                                        </p:cTn>
                                        <p:tgtEl>
                                          <p:spTgt spid="82949"/>
                                        </p:tgtEl>
                                        <p:attrNameLst>
                                          <p:attrName>style.visibility</p:attrName>
                                        </p:attrNameLst>
                                      </p:cBhvr>
                                      <p:to>
                                        <p:strVal val="visible"/>
                                      </p:to>
                                    </p:set>
                                    <p:animEffect transition="in" filter="dissolve">
                                      <p:cBhvr>
                                        <p:cTn id="16" dur="500"/>
                                        <p:tgtEl>
                                          <p:spTgt spid="8294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dissolve">
                                      <p:cBhvr>
                                        <p:cTn id="21" dur="500"/>
                                        <p:tgtEl>
                                          <p:spTgt spid="19"/>
                                        </p:tgtEl>
                                      </p:cBhvr>
                                    </p:animEffect>
                                  </p:childTnLst>
                                </p:cTn>
                              </p:par>
                              <p:par>
                                <p:cTn id="22" presetID="9"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par>
                                <p:cTn id="25" presetID="9"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500"/>
                                        <p:tgtEl>
                                          <p:spTgt spid="15"/>
                                        </p:tgtEl>
                                      </p:cBhvr>
                                    </p:animEffect>
                                  </p:childTnLst>
                                </p:cTn>
                              </p:par>
                              <p:par>
                                <p:cTn id="28" presetID="9" presetClass="entr" presetSubtype="0" fill="hold" nodeType="withEffect">
                                  <p:stCondLst>
                                    <p:cond delay="0"/>
                                  </p:stCondLst>
                                  <p:childTnLst>
                                    <p:set>
                                      <p:cBhvr>
                                        <p:cTn id="29" dur="1" fill="hold">
                                          <p:stCondLst>
                                            <p:cond delay="0"/>
                                          </p:stCondLst>
                                        </p:cTn>
                                        <p:tgtEl>
                                          <p:spTgt spid="82951"/>
                                        </p:tgtEl>
                                        <p:attrNameLst>
                                          <p:attrName>style.visibility</p:attrName>
                                        </p:attrNameLst>
                                      </p:cBhvr>
                                      <p:to>
                                        <p:strVal val="visible"/>
                                      </p:to>
                                    </p:set>
                                    <p:animEffect transition="in" filter="dissolve">
                                      <p:cBhvr>
                                        <p:cTn id="30" dur="500"/>
                                        <p:tgtEl>
                                          <p:spTgt spid="82951"/>
                                        </p:tgtEl>
                                      </p:cBhvr>
                                    </p:animEffect>
                                  </p:childTnLst>
                                </p:cTn>
                              </p:par>
                              <p:par>
                                <p:cTn id="31" presetID="9" presetClass="entr" presetSubtype="0" fill="hold" nodeType="withEffect">
                                  <p:stCondLst>
                                    <p:cond delay="0"/>
                                  </p:stCondLst>
                                  <p:childTnLst>
                                    <p:set>
                                      <p:cBhvr>
                                        <p:cTn id="32" dur="1" fill="hold">
                                          <p:stCondLst>
                                            <p:cond delay="0"/>
                                          </p:stCondLst>
                                        </p:cTn>
                                        <p:tgtEl>
                                          <p:spTgt spid="82952"/>
                                        </p:tgtEl>
                                        <p:attrNameLst>
                                          <p:attrName>style.visibility</p:attrName>
                                        </p:attrNameLst>
                                      </p:cBhvr>
                                      <p:to>
                                        <p:strVal val="visible"/>
                                      </p:to>
                                    </p:set>
                                    <p:animEffect transition="in" filter="dissolve">
                                      <p:cBhvr>
                                        <p:cTn id="33" dur="500"/>
                                        <p:tgtEl>
                                          <p:spTgt spid="82952"/>
                                        </p:tgtEl>
                                      </p:cBhvr>
                                    </p:animEffect>
                                  </p:childTnLst>
                                </p:cTn>
                              </p:par>
                              <p:par>
                                <p:cTn id="34" presetID="9" presetClass="entr" presetSubtype="0" fill="hold" nodeType="withEffect">
                                  <p:stCondLst>
                                    <p:cond delay="0"/>
                                  </p:stCondLst>
                                  <p:childTnLst>
                                    <p:set>
                                      <p:cBhvr>
                                        <p:cTn id="35" dur="1" fill="hold">
                                          <p:stCondLst>
                                            <p:cond delay="0"/>
                                          </p:stCondLst>
                                        </p:cTn>
                                        <p:tgtEl>
                                          <p:spTgt spid="82953"/>
                                        </p:tgtEl>
                                        <p:attrNameLst>
                                          <p:attrName>style.visibility</p:attrName>
                                        </p:attrNameLst>
                                      </p:cBhvr>
                                      <p:to>
                                        <p:strVal val="visible"/>
                                      </p:to>
                                    </p:set>
                                    <p:animEffect transition="in" filter="dissolve">
                                      <p:cBhvr>
                                        <p:cTn id="36" dur="500"/>
                                        <p:tgtEl>
                                          <p:spTgt spid="8295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dissolve">
                                      <p:cBhvr>
                                        <p:cTn id="41" dur="500"/>
                                        <p:tgtEl>
                                          <p:spTgt spid="24"/>
                                        </p:tgtEl>
                                      </p:cBhvr>
                                    </p:animEffect>
                                  </p:childTnLst>
                                </p:cTn>
                              </p:par>
                              <p:par>
                                <p:cTn id="42" presetID="9" presetClass="entr" presetSubtype="0" fill="hold"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dissolve">
                                      <p:cBhvr>
                                        <p:cTn id="44" dur="500"/>
                                        <p:tgtEl>
                                          <p:spTgt spid="37"/>
                                        </p:tgtEl>
                                      </p:cBhvr>
                                    </p:animEffect>
                                  </p:childTnLst>
                                </p:cTn>
                              </p:par>
                              <p:par>
                                <p:cTn id="45" presetID="9"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dissolve">
                                      <p:cBhvr>
                                        <p:cTn id="47" dur="500"/>
                                        <p:tgtEl>
                                          <p:spTgt spid="35"/>
                                        </p:tgtEl>
                                      </p:cBhvr>
                                    </p:animEffect>
                                  </p:childTnLst>
                                </p:cTn>
                              </p:par>
                              <p:par>
                                <p:cTn id="48" presetID="9" presetClass="entr" presetSubtype="0" fill="hold" nodeType="withEffect">
                                  <p:stCondLst>
                                    <p:cond delay="0"/>
                                  </p:stCondLst>
                                  <p:childTnLst>
                                    <p:set>
                                      <p:cBhvr>
                                        <p:cTn id="49" dur="1" fill="hold">
                                          <p:stCondLst>
                                            <p:cond delay="0"/>
                                          </p:stCondLst>
                                        </p:cTn>
                                        <p:tgtEl>
                                          <p:spTgt spid="82960"/>
                                        </p:tgtEl>
                                        <p:attrNameLst>
                                          <p:attrName>style.visibility</p:attrName>
                                        </p:attrNameLst>
                                      </p:cBhvr>
                                      <p:to>
                                        <p:strVal val="visible"/>
                                      </p:to>
                                    </p:set>
                                    <p:animEffect transition="in" filter="dissolve">
                                      <p:cBhvr>
                                        <p:cTn id="50" dur="500"/>
                                        <p:tgtEl>
                                          <p:spTgt spid="8296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6" presetClass="emph" presetSubtype="0" fill="hold" nodeType="clickEffect">
                                  <p:stCondLst>
                                    <p:cond delay="0"/>
                                  </p:stCondLst>
                                  <p:childTnLst>
                                    <p:animEffect transition="out" filter="fade">
                                      <p:cBhvr>
                                        <p:cTn id="54" dur="500" tmFilter="0, 0; .2, .5; .8, .5; 1, 0"/>
                                        <p:tgtEl>
                                          <p:spTgt spid="82952"/>
                                        </p:tgtEl>
                                      </p:cBhvr>
                                    </p:animEffect>
                                    <p:animScale>
                                      <p:cBhvr>
                                        <p:cTn id="55" dur="250" autoRev="1" fill="hold"/>
                                        <p:tgtEl>
                                          <p:spTgt spid="82952"/>
                                        </p:tgtEl>
                                      </p:cBhvr>
                                      <p:by x="105000" y="105000"/>
                                    </p:animScale>
                                  </p:childTnLst>
                                </p:cTn>
                              </p:par>
                              <p:par>
                                <p:cTn id="56" presetID="26" presetClass="emph" presetSubtype="0" fill="hold" nodeType="withEffect">
                                  <p:stCondLst>
                                    <p:cond delay="0"/>
                                  </p:stCondLst>
                                  <p:childTnLst>
                                    <p:animEffect transition="out" filter="fade">
                                      <p:cBhvr>
                                        <p:cTn id="57" dur="500" tmFilter="0, 0; .2, .5; .8, .5; 1, 0"/>
                                        <p:tgtEl>
                                          <p:spTgt spid="82951"/>
                                        </p:tgtEl>
                                      </p:cBhvr>
                                    </p:animEffect>
                                    <p:animScale>
                                      <p:cBhvr>
                                        <p:cTn id="58" dur="250" autoRev="1" fill="hold"/>
                                        <p:tgtEl>
                                          <p:spTgt spid="82951"/>
                                        </p:tgtEl>
                                      </p:cBhvr>
                                      <p:by x="105000" y="105000"/>
                                    </p:animScale>
                                  </p:childTnLst>
                                </p:cTn>
                              </p:par>
                              <p:par>
                                <p:cTn id="59" presetID="26" presetClass="emph" presetSubtype="0" fill="hold" nodeType="withEffect">
                                  <p:stCondLst>
                                    <p:cond delay="0"/>
                                  </p:stCondLst>
                                  <p:childTnLst>
                                    <p:animEffect transition="out" filter="fade">
                                      <p:cBhvr>
                                        <p:cTn id="60" dur="500" tmFilter="0, 0; .2, .5; .8, .5; 1, 0"/>
                                        <p:tgtEl>
                                          <p:spTgt spid="82953"/>
                                        </p:tgtEl>
                                      </p:cBhvr>
                                    </p:animEffect>
                                    <p:animScale>
                                      <p:cBhvr>
                                        <p:cTn id="61" dur="250" autoRev="1" fill="hold"/>
                                        <p:tgtEl>
                                          <p:spTgt spid="82953"/>
                                        </p:tgtEl>
                                      </p:cBhvr>
                                      <p:by x="105000" y="105000"/>
                                    </p:animScale>
                                  </p:childTnLst>
                                </p:cTn>
                              </p:par>
                            </p:childTnLst>
                          </p:cTn>
                        </p:par>
                      </p:childTnLst>
                    </p:cTn>
                  </p:par>
                  <p:par>
                    <p:cTn id="62" fill="hold" nodeType="clickPar">
                      <p:stCondLst>
                        <p:cond delay="indefinite"/>
                      </p:stCondLst>
                      <p:childTnLst>
                        <p:par>
                          <p:cTn id="63" fill="hold" nodeType="withGroup">
                            <p:stCondLst>
                              <p:cond delay="0"/>
                            </p:stCondLst>
                            <p:childTnLst>
                              <p:par>
                                <p:cTn id="64" presetID="26" presetClass="emph" presetSubtype="0" fill="hold" nodeType="clickEffect">
                                  <p:stCondLst>
                                    <p:cond delay="0"/>
                                  </p:stCondLst>
                                  <p:childTnLst>
                                    <p:animEffect transition="out" filter="fade">
                                      <p:cBhvr>
                                        <p:cTn id="65" dur="500" tmFilter="0, 0; .2, .5; .8, .5; 1, 0"/>
                                        <p:tgtEl>
                                          <p:spTgt spid="82949"/>
                                        </p:tgtEl>
                                      </p:cBhvr>
                                    </p:animEffect>
                                    <p:animScale>
                                      <p:cBhvr>
                                        <p:cTn id="66" dur="250" autoRev="1" fill="hold"/>
                                        <p:tgtEl>
                                          <p:spTgt spid="82949"/>
                                        </p:tgtEl>
                                      </p:cBhvr>
                                      <p:by x="105000" y="105000"/>
                                    </p:animScale>
                                  </p:child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dissolve">
                                      <p:cBhvr>
                                        <p:cTn id="71" dur="500"/>
                                        <p:tgtEl>
                                          <p:spTgt spid="13"/>
                                        </p:tgtEl>
                                      </p:cBhvr>
                                    </p:animEffect>
                                  </p:childTnLst>
                                </p:cTn>
                              </p:par>
                              <p:par>
                                <p:cTn id="72" presetID="9" presetClass="entr" presetSubtype="0" fill="hold" nodeType="withEffect">
                                  <p:stCondLst>
                                    <p:cond delay="0"/>
                                  </p:stCondLst>
                                  <p:childTnLst>
                                    <p:set>
                                      <p:cBhvr>
                                        <p:cTn id="73" dur="1" fill="hold">
                                          <p:stCondLst>
                                            <p:cond delay="0"/>
                                          </p:stCondLst>
                                        </p:cTn>
                                        <p:tgtEl>
                                          <p:spTgt spid="82948"/>
                                        </p:tgtEl>
                                        <p:attrNameLst>
                                          <p:attrName>style.visibility</p:attrName>
                                        </p:attrNameLst>
                                      </p:cBhvr>
                                      <p:to>
                                        <p:strVal val="visible"/>
                                      </p:to>
                                    </p:set>
                                    <p:animEffect transition="in" filter="dissolve">
                                      <p:cBhvr>
                                        <p:cTn id="74" dur="500"/>
                                        <p:tgtEl>
                                          <p:spTgt spid="8294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ntr" presetSubtype="0" fill="hold" nodeType="click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dissolve">
                                      <p:cBhvr>
                                        <p:cTn id="79" dur="500"/>
                                        <p:tgtEl>
                                          <p:spTgt spid="20"/>
                                        </p:tgtEl>
                                      </p:cBhvr>
                                    </p:animEffect>
                                  </p:childTnLst>
                                </p:cTn>
                              </p:par>
                              <p:par>
                                <p:cTn id="80" presetID="9" presetClass="entr" presetSubtype="0" fill="hold" nodeType="withEffect">
                                  <p:stCondLst>
                                    <p:cond delay="0"/>
                                  </p:stCondLst>
                                  <p:childTnLst>
                                    <p:set>
                                      <p:cBhvr>
                                        <p:cTn id="81" dur="1" fill="hold">
                                          <p:stCondLst>
                                            <p:cond delay="0"/>
                                          </p:stCondLst>
                                        </p:cTn>
                                        <p:tgtEl>
                                          <p:spTgt spid="82964"/>
                                        </p:tgtEl>
                                        <p:attrNameLst>
                                          <p:attrName>style.visibility</p:attrName>
                                        </p:attrNameLst>
                                      </p:cBhvr>
                                      <p:to>
                                        <p:strVal val="visible"/>
                                      </p:to>
                                    </p:set>
                                    <p:animEffect transition="in" filter="dissolve">
                                      <p:cBhvr>
                                        <p:cTn id="82" dur="500"/>
                                        <p:tgtEl>
                                          <p:spTgt spid="8296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nodeType="click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dissolve">
                                      <p:cBhvr>
                                        <p:cTn id="87" dur="500"/>
                                        <p:tgtEl>
                                          <p:spTgt spid="40"/>
                                        </p:tgtEl>
                                      </p:cBhvr>
                                    </p:animEffect>
                                  </p:childTnLst>
                                </p:cTn>
                              </p:par>
                              <p:par>
                                <p:cTn id="88" presetID="9" presetClass="entr" presetSubtype="0" fill="hold" nodeType="withEffect">
                                  <p:stCondLst>
                                    <p:cond delay="0"/>
                                  </p:stCondLst>
                                  <p:childTnLst>
                                    <p:set>
                                      <p:cBhvr>
                                        <p:cTn id="89" dur="1" fill="hold">
                                          <p:stCondLst>
                                            <p:cond delay="0"/>
                                          </p:stCondLst>
                                        </p:cTn>
                                        <p:tgtEl>
                                          <p:spTgt spid="82950"/>
                                        </p:tgtEl>
                                        <p:attrNameLst>
                                          <p:attrName>style.visibility</p:attrName>
                                        </p:attrNameLst>
                                      </p:cBhvr>
                                      <p:to>
                                        <p:strVal val="visible"/>
                                      </p:to>
                                    </p:set>
                                    <p:animEffect transition="in" filter="dissolve">
                                      <p:cBhvr>
                                        <p:cTn id="90" dur="500"/>
                                        <p:tgtEl>
                                          <p:spTgt spid="82950"/>
                                        </p:tgtEl>
                                      </p:cBhvr>
                                    </p:animEffect>
                                  </p:childTnLst>
                                </p:cTn>
                              </p:par>
                              <p:par>
                                <p:cTn id="91" presetID="9"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dissolve">
                                      <p:cBhvr>
                                        <p:cTn id="93" dur="500"/>
                                        <p:tgtEl>
                                          <p:spTgt spid="39"/>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6" presetClass="emph" presetSubtype="0" fill="hold" nodeType="clickEffect">
                                  <p:stCondLst>
                                    <p:cond delay="0"/>
                                  </p:stCondLst>
                                  <p:childTnLst>
                                    <p:animEffect transition="out" filter="fade">
                                      <p:cBhvr>
                                        <p:cTn id="97" dur="500" tmFilter="0, 0; .2, .5; .8, .5; 1, 0"/>
                                        <p:tgtEl>
                                          <p:spTgt spid="82960"/>
                                        </p:tgtEl>
                                      </p:cBhvr>
                                    </p:animEffect>
                                    <p:animScale>
                                      <p:cBhvr>
                                        <p:cTn id="98" dur="250" autoRev="1" fill="hold"/>
                                        <p:tgtEl>
                                          <p:spTgt spid="82960"/>
                                        </p:tgtEl>
                                      </p:cBhvr>
                                      <p:by x="105000" y="105000"/>
                                    </p:animScale>
                                  </p:childTnLst>
                                </p:cTn>
                              </p:par>
                              <p:par>
                                <p:cTn id="99" presetID="26" presetClass="emph" presetSubtype="0" fill="hold" nodeType="withEffect">
                                  <p:stCondLst>
                                    <p:cond delay="0"/>
                                  </p:stCondLst>
                                  <p:childTnLst>
                                    <p:animEffect transition="out" filter="fade">
                                      <p:cBhvr>
                                        <p:cTn id="100" dur="500" tmFilter="0, 0; .2, .5; .8, .5; 1, 0"/>
                                        <p:tgtEl>
                                          <p:spTgt spid="82964"/>
                                        </p:tgtEl>
                                      </p:cBhvr>
                                    </p:animEffect>
                                    <p:animScale>
                                      <p:cBhvr>
                                        <p:cTn id="101" dur="250" autoRev="1" fill="hold"/>
                                        <p:tgtEl>
                                          <p:spTgt spid="82964"/>
                                        </p:tgtEl>
                                      </p:cBhvr>
                                      <p:by x="105000" y="105000"/>
                                    </p:animScale>
                                  </p:childTnLst>
                                </p:cTn>
                              </p:par>
                            </p:childTnLst>
                          </p:cTn>
                        </p:par>
                      </p:childTnLst>
                    </p:cTn>
                  </p:par>
                  <p:par>
                    <p:cTn id="102" fill="hold" nodeType="clickPar">
                      <p:stCondLst>
                        <p:cond delay="indefinite"/>
                      </p:stCondLst>
                      <p:childTnLst>
                        <p:par>
                          <p:cTn id="103" fill="hold" nodeType="withGroup">
                            <p:stCondLst>
                              <p:cond delay="0"/>
                            </p:stCondLst>
                            <p:childTnLst>
                              <p:par>
                                <p:cTn id="104" presetID="6" presetClass="emph" presetSubtype="0" fill="hold" nodeType="clickEffect">
                                  <p:stCondLst>
                                    <p:cond delay="0"/>
                                  </p:stCondLst>
                                  <p:childTnLst>
                                    <p:animScale>
                                      <p:cBhvr>
                                        <p:cTn id="105" dur="2000" fill="hold"/>
                                        <p:tgtEl>
                                          <p:spTgt spid="45"/>
                                        </p:tgtEl>
                                      </p:cBhvr>
                                      <p:by x="150000" y="150000"/>
                                    </p:animScale>
                                  </p:childTnLst>
                                </p:cTn>
                              </p:par>
                              <p:par>
                                <p:cTn id="106" presetID="6" presetClass="emph" presetSubtype="0" fill="hold" nodeType="withEffect">
                                  <p:stCondLst>
                                    <p:cond delay="0"/>
                                  </p:stCondLst>
                                  <p:childTnLst>
                                    <p:animScale>
                                      <p:cBhvr>
                                        <p:cTn id="107" dur="2000" fill="hold"/>
                                        <p:tgtEl>
                                          <p:spTgt spid="82948"/>
                                        </p:tgtEl>
                                      </p:cBhvr>
                                      <p:by x="150000" y="150000"/>
                                    </p:animScale>
                                  </p:childTnLst>
                                </p:cTn>
                              </p:par>
                              <p:par>
                                <p:cTn id="108" presetID="6" presetClass="emph" presetSubtype="0" fill="hold" nodeType="withEffect">
                                  <p:stCondLst>
                                    <p:cond delay="0"/>
                                  </p:stCondLst>
                                  <p:childTnLst>
                                    <p:animScale>
                                      <p:cBhvr>
                                        <p:cTn id="109" dur="2000" fill="hold"/>
                                        <p:tgtEl>
                                          <p:spTgt spid="41"/>
                                        </p:tgtEl>
                                      </p:cBhvr>
                                      <p:by x="150000" y="150000"/>
                                    </p:animScale>
                                  </p:childTnLst>
                                </p:cTn>
                              </p:par>
                              <p:par>
                                <p:cTn id="110" presetID="6" presetClass="emph" presetSubtype="0" fill="hold" nodeType="withEffect">
                                  <p:stCondLst>
                                    <p:cond delay="0"/>
                                  </p:stCondLst>
                                  <p:childTnLst>
                                    <p:animScale>
                                      <p:cBhvr>
                                        <p:cTn id="111" dur="2000" fill="hold"/>
                                        <p:tgtEl>
                                          <p:spTgt spid="43"/>
                                        </p:tgtEl>
                                      </p:cBhvr>
                                      <p:by x="150000" y="150000"/>
                                    </p:animScale>
                                  </p:childTnLst>
                                </p:cTn>
                              </p:par>
                              <p:par>
                                <p:cTn id="112" presetID="6" presetClass="emph" presetSubtype="0" fill="hold" nodeType="withEffect">
                                  <p:stCondLst>
                                    <p:cond delay="0"/>
                                  </p:stCondLst>
                                  <p:childTnLst>
                                    <p:animScale>
                                      <p:cBhvr>
                                        <p:cTn id="113" dur="2000" fill="hold"/>
                                        <p:tgtEl>
                                          <p:spTgt spid="82960"/>
                                        </p:tgtEl>
                                      </p:cBhvr>
                                      <p:by x="150000" y="150000"/>
                                    </p:animScale>
                                  </p:childTnLst>
                                </p:cTn>
                              </p:par>
                              <p:par>
                                <p:cTn id="114" presetID="6" presetClass="emph" presetSubtype="0" fill="hold" nodeType="withEffect">
                                  <p:stCondLst>
                                    <p:cond delay="0"/>
                                  </p:stCondLst>
                                  <p:childTnLst>
                                    <p:animScale>
                                      <p:cBhvr>
                                        <p:cTn id="115" dur="2000" fill="hold"/>
                                        <p:tgtEl>
                                          <p:spTgt spid="47"/>
                                        </p:tgtEl>
                                      </p:cBhvr>
                                      <p:by x="150000" y="150000"/>
                                    </p:animScale>
                                  </p:childTnLst>
                                </p:cTn>
                              </p:par>
                              <p:par>
                                <p:cTn id="116" presetID="6" presetClass="emph" presetSubtype="0" fill="hold" nodeType="withEffect">
                                  <p:stCondLst>
                                    <p:cond delay="0"/>
                                  </p:stCondLst>
                                  <p:childTnLst>
                                    <p:animScale>
                                      <p:cBhvr>
                                        <p:cTn id="117" dur="2000" fill="hold"/>
                                        <p:tgtEl>
                                          <p:spTgt spid="8295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nimBg="1"/>
      <p:bldP spid="82948" grpId="0" animBg="1"/>
      <p:bldP spid="82948" grpId="1" animBg="1"/>
      <p:bldP spid="82949" grpId="0" animBg="1"/>
      <p:bldP spid="82949" grpId="1" animBg="1"/>
      <p:bldP spid="82950" grpId="0" animBg="1"/>
      <p:bldP spid="82950" grpId="1" animBg="1"/>
      <p:bldP spid="82951" grpId="0" animBg="1"/>
      <p:bldP spid="82951" grpId="1" animBg="1"/>
      <p:bldP spid="82952" grpId="0" animBg="1"/>
      <p:bldP spid="82952" grpId="1" animBg="1"/>
      <p:bldP spid="82953" grpId="0" animBg="1"/>
      <p:bldP spid="82953" grpId="1" animBg="1"/>
      <p:bldP spid="12" grpId="0" animBg="1"/>
      <p:bldP spid="13" grpId="0" animBg="1"/>
      <p:bldP spid="20" grpId="0" animBg="1"/>
      <p:bldP spid="82960" grpId="0" animBg="1"/>
      <p:bldP spid="82960" grpId="1" animBg="1"/>
      <p:bldP spid="82960" grpId="2" animBg="1"/>
      <p:bldP spid="82964" grpId="0" animBg="1"/>
      <p:bldP spid="82964" grpId="1" animBg="1"/>
      <p:bldP spid="39" grpId="0" animBg="1"/>
      <p:bldP spid="40" grpId="0" animBg="1"/>
      <p:bldP spid="4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0FF20333-6EA4-2096-8BBA-52226B1B4285}"/>
              </a:ext>
            </a:extLst>
          </p:cNvPr>
          <p:cNvSpPr>
            <a:spLocks noGrp="1"/>
          </p:cNvSpPr>
          <p:nvPr>
            <p:ph type="title"/>
          </p:nvPr>
        </p:nvSpPr>
        <p:spPr bwMode="auto">
          <a:xfrm>
            <a:off x="3957638" y="0"/>
            <a:ext cx="51863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Deal Entry in the Power Toolset</a:t>
            </a:r>
          </a:p>
        </p:txBody>
      </p:sp>
      <p:pic>
        <p:nvPicPr>
          <p:cNvPr id="71683" name="Picture 4">
            <a:extLst>
              <a:ext uri="{FF2B5EF4-FFF2-40B4-BE49-F238E27FC236}">
                <a16:creationId xmlns:a16="http://schemas.microsoft.com/office/drawing/2014/main" id="{D2E8BA12-7DC3-D171-76E9-BD3FE17D828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85813" y="1357313"/>
            <a:ext cx="7500937" cy="4905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F75D55A4-CF60-97AC-A0D3-81157F3F5E68}"/>
              </a:ext>
            </a:extLst>
          </p:cNvPr>
          <p:cNvSpPr>
            <a:spLocks noGrp="1"/>
          </p:cNvSpPr>
          <p:nvPr>
            <p:ph type="title"/>
          </p:nvPr>
        </p:nvSpPr>
        <p:spPr bwMode="auto">
          <a:xfrm>
            <a:off x="4314825" y="0"/>
            <a:ext cx="48291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a:t>Deal Entry – Secondary Input</a:t>
            </a:r>
          </a:p>
        </p:txBody>
      </p:sp>
      <p:pic>
        <p:nvPicPr>
          <p:cNvPr id="72707" name="Picture 2">
            <a:extLst>
              <a:ext uri="{FF2B5EF4-FFF2-40B4-BE49-F238E27FC236}">
                <a16:creationId xmlns:a16="http://schemas.microsoft.com/office/drawing/2014/main" id="{1A9C2594-3D8F-CF72-ECF5-CE8FA1DFABD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4375" y="1736725"/>
            <a:ext cx="7500938"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A86580FE-D6A6-D994-CFB1-0C43371DF900}"/>
              </a:ext>
            </a:extLst>
          </p:cNvPr>
          <p:cNvSpPr>
            <a:spLocks noGrp="1"/>
          </p:cNvSpPr>
          <p:nvPr>
            <p:ph type="title"/>
          </p:nvPr>
        </p:nvSpPr>
        <p:spPr bwMode="auto">
          <a:xfrm>
            <a:off x="4314825" y="0"/>
            <a:ext cx="48291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4000"/>
              <a:t>Deal Entry – Deal Profile – Physical side</a:t>
            </a:r>
          </a:p>
        </p:txBody>
      </p:sp>
      <p:pic>
        <p:nvPicPr>
          <p:cNvPr id="73731" name="Picture 2">
            <a:extLst>
              <a:ext uri="{FF2B5EF4-FFF2-40B4-BE49-F238E27FC236}">
                <a16:creationId xmlns:a16="http://schemas.microsoft.com/office/drawing/2014/main" id="{AEA25C75-384C-4484-16CC-232DD0B3617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57250" y="1857375"/>
            <a:ext cx="7072313" cy="4383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D2857034-4FED-3167-1D88-FFE2C053A9AF}"/>
              </a:ext>
            </a:extLst>
          </p:cNvPr>
          <p:cNvSpPr>
            <a:spLocks noGrp="1"/>
          </p:cNvSpPr>
          <p:nvPr>
            <p:ph type="title"/>
          </p:nvPr>
        </p:nvSpPr>
        <p:spPr bwMode="auto">
          <a:xfrm>
            <a:off x="4314825" y="0"/>
            <a:ext cx="48291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4000"/>
              <a:t>Deal Entry – Deal Profile – Fixed Side</a:t>
            </a:r>
          </a:p>
        </p:txBody>
      </p:sp>
      <p:pic>
        <p:nvPicPr>
          <p:cNvPr id="74755" name="Picture 2">
            <a:extLst>
              <a:ext uri="{FF2B5EF4-FFF2-40B4-BE49-F238E27FC236}">
                <a16:creationId xmlns:a16="http://schemas.microsoft.com/office/drawing/2014/main" id="{D5AA500A-D106-B365-220C-2F7D1DA13D4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16075" y="1714500"/>
            <a:ext cx="5554663"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B53FCA6E-D1BB-FB68-C7CE-1E92D46FECD6}"/>
              </a:ext>
            </a:extLst>
          </p:cNvPr>
          <p:cNvSpPr>
            <a:spLocks noGrp="1"/>
          </p:cNvSpPr>
          <p:nvPr>
            <p:ph type="title"/>
          </p:nvPr>
        </p:nvSpPr>
        <p:spPr bwMode="auto">
          <a:xfrm>
            <a:off x="4314825" y="0"/>
            <a:ext cx="48291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4000"/>
              <a:t>Deal Entry – Reset – Physical Side</a:t>
            </a:r>
          </a:p>
        </p:txBody>
      </p:sp>
      <p:pic>
        <p:nvPicPr>
          <p:cNvPr id="75779" name="Picture 2">
            <a:extLst>
              <a:ext uri="{FF2B5EF4-FFF2-40B4-BE49-F238E27FC236}">
                <a16:creationId xmlns:a16="http://schemas.microsoft.com/office/drawing/2014/main" id="{32993D02-293A-3CF1-772A-FB34F7D2800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1563" y="1714500"/>
            <a:ext cx="6099175"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F2DAC1D7-5C01-1249-2077-B83D93F7ACD4}"/>
              </a:ext>
            </a:extLst>
          </p:cNvPr>
          <p:cNvSpPr>
            <a:spLocks noGrp="1"/>
          </p:cNvSpPr>
          <p:nvPr>
            <p:ph type="title"/>
          </p:nvPr>
        </p:nvSpPr>
        <p:spPr bwMode="auto">
          <a:xfrm>
            <a:off x="4314825" y="0"/>
            <a:ext cx="48291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sz="4000"/>
              <a:t>Deal Entry – Reset – Physical Side - Priced</a:t>
            </a:r>
          </a:p>
        </p:txBody>
      </p:sp>
      <p:pic>
        <p:nvPicPr>
          <p:cNvPr id="76803" name="Picture 2">
            <a:extLst>
              <a:ext uri="{FF2B5EF4-FFF2-40B4-BE49-F238E27FC236}">
                <a16:creationId xmlns:a16="http://schemas.microsoft.com/office/drawing/2014/main" id="{BE837E14-AF84-FD07-086C-C3B431135CB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14375" y="1857375"/>
            <a:ext cx="74295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10">
            <a:extLst>
              <a:ext uri="{FF2B5EF4-FFF2-40B4-BE49-F238E27FC236}">
                <a16:creationId xmlns:a16="http://schemas.microsoft.com/office/drawing/2014/main" id="{4B9A6615-7708-02EB-D0BA-4044E3D0615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4313" y="1428750"/>
            <a:ext cx="5929312" cy="5019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Title 1">
            <a:extLst>
              <a:ext uri="{FF2B5EF4-FFF2-40B4-BE49-F238E27FC236}">
                <a16:creationId xmlns:a16="http://schemas.microsoft.com/office/drawing/2014/main" id="{F7199802-E105-5F56-6BD1-B512DC611711}"/>
              </a:ext>
            </a:extLst>
          </p:cNvPr>
          <p:cNvSpPr>
            <a:spLocks noGrp="1"/>
          </p:cNvSpPr>
          <p:nvPr>
            <p:ph type="title"/>
          </p:nvPr>
        </p:nvSpPr>
        <p:spPr bwMode="auto">
          <a:xfrm>
            <a:off x="5172075" y="0"/>
            <a:ext cx="3971925" cy="857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Price the Deal</a:t>
            </a:r>
          </a:p>
        </p:txBody>
      </p:sp>
      <p:sp>
        <p:nvSpPr>
          <p:cNvPr id="77828" name="TextBox 4">
            <a:extLst>
              <a:ext uri="{FF2B5EF4-FFF2-40B4-BE49-F238E27FC236}">
                <a16:creationId xmlns:a16="http://schemas.microsoft.com/office/drawing/2014/main" id="{AF35CDFC-5A79-FAD9-A48F-4F94FB08F7BC}"/>
              </a:ext>
            </a:extLst>
          </p:cNvPr>
          <p:cNvSpPr txBox="1">
            <a:spLocks noChangeArrowheads="1"/>
          </p:cNvSpPr>
          <p:nvPr/>
        </p:nvSpPr>
        <p:spPr bwMode="auto">
          <a:xfrm>
            <a:off x="6500813" y="2500313"/>
            <a:ext cx="2643187"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2800" b="1"/>
              <a:t>NPV</a:t>
            </a:r>
          </a:p>
          <a:p>
            <a:pPr eaLnBrk="1" hangingPunct="1"/>
            <a:r>
              <a:rPr lang="en-GB" altLang="en-US"/>
              <a:t>Physical Side + Fixed Side</a:t>
            </a:r>
          </a:p>
        </p:txBody>
      </p:sp>
      <p:sp>
        <p:nvSpPr>
          <p:cNvPr id="7" name="Oval 6">
            <a:extLst>
              <a:ext uri="{FF2B5EF4-FFF2-40B4-BE49-F238E27FC236}">
                <a16:creationId xmlns:a16="http://schemas.microsoft.com/office/drawing/2014/main" id="{4D06DC42-F80B-C4FA-9ADB-6535E0993F7C}"/>
              </a:ext>
            </a:extLst>
          </p:cNvPr>
          <p:cNvSpPr/>
          <p:nvPr/>
        </p:nvSpPr>
        <p:spPr>
          <a:xfrm>
            <a:off x="3786188" y="4286250"/>
            <a:ext cx="1643062" cy="71437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8" name="Oval 7">
            <a:extLst>
              <a:ext uri="{FF2B5EF4-FFF2-40B4-BE49-F238E27FC236}">
                <a16:creationId xmlns:a16="http://schemas.microsoft.com/office/drawing/2014/main" id="{E37B7CCC-4C23-BED7-D937-9CE49F5E3BF3}"/>
              </a:ext>
            </a:extLst>
          </p:cNvPr>
          <p:cNvSpPr/>
          <p:nvPr/>
        </p:nvSpPr>
        <p:spPr>
          <a:xfrm>
            <a:off x="1714500" y="4214813"/>
            <a:ext cx="1643063" cy="71437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cxnSp>
        <p:nvCxnSpPr>
          <p:cNvPr id="10" name="Straight Connector 9">
            <a:extLst>
              <a:ext uri="{FF2B5EF4-FFF2-40B4-BE49-F238E27FC236}">
                <a16:creationId xmlns:a16="http://schemas.microsoft.com/office/drawing/2014/main" id="{34BCDF45-10EB-A4B7-2914-BF97EE4E7859}"/>
              </a:ext>
            </a:extLst>
          </p:cNvPr>
          <p:cNvCxnSpPr>
            <a:stCxn id="7" idx="0"/>
          </p:cNvCxnSpPr>
          <p:nvPr/>
        </p:nvCxnSpPr>
        <p:spPr>
          <a:xfrm rot="16200000" flipV="1">
            <a:off x="3589338" y="3268663"/>
            <a:ext cx="1500187" cy="534987"/>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1D49FE-BF06-89C0-097B-F66D3E58D271}"/>
              </a:ext>
            </a:extLst>
          </p:cNvPr>
          <p:cNvCxnSpPr>
            <a:stCxn id="8" idx="0"/>
          </p:cNvCxnSpPr>
          <p:nvPr/>
        </p:nvCxnSpPr>
        <p:spPr>
          <a:xfrm rot="5400000" flipH="1" flipV="1">
            <a:off x="2589213" y="2732088"/>
            <a:ext cx="1428750" cy="15367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1BCF599-A354-06C5-432C-E6A620C49F32}"/>
              </a:ext>
            </a:extLst>
          </p:cNvPr>
          <p:cNvCxnSpPr/>
          <p:nvPr/>
        </p:nvCxnSpPr>
        <p:spPr>
          <a:xfrm rot="10800000">
            <a:off x="3286125" y="2643188"/>
            <a:ext cx="785813" cy="1428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9">
            <a:extLst>
              <a:ext uri="{FF2B5EF4-FFF2-40B4-BE49-F238E27FC236}">
                <a16:creationId xmlns:a16="http://schemas.microsoft.com/office/drawing/2014/main" id="{E3870E61-13BC-43C8-57CF-4A7A3971A1C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r="15926" b="60715"/>
          <a:stretch>
            <a:fillRect/>
          </a:stretch>
        </p:blipFill>
        <p:spPr bwMode="auto">
          <a:xfrm>
            <a:off x="142875" y="1643063"/>
            <a:ext cx="6858000" cy="2857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Title 1">
            <a:extLst>
              <a:ext uri="{FF2B5EF4-FFF2-40B4-BE49-F238E27FC236}">
                <a16:creationId xmlns:a16="http://schemas.microsoft.com/office/drawing/2014/main" id="{589698B5-5FFB-F5B5-B2C4-4B676C1F1A7C}"/>
              </a:ext>
            </a:extLst>
          </p:cNvPr>
          <p:cNvSpPr>
            <a:spLocks noGrp="1"/>
          </p:cNvSpPr>
          <p:nvPr>
            <p:ph type="title"/>
          </p:nvPr>
        </p:nvSpPr>
        <p:spPr bwMode="auto">
          <a:xfrm>
            <a:off x="4171950" y="0"/>
            <a:ext cx="497205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Pricing the Fixed Side of the deal</a:t>
            </a:r>
          </a:p>
        </p:txBody>
      </p:sp>
      <p:pic>
        <p:nvPicPr>
          <p:cNvPr id="78852" name="Picture 8">
            <a:extLst>
              <a:ext uri="{FF2B5EF4-FFF2-40B4-BE49-F238E27FC236}">
                <a16:creationId xmlns:a16="http://schemas.microsoft.com/office/drawing/2014/main" id="{89389ECE-F290-E6CC-1FFD-47291F7A62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7813" y="1428750"/>
            <a:ext cx="35718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a:extLst>
              <a:ext uri="{FF2B5EF4-FFF2-40B4-BE49-F238E27FC236}">
                <a16:creationId xmlns:a16="http://schemas.microsoft.com/office/drawing/2014/main" id="{87F7AE71-075B-133F-FF0F-6775E0999250}"/>
              </a:ext>
            </a:extLst>
          </p:cNvPr>
          <p:cNvSpPr/>
          <p:nvPr/>
        </p:nvSpPr>
        <p:spPr>
          <a:xfrm>
            <a:off x="7643813" y="5000625"/>
            <a:ext cx="1214437" cy="64293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cxnSp>
        <p:nvCxnSpPr>
          <p:cNvPr id="8" name="Straight Arrow Connector 7">
            <a:extLst>
              <a:ext uri="{FF2B5EF4-FFF2-40B4-BE49-F238E27FC236}">
                <a16:creationId xmlns:a16="http://schemas.microsoft.com/office/drawing/2014/main" id="{CD5244F5-F9DC-4B73-5156-A57317BE9D51}"/>
              </a:ext>
            </a:extLst>
          </p:cNvPr>
          <p:cNvCxnSpPr/>
          <p:nvPr/>
        </p:nvCxnSpPr>
        <p:spPr>
          <a:xfrm rot="10800000">
            <a:off x="3286125" y="3786188"/>
            <a:ext cx="4572000" cy="178593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1A20188F-2A29-2B94-8C0C-10FC4FB5316F}"/>
              </a:ext>
            </a:extLst>
          </p:cNvPr>
          <p:cNvSpPr>
            <a:spLocks noGrp="1"/>
          </p:cNvSpPr>
          <p:nvPr>
            <p:ph type="title"/>
          </p:nvPr>
        </p:nvSpPr>
        <p:spPr bwMode="auto">
          <a:xfrm>
            <a:off x="4529138" y="0"/>
            <a:ext cx="461486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GB" altLang="en-US" sz="3600"/>
              <a:t>Pricing the Physical Side of the deal</a:t>
            </a:r>
          </a:p>
        </p:txBody>
      </p:sp>
      <p:pic>
        <p:nvPicPr>
          <p:cNvPr id="79875" name="Picture 7">
            <a:extLst>
              <a:ext uri="{FF2B5EF4-FFF2-40B4-BE49-F238E27FC236}">
                <a16:creationId xmlns:a16="http://schemas.microsoft.com/office/drawing/2014/main" id="{083473D5-3F4D-E642-4C27-3AFA8D41DF4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r="17346" b="67165"/>
          <a:stretch>
            <a:fillRect/>
          </a:stretch>
        </p:blipFill>
        <p:spPr bwMode="auto">
          <a:xfrm>
            <a:off x="1643063" y="1214438"/>
            <a:ext cx="7281862" cy="3714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6" name="Picture 8">
            <a:extLst>
              <a:ext uri="{FF2B5EF4-FFF2-40B4-BE49-F238E27FC236}">
                <a16:creationId xmlns:a16="http://schemas.microsoft.com/office/drawing/2014/main" id="{70D8B807-213F-474C-3EEE-72C8602F5B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1000125"/>
            <a:ext cx="44291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a:extLst>
              <a:ext uri="{FF2B5EF4-FFF2-40B4-BE49-F238E27FC236}">
                <a16:creationId xmlns:a16="http://schemas.microsoft.com/office/drawing/2014/main" id="{12BA1A6D-56F1-1FFC-E82F-5B6E858DA7BD}"/>
              </a:ext>
            </a:extLst>
          </p:cNvPr>
          <p:cNvSpPr/>
          <p:nvPr/>
        </p:nvSpPr>
        <p:spPr>
          <a:xfrm>
            <a:off x="7215188" y="3429000"/>
            <a:ext cx="1071562" cy="164306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cxnSp>
        <p:nvCxnSpPr>
          <p:cNvPr id="9" name="Shape 8">
            <a:extLst>
              <a:ext uri="{FF2B5EF4-FFF2-40B4-BE49-F238E27FC236}">
                <a16:creationId xmlns:a16="http://schemas.microsoft.com/office/drawing/2014/main" id="{EBC35101-98ED-E78F-4425-511A761ADC29}"/>
              </a:ext>
            </a:extLst>
          </p:cNvPr>
          <p:cNvCxnSpPr/>
          <p:nvPr/>
        </p:nvCxnSpPr>
        <p:spPr>
          <a:xfrm flipV="1">
            <a:off x="2143125" y="4286250"/>
            <a:ext cx="5357813" cy="714375"/>
          </a:xfrm>
          <a:prstGeom prst="bentConnector3">
            <a:avLst>
              <a:gd name="adj1" fmla="val 50000"/>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2006DAE2-A800-FF6E-9D28-508994E11475}"/>
              </a:ext>
            </a:extLst>
          </p:cNvPr>
          <p:cNvSpPr>
            <a:spLocks noGrp="1"/>
          </p:cNvSpPr>
          <p:nvPr>
            <p:ph type="title"/>
          </p:nvPr>
        </p:nvSpPr>
        <p:spPr bwMode="auto">
          <a:xfrm>
            <a:off x="3286125" y="411163"/>
            <a:ext cx="5400675" cy="1017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Modify the deal</a:t>
            </a:r>
          </a:p>
        </p:txBody>
      </p:sp>
      <p:sp>
        <p:nvSpPr>
          <p:cNvPr id="80899" name="Content Placeholder 2">
            <a:extLst>
              <a:ext uri="{FF2B5EF4-FFF2-40B4-BE49-F238E27FC236}">
                <a16:creationId xmlns:a16="http://schemas.microsoft.com/office/drawing/2014/main" id="{B32A3BF5-7263-4DB2-6F13-D0773C091922}"/>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Modify the Deal</a:t>
            </a:r>
          </a:p>
          <a:p>
            <a:pPr eaLnBrk="1" hangingPunct="1"/>
            <a:r>
              <a:rPr lang="en-GB" altLang="en-US"/>
              <a:t>Note the changes to Value of the Deal</a:t>
            </a:r>
          </a:p>
          <a:p>
            <a:pPr eaLnBrk="1" hangingPunct="1"/>
            <a:r>
              <a:rPr lang="en-GB" altLang="en-US"/>
              <a:t>Run a Simulation:</a:t>
            </a:r>
          </a:p>
          <a:p>
            <a:pPr eaLnBrk="1" hangingPunct="1"/>
            <a:endParaRPr lang="en-GB" altLang="en-US"/>
          </a:p>
        </p:txBody>
      </p:sp>
      <p:pic>
        <p:nvPicPr>
          <p:cNvPr id="80900" name="Picture 3">
            <a:extLst>
              <a:ext uri="{FF2B5EF4-FFF2-40B4-BE49-F238E27FC236}">
                <a16:creationId xmlns:a16="http://schemas.microsoft.com/office/drawing/2014/main" id="{97069C4F-B83B-0C33-7F11-8AFBE57FB2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3500438"/>
            <a:ext cx="650557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B459A5B6-083B-7B9E-A235-216D1AAFC0C4}"/>
              </a:ext>
            </a:extLst>
          </p:cNvPr>
          <p:cNvSpPr>
            <a:spLocks noGrp="1"/>
          </p:cNvSpPr>
          <p:nvPr>
            <p:ph type="title"/>
          </p:nvPr>
        </p:nvSpPr>
        <p:spPr bwMode="auto">
          <a:xfrm>
            <a:off x="5172075" y="0"/>
            <a:ext cx="397192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Validate the Deal</a:t>
            </a:r>
          </a:p>
        </p:txBody>
      </p:sp>
      <p:pic>
        <p:nvPicPr>
          <p:cNvPr id="81923" name="Picture 2">
            <a:extLst>
              <a:ext uri="{FF2B5EF4-FFF2-40B4-BE49-F238E27FC236}">
                <a16:creationId xmlns:a16="http://schemas.microsoft.com/office/drawing/2014/main" id="{3B6E2364-224A-344F-8E1C-F4C62E3E717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25026" t="33147" r="20370" b="8453"/>
          <a:stretch>
            <a:fillRect/>
          </a:stretch>
        </p:blipFill>
        <p:spPr bwMode="auto">
          <a:xfrm>
            <a:off x="0" y="1428750"/>
            <a:ext cx="8429625" cy="4857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0094C47-683B-CBC6-F65F-3F78ABC67BF8}"/>
              </a:ext>
            </a:extLst>
          </p:cNvPr>
          <p:cNvSpPr>
            <a:spLocks noGrp="1" noChangeArrowheads="1"/>
          </p:cNvSpPr>
          <p:nvPr>
            <p:ph type="title"/>
          </p:nvPr>
        </p:nvSpPr>
        <p:spPr bwMode="auto">
          <a:xfrm>
            <a:off x="3643313" y="0"/>
            <a:ext cx="5186362" cy="1500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Portfolio Revaluations</a:t>
            </a:r>
          </a:p>
        </p:txBody>
      </p:sp>
      <p:sp>
        <p:nvSpPr>
          <p:cNvPr id="82947" name="Rectangle 3">
            <a:extLst>
              <a:ext uri="{FF2B5EF4-FFF2-40B4-BE49-F238E27FC236}">
                <a16:creationId xmlns:a16="http://schemas.microsoft.com/office/drawing/2014/main" id="{C037DA5F-DEDE-A1A7-462C-993520D4C96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Simulations are a list of results for pricing, valuing &amp; accounting for transactions</a:t>
            </a:r>
          </a:p>
          <a:p>
            <a:pPr eaLnBrk="1" hangingPunct="1"/>
            <a:r>
              <a:rPr lang="en-GB" altLang="en-US"/>
              <a:t>Run simulations against transactions </a:t>
            </a:r>
          </a:p>
          <a:p>
            <a:pPr eaLnBrk="1" hangingPunct="1"/>
            <a:r>
              <a:rPr lang="en-GB" altLang="en-US"/>
              <a:t>Can be run </a:t>
            </a:r>
            <a:r>
              <a:rPr lang="en-GB" altLang="en-US" b="1"/>
              <a:t>on-the-fly</a:t>
            </a:r>
            <a:r>
              <a:rPr lang="en-GB" altLang="en-US"/>
              <a:t> or as part of </a:t>
            </a:r>
            <a:r>
              <a:rPr lang="en-GB" altLang="en-US" b="1"/>
              <a:t>EOD</a:t>
            </a:r>
          </a:p>
          <a:p>
            <a:pPr lvl="1" eaLnBrk="1" hangingPunct="1"/>
            <a:r>
              <a:rPr lang="en-GB" altLang="en-US" b="1"/>
              <a:t>Accrued interest calculations</a:t>
            </a:r>
          </a:p>
          <a:p>
            <a:pPr lvl="1" eaLnBrk="1" hangingPunct="1"/>
            <a:r>
              <a:rPr lang="en-GB" altLang="en-US" b="1"/>
              <a:t>Cash settlements</a:t>
            </a:r>
          </a:p>
          <a:p>
            <a:pPr lvl="1" eaLnBrk="1" hangingPunct="1"/>
            <a:r>
              <a:rPr lang="en-GB" altLang="en-US" b="1"/>
              <a:t>MTM</a:t>
            </a:r>
          </a:p>
          <a:p>
            <a:pPr lvl="1" eaLnBrk="1" hangingPunct="1"/>
            <a:r>
              <a:rPr lang="en-GB" altLang="en-US" b="1"/>
              <a:t>Realised PNL</a:t>
            </a:r>
          </a:p>
        </p:txBody>
      </p:sp>
      <p:pic>
        <p:nvPicPr>
          <p:cNvPr id="82948" name="Picture 5" descr="dollar_folder_small">
            <a:extLst>
              <a:ext uri="{FF2B5EF4-FFF2-40B4-BE49-F238E27FC236}">
                <a16:creationId xmlns:a16="http://schemas.microsoft.com/office/drawing/2014/main" id="{AF562956-2B05-514E-9EB4-2D5192311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886200"/>
            <a:ext cx="2133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2CD2511D-04C7-136C-601E-277A42528410}"/>
              </a:ext>
            </a:extLst>
          </p:cNvPr>
          <p:cNvSpPr>
            <a:spLocks noGrp="1" noChangeArrowheads="1"/>
          </p:cNvSpPr>
          <p:nvPr>
            <p:ph type="title"/>
          </p:nvPr>
        </p:nvSpPr>
        <p:spPr bwMode="auto">
          <a:xfrm>
            <a:off x="4314825" y="0"/>
            <a:ext cx="4829175"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Trade Entry</a:t>
            </a:r>
          </a:p>
        </p:txBody>
      </p:sp>
      <p:sp>
        <p:nvSpPr>
          <p:cNvPr id="183299" name="Rectangle 3">
            <a:extLst>
              <a:ext uri="{FF2B5EF4-FFF2-40B4-BE49-F238E27FC236}">
                <a16:creationId xmlns:a16="http://schemas.microsoft.com/office/drawing/2014/main" id="{2012DFCD-EDBF-66CF-374D-F5E5D5687D6B}"/>
              </a:ext>
            </a:extLst>
          </p:cNvPr>
          <p:cNvSpPr>
            <a:spLocks noGrp="1" noChangeArrowheads="1"/>
          </p:cNvSpPr>
          <p:nvPr>
            <p:ph type="body" idx="1"/>
          </p:nvPr>
        </p:nvSpPr>
        <p:spPr bwMode="auto">
          <a:xfrm>
            <a:off x="642938" y="1000125"/>
            <a:ext cx="7772400" cy="5286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GB" altLang="en-US" sz="2400" b="1"/>
              <a:t>TOOLSETS</a:t>
            </a:r>
          </a:p>
          <a:p>
            <a:pPr eaLnBrk="1" hangingPunct="1"/>
            <a:r>
              <a:rPr lang="en-GB" altLang="en-US" sz="2400"/>
              <a:t>Represents a specific market / Group of similar instruments</a:t>
            </a:r>
          </a:p>
          <a:p>
            <a:pPr eaLnBrk="1" hangingPunct="1"/>
            <a:r>
              <a:rPr lang="en-GB" altLang="en-US" sz="2400"/>
              <a:t>Enter one deal at a time</a:t>
            </a:r>
          </a:p>
          <a:p>
            <a:pPr eaLnBrk="1" hangingPunct="1"/>
            <a:r>
              <a:rPr lang="en-GB" altLang="en-US" sz="2400"/>
              <a:t>Multiple fields of information</a:t>
            </a:r>
          </a:p>
          <a:p>
            <a:pPr eaLnBrk="1" hangingPunct="1"/>
            <a:endParaRPr lang="en-GB" altLang="en-US" sz="2400"/>
          </a:p>
          <a:p>
            <a:pPr eaLnBrk="1" hangingPunct="1">
              <a:buFontTx/>
              <a:buNone/>
            </a:pPr>
            <a:r>
              <a:rPr lang="en-GB" altLang="en-US" sz="2400" b="1"/>
              <a:t>TRADER DESKTOP</a:t>
            </a:r>
          </a:p>
          <a:p>
            <a:pPr eaLnBrk="1" hangingPunct="1"/>
            <a:r>
              <a:rPr lang="en-US" altLang="en-US" sz="2400"/>
              <a:t>Generic or for a specific instrument</a:t>
            </a:r>
          </a:p>
          <a:p>
            <a:pPr eaLnBrk="1" hangingPunct="1"/>
            <a:r>
              <a:rPr lang="en-US" altLang="en-US" sz="2400"/>
              <a:t>Enter multiple deals at a time</a:t>
            </a:r>
          </a:p>
          <a:p>
            <a:pPr eaLnBrk="1" hangingPunct="1"/>
            <a:r>
              <a:rPr lang="en-US" altLang="en-US" sz="2400"/>
              <a:t>User configurable (fields, columns, and push buttons)</a:t>
            </a:r>
          </a:p>
          <a:p>
            <a:pPr eaLnBrk="1" hangingPunct="1"/>
            <a:r>
              <a:rPr lang="en-US" altLang="en-US" sz="2400"/>
              <a:t>Can enter default values</a:t>
            </a:r>
          </a:p>
          <a:p>
            <a:pPr eaLnBrk="1" hangingPunct="1"/>
            <a:endParaRPr lang="en-GB" altLang="en-US"/>
          </a:p>
          <a:p>
            <a:pPr eaLnBrk="1" hangingPunct="1"/>
            <a:endParaRPr lang="en-GB" altLang="en-US"/>
          </a:p>
        </p:txBody>
      </p:sp>
      <p:pic>
        <p:nvPicPr>
          <p:cNvPr id="5" name="Picture 4" descr="bd06731_">
            <a:extLst>
              <a:ext uri="{FF2B5EF4-FFF2-40B4-BE49-F238E27FC236}">
                <a16:creationId xmlns:a16="http://schemas.microsoft.com/office/drawing/2014/main" id="{5D0446DC-3624-449D-E90D-6D417C92A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5125" y="2428875"/>
            <a:ext cx="1598613"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afterEffect">
                                  <p:stCondLst>
                                    <p:cond delay="0"/>
                                  </p:stCondLst>
                                  <p:childTnLst>
                                    <p:set>
                                      <p:cBhvr>
                                        <p:cTn id="6" dur="1" fill="hold">
                                          <p:stCondLst>
                                            <p:cond delay="0"/>
                                          </p:stCondLst>
                                        </p:cTn>
                                        <p:tgtEl>
                                          <p:spTgt spid="183298"/>
                                        </p:tgtEl>
                                        <p:attrNameLst>
                                          <p:attrName>style.visibility</p:attrName>
                                        </p:attrNameLst>
                                      </p:cBhvr>
                                      <p:to>
                                        <p:strVal val="visible"/>
                                      </p:to>
                                    </p:set>
                                    <p:anim calcmode="lin" valueType="num">
                                      <p:cBhvr>
                                        <p:cTn id="7" dur="500" fill="hold"/>
                                        <p:tgtEl>
                                          <p:spTgt spid="183298"/>
                                        </p:tgtEl>
                                        <p:attrNameLst>
                                          <p:attrName>ppt_w</p:attrName>
                                        </p:attrNameLst>
                                      </p:cBhvr>
                                      <p:tavLst>
                                        <p:tav tm="0">
                                          <p:val>
                                            <p:fltVal val="0"/>
                                          </p:val>
                                        </p:tav>
                                        <p:tav tm="100000">
                                          <p:val>
                                            <p:strVal val="#ppt_w"/>
                                          </p:val>
                                        </p:tav>
                                      </p:tavLst>
                                    </p:anim>
                                    <p:anim calcmode="lin" valueType="num">
                                      <p:cBhvr>
                                        <p:cTn id="8" dur="500" fill="hold"/>
                                        <p:tgtEl>
                                          <p:spTgt spid="183298"/>
                                        </p:tgtEl>
                                        <p:attrNameLst>
                                          <p:attrName>ppt_h</p:attrName>
                                        </p:attrNameLst>
                                      </p:cBhvr>
                                      <p:tavLst>
                                        <p:tav tm="0">
                                          <p:val>
                                            <p:fltVal val="0"/>
                                          </p:val>
                                        </p:tav>
                                        <p:tav tm="100000">
                                          <p:val>
                                            <p:strVal val="#ppt_h"/>
                                          </p:val>
                                        </p:tav>
                                      </p:tavLst>
                                    </p:anim>
                                    <p:animEffect transition="in" filter="fade">
                                      <p:cBhvr>
                                        <p:cTn id="9" dur="500"/>
                                        <p:tgtEl>
                                          <p:spTgt spid="183298"/>
                                        </p:tgtEl>
                                      </p:cBhvr>
                                    </p:animEffect>
                                  </p:childTnLst>
                                </p:cTn>
                              </p:par>
                            </p:childTnLst>
                          </p:cTn>
                        </p:par>
                        <p:par>
                          <p:cTn id="10" fill="hold" nodeType="afterGroup">
                            <p:stCondLst>
                              <p:cond delay="500"/>
                            </p:stCondLst>
                            <p:childTnLst>
                              <p:par>
                                <p:cTn id="11" presetID="53" presetClass="entr" presetSubtype="0" fill="hold" nodeType="afterEffect">
                                  <p:stCondLst>
                                    <p:cond delay="0"/>
                                  </p:stCondLst>
                                  <p:childTnLst>
                                    <p:set>
                                      <p:cBhvr>
                                        <p:cTn id="12" dur="1" fill="hold">
                                          <p:stCondLst>
                                            <p:cond delay="0"/>
                                          </p:stCondLst>
                                        </p:cTn>
                                        <p:tgtEl>
                                          <p:spTgt spid="183299">
                                            <p:txEl>
                                              <p:pRg st="0" end="0"/>
                                            </p:txEl>
                                          </p:spTgt>
                                        </p:tgtEl>
                                        <p:attrNameLst>
                                          <p:attrName>style.visibility</p:attrName>
                                        </p:attrNameLst>
                                      </p:cBhvr>
                                      <p:to>
                                        <p:strVal val="visible"/>
                                      </p:to>
                                    </p:set>
                                    <p:anim calcmode="lin" valueType="num">
                                      <p:cBhvr>
                                        <p:cTn id="13" dur="500" fill="hold"/>
                                        <p:tgtEl>
                                          <p:spTgt spid="183299">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83299">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183299">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183299">
                                            <p:txEl>
                                              <p:pRg st="1" end="1"/>
                                            </p:txEl>
                                          </p:spTgt>
                                        </p:tgtEl>
                                        <p:attrNameLst>
                                          <p:attrName>style.visibility</p:attrName>
                                        </p:attrNameLst>
                                      </p:cBhvr>
                                      <p:to>
                                        <p:strVal val="visible"/>
                                      </p:to>
                                    </p:set>
                                    <p:anim calcmode="lin" valueType="num">
                                      <p:cBhvr>
                                        <p:cTn id="20" dur="500" fill="hold"/>
                                        <p:tgtEl>
                                          <p:spTgt spid="183299">
                                            <p:txEl>
                                              <p:pRg st="1" end="1"/>
                                            </p:txEl>
                                          </p:spTgt>
                                        </p:tgtEl>
                                        <p:attrNameLst>
                                          <p:attrName>ppt_w</p:attrName>
                                        </p:attrNameLst>
                                      </p:cBhvr>
                                      <p:tavLst>
                                        <p:tav tm="0">
                                          <p:val>
                                            <p:fltVal val="0"/>
                                          </p:val>
                                        </p:tav>
                                        <p:tav tm="100000">
                                          <p:val>
                                            <p:strVal val="#ppt_w"/>
                                          </p:val>
                                        </p:tav>
                                      </p:tavLst>
                                    </p:anim>
                                    <p:anim calcmode="lin" valueType="num">
                                      <p:cBhvr>
                                        <p:cTn id="21" dur="500" fill="hold"/>
                                        <p:tgtEl>
                                          <p:spTgt spid="183299">
                                            <p:txEl>
                                              <p:pRg st="1" end="1"/>
                                            </p:txEl>
                                          </p:spTgt>
                                        </p:tgtEl>
                                        <p:attrNameLst>
                                          <p:attrName>ppt_h</p:attrName>
                                        </p:attrNameLst>
                                      </p:cBhvr>
                                      <p:tavLst>
                                        <p:tav tm="0">
                                          <p:val>
                                            <p:fltVal val="0"/>
                                          </p:val>
                                        </p:tav>
                                        <p:tav tm="100000">
                                          <p:val>
                                            <p:strVal val="#ppt_h"/>
                                          </p:val>
                                        </p:tav>
                                      </p:tavLst>
                                    </p:anim>
                                    <p:animEffect transition="in" filter="fade">
                                      <p:cBhvr>
                                        <p:cTn id="22" dur="500"/>
                                        <p:tgtEl>
                                          <p:spTgt spid="183299">
                                            <p:txEl>
                                              <p:pRg st="1" end="1"/>
                                            </p:txEl>
                                          </p:spTgt>
                                        </p:tgtEl>
                                      </p:cBhvr>
                                    </p:animEffect>
                                  </p:childTnLst>
                                </p:cTn>
                              </p:par>
                            </p:childTnLst>
                          </p:cTn>
                        </p:par>
                        <p:par>
                          <p:cTn id="23" fill="hold" nodeType="afterGroup">
                            <p:stCondLst>
                              <p:cond delay="500"/>
                            </p:stCondLst>
                            <p:childTnLst>
                              <p:par>
                                <p:cTn id="24" presetID="53" presetClass="entr" presetSubtype="0" fill="hold" nodeType="afterEffect">
                                  <p:stCondLst>
                                    <p:cond delay="0"/>
                                  </p:stCondLst>
                                  <p:childTnLst>
                                    <p:set>
                                      <p:cBhvr>
                                        <p:cTn id="25" dur="1" fill="hold">
                                          <p:stCondLst>
                                            <p:cond delay="0"/>
                                          </p:stCondLst>
                                        </p:cTn>
                                        <p:tgtEl>
                                          <p:spTgt spid="183299">
                                            <p:txEl>
                                              <p:pRg st="2" end="2"/>
                                            </p:txEl>
                                          </p:spTgt>
                                        </p:tgtEl>
                                        <p:attrNameLst>
                                          <p:attrName>style.visibility</p:attrName>
                                        </p:attrNameLst>
                                      </p:cBhvr>
                                      <p:to>
                                        <p:strVal val="visible"/>
                                      </p:to>
                                    </p:set>
                                    <p:anim calcmode="lin" valueType="num">
                                      <p:cBhvr>
                                        <p:cTn id="26" dur="500" fill="hold"/>
                                        <p:tgtEl>
                                          <p:spTgt spid="183299">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183299">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183299">
                                            <p:txEl>
                                              <p:pRg st="2" end="2"/>
                                            </p:txEl>
                                          </p:spTgt>
                                        </p:tgtEl>
                                      </p:cBhvr>
                                    </p:animEffect>
                                  </p:childTnLst>
                                </p:cTn>
                              </p:par>
                            </p:childTnLst>
                          </p:cTn>
                        </p:par>
                        <p:par>
                          <p:cTn id="29" fill="hold" nodeType="afterGroup">
                            <p:stCondLst>
                              <p:cond delay="1000"/>
                            </p:stCondLst>
                            <p:childTnLst>
                              <p:par>
                                <p:cTn id="30" presetID="53" presetClass="entr" presetSubtype="0" fill="hold" nodeType="afterEffect">
                                  <p:stCondLst>
                                    <p:cond delay="0"/>
                                  </p:stCondLst>
                                  <p:childTnLst>
                                    <p:set>
                                      <p:cBhvr>
                                        <p:cTn id="31" dur="1" fill="hold">
                                          <p:stCondLst>
                                            <p:cond delay="0"/>
                                          </p:stCondLst>
                                        </p:cTn>
                                        <p:tgtEl>
                                          <p:spTgt spid="183299">
                                            <p:txEl>
                                              <p:pRg st="3" end="3"/>
                                            </p:txEl>
                                          </p:spTgt>
                                        </p:tgtEl>
                                        <p:attrNameLst>
                                          <p:attrName>style.visibility</p:attrName>
                                        </p:attrNameLst>
                                      </p:cBhvr>
                                      <p:to>
                                        <p:strVal val="visible"/>
                                      </p:to>
                                    </p:set>
                                    <p:anim calcmode="lin" valueType="num">
                                      <p:cBhvr>
                                        <p:cTn id="32" dur="500" fill="hold"/>
                                        <p:tgtEl>
                                          <p:spTgt spid="183299">
                                            <p:txEl>
                                              <p:pRg st="3" end="3"/>
                                            </p:txEl>
                                          </p:spTgt>
                                        </p:tgtEl>
                                        <p:attrNameLst>
                                          <p:attrName>ppt_w</p:attrName>
                                        </p:attrNameLst>
                                      </p:cBhvr>
                                      <p:tavLst>
                                        <p:tav tm="0">
                                          <p:val>
                                            <p:fltVal val="0"/>
                                          </p:val>
                                        </p:tav>
                                        <p:tav tm="100000">
                                          <p:val>
                                            <p:strVal val="#ppt_w"/>
                                          </p:val>
                                        </p:tav>
                                      </p:tavLst>
                                    </p:anim>
                                    <p:anim calcmode="lin" valueType="num">
                                      <p:cBhvr>
                                        <p:cTn id="33" dur="500" fill="hold"/>
                                        <p:tgtEl>
                                          <p:spTgt spid="183299">
                                            <p:txEl>
                                              <p:pRg st="3" end="3"/>
                                            </p:txEl>
                                          </p:spTgt>
                                        </p:tgtEl>
                                        <p:attrNameLst>
                                          <p:attrName>ppt_h</p:attrName>
                                        </p:attrNameLst>
                                      </p:cBhvr>
                                      <p:tavLst>
                                        <p:tav tm="0">
                                          <p:val>
                                            <p:fltVal val="0"/>
                                          </p:val>
                                        </p:tav>
                                        <p:tav tm="100000">
                                          <p:val>
                                            <p:strVal val="#ppt_h"/>
                                          </p:val>
                                        </p:tav>
                                      </p:tavLst>
                                    </p:anim>
                                    <p:animEffect transition="in" filter="fade">
                                      <p:cBhvr>
                                        <p:cTn id="34" dur="500"/>
                                        <p:tgtEl>
                                          <p:spTgt spid="183299">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3" presetClass="entr" presetSubtype="0" fill="hold" nodeType="clickEffect">
                                  <p:stCondLst>
                                    <p:cond delay="0"/>
                                  </p:stCondLst>
                                  <p:childTnLst>
                                    <p:set>
                                      <p:cBhvr>
                                        <p:cTn id="38" dur="1" fill="hold">
                                          <p:stCondLst>
                                            <p:cond delay="0"/>
                                          </p:stCondLst>
                                        </p:cTn>
                                        <p:tgtEl>
                                          <p:spTgt spid="183299">
                                            <p:txEl>
                                              <p:pRg st="5" end="5"/>
                                            </p:txEl>
                                          </p:spTgt>
                                        </p:tgtEl>
                                        <p:attrNameLst>
                                          <p:attrName>style.visibility</p:attrName>
                                        </p:attrNameLst>
                                      </p:cBhvr>
                                      <p:to>
                                        <p:strVal val="visible"/>
                                      </p:to>
                                    </p:set>
                                    <p:anim calcmode="lin" valueType="num">
                                      <p:cBhvr>
                                        <p:cTn id="39" dur="500" fill="hold"/>
                                        <p:tgtEl>
                                          <p:spTgt spid="183299">
                                            <p:txEl>
                                              <p:pRg st="5" end="5"/>
                                            </p:txEl>
                                          </p:spTgt>
                                        </p:tgtEl>
                                        <p:attrNameLst>
                                          <p:attrName>ppt_w</p:attrName>
                                        </p:attrNameLst>
                                      </p:cBhvr>
                                      <p:tavLst>
                                        <p:tav tm="0">
                                          <p:val>
                                            <p:fltVal val="0"/>
                                          </p:val>
                                        </p:tav>
                                        <p:tav tm="100000">
                                          <p:val>
                                            <p:strVal val="#ppt_w"/>
                                          </p:val>
                                        </p:tav>
                                      </p:tavLst>
                                    </p:anim>
                                    <p:anim calcmode="lin" valueType="num">
                                      <p:cBhvr>
                                        <p:cTn id="40" dur="500" fill="hold"/>
                                        <p:tgtEl>
                                          <p:spTgt spid="183299">
                                            <p:txEl>
                                              <p:pRg st="5" end="5"/>
                                            </p:txEl>
                                          </p:spTgt>
                                        </p:tgtEl>
                                        <p:attrNameLst>
                                          <p:attrName>ppt_h</p:attrName>
                                        </p:attrNameLst>
                                      </p:cBhvr>
                                      <p:tavLst>
                                        <p:tav tm="0">
                                          <p:val>
                                            <p:fltVal val="0"/>
                                          </p:val>
                                        </p:tav>
                                        <p:tav tm="100000">
                                          <p:val>
                                            <p:strVal val="#ppt_h"/>
                                          </p:val>
                                        </p:tav>
                                      </p:tavLst>
                                    </p:anim>
                                    <p:animEffect transition="in" filter="fade">
                                      <p:cBhvr>
                                        <p:cTn id="41" dur="500"/>
                                        <p:tgtEl>
                                          <p:spTgt spid="183299">
                                            <p:txEl>
                                              <p:pRg st="5" end="5"/>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3" presetClass="entr" presetSubtype="0" fill="hold" nodeType="clickEffect">
                                  <p:stCondLst>
                                    <p:cond delay="0"/>
                                  </p:stCondLst>
                                  <p:childTnLst>
                                    <p:set>
                                      <p:cBhvr>
                                        <p:cTn id="45" dur="1" fill="hold">
                                          <p:stCondLst>
                                            <p:cond delay="0"/>
                                          </p:stCondLst>
                                        </p:cTn>
                                        <p:tgtEl>
                                          <p:spTgt spid="183299">
                                            <p:txEl>
                                              <p:pRg st="6" end="6"/>
                                            </p:txEl>
                                          </p:spTgt>
                                        </p:tgtEl>
                                        <p:attrNameLst>
                                          <p:attrName>style.visibility</p:attrName>
                                        </p:attrNameLst>
                                      </p:cBhvr>
                                      <p:to>
                                        <p:strVal val="visible"/>
                                      </p:to>
                                    </p:set>
                                    <p:anim calcmode="lin" valueType="num">
                                      <p:cBhvr>
                                        <p:cTn id="46" dur="500" fill="hold"/>
                                        <p:tgtEl>
                                          <p:spTgt spid="183299">
                                            <p:txEl>
                                              <p:pRg st="6" end="6"/>
                                            </p:txEl>
                                          </p:spTgt>
                                        </p:tgtEl>
                                        <p:attrNameLst>
                                          <p:attrName>ppt_w</p:attrName>
                                        </p:attrNameLst>
                                      </p:cBhvr>
                                      <p:tavLst>
                                        <p:tav tm="0">
                                          <p:val>
                                            <p:fltVal val="0"/>
                                          </p:val>
                                        </p:tav>
                                        <p:tav tm="100000">
                                          <p:val>
                                            <p:strVal val="#ppt_w"/>
                                          </p:val>
                                        </p:tav>
                                      </p:tavLst>
                                    </p:anim>
                                    <p:anim calcmode="lin" valueType="num">
                                      <p:cBhvr>
                                        <p:cTn id="47" dur="500" fill="hold"/>
                                        <p:tgtEl>
                                          <p:spTgt spid="183299">
                                            <p:txEl>
                                              <p:pRg st="6" end="6"/>
                                            </p:txEl>
                                          </p:spTgt>
                                        </p:tgtEl>
                                        <p:attrNameLst>
                                          <p:attrName>ppt_h</p:attrName>
                                        </p:attrNameLst>
                                      </p:cBhvr>
                                      <p:tavLst>
                                        <p:tav tm="0">
                                          <p:val>
                                            <p:fltVal val="0"/>
                                          </p:val>
                                        </p:tav>
                                        <p:tav tm="100000">
                                          <p:val>
                                            <p:strVal val="#ppt_h"/>
                                          </p:val>
                                        </p:tav>
                                      </p:tavLst>
                                    </p:anim>
                                    <p:animEffect transition="in" filter="fade">
                                      <p:cBhvr>
                                        <p:cTn id="48" dur="500"/>
                                        <p:tgtEl>
                                          <p:spTgt spid="183299">
                                            <p:txEl>
                                              <p:pRg st="6" end="6"/>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0" fill="hold" nodeType="clickEffect">
                                  <p:stCondLst>
                                    <p:cond delay="0"/>
                                  </p:stCondLst>
                                  <p:childTnLst>
                                    <p:set>
                                      <p:cBhvr>
                                        <p:cTn id="52" dur="1" fill="hold">
                                          <p:stCondLst>
                                            <p:cond delay="0"/>
                                          </p:stCondLst>
                                        </p:cTn>
                                        <p:tgtEl>
                                          <p:spTgt spid="183299">
                                            <p:txEl>
                                              <p:pRg st="7" end="7"/>
                                            </p:txEl>
                                          </p:spTgt>
                                        </p:tgtEl>
                                        <p:attrNameLst>
                                          <p:attrName>style.visibility</p:attrName>
                                        </p:attrNameLst>
                                      </p:cBhvr>
                                      <p:to>
                                        <p:strVal val="visible"/>
                                      </p:to>
                                    </p:set>
                                    <p:anim calcmode="lin" valueType="num">
                                      <p:cBhvr>
                                        <p:cTn id="53" dur="500" fill="hold"/>
                                        <p:tgtEl>
                                          <p:spTgt spid="183299">
                                            <p:txEl>
                                              <p:pRg st="7" end="7"/>
                                            </p:txEl>
                                          </p:spTgt>
                                        </p:tgtEl>
                                        <p:attrNameLst>
                                          <p:attrName>ppt_w</p:attrName>
                                        </p:attrNameLst>
                                      </p:cBhvr>
                                      <p:tavLst>
                                        <p:tav tm="0">
                                          <p:val>
                                            <p:fltVal val="0"/>
                                          </p:val>
                                        </p:tav>
                                        <p:tav tm="100000">
                                          <p:val>
                                            <p:strVal val="#ppt_w"/>
                                          </p:val>
                                        </p:tav>
                                      </p:tavLst>
                                    </p:anim>
                                    <p:anim calcmode="lin" valueType="num">
                                      <p:cBhvr>
                                        <p:cTn id="54" dur="500" fill="hold"/>
                                        <p:tgtEl>
                                          <p:spTgt spid="183299">
                                            <p:txEl>
                                              <p:pRg st="7" end="7"/>
                                            </p:txEl>
                                          </p:spTgt>
                                        </p:tgtEl>
                                        <p:attrNameLst>
                                          <p:attrName>ppt_h</p:attrName>
                                        </p:attrNameLst>
                                      </p:cBhvr>
                                      <p:tavLst>
                                        <p:tav tm="0">
                                          <p:val>
                                            <p:fltVal val="0"/>
                                          </p:val>
                                        </p:tav>
                                        <p:tav tm="100000">
                                          <p:val>
                                            <p:strVal val="#ppt_h"/>
                                          </p:val>
                                        </p:tav>
                                      </p:tavLst>
                                    </p:anim>
                                    <p:animEffect transition="in" filter="fade">
                                      <p:cBhvr>
                                        <p:cTn id="55" dur="500"/>
                                        <p:tgtEl>
                                          <p:spTgt spid="183299">
                                            <p:txEl>
                                              <p:pRg st="7" end="7"/>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ntr" presetSubtype="0" fill="hold" nodeType="clickEffect">
                                  <p:stCondLst>
                                    <p:cond delay="0"/>
                                  </p:stCondLst>
                                  <p:childTnLst>
                                    <p:set>
                                      <p:cBhvr>
                                        <p:cTn id="59" dur="1" fill="hold">
                                          <p:stCondLst>
                                            <p:cond delay="0"/>
                                          </p:stCondLst>
                                        </p:cTn>
                                        <p:tgtEl>
                                          <p:spTgt spid="183299">
                                            <p:txEl>
                                              <p:pRg st="8" end="8"/>
                                            </p:txEl>
                                          </p:spTgt>
                                        </p:tgtEl>
                                        <p:attrNameLst>
                                          <p:attrName>style.visibility</p:attrName>
                                        </p:attrNameLst>
                                      </p:cBhvr>
                                      <p:to>
                                        <p:strVal val="visible"/>
                                      </p:to>
                                    </p:set>
                                    <p:anim calcmode="lin" valueType="num">
                                      <p:cBhvr>
                                        <p:cTn id="60" dur="500" fill="hold"/>
                                        <p:tgtEl>
                                          <p:spTgt spid="183299">
                                            <p:txEl>
                                              <p:pRg st="8" end="8"/>
                                            </p:txEl>
                                          </p:spTgt>
                                        </p:tgtEl>
                                        <p:attrNameLst>
                                          <p:attrName>ppt_w</p:attrName>
                                        </p:attrNameLst>
                                      </p:cBhvr>
                                      <p:tavLst>
                                        <p:tav tm="0">
                                          <p:val>
                                            <p:fltVal val="0"/>
                                          </p:val>
                                        </p:tav>
                                        <p:tav tm="100000">
                                          <p:val>
                                            <p:strVal val="#ppt_w"/>
                                          </p:val>
                                        </p:tav>
                                      </p:tavLst>
                                    </p:anim>
                                    <p:anim calcmode="lin" valueType="num">
                                      <p:cBhvr>
                                        <p:cTn id="61" dur="500" fill="hold"/>
                                        <p:tgtEl>
                                          <p:spTgt spid="183299">
                                            <p:txEl>
                                              <p:pRg st="8" end="8"/>
                                            </p:txEl>
                                          </p:spTgt>
                                        </p:tgtEl>
                                        <p:attrNameLst>
                                          <p:attrName>ppt_h</p:attrName>
                                        </p:attrNameLst>
                                      </p:cBhvr>
                                      <p:tavLst>
                                        <p:tav tm="0">
                                          <p:val>
                                            <p:fltVal val="0"/>
                                          </p:val>
                                        </p:tav>
                                        <p:tav tm="100000">
                                          <p:val>
                                            <p:strVal val="#ppt_h"/>
                                          </p:val>
                                        </p:tav>
                                      </p:tavLst>
                                    </p:anim>
                                    <p:animEffect transition="in" filter="fade">
                                      <p:cBhvr>
                                        <p:cTn id="62" dur="500"/>
                                        <p:tgtEl>
                                          <p:spTgt spid="183299">
                                            <p:txEl>
                                              <p:pRg st="8" end="8"/>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3" presetClass="entr" presetSubtype="0" fill="hold" nodeType="clickEffect">
                                  <p:stCondLst>
                                    <p:cond delay="0"/>
                                  </p:stCondLst>
                                  <p:childTnLst>
                                    <p:set>
                                      <p:cBhvr>
                                        <p:cTn id="66" dur="1" fill="hold">
                                          <p:stCondLst>
                                            <p:cond delay="0"/>
                                          </p:stCondLst>
                                        </p:cTn>
                                        <p:tgtEl>
                                          <p:spTgt spid="183299">
                                            <p:txEl>
                                              <p:pRg st="9" end="9"/>
                                            </p:txEl>
                                          </p:spTgt>
                                        </p:tgtEl>
                                        <p:attrNameLst>
                                          <p:attrName>style.visibility</p:attrName>
                                        </p:attrNameLst>
                                      </p:cBhvr>
                                      <p:to>
                                        <p:strVal val="visible"/>
                                      </p:to>
                                    </p:set>
                                    <p:anim calcmode="lin" valueType="num">
                                      <p:cBhvr>
                                        <p:cTn id="67" dur="500" fill="hold"/>
                                        <p:tgtEl>
                                          <p:spTgt spid="183299">
                                            <p:txEl>
                                              <p:pRg st="9" end="9"/>
                                            </p:txEl>
                                          </p:spTgt>
                                        </p:tgtEl>
                                        <p:attrNameLst>
                                          <p:attrName>ppt_w</p:attrName>
                                        </p:attrNameLst>
                                      </p:cBhvr>
                                      <p:tavLst>
                                        <p:tav tm="0">
                                          <p:val>
                                            <p:fltVal val="0"/>
                                          </p:val>
                                        </p:tav>
                                        <p:tav tm="100000">
                                          <p:val>
                                            <p:strVal val="#ppt_w"/>
                                          </p:val>
                                        </p:tav>
                                      </p:tavLst>
                                    </p:anim>
                                    <p:anim calcmode="lin" valueType="num">
                                      <p:cBhvr>
                                        <p:cTn id="68" dur="500" fill="hold"/>
                                        <p:tgtEl>
                                          <p:spTgt spid="183299">
                                            <p:txEl>
                                              <p:pRg st="9" end="9"/>
                                            </p:txEl>
                                          </p:spTgt>
                                        </p:tgtEl>
                                        <p:attrNameLst>
                                          <p:attrName>ppt_h</p:attrName>
                                        </p:attrNameLst>
                                      </p:cBhvr>
                                      <p:tavLst>
                                        <p:tav tm="0">
                                          <p:val>
                                            <p:fltVal val="0"/>
                                          </p:val>
                                        </p:tav>
                                        <p:tav tm="100000">
                                          <p:val>
                                            <p:strVal val="#ppt_h"/>
                                          </p:val>
                                        </p:tav>
                                      </p:tavLst>
                                    </p:anim>
                                    <p:animEffect transition="in" filter="fade">
                                      <p:cBhvr>
                                        <p:cTn id="69" dur="500"/>
                                        <p:tgtEl>
                                          <p:spTgt spid="183299">
                                            <p:txEl>
                                              <p:pRg st="9" end="9"/>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fade">
                                      <p:cBhvr>
                                        <p:cTn id="7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p:bldP spid="183299"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39BA76A9-5631-8990-9E3E-BD3D9E90C3DB}"/>
              </a:ext>
            </a:extLst>
          </p:cNvPr>
          <p:cNvSpPr>
            <a:spLocks noGrp="1"/>
          </p:cNvSpPr>
          <p:nvPr>
            <p:ph type="title"/>
          </p:nvPr>
        </p:nvSpPr>
        <p:spPr bwMode="auto">
          <a:xfrm>
            <a:off x="3571875" y="411163"/>
            <a:ext cx="5114925" cy="874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Trader Desktop</a:t>
            </a:r>
          </a:p>
        </p:txBody>
      </p:sp>
      <p:pic>
        <p:nvPicPr>
          <p:cNvPr id="84995" name="Picture 3">
            <a:extLst>
              <a:ext uri="{FF2B5EF4-FFF2-40B4-BE49-F238E27FC236}">
                <a16:creationId xmlns:a16="http://schemas.microsoft.com/office/drawing/2014/main" id="{34C61BAA-1E66-B51D-5D72-34D58C1DAE0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28688" y="1292225"/>
            <a:ext cx="6529387"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2F5D40BB-F2A3-2F05-6E82-3A9990689AD4}"/>
              </a:ext>
            </a:extLst>
          </p:cNvPr>
          <p:cNvSpPr>
            <a:spLocks noGrp="1" noChangeArrowheads="1"/>
          </p:cNvSpPr>
          <p:nvPr>
            <p:ph type="title"/>
          </p:nvPr>
        </p:nvSpPr>
        <p:spPr bwMode="auto">
          <a:xfrm>
            <a:off x="3929063" y="228600"/>
            <a:ext cx="51387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a:t>Recap &amp; Questions ?</a:t>
            </a:r>
          </a:p>
        </p:txBody>
      </p:sp>
      <p:pic>
        <p:nvPicPr>
          <p:cNvPr id="203781" name="Picture 5" descr="j0078811">
            <a:extLst>
              <a:ext uri="{FF2B5EF4-FFF2-40B4-BE49-F238E27FC236}">
                <a16:creationId xmlns:a16="http://schemas.microsoft.com/office/drawing/2014/main" id="{AE9CE49C-A43E-A115-8B1D-01EE55A2AC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371600"/>
            <a:ext cx="5029200" cy="469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03778"/>
                                        </p:tgtEl>
                                        <p:attrNameLst>
                                          <p:attrName>style.visibility</p:attrName>
                                        </p:attrNameLst>
                                      </p:cBhvr>
                                      <p:to>
                                        <p:strVal val="visible"/>
                                      </p:to>
                                    </p:set>
                                    <p:anim calcmode="lin" valueType="num">
                                      <p:cBhvr additive="base">
                                        <p:cTn id="7" dur="500" fill="hold"/>
                                        <p:tgtEl>
                                          <p:spTgt spid="203778"/>
                                        </p:tgtEl>
                                        <p:attrNameLst>
                                          <p:attrName>ppt_x</p:attrName>
                                        </p:attrNameLst>
                                      </p:cBhvr>
                                      <p:tavLst>
                                        <p:tav tm="0">
                                          <p:val>
                                            <p:strVal val="1+#ppt_w/2"/>
                                          </p:val>
                                        </p:tav>
                                        <p:tav tm="100000">
                                          <p:val>
                                            <p:strVal val="#ppt_x"/>
                                          </p:val>
                                        </p:tav>
                                      </p:tavLst>
                                    </p:anim>
                                    <p:anim calcmode="lin" valueType="num">
                                      <p:cBhvr additive="base">
                                        <p:cTn id="8" dur="500" fill="hold"/>
                                        <p:tgtEl>
                                          <p:spTgt spid="20377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3" presetClass="entr" presetSubtype="16" fill="hold" nodeType="afterEffect">
                                  <p:stCondLst>
                                    <p:cond delay="0"/>
                                  </p:stCondLst>
                                  <p:childTnLst>
                                    <p:set>
                                      <p:cBhvr>
                                        <p:cTn id="11" dur="1" fill="hold">
                                          <p:stCondLst>
                                            <p:cond delay="0"/>
                                          </p:stCondLst>
                                        </p:cTn>
                                        <p:tgtEl>
                                          <p:spTgt spid="203781"/>
                                        </p:tgtEl>
                                        <p:attrNameLst>
                                          <p:attrName>style.visibility</p:attrName>
                                        </p:attrNameLst>
                                      </p:cBhvr>
                                      <p:to>
                                        <p:strVal val="visible"/>
                                      </p:to>
                                    </p:set>
                                    <p:anim calcmode="lin" valueType="num">
                                      <p:cBhvr>
                                        <p:cTn id="12" dur="500" fill="hold"/>
                                        <p:tgtEl>
                                          <p:spTgt spid="203781"/>
                                        </p:tgtEl>
                                        <p:attrNameLst>
                                          <p:attrName>ppt_w</p:attrName>
                                        </p:attrNameLst>
                                      </p:cBhvr>
                                      <p:tavLst>
                                        <p:tav tm="0">
                                          <p:val>
                                            <p:fltVal val="0"/>
                                          </p:val>
                                        </p:tav>
                                        <p:tav tm="100000">
                                          <p:val>
                                            <p:strVal val="#ppt_w"/>
                                          </p:val>
                                        </p:tav>
                                      </p:tavLst>
                                    </p:anim>
                                    <p:anim calcmode="lin" valueType="num">
                                      <p:cBhvr>
                                        <p:cTn id="13" dur="500" fill="hold"/>
                                        <p:tgtEl>
                                          <p:spTgt spid="20378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0745429A-1EE6-6102-A6B8-0D4068630465}"/>
              </a:ext>
            </a:extLst>
          </p:cNvPr>
          <p:cNvSpPr>
            <a:spLocks noGrp="1"/>
          </p:cNvSpPr>
          <p:nvPr>
            <p:ph type="title"/>
          </p:nvPr>
        </p:nvSpPr>
        <p:spPr bwMode="auto">
          <a:xfrm>
            <a:off x="3862388" y="0"/>
            <a:ext cx="5281612"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a:t>The Lifecycle of a Trade</a:t>
            </a:r>
          </a:p>
        </p:txBody>
      </p:sp>
      <p:pic>
        <p:nvPicPr>
          <p:cNvPr id="87043" name="Picture 2">
            <a:extLst>
              <a:ext uri="{FF2B5EF4-FFF2-40B4-BE49-F238E27FC236}">
                <a16:creationId xmlns:a16="http://schemas.microsoft.com/office/drawing/2014/main" id="{9B2C46BE-7B1B-BA54-E9DF-D10D3EDA0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691" t="28610" r="6250" b="1907"/>
          <a:stretch>
            <a:fillRect/>
          </a:stretch>
        </p:blipFill>
        <p:spPr bwMode="auto">
          <a:xfrm>
            <a:off x="1071563" y="1500188"/>
            <a:ext cx="5857875"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D6D2F06-3B71-66F4-5ECD-43324AE1D9F2}"/>
              </a:ext>
            </a:extLst>
          </p:cNvPr>
          <p:cNvSpPr>
            <a:spLocks noGrp="1" noChangeArrowheads="1"/>
          </p:cNvSpPr>
          <p:nvPr>
            <p:ph type="title"/>
          </p:nvPr>
        </p:nvSpPr>
        <p:spPr bwMode="auto">
          <a:xfrm>
            <a:off x="3429000" y="115888"/>
            <a:ext cx="5607050" cy="8969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en-US" b="1"/>
              <a:t>Endur Managers</a:t>
            </a:r>
          </a:p>
        </p:txBody>
      </p:sp>
      <p:sp>
        <p:nvSpPr>
          <p:cNvPr id="26628" name="Text Box 4">
            <a:extLst>
              <a:ext uri="{FF2B5EF4-FFF2-40B4-BE49-F238E27FC236}">
                <a16:creationId xmlns:a16="http://schemas.microsoft.com/office/drawing/2014/main" id="{2A3C0D16-9F89-A4EE-EA3E-5E6E71AB3B7D}"/>
              </a:ext>
            </a:extLst>
          </p:cNvPr>
          <p:cNvSpPr txBox="1">
            <a:spLocks noChangeArrowheads="1"/>
          </p:cNvSpPr>
          <p:nvPr/>
        </p:nvSpPr>
        <p:spPr bwMode="auto">
          <a:xfrm>
            <a:off x="3821113" y="3887788"/>
            <a:ext cx="15033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20000"/>
              </a:spcBef>
              <a:buClr>
                <a:srgbClr val="00279F"/>
              </a:buClr>
              <a:buSzPct val="87000"/>
              <a:buFont typeface="Wingdings" panose="05000000000000000000" pitchFamily="2" charset="2"/>
              <a:buNone/>
            </a:pPr>
            <a:r>
              <a:rPr lang="en-US" altLang="en-US" sz="1000">
                <a:latin typeface="Arial" panose="020B0604020202020204" pitchFamily="34" charset="0"/>
              </a:rPr>
              <a:t>Back office validation</a:t>
            </a:r>
          </a:p>
        </p:txBody>
      </p:sp>
      <p:grpSp>
        <p:nvGrpSpPr>
          <p:cNvPr id="2" name="Group 5">
            <a:extLst>
              <a:ext uri="{FF2B5EF4-FFF2-40B4-BE49-F238E27FC236}">
                <a16:creationId xmlns:a16="http://schemas.microsoft.com/office/drawing/2014/main" id="{45350EA3-B4E8-22F8-4724-FF36122B7BA8}"/>
              </a:ext>
            </a:extLst>
          </p:cNvPr>
          <p:cNvGrpSpPr>
            <a:grpSpLocks/>
          </p:cNvGrpSpPr>
          <p:nvPr/>
        </p:nvGrpSpPr>
        <p:grpSpPr bwMode="auto">
          <a:xfrm>
            <a:off x="3741738" y="2713038"/>
            <a:ext cx="1741487" cy="536575"/>
            <a:chOff x="2352" y="1392"/>
            <a:chExt cx="816" cy="372"/>
          </a:xfrm>
        </p:grpSpPr>
        <p:sp>
          <p:nvSpPr>
            <p:cNvPr id="88119" name="Text Box 6">
              <a:extLst>
                <a:ext uri="{FF2B5EF4-FFF2-40B4-BE49-F238E27FC236}">
                  <a16:creationId xmlns:a16="http://schemas.microsoft.com/office/drawing/2014/main" id="{8DED226D-D5C9-072C-95D7-08E6E26F460B}"/>
                </a:ext>
              </a:extLst>
            </p:cNvPr>
            <p:cNvSpPr txBox="1">
              <a:spLocks noChangeArrowheads="1"/>
            </p:cNvSpPr>
            <p:nvPr/>
          </p:nvSpPr>
          <p:spPr bwMode="auto">
            <a:xfrm>
              <a:off x="2352" y="1488"/>
              <a:ext cx="81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Commit to a preliminary status </a:t>
              </a:r>
            </a:p>
          </p:txBody>
        </p:sp>
        <p:sp>
          <p:nvSpPr>
            <p:cNvPr id="88120" name="Line 7">
              <a:extLst>
                <a:ext uri="{FF2B5EF4-FFF2-40B4-BE49-F238E27FC236}">
                  <a16:creationId xmlns:a16="http://schemas.microsoft.com/office/drawing/2014/main" id="{7ABE4616-2E17-DDB5-F799-95AD9D65FC80}"/>
                </a:ext>
              </a:extLst>
            </p:cNvPr>
            <p:cNvSpPr>
              <a:spLocks noChangeShapeType="1"/>
            </p:cNvSpPr>
            <p:nvPr/>
          </p:nvSpPr>
          <p:spPr bwMode="auto">
            <a:xfrm>
              <a:off x="2736" y="139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6633" name="Freeform 9">
            <a:extLst>
              <a:ext uri="{FF2B5EF4-FFF2-40B4-BE49-F238E27FC236}">
                <a16:creationId xmlns:a16="http://schemas.microsoft.com/office/drawing/2014/main" id="{863AF189-5208-A5CB-BF31-453845C4BA13}"/>
              </a:ext>
            </a:extLst>
          </p:cNvPr>
          <p:cNvSpPr>
            <a:spLocks/>
          </p:cNvSpPr>
          <p:nvPr/>
        </p:nvSpPr>
        <p:spPr bwMode="auto">
          <a:xfrm>
            <a:off x="3741738" y="1674813"/>
            <a:ext cx="1662112" cy="1001712"/>
          </a:xfrm>
          <a:custGeom>
            <a:avLst/>
            <a:gdLst>
              <a:gd name="T0" fmla="*/ 2147483647 w 1953"/>
              <a:gd name="T1" fmla="*/ 2147483647 h 1321"/>
              <a:gd name="T2" fmla="*/ 2147483647 w 1953"/>
              <a:gd name="T3" fmla="*/ 2147483647 h 1321"/>
              <a:gd name="T4" fmla="*/ 2147483647 w 1953"/>
              <a:gd name="T5" fmla="*/ 2147483647 h 1321"/>
              <a:gd name="T6" fmla="*/ 2147483647 w 1953"/>
              <a:gd name="T7" fmla="*/ 2147483647 h 1321"/>
              <a:gd name="T8" fmla="*/ 2147483647 w 1953"/>
              <a:gd name="T9" fmla="*/ 2147483647 h 1321"/>
              <a:gd name="T10" fmla="*/ 2147483647 w 1953"/>
              <a:gd name="T11" fmla="*/ 2147483647 h 1321"/>
              <a:gd name="T12" fmla="*/ 2147483647 w 1953"/>
              <a:gd name="T13" fmla="*/ 2147483647 h 1321"/>
              <a:gd name="T14" fmla="*/ 2147483647 w 1953"/>
              <a:gd name="T15" fmla="*/ 2147483647 h 1321"/>
              <a:gd name="T16" fmla="*/ 2147483647 w 1953"/>
              <a:gd name="T17" fmla="*/ 2147483647 h 1321"/>
              <a:gd name="T18" fmla="*/ 2147483647 w 1953"/>
              <a:gd name="T19" fmla="*/ 2147483647 h 1321"/>
              <a:gd name="T20" fmla="*/ 2147483647 w 1953"/>
              <a:gd name="T21" fmla="*/ 2147483647 h 1321"/>
              <a:gd name="T22" fmla="*/ 2147483647 w 1953"/>
              <a:gd name="T23" fmla="*/ 2147483647 h 1321"/>
              <a:gd name="T24" fmla="*/ 2147483647 w 1953"/>
              <a:gd name="T25" fmla="*/ 2147483647 h 1321"/>
              <a:gd name="T26" fmla="*/ 2147483647 w 1953"/>
              <a:gd name="T27" fmla="*/ 2147483647 h 1321"/>
              <a:gd name="T28" fmla="*/ 2147483647 w 1953"/>
              <a:gd name="T29" fmla="*/ 2147483647 h 1321"/>
              <a:gd name="T30" fmla="*/ 2147483647 w 1953"/>
              <a:gd name="T31" fmla="*/ 2147483647 h 1321"/>
              <a:gd name="T32" fmla="*/ 2147483647 w 1953"/>
              <a:gd name="T33" fmla="*/ 2147483647 h 1321"/>
              <a:gd name="T34" fmla="*/ 2147483647 w 1953"/>
              <a:gd name="T35" fmla="*/ 2147483647 h 1321"/>
              <a:gd name="T36" fmla="*/ 2147483647 w 1953"/>
              <a:gd name="T37" fmla="*/ 2147483647 h 1321"/>
              <a:gd name="T38" fmla="*/ 2147483647 w 1953"/>
              <a:gd name="T39" fmla="*/ 2147483647 h 1321"/>
              <a:gd name="T40" fmla="*/ 2147483647 w 1953"/>
              <a:gd name="T41" fmla="*/ 2147483647 h 1321"/>
              <a:gd name="T42" fmla="*/ 2147483647 w 1953"/>
              <a:gd name="T43" fmla="*/ 2147483647 h 1321"/>
              <a:gd name="T44" fmla="*/ 2147483647 w 1953"/>
              <a:gd name="T45" fmla="*/ 2147483647 h 1321"/>
              <a:gd name="T46" fmla="*/ 2147483647 w 1953"/>
              <a:gd name="T47" fmla="*/ 2147483647 h 1321"/>
              <a:gd name="T48" fmla="*/ 2147483647 w 1953"/>
              <a:gd name="T49" fmla="*/ 2147483647 h 1321"/>
              <a:gd name="T50" fmla="*/ 2147483647 w 1953"/>
              <a:gd name="T51" fmla="*/ 2147483647 h 1321"/>
              <a:gd name="T52" fmla="*/ 2147483647 w 1953"/>
              <a:gd name="T53" fmla="*/ 2147483647 h 1321"/>
              <a:gd name="T54" fmla="*/ 2147483647 w 1953"/>
              <a:gd name="T55" fmla="*/ 2147483647 h 1321"/>
              <a:gd name="T56" fmla="*/ 2147483647 w 1953"/>
              <a:gd name="T57" fmla="*/ 2147483647 h 1321"/>
              <a:gd name="T58" fmla="*/ 2147483647 w 1953"/>
              <a:gd name="T59" fmla="*/ 2147483647 h 1321"/>
              <a:gd name="T60" fmla="*/ 2147483647 w 1953"/>
              <a:gd name="T61" fmla="*/ 2147483647 h 1321"/>
              <a:gd name="T62" fmla="*/ 2147483647 w 1953"/>
              <a:gd name="T63" fmla="*/ 2147483647 h 1321"/>
              <a:gd name="T64" fmla="*/ 2147483647 w 1953"/>
              <a:gd name="T65" fmla="*/ 2147483647 h 1321"/>
              <a:gd name="T66" fmla="*/ 2147483647 w 1953"/>
              <a:gd name="T67" fmla="*/ 2147483647 h 1321"/>
              <a:gd name="T68" fmla="*/ 2147483647 w 1953"/>
              <a:gd name="T69" fmla="*/ 2147483647 h 1321"/>
              <a:gd name="T70" fmla="*/ 2147483647 w 1953"/>
              <a:gd name="T71" fmla="*/ 2147483647 h 13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953"/>
              <a:gd name="T109" fmla="*/ 0 h 1321"/>
              <a:gd name="T110" fmla="*/ 1953 w 1953"/>
              <a:gd name="T111" fmla="*/ 1321 h 13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953" h="1321">
                <a:moveTo>
                  <a:pt x="1953" y="660"/>
                </a:moveTo>
                <a:lnTo>
                  <a:pt x="1949" y="603"/>
                </a:lnTo>
                <a:lnTo>
                  <a:pt x="1939" y="545"/>
                </a:lnTo>
                <a:lnTo>
                  <a:pt x="1920" y="489"/>
                </a:lnTo>
                <a:lnTo>
                  <a:pt x="1895" y="434"/>
                </a:lnTo>
                <a:lnTo>
                  <a:pt x="1863" y="382"/>
                </a:lnTo>
                <a:lnTo>
                  <a:pt x="1822" y="330"/>
                </a:lnTo>
                <a:lnTo>
                  <a:pt x="1776" y="282"/>
                </a:lnTo>
                <a:lnTo>
                  <a:pt x="1724" y="236"/>
                </a:lnTo>
                <a:lnTo>
                  <a:pt x="1667" y="194"/>
                </a:lnTo>
                <a:lnTo>
                  <a:pt x="1605" y="153"/>
                </a:lnTo>
                <a:lnTo>
                  <a:pt x="1536" y="119"/>
                </a:lnTo>
                <a:lnTo>
                  <a:pt x="1465" y="88"/>
                </a:lnTo>
                <a:lnTo>
                  <a:pt x="1388" y="61"/>
                </a:lnTo>
                <a:lnTo>
                  <a:pt x="1309" y="38"/>
                </a:lnTo>
                <a:lnTo>
                  <a:pt x="1229" y="21"/>
                </a:lnTo>
                <a:lnTo>
                  <a:pt x="1146" y="9"/>
                </a:lnTo>
                <a:lnTo>
                  <a:pt x="1062" y="2"/>
                </a:lnTo>
                <a:lnTo>
                  <a:pt x="975" y="0"/>
                </a:lnTo>
                <a:lnTo>
                  <a:pt x="891" y="2"/>
                </a:lnTo>
                <a:lnTo>
                  <a:pt x="806" y="9"/>
                </a:lnTo>
                <a:lnTo>
                  <a:pt x="724" y="21"/>
                </a:lnTo>
                <a:lnTo>
                  <a:pt x="641" y="38"/>
                </a:lnTo>
                <a:lnTo>
                  <a:pt x="562" y="61"/>
                </a:lnTo>
                <a:lnTo>
                  <a:pt x="487" y="88"/>
                </a:lnTo>
                <a:lnTo>
                  <a:pt x="416" y="119"/>
                </a:lnTo>
                <a:lnTo>
                  <a:pt x="347" y="153"/>
                </a:lnTo>
                <a:lnTo>
                  <a:pt x="286" y="194"/>
                </a:lnTo>
                <a:lnTo>
                  <a:pt x="228" y="236"/>
                </a:lnTo>
                <a:lnTo>
                  <a:pt x="176" y="282"/>
                </a:lnTo>
                <a:lnTo>
                  <a:pt x="130" y="330"/>
                </a:lnTo>
                <a:lnTo>
                  <a:pt x="90" y="382"/>
                </a:lnTo>
                <a:lnTo>
                  <a:pt x="57" y="434"/>
                </a:lnTo>
                <a:lnTo>
                  <a:pt x="32" y="489"/>
                </a:lnTo>
                <a:lnTo>
                  <a:pt x="13" y="545"/>
                </a:lnTo>
                <a:lnTo>
                  <a:pt x="4" y="603"/>
                </a:lnTo>
                <a:lnTo>
                  <a:pt x="0" y="660"/>
                </a:lnTo>
                <a:lnTo>
                  <a:pt x="4" y="718"/>
                </a:lnTo>
                <a:lnTo>
                  <a:pt x="13" y="775"/>
                </a:lnTo>
                <a:lnTo>
                  <a:pt x="32" y="831"/>
                </a:lnTo>
                <a:lnTo>
                  <a:pt x="57" y="887"/>
                </a:lnTo>
                <a:lnTo>
                  <a:pt x="90" y="939"/>
                </a:lnTo>
                <a:lnTo>
                  <a:pt x="130" y="991"/>
                </a:lnTo>
                <a:lnTo>
                  <a:pt x="176" y="1039"/>
                </a:lnTo>
                <a:lnTo>
                  <a:pt x="228" y="1085"/>
                </a:lnTo>
                <a:lnTo>
                  <a:pt x="286" y="1127"/>
                </a:lnTo>
                <a:lnTo>
                  <a:pt x="347" y="1167"/>
                </a:lnTo>
                <a:lnTo>
                  <a:pt x="416" y="1202"/>
                </a:lnTo>
                <a:lnTo>
                  <a:pt x="487" y="1233"/>
                </a:lnTo>
                <a:lnTo>
                  <a:pt x="562" y="1259"/>
                </a:lnTo>
                <a:lnTo>
                  <a:pt x="641" y="1281"/>
                </a:lnTo>
                <a:lnTo>
                  <a:pt x="724" y="1300"/>
                </a:lnTo>
                <a:lnTo>
                  <a:pt x="806" y="1311"/>
                </a:lnTo>
                <a:lnTo>
                  <a:pt x="891" y="1319"/>
                </a:lnTo>
                <a:lnTo>
                  <a:pt x="975" y="1321"/>
                </a:lnTo>
                <a:lnTo>
                  <a:pt x="1062" y="1319"/>
                </a:lnTo>
                <a:lnTo>
                  <a:pt x="1146" y="1311"/>
                </a:lnTo>
                <a:lnTo>
                  <a:pt x="1229" y="1300"/>
                </a:lnTo>
                <a:lnTo>
                  <a:pt x="1309" y="1281"/>
                </a:lnTo>
                <a:lnTo>
                  <a:pt x="1388" y="1259"/>
                </a:lnTo>
                <a:lnTo>
                  <a:pt x="1465" y="1233"/>
                </a:lnTo>
                <a:lnTo>
                  <a:pt x="1536" y="1202"/>
                </a:lnTo>
                <a:lnTo>
                  <a:pt x="1605" y="1167"/>
                </a:lnTo>
                <a:lnTo>
                  <a:pt x="1667" y="1127"/>
                </a:lnTo>
                <a:lnTo>
                  <a:pt x="1724" y="1085"/>
                </a:lnTo>
                <a:lnTo>
                  <a:pt x="1776" y="1039"/>
                </a:lnTo>
                <a:lnTo>
                  <a:pt x="1822" y="991"/>
                </a:lnTo>
                <a:lnTo>
                  <a:pt x="1863" y="939"/>
                </a:lnTo>
                <a:lnTo>
                  <a:pt x="1895" y="887"/>
                </a:lnTo>
                <a:lnTo>
                  <a:pt x="1920" y="831"/>
                </a:lnTo>
                <a:lnTo>
                  <a:pt x="1939" y="775"/>
                </a:lnTo>
                <a:lnTo>
                  <a:pt x="1949" y="718"/>
                </a:lnTo>
                <a:lnTo>
                  <a:pt x="1953" y="660"/>
                </a:lnTo>
                <a:close/>
              </a:path>
            </a:pathLst>
          </a:custGeom>
          <a:solidFill>
            <a:srgbClr val="99CCFF"/>
          </a:solidFill>
          <a:ln w="11176">
            <a:solidFill>
              <a:srgbClr val="000000"/>
            </a:solidFill>
            <a:round/>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34" name="Text Box 10">
            <a:extLst>
              <a:ext uri="{FF2B5EF4-FFF2-40B4-BE49-F238E27FC236}">
                <a16:creationId xmlns:a16="http://schemas.microsoft.com/office/drawing/2014/main" id="{FCB15F4C-A0A9-B4D2-87C7-BBBE3BF8FD98}"/>
              </a:ext>
            </a:extLst>
          </p:cNvPr>
          <p:cNvSpPr txBox="1">
            <a:spLocks noChangeArrowheads="1"/>
          </p:cNvSpPr>
          <p:nvPr/>
        </p:nvSpPr>
        <p:spPr bwMode="auto">
          <a:xfrm>
            <a:off x="3821113" y="1882775"/>
            <a:ext cx="15827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Trading Manager:</a:t>
            </a:r>
          </a:p>
          <a:p>
            <a:pPr algn="ct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Trade Blotter</a:t>
            </a:r>
          </a:p>
          <a:p>
            <a:pPr algn="ct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(Deal Entry) </a:t>
            </a:r>
          </a:p>
        </p:txBody>
      </p:sp>
      <p:sp>
        <p:nvSpPr>
          <p:cNvPr id="26636" name="Rectangle 12">
            <a:extLst>
              <a:ext uri="{FF2B5EF4-FFF2-40B4-BE49-F238E27FC236}">
                <a16:creationId xmlns:a16="http://schemas.microsoft.com/office/drawing/2014/main" id="{21A156BE-C261-5491-9A33-5EF40BF403E9}"/>
              </a:ext>
            </a:extLst>
          </p:cNvPr>
          <p:cNvSpPr>
            <a:spLocks noChangeArrowheads="1"/>
          </p:cNvSpPr>
          <p:nvPr/>
        </p:nvSpPr>
        <p:spPr bwMode="auto">
          <a:xfrm>
            <a:off x="735013" y="1052513"/>
            <a:ext cx="2532062" cy="841375"/>
          </a:xfrm>
          <a:prstGeom prst="rect">
            <a:avLst/>
          </a:prstGeom>
          <a:solidFill>
            <a:srgbClr val="00FFF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88072" name="Rectangle 13">
            <a:extLst>
              <a:ext uri="{FF2B5EF4-FFF2-40B4-BE49-F238E27FC236}">
                <a16:creationId xmlns:a16="http://schemas.microsoft.com/office/drawing/2014/main" id="{6E5D30AE-166F-930A-ADC9-EF93AAE97253}"/>
              </a:ext>
            </a:extLst>
          </p:cNvPr>
          <p:cNvSpPr>
            <a:spLocks noChangeArrowheads="1"/>
          </p:cNvSpPr>
          <p:nvPr/>
        </p:nvSpPr>
        <p:spPr bwMode="auto">
          <a:xfrm>
            <a:off x="2470150" y="11604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20000"/>
              </a:spcBef>
              <a:buClr>
                <a:srgbClr val="00279F"/>
              </a:buClr>
              <a:buSzPct val="87000"/>
              <a:buFont typeface="Wingdings" panose="05000000000000000000" pitchFamily="2" charset="2"/>
              <a:buNone/>
            </a:pPr>
            <a:r>
              <a:rPr lang="en-US" altLang="en-US" sz="1000"/>
              <a:t>  </a:t>
            </a:r>
            <a:endParaRPr lang="en-US" altLang="en-US" sz="3600">
              <a:latin typeface="Arial" panose="020B0604020202020204" pitchFamily="34" charset="0"/>
            </a:endParaRPr>
          </a:p>
        </p:txBody>
      </p:sp>
      <p:sp>
        <p:nvSpPr>
          <p:cNvPr id="26638" name="Text Box 14">
            <a:extLst>
              <a:ext uri="{FF2B5EF4-FFF2-40B4-BE49-F238E27FC236}">
                <a16:creationId xmlns:a16="http://schemas.microsoft.com/office/drawing/2014/main" id="{2CF49361-E81E-21CF-F0D6-4F4E676DF947}"/>
              </a:ext>
            </a:extLst>
          </p:cNvPr>
          <p:cNvSpPr txBox="1">
            <a:spLocks noChangeArrowheads="1"/>
          </p:cNvSpPr>
          <p:nvPr/>
        </p:nvSpPr>
        <p:spPr bwMode="auto">
          <a:xfrm>
            <a:off x="814388" y="1052513"/>
            <a:ext cx="2532062"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Admin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Global administrative data (i.e., static data maintenance, security privileges, network grids) </a:t>
            </a:r>
          </a:p>
        </p:txBody>
      </p:sp>
      <p:sp>
        <p:nvSpPr>
          <p:cNvPr id="26639" name="Line 15">
            <a:extLst>
              <a:ext uri="{FF2B5EF4-FFF2-40B4-BE49-F238E27FC236}">
                <a16:creationId xmlns:a16="http://schemas.microsoft.com/office/drawing/2014/main" id="{1DAFCB9C-13B2-4039-9C52-B659E4E06AB0}"/>
              </a:ext>
            </a:extLst>
          </p:cNvPr>
          <p:cNvSpPr>
            <a:spLocks noChangeShapeType="1"/>
          </p:cNvSpPr>
          <p:nvPr/>
        </p:nvSpPr>
        <p:spPr bwMode="auto">
          <a:xfrm>
            <a:off x="3267075" y="1398588"/>
            <a:ext cx="633413" cy="414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41" name="Rectangle 17">
            <a:extLst>
              <a:ext uri="{FF2B5EF4-FFF2-40B4-BE49-F238E27FC236}">
                <a16:creationId xmlns:a16="http://schemas.microsoft.com/office/drawing/2014/main" id="{ED4F06D9-265D-FF91-E445-AF8432840676}"/>
              </a:ext>
            </a:extLst>
          </p:cNvPr>
          <p:cNvSpPr>
            <a:spLocks noChangeArrowheads="1"/>
          </p:cNvSpPr>
          <p:nvPr/>
        </p:nvSpPr>
        <p:spPr bwMode="auto">
          <a:xfrm>
            <a:off x="735013" y="2020888"/>
            <a:ext cx="2532062" cy="809625"/>
          </a:xfrm>
          <a:prstGeom prst="rect">
            <a:avLst/>
          </a:prstGeom>
          <a:solidFill>
            <a:srgbClr val="99CCFF"/>
          </a:solidFill>
          <a:ln w="9525">
            <a:solidFill>
              <a:schemeClr val="tx1"/>
            </a:solidFill>
            <a:miter lim="800000"/>
            <a:headEnd/>
            <a:tailEnd/>
          </a:ln>
        </p:spPr>
        <p:txBody>
          <a:bodyPr wrap="none" lIns="54000"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42" name="Text Box 18">
            <a:extLst>
              <a:ext uri="{FF2B5EF4-FFF2-40B4-BE49-F238E27FC236}">
                <a16:creationId xmlns:a16="http://schemas.microsoft.com/office/drawing/2014/main" id="{BED05380-5C82-2467-F8E8-10C5826F5ED0}"/>
              </a:ext>
            </a:extLst>
          </p:cNvPr>
          <p:cNvSpPr txBox="1">
            <a:spLocks noChangeArrowheads="1"/>
          </p:cNvSpPr>
          <p:nvPr/>
        </p:nvSpPr>
        <p:spPr bwMode="auto">
          <a:xfrm>
            <a:off x="814388" y="2020888"/>
            <a:ext cx="26876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Trading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Master instrument  - sharable toolset, templates - unique toolset </a:t>
            </a:r>
          </a:p>
        </p:txBody>
      </p:sp>
      <p:sp>
        <p:nvSpPr>
          <p:cNvPr id="26643" name="Line 19">
            <a:extLst>
              <a:ext uri="{FF2B5EF4-FFF2-40B4-BE49-F238E27FC236}">
                <a16:creationId xmlns:a16="http://schemas.microsoft.com/office/drawing/2014/main" id="{4002686A-A8B6-B4CA-12D5-D68210FB6C0E}"/>
              </a:ext>
            </a:extLst>
          </p:cNvPr>
          <p:cNvSpPr>
            <a:spLocks noChangeShapeType="1"/>
          </p:cNvSpPr>
          <p:nvPr/>
        </p:nvSpPr>
        <p:spPr bwMode="auto">
          <a:xfrm>
            <a:off x="3267075" y="2232025"/>
            <a:ext cx="4746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54000" anchor="ctr"/>
          <a:lstStyle/>
          <a:p>
            <a:endParaRPr lang="en-US"/>
          </a:p>
        </p:txBody>
      </p:sp>
      <p:sp>
        <p:nvSpPr>
          <p:cNvPr id="26645" name="Rectangle 21">
            <a:extLst>
              <a:ext uri="{FF2B5EF4-FFF2-40B4-BE49-F238E27FC236}">
                <a16:creationId xmlns:a16="http://schemas.microsoft.com/office/drawing/2014/main" id="{F7671898-B70C-9CF7-B723-7C2EA4DB97C4}"/>
              </a:ext>
            </a:extLst>
          </p:cNvPr>
          <p:cNvSpPr>
            <a:spLocks noChangeArrowheads="1"/>
          </p:cNvSpPr>
          <p:nvPr/>
        </p:nvSpPr>
        <p:spPr bwMode="auto">
          <a:xfrm>
            <a:off x="5878513" y="2090738"/>
            <a:ext cx="2452687" cy="739775"/>
          </a:xfrm>
          <a:prstGeom prst="rect">
            <a:avLst/>
          </a:prstGeom>
          <a:solidFill>
            <a:srgbClr val="CCCCFF"/>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46" name="Text Box 22">
            <a:extLst>
              <a:ext uri="{FF2B5EF4-FFF2-40B4-BE49-F238E27FC236}">
                <a16:creationId xmlns:a16="http://schemas.microsoft.com/office/drawing/2014/main" id="{67B1752F-6286-15C0-FE47-D16F45E69CBC}"/>
              </a:ext>
            </a:extLst>
          </p:cNvPr>
          <p:cNvSpPr txBox="1">
            <a:spLocks noChangeArrowheads="1"/>
          </p:cNvSpPr>
          <p:nvPr/>
        </p:nvSpPr>
        <p:spPr bwMode="auto">
          <a:xfrm>
            <a:off x="5957888" y="2160588"/>
            <a:ext cx="22939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Market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Market curves and volatilities, historical prices</a:t>
            </a:r>
          </a:p>
        </p:txBody>
      </p:sp>
      <p:sp>
        <p:nvSpPr>
          <p:cNvPr id="26647" name="Line 23">
            <a:extLst>
              <a:ext uri="{FF2B5EF4-FFF2-40B4-BE49-F238E27FC236}">
                <a16:creationId xmlns:a16="http://schemas.microsoft.com/office/drawing/2014/main" id="{F95094F4-A83B-B16D-3AAD-FDB02929C3D3}"/>
              </a:ext>
            </a:extLst>
          </p:cNvPr>
          <p:cNvSpPr>
            <a:spLocks noChangeShapeType="1"/>
          </p:cNvSpPr>
          <p:nvPr/>
        </p:nvSpPr>
        <p:spPr bwMode="auto">
          <a:xfrm flipH="1">
            <a:off x="5403850" y="2228850"/>
            <a:ext cx="4746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 name="Group 24">
            <a:extLst>
              <a:ext uri="{FF2B5EF4-FFF2-40B4-BE49-F238E27FC236}">
                <a16:creationId xmlns:a16="http://schemas.microsoft.com/office/drawing/2014/main" id="{9FC77259-77FD-3AE1-6850-E82588AF4000}"/>
              </a:ext>
            </a:extLst>
          </p:cNvPr>
          <p:cNvGrpSpPr>
            <a:grpSpLocks/>
          </p:cNvGrpSpPr>
          <p:nvPr/>
        </p:nvGrpSpPr>
        <p:grpSpPr bwMode="auto">
          <a:xfrm>
            <a:off x="5165725" y="1052513"/>
            <a:ext cx="3482975" cy="830262"/>
            <a:chOff x="3120" y="240"/>
            <a:chExt cx="2112" cy="576"/>
          </a:xfrm>
        </p:grpSpPr>
        <p:sp>
          <p:nvSpPr>
            <p:cNvPr id="88116" name="Rectangle 25">
              <a:extLst>
                <a:ext uri="{FF2B5EF4-FFF2-40B4-BE49-F238E27FC236}">
                  <a16:creationId xmlns:a16="http://schemas.microsoft.com/office/drawing/2014/main" id="{ADC33D29-0F1A-F29C-241A-DBBAE55334A6}"/>
                </a:ext>
              </a:extLst>
            </p:cNvPr>
            <p:cNvSpPr>
              <a:spLocks noChangeArrowheads="1"/>
            </p:cNvSpPr>
            <p:nvPr/>
          </p:nvSpPr>
          <p:spPr bwMode="auto">
            <a:xfrm>
              <a:off x="3552" y="240"/>
              <a:ext cx="1488" cy="57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88117" name="Text Box 26">
              <a:extLst>
                <a:ext uri="{FF2B5EF4-FFF2-40B4-BE49-F238E27FC236}">
                  <a16:creationId xmlns:a16="http://schemas.microsoft.com/office/drawing/2014/main" id="{0297F6A4-1B16-C11A-F83C-BBE25B0883E5}"/>
                </a:ext>
              </a:extLst>
            </p:cNvPr>
            <p:cNvSpPr txBox="1">
              <a:spLocks noChangeArrowheads="1"/>
            </p:cNvSpPr>
            <p:nvPr/>
          </p:nvSpPr>
          <p:spPr bwMode="auto">
            <a:xfrm>
              <a:off x="3600" y="240"/>
              <a:ext cx="1632"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Reference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Counterparty and internal entities’ information, personnel, broker fees structure, agreements, settlement terms</a:t>
              </a:r>
            </a:p>
          </p:txBody>
        </p:sp>
        <p:sp>
          <p:nvSpPr>
            <p:cNvPr id="88118" name="Line 27">
              <a:extLst>
                <a:ext uri="{FF2B5EF4-FFF2-40B4-BE49-F238E27FC236}">
                  <a16:creationId xmlns:a16="http://schemas.microsoft.com/office/drawing/2014/main" id="{12C36AB8-CC52-9CF9-08AC-8258F30453D1}"/>
                </a:ext>
              </a:extLst>
            </p:cNvPr>
            <p:cNvSpPr>
              <a:spLocks noChangeShapeType="1"/>
            </p:cNvSpPr>
            <p:nvPr/>
          </p:nvSpPr>
          <p:spPr bwMode="auto">
            <a:xfrm flipH="1">
              <a:off x="3120" y="480"/>
              <a:ext cx="43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28">
            <a:extLst>
              <a:ext uri="{FF2B5EF4-FFF2-40B4-BE49-F238E27FC236}">
                <a16:creationId xmlns:a16="http://schemas.microsoft.com/office/drawing/2014/main" id="{6DB2CA50-0C25-5503-EDF8-952336B377C5}"/>
              </a:ext>
            </a:extLst>
          </p:cNvPr>
          <p:cNvGrpSpPr>
            <a:grpSpLocks/>
          </p:cNvGrpSpPr>
          <p:nvPr/>
        </p:nvGrpSpPr>
        <p:grpSpPr bwMode="auto">
          <a:xfrm>
            <a:off x="4090988" y="4160838"/>
            <a:ext cx="1028700" cy="866775"/>
            <a:chOff x="2448" y="2496"/>
            <a:chExt cx="624" cy="601"/>
          </a:xfrm>
        </p:grpSpPr>
        <p:grpSp>
          <p:nvGrpSpPr>
            <p:cNvPr id="88112" name="Group 29">
              <a:extLst>
                <a:ext uri="{FF2B5EF4-FFF2-40B4-BE49-F238E27FC236}">
                  <a16:creationId xmlns:a16="http://schemas.microsoft.com/office/drawing/2014/main" id="{DCF39BEC-6F47-24A5-BFF0-45F466B66FFB}"/>
                </a:ext>
              </a:extLst>
            </p:cNvPr>
            <p:cNvGrpSpPr>
              <a:grpSpLocks/>
            </p:cNvGrpSpPr>
            <p:nvPr/>
          </p:nvGrpSpPr>
          <p:grpSpPr bwMode="auto">
            <a:xfrm>
              <a:off x="2448" y="2640"/>
              <a:ext cx="624" cy="457"/>
              <a:chOff x="2448" y="2640"/>
              <a:chExt cx="624" cy="457"/>
            </a:xfrm>
          </p:grpSpPr>
          <p:sp>
            <p:nvSpPr>
              <p:cNvPr id="88114" name="Rectangle 30">
                <a:extLst>
                  <a:ext uri="{FF2B5EF4-FFF2-40B4-BE49-F238E27FC236}">
                    <a16:creationId xmlns:a16="http://schemas.microsoft.com/office/drawing/2014/main" id="{FCE0CBD1-BB0A-8726-DDA4-2D25FD5D66CE}"/>
                  </a:ext>
                </a:extLst>
              </p:cNvPr>
              <p:cNvSpPr>
                <a:spLocks noChangeArrowheads="1"/>
              </p:cNvSpPr>
              <p:nvPr/>
            </p:nvSpPr>
            <p:spPr bwMode="auto">
              <a:xfrm>
                <a:off x="2448" y="2640"/>
                <a:ext cx="624" cy="432"/>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88115" name="Text Box 31">
                <a:extLst>
                  <a:ext uri="{FF2B5EF4-FFF2-40B4-BE49-F238E27FC236}">
                    <a16:creationId xmlns:a16="http://schemas.microsoft.com/office/drawing/2014/main" id="{D762E927-56BC-A5E9-A7B6-ECA03FC26814}"/>
                  </a:ext>
                </a:extLst>
              </p:cNvPr>
              <p:cNvSpPr txBox="1">
                <a:spLocks noChangeArrowheads="1"/>
              </p:cNvSpPr>
              <p:nvPr/>
            </p:nvSpPr>
            <p:spPr bwMode="auto">
              <a:xfrm>
                <a:off x="2448" y="2688"/>
                <a:ext cx="624"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lnSpc>
                    <a:spcPct val="70000"/>
                  </a:lnSpc>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“Validation”</a:t>
                </a:r>
              </a:p>
              <a:p>
                <a:pPr algn="ctr" eaLnBrk="1" hangingPunct="1">
                  <a:lnSpc>
                    <a:spcPct val="50000"/>
                  </a:lnSpc>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 of</a:t>
                </a:r>
              </a:p>
              <a:p>
                <a:pPr algn="ctr" eaLnBrk="1" hangingPunct="1">
                  <a:lnSpc>
                    <a:spcPct val="50000"/>
                  </a:lnSpc>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Deal Terms</a:t>
                </a:r>
              </a:p>
            </p:txBody>
          </p:sp>
        </p:grpSp>
        <p:sp>
          <p:nvSpPr>
            <p:cNvPr id="88113" name="Line 32">
              <a:extLst>
                <a:ext uri="{FF2B5EF4-FFF2-40B4-BE49-F238E27FC236}">
                  <a16:creationId xmlns:a16="http://schemas.microsoft.com/office/drawing/2014/main" id="{CAFC11EC-42C5-BF17-4D91-DADC58071B72}"/>
                </a:ext>
              </a:extLst>
            </p:cNvPr>
            <p:cNvSpPr>
              <a:spLocks noChangeShapeType="1"/>
            </p:cNvSpPr>
            <p:nvPr/>
          </p:nvSpPr>
          <p:spPr bwMode="auto">
            <a:xfrm>
              <a:off x="2736" y="2496"/>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33">
            <a:extLst>
              <a:ext uri="{FF2B5EF4-FFF2-40B4-BE49-F238E27FC236}">
                <a16:creationId xmlns:a16="http://schemas.microsoft.com/office/drawing/2014/main" id="{E667B1A5-6C3A-6FE0-31D1-1B0FF535E0C9}"/>
              </a:ext>
            </a:extLst>
          </p:cNvPr>
          <p:cNvGrpSpPr>
            <a:grpSpLocks/>
          </p:cNvGrpSpPr>
          <p:nvPr/>
        </p:nvGrpSpPr>
        <p:grpSpPr bwMode="auto">
          <a:xfrm>
            <a:off x="773113" y="3313113"/>
            <a:ext cx="7596187" cy="641350"/>
            <a:chOff x="432" y="1776"/>
            <a:chExt cx="4608" cy="445"/>
          </a:xfrm>
        </p:grpSpPr>
        <p:sp>
          <p:nvSpPr>
            <p:cNvPr id="88106" name="Rectangle 34">
              <a:extLst>
                <a:ext uri="{FF2B5EF4-FFF2-40B4-BE49-F238E27FC236}">
                  <a16:creationId xmlns:a16="http://schemas.microsoft.com/office/drawing/2014/main" id="{44FFD89A-E704-A34A-10A6-9A6DBEAD46FC}"/>
                </a:ext>
              </a:extLst>
            </p:cNvPr>
            <p:cNvSpPr>
              <a:spLocks noChangeArrowheads="1"/>
            </p:cNvSpPr>
            <p:nvPr/>
          </p:nvSpPr>
          <p:spPr bwMode="auto">
            <a:xfrm>
              <a:off x="432" y="1824"/>
              <a:ext cx="1536" cy="384"/>
            </a:xfrm>
            <a:prstGeom prst="rect">
              <a:avLst/>
            </a:prstGeom>
            <a:solidFill>
              <a:srgbClr val="FF9999"/>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88107" name="Rectangle 35">
              <a:extLst>
                <a:ext uri="{FF2B5EF4-FFF2-40B4-BE49-F238E27FC236}">
                  <a16:creationId xmlns:a16="http://schemas.microsoft.com/office/drawing/2014/main" id="{E3B89011-F5A5-E2C5-78C0-3A80A3C9722B}"/>
                </a:ext>
              </a:extLst>
            </p:cNvPr>
            <p:cNvSpPr>
              <a:spLocks noChangeArrowheads="1"/>
            </p:cNvSpPr>
            <p:nvPr/>
          </p:nvSpPr>
          <p:spPr bwMode="auto">
            <a:xfrm>
              <a:off x="3552" y="1824"/>
              <a:ext cx="1488" cy="384"/>
            </a:xfrm>
            <a:prstGeom prst="rect">
              <a:avLst/>
            </a:prstGeom>
            <a:solidFill>
              <a:srgbClr val="FF9999"/>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88108" name="Text Box 36">
              <a:extLst>
                <a:ext uri="{FF2B5EF4-FFF2-40B4-BE49-F238E27FC236}">
                  <a16:creationId xmlns:a16="http://schemas.microsoft.com/office/drawing/2014/main" id="{38FAAC6E-471C-84B5-4A44-B677E01B7637}"/>
                </a:ext>
              </a:extLst>
            </p:cNvPr>
            <p:cNvSpPr txBox="1">
              <a:spLocks noChangeArrowheads="1"/>
            </p:cNvSpPr>
            <p:nvPr/>
          </p:nvSpPr>
          <p:spPr bwMode="auto">
            <a:xfrm>
              <a:off x="3600" y="1872"/>
              <a:ext cx="120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Risk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Market risk check (risk lines) </a:t>
              </a:r>
            </a:p>
          </p:txBody>
        </p:sp>
        <p:sp>
          <p:nvSpPr>
            <p:cNvPr id="88109" name="Text Box 37">
              <a:extLst>
                <a:ext uri="{FF2B5EF4-FFF2-40B4-BE49-F238E27FC236}">
                  <a16:creationId xmlns:a16="http://schemas.microsoft.com/office/drawing/2014/main" id="{6486D5D3-CFF2-7CCC-3CC7-AEC7463626A6}"/>
                </a:ext>
              </a:extLst>
            </p:cNvPr>
            <p:cNvSpPr txBox="1">
              <a:spLocks noChangeArrowheads="1"/>
            </p:cNvSpPr>
            <p:nvPr/>
          </p:nvSpPr>
          <p:spPr bwMode="auto">
            <a:xfrm>
              <a:off x="480" y="1872"/>
              <a:ext cx="1586"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Credit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Credit check (credit line &amp; credit rating)  </a:t>
              </a:r>
            </a:p>
          </p:txBody>
        </p:sp>
        <p:sp>
          <p:nvSpPr>
            <p:cNvPr id="88110" name="Line 38">
              <a:extLst>
                <a:ext uri="{FF2B5EF4-FFF2-40B4-BE49-F238E27FC236}">
                  <a16:creationId xmlns:a16="http://schemas.microsoft.com/office/drawing/2014/main" id="{6A889D73-64B0-E707-AE72-69038BB2BC19}"/>
                </a:ext>
              </a:extLst>
            </p:cNvPr>
            <p:cNvSpPr>
              <a:spLocks noChangeShapeType="1"/>
            </p:cNvSpPr>
            <p:nvPr/>
          </p:nvSpPr>
          <p:spPr bwMode="auto">
            <a:xfrm>
              <a:off x="2736" y="1776"/>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111" name="Line 39">
              <a:extLst>
                <a:ext uri="{FF2B5EF4-FFF2-40B4-BE49-F238E27FC236}">
                  <a16:creationId xmlns:a16="http://schemas.microsoft.com/office/drawing/2014/main" id="{5B3C5A16-CC4F-5A42-0A23-E778B33C87EE}"/>
                </a:ext>
              </a:extLst>
            </p:cNvPr>
            <p:cNvSpPr>
              <a:spLocks noChangeShapeType="1"/>
            </p:cNvSpPr>
            <p:nvPr/>
          </p:nvSpPr>
          <p:spPr bwMode="auto">
            <a:xfrm>
              <a:off x="1968" y="2016"/>
              <a:ext cx="158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 name="Group 40">
            <a:extLst>
              <a:ext uri="{FF2B5EF4-FFF2-40B4-BE49-F238E27FC236}">
                <a16:creationId xmlns:a16="http://schemas.microsoft.com/office/drawing/2014/main" id="{5DEAF4E0-B13E-4316-7123-ECC21326297E}"/>
              </a:ext>
            </a:extLst>
          </p:cNvPr>
          <p:cNvGrpSpPr>
            <a:grpSpLocks/>
          </p:cNvGrpSpPr>
          <p:nvPr/>
        </p:nvGrpSpPr>
        <p:grpSpPr bwMode="auto">
          <a:xfrm>
            <a:off x="6786563" y="5715000"/>
            <a:ext cx="1423987" cy="415925"/>
            <a:chOff x="4460" y="3740"/>
            <a:chExt cx="864" cy="289"/>
          </a:xfrm>
        </p:grpSpPr>
        <p:sp>
          <p:nvSpPr>
            <p:cNvPr id="88104" name="Rectangle 41">
              <a:extLst>
                <a:ext uri="{FF2B5EF4-FFF2-40B4-BE49-F238E27FC236}">
                  <a16:creationId xmlns:a16="http://schemas.microsoft.com/office/drawing/2014/main" id="{0A09954A-E45B-C710-111C-96F3614777E6}"/>
                </a:ext>
              </a:extLst>
            </p:cNvPr>
            <p:cNvSpPr>
              <a:spLocks noChangeArrowheads="1"/>
            </p:cNvSpPr>
            <p:nvPr/>
          </p:nvSpPr>
          <p:spPr bwMode="auto">
            <a:xfrm>
              <a:off x="4460" y="3740"/>
              <a:ext cx="864" cy="289"/>
            </a:xfrm>
            <a:prstGeom prst="rect">
              <a:avLst/>
            </a:prstGeom>
            <a:solidFill>
              <a:srgbClr val="969696"/>
            </a:solidFill>
            <a:ln w="11113">
              <a:solidFill>
                <a:srgbClr val="000000"/>
              </a:solidFill>
              <a:miter lim="800000"/>
              <a:headEnd/>
              <a:tailEnd/>
            </a:ln>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88105" name="Rectangle 42">
              <a:extLst>
                <a:ext uri="{FF2B5EF4-FFF2-40B4-BE49-F238E27FC236}">
                  <a16:creationId xmlns:a16="http://schemas.microsoft.com/office/drawing/2014/main" id="{334A8CBC-4C73-6F96-1256-4C96F6EE7325}"/>
                </a:ext>
              </a:extLst>
            </p:cNvPr>
            <p:cNvSpPr>
              <a:spLocks noChangeArrowheads="1"/>
            </p:cNvSpPr>
            <p:nvPr/>
          </p:nvSpPr>
          <p:spPr bwMode="auto">
            <a:xfrm>
              <a:off x="4742" y="3828"/>
              <a:ext cx="338" cy="126"/>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20000"/>
                </a:spcBef>
                <a:buClr>
                  <a:srgbClr val="00279F"/>
                </a:buClr>
                <a:buSzPct val="87000"/>
                <a:buFont typeface="Wingdings" panose="05000000000000000000" pitchFamily="2" charset="2"/>
                <a:buNone/>
              </a:pPr>
              <a:r>
                <a:rPr lang="en-US" altLang="en-US" sz="1200">
                  <a:latin typeface="Arial" panose="020B0604020202020204" pitchFamily="34" charset="0"/>
                </a:rPr>
                <a:t>Matured</a:t>
              </a:r>
              <a:endParaRPr lang="en-US" altLang="en-US" sz="3600">
                <a:latin typeface="Arial" panose="020B0604020202020204" pitchFamily="34" charset="0"/>
              </a:endParaRPr>
            </a:p>
          </p:txBody>
        </p:sp>
      </p:grpSp>
      <p:grpSp>
        <p:nvGrpSpPr>
          <p:cNvPr id="8" name="Group 44">
            <a:extLst>
              <a:ext uri="{FF2B5EF4-FFF2-40B4-BE49-F238E27FC236}">
                <a16:creationId xmlns:a16="http://schemas.microsoft.com/office/drawing/2014/main" id="{11E16B8C-1FC6-9BC9-237C-7B7030267D50}"/>
              </a:ext>
            </a:extLst>
          </p:cNvPr>
          <p:cNvGrpSpPr>
            <a:grpSpLocks/>
          </p:cNvGrpSpPr>
          <p:nvPr/>
        </p:nvGrpSpPr>
        <p:grpSpPr bwMode="auto">
          <a:xfrm>
            <a:off x="5973763" y="4883150"/>
            <a:ext cx="2452687" cy="573088"/>
            <a:chOff x="3552" y="2976"/>
            <a:chExt cx="1488" cy="398"/>
          </a:xfrm>
        </p:grpSpPr>
        <p:sp>
          <p:nvSpPr>
            <p:cNvPr id="88102" name="Rectangle 45">
              <a:extLst>
                <a:ext uri="{FF2B5EF4-FFF2-40B4-BE49-F238E27FC236}">
                  <a16:creationId xmlns:a16="http://schemas.microsoft.com/office/drawing/2014/main" id="{FB99823E-ABDE-D7A0-E7B5-ABB6B978F807}"/>
                </a:ext>
              </a:extLst>
            </p:cNvPr>
            <p:cNvSpPr>
              <a:spLocks noChangeArrowheads="1"/>
            </p:cNvSpPr>
            <p:nvPr/>
          </p:nvSpPr>
          <p:spPr bwMode="auto">
            <a:xfrm>
              <a:off x="3552" y="2976"/>
              <a:ext cx="1488" cy="384"/>
            </a:xfrm>
            <a:prstGeom prst="rect">
              <a:avLst/>
            </a:prstGeom>
            <a:solidFill>
              <a:srgbClr val="339966"/>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88103" name="Text Box 46">
              <a:extLst>
                <a:ext uri="{FF2B5EF4-FFF2-40B4-BE49-F238E27FC236}">
                  <a16:creationId xmlns:a16="http://schemas.microsoft.com/office/drawing/2014/main" id="{27D62FD2-53BB-6665-9631-C52E579266BA}"/>
                </a:ext>
              </a:extLst>
            </p:cNvPr>
            <p:cNvSpPr txBox="1">
              <a:spLocks noChangeArrowheads="1"/>
            </p:cNvSpPr>
            <p:nvPr/>
          </p:nvSpPr>
          <p:spPr bwMode="auto">
            <a:xfrm>
              <a:off x="3601" y="3025"/>
              <a:ext cx="11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Accounting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P&amp;L</a:t>
              </a:r>
            </a:p>
          </p:txBody>
        </p:sp>
      </p:grpSp>
      <p:sp>
        <p:nvSpPr>
          <p:cNvPr id="26671" name="Line 47">
            <a:extLst>
              <a:ext uri="{FF2B5EF4-FFF2-40B4-BE49-F238E27FC236}">
                <a16:creationId xmlns:a16="http://schemas.microsoft.com/office/drawing/2014/main" id="{D3FE178D-CDA9-3A8D-19C2-ABB498539B45}"/>
              </a:ext>
            </a:extLst>
          </p:cNvPr>
          <p:cNvSpPr>
            <a:spLocks noChangeShapeType="1"/>
          </p:cNvSpPr>
          <p:nvPr/>
        </p:nvSpPr>
        <p:spPr bwMode="auto">
          <a:xfrm>
            <a:off x="3360738" y="5299075"/>
            <a:ext cx="261302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72" name="Rectangle 48">
            <a:extLst>
              <a:ext uri="{FF2B5EF4-FFF2-40B4-BE49-F238E27FC236}">
                <a16:creationId xmlns:a16="http://schemas.microsoft.com/office/drawing/2014/main" id="{EABC9D12-D4F5-AC02-C946-C7927CF8EF4D}"/>
              </a:ext>
            </a:extLst>
          </p:cNvPr>
          <p:cNvSpPr>
            <a:spLocks noChangeArrowheads="1"/>
          </p:cNvSpPr>
          <p:nvPr/>
        </p:nvSpPr>
        <p:spPr bwMode="auto">
          <a:xfrm>
            <a:off x="828675" y="4924425"/>
            <a:ext cx="2532063" cy="554038"/>
          </a:xfrm>
          <a:prstGeom prst="rect">
            <a:avLst/>
          </a:prstGeom>
          <a:solidFill>
            <a:srgbClr val="99FF99"/>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3" name="Text Box 49">
            <a:extLst>
              <a:ext uri="{FF2B5EF4-FFF2-40B4-BE49-F238E27FC236}">
                <a16:creationId xmlns:a16="http://schemas.microsoft.com/office/drawing/2014/main" id="{F3A091E8-15C7-E528-2132-32FFB47C2B9E}"/>
              </a:ext>
            </a:extLst>
          </p:cNvPr>
          <p:cNvSpPr txBox="1">
            <a:spLocks noChangeArrowheads="1"/>
          </p:cNvSpPr>
          <p:nvPr/>
        </p:nvSpPr>
        <p:spPr bwMode="auto">
          <a:xfrm>
            <a:off x="908050" y="4994275"/>
            <a:ext cx="19605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Clr>
                <a:srgbClr val="00279F"/>
              </a:buClr>
              <a:buSzPct val="87000"/>
              <a:buFont typeface="Wingdings" panose="05000000000000000000" pitchFamily="2" charset="2"/>
              <a:buNone/>
            </a:pPr>
            <a:r>
              <a:rPr lang="en-US" altLang="en-US" sz="1200" b="1">
                <a:latin typeface="Arial" panose="020B0604020202020204" pitchFamily="34" charset="0"/>
              </a:rPr>
              <a:t>Operations Manager:</a:t>
            </a:r>
          </a:p>
          <a:p>
            <a:pPr eaLnBrk="1" hangingPunct="1">
              <a:spcBef>
                <a:spcPct val="50000"/>
              </a:spcBef>
              <a:buClr>
                <a:srgbClr val="00279F"/>
              </a:buClr>
              <a:buSzPct val="87000"/>
              <a:buFont typeface="Wingdings" panose="05000000000000000000" pitchFamily="2" charset="2"/>
              <a:buNone/>
            </a:pPr>
            <a:r>
              <a:rPr lang="en-US" altLang="en-US" sz="1000">
                <a:latin typeface="Arial" panose="020B0604020202020204" pitchFamily="34" charset="0"/>
              </a:rPr>
              <a:t>Events generated  </a:t>
            </a:r>
          </a:p>
        </p:txBody>
      </p:sp>
      <p:sp>
        <p:nvSpPr>
          <p:cNvPr id="26674" name="Rectangle 50">
            <a:extLst>
              <a:ext uri="{FF2B5EF4-FFF2-40B4-BE49-F238E27FC236}">
                <a16:creationId xmlns:a16="http://schemas.microsoft.com/office/drawing/2014/main" id="{03B32CA1-B1EE-8500-659B-FA07131C7159}"/>
              </a:ext>
            </a:extLst>
          </p:cNvPr>
          <p:cNvSpPr>
            <a:spLocks noChangeArrowheads="1"/>
          </p:cNvSpPr>
          <p:nvPr/>
        </p:nvSpPr>
        <p:spPr bwMode="auto">
          <a:xfrm>
            <a:off x="828675" y="5824538"/>
            <a:ext cx="949325" cy="484187"/>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5" name="Rectangle 51">
            <a:extLst>
              <a:ext uri="{FF2B5EF4-FFF2-40B4-BE49-F238E27FC236}">
                <a16:creationId xmlns:a16="http://schemas.microsoft.com/office/drawing/2014/main" id="{02D2151A-848C-6C5C-EB76-AA5FA40E0EF7}"/>
              </a:ext>
            </a:extLst>
          </p:cNvPr>
          <p:cNvSpPr>
            <a:spLocks noChangeArrowheads="1"/>
          </p:cNvSpPr>
          <p:nvPr/>
        </p:nvSpPr>
        <p:spPr bwMode="auto">
          <a:xfrm>
            <a:off x="1936750" y="5824538"/>
            <a:ext cx="949325" cy="484187"/>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6" name="Rectangle 52">
            <a:extLst>
              <a:ext uri="{FF2B5EF4-FFF2-40B4-BE49-F238E27FC236}">
                <a16:creationId xmlns:a16="http://schemas.microsoft.com/office/drawing/2014/main" id="{8CF6839B-F39C-65B1-5460-600F026C7C4E}"/>
              </a:ext>
            </a:extLst>
          </p:cNvPr>
          <p:cNvSpPr>
            <a:spLocks noChangeArrowheads="1"/>
          </p:cNvSpPr>
          <p:nvPr/>
        </p:nvSpPr>
        <p:spPr bwMode="auto">
          <a:xfrm>
            <a:off x="3044825" y="5824538"/>
            <a:ext cx="949325" cy="484187"/>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7" name="Rectangle 53">
            <a:extLst>
              <a:ext uri="{FF2B5EF4-FFF2-40B4-BE49-F238E27FC236}">
                <a16:creationId xmlns:a16="http://schemas.microsoft.com/office/drawing/2014/main" id="{B1A9BC1C-CDA6-F41B-7C2B-19ADA212D4CC}"/>
              </a:ext>
            </a:extLst>
          </p:cNvPr>
          <p:cNvSpPr>
            <a:spLocks noChangeArrowheads="1"/>
          </p:cNvSpPr>
          <p:nvPr/>
        </p:nvSpPr>
        <p:spPr bwMode="auto">
          <a:xfrm>
            <a:off x="4152900" y="5824538"/>
            <a:ext cx="949325" cy="484187"/>
          </a:xfrm>
          <a:prstGeom prst="rect">
            <a:avLst/>
          </a:prstGeom>
          <a:solidFill>
            <a:srgbClr val="DDDDDD"/>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GB" altLang="en-US"/>
          </a:p>
        </p:txBody>
      </p:sp>
      <p:sp>
        <p:nvSpPr>
          <p:cNvPr id="26678" name="Text Box 54">
            <a:extLst>
              <a:ext uri="{FF2B5EF4-FFF2-40B4-BE49-F238E27FC236}">
                <a16:creationId xmlns:a16="http://schemas.microsoft.com/office/drawing/2014/main" id="{8625561D-0285-E992-2FC9-C175D41B8F9D}"/>
              </a:ext>
            </a:extLst>
          </p:cNvPr>
          <p:cNvSpPr txBox="1">
            <a:spLocks noChangeArrowheads="1"/>
          </p:cNvSpPr>
          <p:nvPr/>
        </p:nvSpPr>
        <p:spPr bwMode="auto">
          <a:xfrm>
            <a:off x="828675" y="5962650"/>
            <a:ext cx="9477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Confirm</a:t>
            </a:r>
          </a:p>
        </p:txBody>
      </p:sp>
      <p:sp>
        <p:nvSpPr>
          <p:cNvPr id="26679" name="Text Box 55">
            <a:extLst>
              <a:ext uri="{FF2B5EF4-FFF2-40B4-BE49-F238E27FC236}">
                <a16:creationId xmlns:a16="http://schemas.microsoft.com/office/drawing/2014/main" id="{F21C83DF-BA58-0CDF-62A6-2C7A5B92550D}"/>
              </a:ext>
            </a:extLst>
          </p:cNvPr>
          <p:cNvSpPr txBox="1">
            <a:spLocks noChangeArrowheads="1"/>
          </p:cNvSpPr>
          <p:nvPr/>
        </p:nvSpPr>
        <p:spPr bwMode="auto">
          <a:xfrm>
            <a:off x="1936750" y="5962650"/>
            <a:ext cx="949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Settle</a:t>
            </a:r>
          </a:p>
        </p:txBody>
      </p:sp>
      <p:sp>
        <p:nvSpPr>
          <p:cNvPr id="26680" name="Text Box 56">
            <a:extLst>
              <a:ext uri="{FF2B5EF4-FFF2-40B4-BE49-F238E27FC236}">
                <a16:creationId xmlns:a16="http://schemas.microsoft.com/office/drawing/2014/main" id="{C2216509-0133-6159-4342-17F859CC06BB}"/>
              </a:ext>
            </a:extLst>
          </p:cNvPr>
          <p:cNvSpPr txBox="1">
            <a:spLocks noChangeArrowheads="1"/>
          </p:cNvSpPr>
          <p:nvPr/>
        </p:nvSpPr>
        <p:spPr bwMode="auto">
          <a:xfrm>
            <a:off x="3044825" y="5891213"/>
            <a:ext cx="9493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lnSpc>
                <a:spcPct val="70000"/>
              </a:lnSpc>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Rate fixings</a:t>
            </a:r>
          </a:p>
        </p:txBody>
      </p:sp>
      <p:sp>
        <p:nvSpPr>
          <p:cNvPr id="26681" name="Text Box 57">
            <a:extLst>
              <a:ext uri="{FF2B5EF4-FFF2-40B4-BE49-F238E27FC236}">
                <a16:creationId xmlns:a16="http://schemas.microsoft.com/office/drawing/2014/main" id="{60246981-0A97-F15B-5B27-F2F1E3CA09B7}"/>
              </a:ext>
            </a:extLst>
          </p:cNvPr>
          <p:cNvSpPr txBox="1">
            <a:spLocks noChangeArrowheads="1"/>
          </p:cNvSpPr>
          <p:nvPr/>
        </p:nvSpPr>
        <p:spPr bwMode="auto">
          <a:xfrm>
            <a:off x="4073525" y="5851525"/>
            <a:ext cx="1108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buClr>
                <a:srgbClr val="00279F"/>
              </a:buClr>
              <a:buSzPct val="87000"/>
              <a:buFont typeface="Wingdings" panose="05000000000000000000" pitchFamily="2" charset="2"/>
              <a:buNone/>
            </a:pPr>
            <a:r>
              <a:rPr lang="en-US" altLang="en-US" sz="1200">
                <a:latin typeface="Arial" panose="020B0604020202020204" pitchFamily="34" charset="0"/>
              </a:rPr>
              <a:t>Reset Notifications</a:t>
            </a:r>
          </a:p>
        </p:txBody>
      </p:sp>
      <p:sp>
        <p:nvSpPr>
          <p:cNvPr id="26682" name="Line 58">
            <a:extLst>
              <a:ext uri="{FF2B5EF4-FFF2-40B4-BE49-F238E27FC236}">
                <a16:creationId xmlns:a16="http://schemas.microsoft.com/office/drawing/2014/main" id="{AB74F75C-A2D4-85C8-3BA7-9B2BF3A0A147}"/>
              </a:ext>
            </a:extLst>
          </p:cNvPr>
          <p:cNvSpPr>
            <a:spLocks noChangeShapeType="1"/>
          </p:cNvSpPr>
          <p:nvPr/>
        </p:nvSpPr>
        <p:spPr bwMode="auto">
          <a:xfrm>
            <a:off x="4608513" y="5014913"/>
            <a:ext cx="0" cy="2778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83" name="Line 59">
            <a:extLst>
              <a:ext uri="{FF2B5EF4-FFF2-40B4-BE49-F238E27FC236}">
                <a16:creationId xmlns:a16="http://schemas.microsoft.com/office/drawing/2014/main" id="{19C42F14-DC92-BF35-1D5D-45EB37154558}"/>
              </a:ext>
            </a:extLst>
          </p:cNvPr>
          <p:cNvSpPr>
            <a:spLocks noChangeShapeType="1"/>
          </p:cNvSpPr>
          <p:nvPr/>
        </p:nvSpPr>
        <p:spPr bwMode="auto">
          <a:xfrm>
            <a:off x="2411413" y="5478463"/>
            <a:ext cx="0" cy="3460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684" name="Line 60">
            <a:extLst>
              <a:ext uri="{FF2B5EF4-FFF2-40B4-BE49-F238E27FC236}">
                <a16:creationId xmlns:a16="http://schemas.microsoft.com/office/drawing/2014/main" id="{D6A7DB12-094E-ACEC-9A53-6A2C483FE71B}"/>
              </a:ext>
            </a:extLst>
          </p:cNvPr>
          <p:cNvSpPr>
            <a:spLocks noChangeShapeType="1"/>
          </p:cNvSpPr>
          <p:nvPr/>
        </p:nvSpPr>
        <p:spPr bwMode="auto">
          <a:xfrm>
            <a:off x="1778000" y="6100763"/>
            <a:ext cx="1587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85" name="Line 61">
            <a:extLst>
              <a:ext uri="{FF2B5EF4-FFF2-40B4-BE49-F238E27FC236}">
                <a16:creationId xmlns:a16="http://schemas.microsoft.com/office/drawing/2014/main" id="{5C942FAA-6F54-0A74-BD03-9D607D8694C6}"/>
              </a:ext>
            </a:extLst>
          </p:cNvPr>
          <p:cNvSpPr>
            <a:spLocks noChangeShapeType="1"/>
          </p:cNvSpPr>
          <p:nvPr/>
        </p:nvSpPr>
        <p:spPr bwMode="auto">
          <a:xfrm>
            <a:off x="2886075" y="6100763"/>
            <a:ext cx="1587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86" name="Line 62">
            <a:extLst>
              <a:ext uri="{FF2B5EF4-FFF2-40B4-BE49-F238E27FC236}">
                <a16:creationId xmlns:a16="http://schemas.microsoft.com/office/drawing/2014/main" id="{DAED5356-A6D1-6659-9465-623B73793301}"/>
              </a:ext>
            </a:extLst>
          </p:cNvPr>
          <p:cNvSpPr>
            <a:spLocks noChangeShapeType="1"/>
          </p:cNvSpPr>
          <p:nvPr/>
        </p:nvSpPr>
        <p:spPr bwMode="auto">
          <a:xfrm>
            <a:off x="3994150" y="6100763"/>
            <a:ext cx="1587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additive="base">
                                        <p:cTn id="7" dur="500" fill="hold"/>
                                        <p:tgtEl>
                                          <p:spTgt spid="26626"/>
                                        </p:tgtEl>
                                        <p:attrNameLst>
                                          <p:attrName>ppt_x</p:attrName>
                                        </p:attrNameLst>
                                      </p:cBhvr>
                                      <p:tavLst>
                                        <p:tav tm="0">
                                          <p:val>
                                            <p:strVal val="1+#ppt_w/2"/>
                                          </p:val>
                                        </p:tav>
                                        <p:tav tm="100000">
                                          <p:val>
                                            <p:strVal val="#ppt_x"/>
                                          </p:val>
                                        </p:tav>
                                      </p:tavLst>
                                    </p:anim>
                                    <p:anim calcmode="lin" valueType="num">
                                      <p:cBhvr additive="base">
                                        <p:cTn id="8" dur="500" fill="hold"/>
                                        <p:tgtEl>
                                          <p:spTgt spid="266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26634"/>
                                        </p:tgtEl>
                                        <p:attrNameLst>
                                          <p:attrName>style.visibility</p:attrName>
                                        </p:attrNameLst>
                                      </p:cBhvr>
                                      <p:to>
                                        <p:strVal val="visible"/>
                                      </p:to>
                                    </p:set>
                                    <p:animEffect transition="in" filter="fade">
                                      <p:cBhvr>
                                        <p:cTn id="13" dur="500"/>
                                        <p:tgtEl>
                                          <p:spTgt spid="26634"/>
                                        </p:tgtEl>
                                      </p:cBhvr>
                                    </p:animEffect>
                                  </p:childTnLst>
                                </p:cTn>
                              </p:par>
                              <p:par>
                                <p:cTn id="14" presetID="10" presetClass="entr" presetSubtype="0" fill="hold" nodeType="withEffect">
                                  <p:stCondLst>
                                    <p:cond delay="0"/>
                                  </p:stCondLst>
                                  <p:childTnLst>
                                    <p:set>
                                      <p:cBhvr>
                                        <p:cTn id="15" dur="1" fill="hold">
                                          <p:stCondLst>
                                            <p:cond delay="0"/>
                                          </p:stCondLst>
                                        </p:cTn>
                                        <p:tgtEl>
                                          <p:spTgt spid="26633"/>
                                        </p:tgtEl>
                                        <p:attrNameLst>
                                          <p:attrName>style.visibility</p:attrName>
                                        </p:attrNameLst>
                                      </p:cBhvr>
                                      <p:to>
                                        <p:strVal val="visible"/>
                                      </p:to>
                                    </p:set>
                                    <p:animEffect transition="in" filter="fade">
                                      <p:cBhvr>
                                        <p:cTn id="16" dur="500"/>
                                        <p:tgtEl>
                                          <p:spTgt spid="266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9" fill="hold" nodeType="clickEffect">
                                  <p:stCondLst>
                                    <p:cond delay="0"/>
                                  </p:stCondLst>
                                  <p:childTnLst>
                                    <p:set>
                                      <p:cBhvr>
                                        <p:cTn id="20" dur="1" fill="hold">
                                          <p:stCondLst>
                                            <p:cond delay="0"/>
                                          </p:stCondLst>
                                        </p:cTn>
                                        <p:tgtEl>
                                          <p:spTgt spid="26636"/>
                                        </p:tgtEl>
                                        <p:attrNameLst>
                                          <p:attrName>style.visibility</p:attrName>
                                        </p:attrNameLst>
                                      </p:cBhvr>
                                      <p:to>
                                        <p:strVal val="visible"/>
                                      </p:to>
                                    </p:set>
                                    <p:anim calcmode="lin" valueType="num">
                                      <p:cBhvr additive="base">
                                        <p:cTn id="21" dur="500" fill="hold"/>
                                        <p:tgtEl>
                                          <p:spTgt spid="26636"/>
                                        </p:tgtEl>
                                        <p:attrNameLst>
                                          <p:attrName>ppt_x</p:attrName>
                                        </p:attrNameLst>
                                      </p:cBhvr>
                                      <p:tavLst>
                                        <p:tav tm="0">
                                          <p:val>
                                            <p:strVal val="0-#ppt_w/2"/>
                                          </p:val>
                                        </p:tav>
                                        <p:tav tm="100000">
                                          <p:val>
                                            <p:strVal val="#ppt_x"/>
                                          </p:val>
                                        </p:tav>
                                      </p:tavLst>
                                    </p:anim>
                                    <p:anim calcmode="lin" valueType="num">
                                      <p:cBhvr additive="base">
                                        <p:cTn id="22" dur="500" fill="hold"/>
                                        <p:tgtEl>
                                          <p:spTgt spid="26636"/>
                                        </p:tgtEl>
                                        <p:attrNameLst>
                                          <p:attrName>ppt_y</p:attrName>
                                        </p:attrNameLst>
                                      </p:cBhvr>
                                      <p:tavLst>
                                        <p:tav tm="0">
                                          <p:val>
                                            <p:strVal val="0-#ppt_h/2"/>
                                          </p:val>
                                        </p:tav>
                                        <p:tav tm="100000">
                                          <p:val>
                                            <p:strVal val="#ppt_y"/>
                                          </p:val>
                                        </p:tav>
                                      </p:tavLst>
                                    </p:anim>
                                  </p:childTnLst>
                                </p:cTn>
                              </p:par>
                              <p:par>
                                <p:cTn id="23" presetID="2" presetClass="entr" presetSubtype="9" fill="hold" nodeType="withEffect">
                                  <p:stCondLst>
                                    <p:cond delay="0"/>
                                  </p:stCondLst>
                                  <p:childTnLst>
                                    <p:set>
                                      <p:cBhvr>
                                        <p:cTn id="24" dur="1" fill="hold">
                                          <p:stCondLst>
                                            <p:cond delay="0"/>
                                          </p:stCondLst>
                                        </p:cTn>
                                        <p:tgtEl>
                                          <p:spTgt spid="26638"/>
                                        </p:tgtEl>
                                        <p:attrNameLst>
                                          <p:attrName>style.visibility</p:attrName>
                                        </p:attrNameLst>
                                      </p:cBhvr>
                                      <p:to>
                                        <p:strVal val="visible"/>
                                      </p:to>
                                    </p:set>
                                    <p:anim calcmode="lin" valueType="num">
                                      <p:cBhvr additive="base">
                                        <p:cTn id="25" dur="500" fill="hold"/>
                                        <p:tgtEl>
                                          <p:spTgt spid="26638"/>
                                        </p:tgtEl>
                                        <p:attrNameLst>
                                          <p:attrName>ppt_x</p:attrName>
                                        </p:attrNameLst>
                                      </p:cBhvr>
                                      <p:tavLst>
                                        <p:tav tm="0">
                                          <p:val>
                                            <p:strVal val="0-#ppt_w/2"/>
                                          </p:val>
                                        </p:tav>
                                        <p:tav tm="100000">
                                          <p:val>
                                            <p:strVal val="#ppt_x"/>
                                          </p:val>
                                        </p:tav>
                                      </p:tavLst>
                                    </p:anim>
                                    <p:anim calcmode="lin" valueType="num">
                                      <p:cBhvr additive="base">
                                        <p:cTn id="26" dur="500" fill="hold"/>
                                        <p:tgtEl>
                                          <p:spTgt spid="26638"/>
                                        </p:tgtEl>
                                        <p:attrNameLst>
                                          <p:attrName>ppt_y</p:attrName>
                                        </p:attrNameLst>
                                      </p:cBhvr>
                                      <p:tavLst>
                                        <p:tav tm="0">
                                          <p:val>
                                            <p:strVal val="0-#ppt_h/2"/>
                                          </p:val>
                                        </p:tav>
                                        <p:tav tm="100000">
                                          <p:val>
                                            <p:strVal val="#ppt_y"/>
                                          </p:val>
                                        </p:tav>
                                      </p:tavLst>
                                    </p:anim>
                                  </p:childTnLst>
                                </p:cTn>
                              </p:par>
                              <p:par>
                                <p:cTn id="27" presetID="2" presetClass="entr" presetSubtype="9" fill="hold" nodeType="withEffect">
                                  <p:stCondLst>
                                    <p:cond delay="0"/>
                                  </p:stCondLst>
                                  <p:childTnLst>
                                    <p:set>
                                      <p:cBhvr>
                                        <p:cTn id="28" dur="1" fill="hold">
                                          <p:stCondLst>
                                            <p:cond delay="0"/>
                                          </p:stCondLst>
                                        </p:cTn>
                                        <p:tgtEl>
                                          <p:spTgt spid="26639"/>
                                        </p:tgtEl>
                                        <p:attrNameLst>
                                          <p:attrName>style.visibility</p:attrName>
                                        </p:attrNameLst>
                                      </p:cBhvr>
                                      <p:to>
                                        <p:strVal val="visible"/>
                                      </p:to>
                                    </p:set>
                                    <p:anim calcmode="lin" valueType="num">
                                      <p:cBhvr additive="base">
                                        <p:cTn id="29" dur="500" fill="hold"/>
                                        <p:tgtEl>
                                          <p:spTgt spid="26639"/>
                                        </p:tgtEl>
                                        <p:attrNameLst>
                                          <p:attrName>ppt_x</p:attrName>
                                        </p:attrNameLst>
                                      </p:cBhvr>
                                      <p:tavLst>
                                        <p:tav tm="0">
                                          <p:val>
                                            <p:strVal val="0-#ppt_w/2"/>
                                          </p:val>
                                        </p:tav>
                                        <p:tav tm="100000">
                                          <p:val>
                                            <p:strVal val="#ppt_x"/>
                                          </p:val>
                                        </p:tav>
                                      </p:tavLst>
                                    </p:anim>
                                    <p:anim calcmode="lin" valueType="num">
                                      <p:cBhvr additive="base">
                                        <p:cTn id="30" dur="500" fill="hold"/>
                                        <p:tgtEl>
                                          <p:spTgt spid="26639"/>
                                        </p:tgtEl>
                                        <p:attrNameLst>
                                          <p:attrName>ppt_y</p:attrName>
                                        </p:attrNameLst>
                                      </p:cBhvr>
                                      <p:tavLst>
                                        <p:tav tm="0">
                                          <p:val>
                                            <p:strVal val="0-#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3"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1+#ppt_w/2"/>
                                          </p:val>
                                        </p:tav>
                                        <p:tav tm="100000">
                                          <p:val>
                                            <p:strVal val="#ppt_x"/>
                                          </p:val>
                                        </p:tav>
                                      </p:tavLst>
                                    </p:anim>
                                    <p:anim calcmode="lin" valueType="num">
                                      <p:cBhvr additive="base">
                                        <p:cTn id="36"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26642"/>
                                        </p:tgtEl>
                                        <p:attrNameLst>
                                          <p:attrName>style.visibility</p:attrName>
                                        </p:attrNameLst>
                                      </p:cBhvr>
                                      <p:to>
                                        <p:strVal val="visible"/>
                                      </p:to>
                                    </p:set>
                                    <p:anim calcmode="lin" valueType="num">
                                      <p:cBhvr additive="base">
                                        <p:cTn id="41" dur="500" fill="hold"/>
                                        <p:tgtEl>
                                          <p:spTgt spid="26642"/>
                                        </p:tgtEl>
                                        <p:attrNameLst>
                                          <p:attrName>ppt_x</p:attrName>
                                        </p:attrNameLst>
                                      </p:cBhvr>
                                      <p:tavLst>
                                        <p:tav tm="0">
                                          <p:val>
                                            <p:strVal val="0-#ppt_w/2"/>
                                          </p:val>
                                        </p:tav>
                                        <p:tav tm="100000">
                                          <p:val>
                                            <p:strVal val="#ppt_x"/>
                                          </p:val>
                                        </p:tav>
                                      </p:tavLst>
                                    </p:anim>
                                    <p:anim calcmode="lin" valueType="num">
                                      <p:cBhvr additive="base">
                                        <p:cTn id="42" dur="500" fill="hold"/>
                                        <p:tgtEl>
                                          <p:spTgt spid="26642"/>
                                        </p:tgtEl>
                                        <p:attrNameLst>
                                          <p:attrName>ppt_y</p:attrName>
                                        </p:attrNameLst>
                                      </p:cBhvr>
                                      <p:tavLst>
                                        <p:tav tm="0">
                                          <p:val>
                                            <p:strVal val="#ppt_y"/>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26641"/>
                                        </p:tgtEl>
                                        <p:attrNameLst>
                                          <p:attrName>style.visibility</p:attrName>
                                        </p:attrNameLst>
                                      </p:cBhvr>
                                      <p:to>
                                        <p:strVal val="visible"/>
                                      </p:to>
                                    </p:set>
                                    <p:anim calcmode="lin" valueType="num">
                                      <p:cBhvr additive="base">
                                        <p:cTn id="45" dur="500" fill="hold"/>
                                        <p:tgtEl>
                                          <p:spTgt spid="26641"/>
                                        </p:tgtEl>
                                        <p:attrNameLst>
                                          <p:attrName>ppt_x</p:attrName>
                                        </p:attrNameLst>
                                      </p:cBhvr>
                                      <p:tavLst>
                                        <p:tav tm="0">
                                          <p:val>
                                            <p:strVal val="0-#ppt_w/2"/>
                                          </p:val>
                                        </p:tav>
                                        <p:tav tm="100000">
                                          <p:val>
                                            <p:strVal val="#ppt_x"/>
                                          </p:val>
                                        </p:tav>
                                      </p:tavLst>
                                    </p:anim>
                                    <p:anim calcmode="lin" valueType="num">
                                      <p:cBhvr additive="base">
                                        <p:cTn id="46" dur="500" fill="hold"/>
                                        <p:tgtEl>
                                          <p:spTgt spid="26641"/>
                                        </p:tgtEl>
                                        <p:attrNameLst>
                                          <p:attrName>ppt_y</p:attrName>
                                        </p:attrNameLst>
                                      </p:cBhvr>
                                      <p:tavLst>
                                        <p:tav tm="0">
                                          <p:val>
                                            <p:strVal val="#ppt_y"/>
                                          </p:val>
                                        </p:tav>
                                        <p:tav tm="100000">
                                          <p:val>
                                            <p:strVal val="#ppt_y"/>
                                          </p:val>
                                        </p:tav>
                                      </p:tavLst>
                                    </p:anim>
                                  </p:childTnLst>
                                </p:cTn>
                              </p:par>
                              <p:par>
                                <p:cTn id="47" presetID="2" presetClass="entr" presetSubtype="8" fill="hold" nodeType="withEffect">
                                  <p:stCondLst>
                                    <p:cond delay="0"/>
                                  </p:stCondLst>
                                  <p:childTnLst>
                                    <p:set>
                                      <p:cBhvr>
                                        <p:cTn id="48" dur="1" fill="hold">
                                          <p:stCondLst>
                                            <p:cond delay="0"/>
                                          </p:stCondLst>
                                        </p:cTn>
                                        <p:tgtEl>
                                          <p:spTgt spid="26643"/>
                                        </p:tgtEl>
                                        <p:attrNameLst>
                                          <p:attrName>style.visibility</p:attrName>
                                        </p:attrNameLst>
                                      </p:cBhvr>
                                      <p:to>
                                        <p:strVal val="visible"/>
                                      </p:to>
                                    </p:set>
                                    <p:anim calcmode="lin" valueType="num">
                                      <p:cBhvr additive="base">
                                        <p:cTn id="49" dur="500" fill="hold"/>
                                        <p:tgtEl>
                                          <p:spTgt spid="26643"/>
                                        </p:tgtEl>
                                        <p:attrNameLst>
                                          <p:attrName>ppt_x</p:attrName>
                                        </p:attrNameLst>
                                      </p:cBhvr>
                                      <p:tavLst>
                                        <p:tav tm="0">
                                          <p:val>
                                            <p:strVal val="0-#ppt_w/2"/>
                                          </p:val>
                                        </p:tav>
                                        <p:tav tm="100000">
                                          <p:val>
                                            <p:strVal val="#ppt_x"/>
                                          </p:val>
                                        </p:tav>
                                      </p:tavLst>
                                    </p:anim>
                                    <p:anim calcmode="lin" valueType="num">
                                      <p:cBhvr additive="base">
                                        <p:cTn id="50" dur="500" fill="hold"/>
                                        <p:tgtEl>
                                          <p:spTgt spid="26643"/>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26645"/>
                                        </p:tgtEl>
                                        <p:attrNameLst>
                                          <p:attrName>style.visibility</p:attrName>
                                        </p:attrNameLst>
                                      </p:cBhvr>
                                      <p:to>
                                        <p:strVal val="visible"/>
                                      </p:to>
                                    </p:set>
                                    <p:anim calcmode="lin" valueType="num">
                                      <p:cBhvr additive="base">
                                        <p:cTn id="55" dur="500" fill="hold"/>
                                        <p:tgtEl>
                                          <p:spTgt spid="26645"/>
                                        </p:tgtEl>
                                        <p:attrNameLst>
                                          <p:attrName>ppt_x</p:attrName>
                                        </p:attrNameLst>
                                      </p:cBhvr>
                                      <p:tavLst>
                                        <p:tav tm="0">
                                          <p:val>
                                            <p:strVal val="1+#ppt_w/2"/>
                                          </p:val>
                                        </p:tav>
                                        <p:tav tm="100000">
                                          <p:val>
                                            <p:strVal val="#ppt_x"/>
                                          </p:val>
                                        </p:tav>
                                      </p:tavLst>
                                    </p:anim>
                                    <p:anim calcmode="lin" valueType="num">
                                      <p:cBhvr additive="base">
                                        <p:cTn id="56" dur="500" fill="hold"/>
                                        <p:tgtEl>
                                          <p:spTgt spid="26645"/>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stCondLst>
                                    <p:cond delay="0"/>
                                  </p:stCondLst>
                                  <p:childTnLst>
                                    <p:set>
                                      <p:cBhvr>
                                        <p:cTn id="58" dur="1" fill="hold">
                                          <p:stCondLst>
                                            <p:cond delay="0"/>
                                          </p:stCondLst>
                                        </p:cTn>
                                        <p:tgtEl>
                                          <p:spTgt spid="26646"/>
                                        </p:tgtEl>
                                        <p:attrNameLst>
                                          <p:attrName>style.visibility</p:attrName>
                                        </p:attrNameLst>
                                      </p:cBhvr>
                                      <p:to>
                                        <p:strVal val="visible"/>
                                      </p:to>
                                    </p:set>
                                    <p:anim calcmode="lin" valueType="num">
                                      <p:cBhvr additive="base">
                                        <p:cTn id="59" dur="500" fill="hold"/>
                                        <p:tgtEl>
                                          <p:spTgt spid="26646"/>
                                        </p:tgtEl>
                                        <p:attrNameLst>
                                          <p:attrName>ppt_x</p:attrName>
                                        </p:attrNameLst>
                                      </p:cBhvr>
                                      <p:tavLst>
                                        <p:tav tm="0">
                                          <p:val>
                                            <p:strVal val="1+#ppt_w/2"/>
                                          </p:val>
                                        </p:tav>
                                        <p:tav tm="100000">
                                          <p:val>
                                            <p:strVal val="#ppt_x"/>
                                          </p:val>
                                        </p:tav>
                                      </p:tavLst>
                                    </p:anim>
                                    <p:anim calcmode="lin" valueType="num">
                                      <p:cBhvr additive="base">
                                        <p:cTn id="60" dur="500" fill="hold"/>
                                        <p:tgtEl>
                                          <p:spTgt spid="26646"/>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26647"/>
                                        </p:tgtEl>
                                        <p:attrNameLst>
                                          <p:attrName>style.visibility</p:attrName>
                                        </p:attrNameLst>
                                      </p:cBhvr>
                                      <p:to>
                                        <p:strVal val="visible"/>
                                      </p:to>
                                    </p:set>
                                    <p:anim calcmode="lin" valueType="num">
                                      <p:cBhvr additive="base">
                                        <p:cTn id="63" dur="500" fill="hold"/>
                                        <p:tgtEl>
                                          <p:spTgt spid="26647"/>
                                        </p:tgtEl>
                                        <p:attrNameLst>
                                          <p:attrName>ppt_x</p:attrName>
                                        </p:attrNameLst>
                                      </p:cBhvr>
                                      <p:tavLst>
                                        <p:tav tm="0">
                                          <p:val>
                                            <p:strVal val="1+#ppt_w/2"/>
                                          </p:val>
                                        </p:tav>
                                        <p:tav tm="100000">
                                          <p:val>
                                            <p:strVal val="#ppt_x"/>
                                          </p:val>
                                        </p:tav>
                                      </p:tavLst>
                                    </p:anim>
                                    <p:anim calcmode="lin" valueType="num">
                                      <p:cBhvr additive="base">
                                        <p:cTn id="64" dur="500" fill="hold"/>
                                        <p:tgtEl>
                                          <p:spTgt spid="26647"/>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wipe(up)">
                                      <p:cBhvr>
                                        <p:cTn id="69" dur="500"/>
                                        <p:tgtEl>
                                          <p:spTgt spid="2"/>
                                        </p:tgtEl>
                                      </p:cBhvr>
                                    </p:animEffect>
                                  </p:childTnLst>
                                </p:cTn>
                              </p:par>
                              <p:par>
                                <p:cTn id="70" presetID="22" presetClass="entr" presetSubtype="1" fill="hold" nodeType="with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up)">
                                      <p:cBhvr>
                                        <p:cTn id="72" dur="500"/>
                                        <p:tgtEl>
                                          <p:spTgt spid="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26628"/>
                                        </p:tgtEl>
                                        <p:attrNameLst>
                                          <p:attrName>style.visibility</p:attrName>
                                        </p:attrNameLst>
                                      </p:cBhvr>
                                      <p:to>
                                        <p:strVal val="visible"/>
                                      </p:to>
                                    </p:set>
                                    <p:animEffect transition="in" filter="wipe(up)">
                                      <p:cBhvr>
                                        <p:cTn id="77" dur="500"/>
                                        <p:tgtEl>
                                          <p:spTgt spid="26628"/>
                                        </p:tgtEl>
                                      </p:cBhvr>
                                    </p:animEffect>
                                  </p:childTnLst>
                                </p:cTn>
                              </p:par>
                              <p:par>
                                <p:cTn id="78" presetID="22" presetClass="entr" presetSubtype="1" fill="hold" nodeType="withEffect">
                                  <p:stCondLst>
                                    <p:cond delay="0"/>
                                  </p:stCondLst>
                                  <p:childTnLst>
                                    <p:set>
                                      <p:cBhvr>
                                        <p:cTn id="79" dur="1" fill="hold">
                                          <p:stCondLst>
                                            <p:cond delay="0"/>
                                          </p:stCondLst>
                                        </p:cTn>
                                        <p:tgtEl>
                                          <p:spTgt spid="4"/>
                                        </p:tgtEl>
                                        <p:attrNameLst>
                                          <p:attrName>style.visibility</p:attrName>
                                        </p:attrNameLst>
                                      </p:cBhvr>
                                      <p:to>
                                        <p:strVal val="visible"/>
                                      </p:to>
                                    </p:set>
                                    <p:animEffect transition="in" filter="wipe(up)">
                                      <p:cBhvr>
                                        <p:cTn id="80" dur="500"/>
                                        <p:tgtEl>
                                          <p:spTgt spid="4"/>
                                        </p:tgtEl>
                                      </p:cBhvr>
                                    </p:animEffect>
                                  </p:childTnLst>
                                </p:cTn>
                              </p:par>
                              <p:par>
                                <p:cTn id="81" presetID="22" presetClass="entr" presetSubtype="1" fill="hold" nodeType="withEffect">
                                  <p:stCondLst>
                                    <p:cond delay="0"/>
                                  </p:stCondLst>
                                  <p:childTnLst>
                                    <p:set>
                                      <p:cBhvr>
                                        <p:cTn id="82" dur="1" fill="hold">
                                          <p:stCondLst>
                                            <p:cond delay="0"/>
                                          </p:stCondLst>
                                        </p:cTn>
                                        <p:tgtEl>
                                          <p:spTgt spid="26682"/>
                                        </p:tgtEl>
                                        <p:attrNameLst>
                                          <p:attrName>style.visibility</p:attrName>
                                        </p:attrNameLst>
                                      </p:cBhvr>
                                      <p:to>
                                        <p:strVal val="visible"/>
                                      </p:to>
                                    </p:set>
                                    <p:animEffect transition="in" filter="wipe(up)">
                                      <p:cBhvr>
                                        <p:cTn id="83" dur="500"/>
                                        <p:tgtEl>
                                          <p:spTgt spid="2668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26671"/>
                                        </p:tgtEl>
                                        <p:attrNameLst>
                                          <p:attrName>style.visibility</p:attrName>
                                        </p:attrNameLst>
                                      </p:cBhvr>
                                      <p:to>
                                        <p:strVal val="visible"/>
                                      </p:to>
                                    </p:set>
                                    <p:animEffect transition="in" filter="wipe(left)">
                                      <p:cBhvr>
                                        <p:cTn id="88" dur="500"/>
                                        <p:tgtEl>
                                          <p:spTgt spid="26671"/>
                                        </p:tgtEl>
                                      </p:cBhvr>
                                    </p:animEffect>
                                  </p:childTnLst>
                                </p:cTn>
                              </p:par>
                              <p:par>
                                <p:cTn id="89" presetID="22" presetClass="entr" presetSubtype="8" fill="hold" nodeType="withEffect">
                                  <p:stCondLst>
                                    <p:cond delay="0"/>
                                  </p:stCondLst>
                                  <p:childTnLst>
                                    <p:set>
                                      <p:cBhvr>
                                        <p:cTn id="90" dur="1" fill="hold">
                                          <p:stCondLst>
                                            <p:cond delay="0"/>
                                          </p:stCondLst>
                                        </p:cTn>
                                        <p:tgtEl>
                                          <p:spTgt spid="26672"/>
                                        </p:tgtEl>
                                        <p:attrNameLst>
                                          <p:attrName>style.visibility</p:attrName>
                                        </p:attrNameLst>
                                      </p:cBhvr>
                                      <p:to>
                                        <p:strVal val="visible"/>
                                      </p:to>
                                    </p:set>
                                    <p:animEffect transition="in" filter="wipe(left)">
                                      <p:cBhvr>
                                        <p:cTn id="91" dur="500"/>
                                        <p:tgtEl>
                                          <p:spTgt spid="26672"/>
                                        </p:tgtEl>
                                      </p:cBhvr>
                                    </p:animEffect>
                                  </p:childTnLst>
                                </p:cTn>
                              </p:par>
                              <p:par>
                                <p:cTn id="92" presetID="22" presetClass="entr" presetSubtype="8" fill="hold" nodeType="withEffect">
                                  <p:stCondLst>
                                    <p:cond delay="0"/>
                                  </p:stCondLst>
                                  <p:childTnLst>
                                    <p:set>
                                      <p:cBhvr>
                                        <p:cTn id="93" dur="1" fill="hold">
                                          <p:stCondLst>
                                            <p:cond delay="0"/>
                                          </p:stCondLst>
                                        </p:cTn>
                                        <p:tgtEl>
                                          <p:spTgt spid="26673"/>
                                        </p:tgtEl>
                                        <p:attrNameLst>
                                          <p:attrName>style.visibility</p:attrName>
                                        </p:attrNameLst>
                                      </p:cBhvr>
                                      <p:to>
                                        <p:strVal val="visible"/>
                                      </p:to>
                                    </p:set>
                                    <p:animEffect transition="in" filter="wipe(left)">
                                      <p:cBhvr>
                                        <p:cTn id="94" dur="500"/>
                                        <p:tgtEl>
                                          <p:spTgt spid="26673"/>
                                        </p:tgtEl>
                                      </p:cBhvr>
                                    </p:animEffect>
                                  </p:childTnLst>
                                </p:cTn>
                              </p:par>
                              <p:par>
                                <p:cTn id="95" presetID="22" presetClass="entr" presetSubtype="8" fill="hold" nodeType="withEffect">
                                  <p:stCondLst>
                                    <p:cond delay="0"/>
                                  </p:stCondLst>
                                  <p:childTnLst>
                                    <p:set>
                                      <p:cBhvr>
                                        <p:cTn id="96" dur="1" fill="hold">
                                          <p:stCondLst>
                                            <p:cond delay="0"/>
                                          </p:stCondLst>
                                        </p:cTn>
                                        <p:tgtEl>
                                          <p:spTgt spid="26674"/>
                                        </p:tgtEl>
                                        <p:attrNameLst>
                                          <p:attrName>style.visibility</p:attrName>
                                        </p:attrNameLst>
                                      </p:cBhvr>
                                      <p:to>
                                        <p:strVal val="visible"/>
                                      </p:to>
                                    </p:set>
                                    <p:animEffect transition="in" filter="wipe(left)">
                                      <p:cBhvr>
                                        <p:cTn id="97" dur="500"/>
                                        <p:tgtEl>
                                          <p:spTgt spid="26674"/>
                                        </p:tgtEl>
                                      </p:cBhvr>
                                    </p:animEffect>
                                  </p:childTnLst>
                                </p:cTn>
                              </p:par>
                              <p:par>
                                <p:cTn id="98" presetID="22" presetClass="entr" presetSubtype="8" fill="hold" nodeType="withEffect">
                                  <p:stCondLst>
                                    <p:cond delay="0"/>
                                  </p:stCondLst>
                                  <p:childTnLst>
                                    <p:set>
                                      <p:cBhvr>
                                        <p:cTn id="99" dur="1" fill="hold">
                                          <p:stCondLst>
                                            <p:cond delay="0"/>
                                          </p:stCondLst>
                                        </p:cTn>
                                        <p:tgtEl>
                                          <p:spTgt spid="26678"/>
                                        </p:tgtEl>
                                        <p:attrNameLst>
                                          <p:attrName>style.visibility</p:attrName>
                                        </p:attrNameLst>
                                      </p:cBhvr>
                                      <p:to>
                                        <p:strVal val="visible"/>
                                      </p:to>
                                    </p:set>
                                    <p:animEffect transition="in" filter="wipe(left)">
                                      <p:cBhvr>
                                        <p:cTn id="100" dur="500"/>
                                        <p:tgtEl>
                                          <p:spTgt spid="26678"/>
                                        </p:tgtEl>
                                      </p:cBhvr>
                                    </p:animEffect>
                                  </p:childTnLst>
                                </p:cTn>
                              </p:par>
                              <p:par>
                                <p:cTn id="101" presetID="22" presetClass="entr" presetSubtype="8" fill="hold" nodeType="withEffect">
                                  <p:stCondLst>
                                    <p:cond delay="0"/>
                                  </p:stCondLst>
                                  <p:childTnLst>
                                    <p:set>
                                      <p:cBhvr>
                                        <p:cTn id="102" dur="1" fill="hold">
                                          <p:stCondLst>
                                            <p:cond delay="0"/>
                                          </p:stCondLst>
                                        </p:cTn>
                                        <p:tgtEl>
                                          <p:spTgt spid="26684"/>
                                        </p:tgtEl>
                                        <p:attrNameLst>
                                          <p:attrName>style.visibility</p:attrName>
                                        </p:attrNameLst>
                                      </p:cBhvr>
                                      <p:to>
                                        <p:strVal val="visible"/>
                                      </p:to>
                                    </p:set>
                                    <p:animEffect transition="in" filter="wipe(left)">
                                      <p:cBhvr>
                                        <p:cTn id="103" dur="500"/>
                                        <p:tgtEl>
                                          <p:spTgt spid="26684"/>
                                        </p:tgtEl>
                                      </p:cBhvr>
                                    </p:animEffect>
                                  </p:childTnLst>
                                </p:cTn>
                              </p:par>
                              <p:par>
                                <p:cTn id="104" presetID="22" presetClass="entr" presetSubtype="8" fill="hold" nodeType="withEffect">
                                  <p:stCondLst>
                                    <p:cond delay="0"/>
                                  </p:stCondLst>
                                  <p:childTnLst>
                                    <p:set>
                                      <p:cBhvr>
                                        <p:cTn id="105" dur="1" fill="hold">
                                          <p:stCondLst>
                                            <p:cond delay="0"/>
                                          </p:stCondLst>
                                        </p:cTn>
                                        <p:tgtEl>
                                          <p:spTgt spid="26675"/>
                                        </p:tgtEl>
                                        <p:attrNameLst>
                                          <p:attrName>style.visibility</p:attrName>
                                        </p:attrNameLst>
                                      </p:cBhvr>
                                      <p:to>
                                        <p:strVal val="visible"/>
                                      </p:to>
                                    </p:set>
                                    <p:animEffect transition="in" filter="wipe(left)">
                                      <p:cBhvr>
                                        <p:cTn id="106" dur="500"/>
                                        <p:tgtEl>
                                          <p:spTgt spid="26675"/>
                                        </p:tgtEl>
                                      </p:cBhvr>
                                    </p:animEffect>
                                  </p:childTnLst>
                                </p:cTn>
                              </p:par>
                              <p:par>
                                <p:cTn id="107" presetID="22" presetClass="entr" presetSubtype="8" fill="hold" nodeType="withEffect">
                                  <p:stCondLst>
                                    <p:cond delay="0"/>
                                  </p:stCondLst>
                                  <p:childTnLst>
                                    <p:set>
                                      <p:cBhvr>
                                        <p:cTn id="108" dur="1" fill="hold">
                                          <p:stCondLst>
                                            <p:cond delay="0"/>
                                          </p:stCondLst>
                                        </p:cTn>
                                        <p:tgtEl>
                                          <p:spTgt spid="26679"/>
                                        </p:tgtEl>
                                        <p:attrNameLst>
                                          <p:attrName>style.visibility</p:attrName>
                                        </p:attrNameLst>
                                      </p:cBhvr>
                                      <p:to>
                                        <p:strVal val="visible"/>
                                      </p:to>
                                    </p:set>
                                    <p:animEffect transition="in" filter="wipe(left)">
                                      <p:cBhvr>
                                        <p:cTn id="109" dur="500"/>
                                        <p:tgtEl>
                                          <p:spTgt spid="26679"/>
                                        </p:tgtEl>
                                      </p:cBhvr>
                                    </p:animEffect>
                                  </p:childTnLst>
                                </p:cTn>
                              </p:par>
                              <p:par>
                                <p:cTn id="110" presetID="22" presetClass="entr" presetSubtype="8" fill="hold" nodeType="withEffect">
                                  <p:stCondLst>
                                    <p:cond delay="0"/>
                                  </p:stCondLst>
                                  <p:childTnLst>
                                    <p:set>
                                      <p:cBhvr>
                                        <p:cTn id="111" dur="1" fill="hold">
                                          <p:stCondLst>
                                            <p:cond delay="0"/>
                                          </p:stCondLst>
                                        </p:cTn>
                                        <p:tgtEl>
                                          <p:spTgt spid="26683"/>
                                        </p:tgtEl>
                                        <p:attrNameLst>
                                          <p:attrName>style.visibility</p:attrName>
                                        </p:attrNameLst>
                                      </p:cBhvr>
                                      <p:to>
                                        <p:strVal val="visible"/>
                                      </p:to>
                                    </p:set>
                                    <p:animEffect transition="in" filter="wipe(left)">
                                      <p:cBhvr>
                                        <p:cTn id="112" dur="500"/>
                                        <p:tgtEl>
                                          <p:spTgt spid="26683"/>
                                        </p:tgtEl>
                                      </p:cBhvr>
                                    </p:animEffect>
                                  </p:childTnLst>
                                </p:cTn>
                              </p:par>
                              <p:par>
                                <p:cTn id="113" presetID="22" presetClass="entr" presetSubtype="8" fill="hold" nodeType="withEffect">
                                  <p:stCondLst>
                                    <p:cond delay="0"/>
                                  </p:stCondLst>
                                  <p:childTnLst>
                                    <p:set>
                                      <p:cBhvr>
                                        <p:cTn id="114" dur="1" fill="hold">
                                          <p:stCondLst>
                                            <p:cond delay="0"/>
                                          </p:stCondLst>
                                        </p:cTn>
                                        <p:tgtEl>
                                          <p:spTgt spid="26685"/>
                                        </p:tgtEl>
                                        <p:attrNameLst>
                                          <p:attrName>style.visibility</p:attrName>
                                        </p:attrNameLst>
                                      </p:cBhvr>
                                      <p:to>
                                        <p:strVal val="visible"/>
                                      </p:to>
                                    </p:set>
                                    <p:animEffect transition="in" filter="wipe(left)">
                                      <p:cBhvr>
                                        <p:cTn id="115" dur="500"/>
                                        <p:tgtEl>
                                          <p:spTgt spid="26685"/>
                                        </p:tgtEl>
                                      </p:cBhvr>
                                    </p:animEffect>
                                  </p:childTnLst>
                                </p:cTn>
                              </p:par>
                              <p:par>
                                <p:cTn id="116" presetID="22" presetClass="entr" presetSubtype="8" fill="hold" nodeType="withEffect">
                                  <p:stCondLst>
                                    <p:cond delay="0"/>
                                  </p:stCondLst>
                                  <p:childTnLst>
                                    <p:set>
                                      <p:cBhvr>
                                        <p:cTn id="117" dur="1" fill="hold">
                                          <p:stCondLst>
                                            <p:cond delay="0"/>
                                          </p:stCondLst>
                                        </p:cTn>
                                        <p:tgtEl>
                                          <p:spTgt spid="26676"/>
                                        </p:tgtEl>
                                        <p:attrNameLst>
                                          <p:attrName>style.visibility</p:attrName>
                                        </p:attrNameLst>
                                      </p:cBhvr>
                                      <p:to>
                                        <p:strVal val="visible"/>
                                      </p:to>
                                    </p:set>
                                    <p:animEffect transition="in" filter="wipe(left)">
                                      <p:cBhvr>
                                        <p:cTn id="118" dur="500"/>
                                        <p:tgtEl>
                                          <p:spTgt spid="26676"/>
                                        </p:tgtEl>
                                      </p:cBhvr>
                                    </p:animEffect>
                                  </p:childTnLst>
                                </p:cTn>
                              </p:par>
                              <p:par>
                                <p:cTn id="119" presetID="22" presetClass="entr" presetSubtype="8" fill="hold" nodeType="withEffect">
                                  <p:stCondLst>
                                    <p:cond delay="0"/>
                                  </p:stCondLst>
                                  <p:childTnLst>
                                    <p:set>
                                      <p:cBhvr>
                                        <p:cTn id="120" dur="1" fill="hold">
                                          <p:stCondLst>
                                            <p:cond delay="0"/>
                                          </p:stCondLst>
                                        </p:cTn>
                                        <p:tgtEl>
                                          <p:spTgt spid="26680"/>
                                        </p:tgtEl>
                                        <p:attrNameLst>
                                          <p:attrName>style.visibility</p:attrName>
                                        </p:attrNameLst>
                                      </p:cBhvr>
                                      <p:to>
                                        <p:strVal val="visible"/>
                                      </p:to>
                                    </p:set>
                                    <p:animEffect transition="in" filter="wipe(left)">
                                      <p:cBhvr>
                                        <p:cTn id="121" dur="500"/>
                                        <p:tgtEl>
                                          <p:spTgt spid="26680"/>
                                        </p:tgtEl>
                                      </p:cBhvr>
                                    </p:animEffect>
                                  </p:childTnLst>
                                </p:cTn>
                              </p:par>
                              <p:par>
                                <p:cTn id="122" presetID="22" presetClass="entr" presetSubtype="8" fill="hold" nodeType="withEffect">
                                  <p:stCondLst>
                                    <p:cond delay="0"/>
                                  </p:stCondLst>
                                  <p:childTnLst>
                                    <p:set>
                                      <p:cBhvr>
                                        <p:cTn id="123" dur="1" fill="hold">
                                          <p:stCondLst>
                                            <p:cond delay="0"/>
                                          </p:stCondLst>
                                        </p:cTn>
                                        <p:tgtEl>
                                          <p:spTgt spid="26686"/>
                                        </p:tgtEl>
                                        <p:attrNameLst>
                                          <p:attrName>style.visibility</p:attrName>
                                        </p:attrNameLst>
                                      </p:cBhvr>
                                      <p:to>
                                        <p:strVal val="visible"/>
                                      </p:to>
                                    </p:set>
                                    <p:animEffect transition="in" filter="wipe(left)">
                                      <p:cBhvr>
                                        <p:cTn id="124" dur="500"/>
                                        <p:tgtEl>
                                          <p:spTgt spid="26686"/>
                                        </p:tgtEl>
                                      </p:cBhvr>
                                    </p:animEffect>
                                  </p:childTnLst>
                                </p:cTn>
                              </p:par>
                              <p:par>
                                <p:cTn id="125" presetID="22" presetClass="entr" presetSubtype="8" fill="hold" nodeType="withEffect">
                                  <p:stCondLst>
                                    <p:cond delay="0"/>
                                  </p:stCondLst>
                                  <p:childTnLst>
                                    <p:set>
                                      <p:cBhvr>
                                        <p:cTn id="126" dur="1" fill="hold">
                                          <p:stCondLst>
                                            <p:cond delay="0"/>
                                          </p:stCondLst>
                                        </p:cTn>
                                        <p:tgtEl>
                                          <p:spTgt spid="26677"/>
                                        </p:tgtEl>
                                        <p:attrNameLst>
                                          <p:attrName>style.visibility</p:attrName>
                                        </p:attrNameLst>
                                      </p:cBhvr>
                                      <p:to>
                                        <p:strVal val="visible"/>
                                      </p:to>
                                    </p:set>
                                    <p:animEffect transition="in" filter="wipe(left)">
                                      <p:cBhvr>
                                        <p:cTn id="127" dur="500"/>
                                        <p:tgtEl>
                                          <p:spTgt spid="26677"/>
                                        </p:tgtEl>
                                      </p:cBhvr>
                                    </p:animEffect>
                                  </p:childTnLst>
                                </p:cTn>
                              </p:par>
                              <p:par>
                                <p:cTn id="128" presetID="22" presetClass="entr" presetSubtype="8" fill="hold" nodeType="withEffect">
                                  <p:stCondLst>
                                    <p:cond delay="0"/>
                                  </p:stCondLst>
                                  <p:childTnLst>
                                    <p:set>
                                      <p:cBhvr>
                                        <p:cTn id="129" dur="1" fill="hold">
                                          <p:stCondLst>
                                            <p:cond delay="0"/>
                                          </p:stCondLst>
                                        </p:cTn>
                                        <p:tgtEl>
                                          <p:spTgt spid="26681"/>
                                        </p:tgtEl>
                                        <p:attrNameLst>
                                          <p:attrName>style.visibility</p:attrName>
                                        </p:attrNameLst>
                                      </p:cBhvr>
                                      <p:to>
                                        <p:strVal val="visible"/>
                                      </p:to>
                                    </p:set>
                                    <p:animEffect transition="in" filter="wipe(left)">
                                      <p:cBhvr>
                                        <p:cTn id="130" dur="500"/>
                                        <p:tgtEl>
                                          <p:spTgt spid="26681"/>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8"/>
                                        </p:tgtEl>
                                        <p:attrNameLst>
                                          <p:attrName>style.visibility</p:attrName>
                                        </p:attrNameLst>
                                      </p:cBhvr>
                                      <p:to>
                                        <p:strVal val="visible"/>
                                      </p:to>
                                    </p:set>
                                    <p:animEffect transition="in" filter="wipe(left)">
                                      <p:cBhvr>
                                        <p:cTn id="135" dur="500"/>
                                        <p:tgtEl>
                                          <p:spTgt spid="8"/>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0" presetClass="entr" presetSubtype="0" fill="hold" nodeType="clickEffect">
                                  <p:stCondLst>
                                    <p:cond delay="0"/>
                                  </p:stCondLst>
                                  <p:childTnLst>
                                    <p:set>
                                      <p:cBhvr>
                                        <p:cTn id="139" dur="1" fill="hold">
                                          <p:stCondLst>
                                            <p:cond delay="0"/>
                                          </p:stCondLst>
                                        </p:cTn>
                                        <p:tgtEl>
                                          <p:spTgt spid="7"/>
                                        </p:tgtEl>
                                        <p:attrNameLst>
                                          <p:attrName>style.visibility</p:attrName>
                                        </p:attrNameLst>
                                      </p:cBhvr>
                                      <p:to>
                                        <p:strVal val="visible"/>
                                      </p:to>
                                    </p:set>
                                    <p:animEffect transition="in" filter="fade">
                                      <p:cBhvr>
                                        <p:cTn id="1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8" grpId="0"/>
      <p:bldP spid="26633" grpId="0" animBg="1"/>
      <p:bldP spid="26634" grpId="0"/>
      <p:bldP spid="26636" grpId="0" animBg="1"/>
      <p:bldP spid="26638" grpId="0"/>
      <p:bldP spid="26641" grpId="0" animBg="1"/>
      <p:bldP spid="26642" grpId="0"/>
      <p:bldP spid="26645" grpId="0" animBg="1"/>
      <p:bldP spid="26646" grpId="0"/>
      <p:bldP spid="26672" grpId="0" animBg="1"/>
      <p:bldP spid="26673" grpId="0"/>
      <p:bldP spid="26674" grpId="0" animBg="1"/>
      <p:bldP spid="26675" grpId="0" animBg="1"/>
      <p:bldP spid="26676" grpId="0" animBg="1"/>
      <p:bldP spid="26677" grpId="0" animBg="1"/>
      <p:bldP spid="26678" grpId="0"/>
      <p:bldP spid="26679" grpId="0"/>
      <p:bldP spid="26680" grpId="0"/>
      <p:bldP spid="26681" grpId="0"/>
    </p:bldLst>
  </p:timing>
</p:sld>
</file>

<file path=ppt/theme/theme1.xml><?xml version="1.0" encoding="utf-8"?>
<a:theme xmlns:a="http://schemas.openxmlformats.org/drawingml/2006/main" name="3_Corporate_Master_Design_Template_2006">
  <a:themeElements>
    <a:clrScheme name="1_Corporate_Master_Design_Template_20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orporate_Master_Design_Template_2006">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orporate_Master_Design_Template_20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orporate_Master_Design_Template_200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orporate_Master_Design_Template_2006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orporate_Master_Design_Template_200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orporate_Master_Design_Template_200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orporate_Master_Design_Template_200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orporate_Master_Design_Template_2006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orporate_Master_Design_Template_200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orporate_Master_Design_Template_200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orporate_Master_Design_Template_200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orporate_Master_Design_Template_200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orporate_Master_Design_Template_200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LongProperties xmlns="http://schemas.microsoft.com/office/2006/metadata/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10B4286C73BC4DB66752CA77A09D1C" ma:contentTypeVersion="19" ma:contentTypeDescription="Create a new document." ma:contentTypeScope="" ma:versionID="0f6ef0ae1b413b409cb0c7bbade529cf">
  <xsd:schema xmlns:xsd="http://www.w3.org/2001/XMLSchema" xmlns:xs="http://www.w3.org/2001/XMLSchema" xmlns:p="http://schemas.microsoft.com/office/2006/metadata/properties" xmlns:ns2="bd57060c-11ef-410e-9103-5e486a4a1ae7" xmlns:ns3="af3d46ad-c9a8-4cd7-9374-471ab89c57ac" xmlns:ns4="df52ca87-820f-4265-a196-fbca7a4b8502" targetNamespace="http://schemas.microsoft.com/office/2006/metadata/properties" ma:root="true" ma:fieldsID="2ec6899fa4f59f9585d62d4aad0b23f7" ns2:_="" ns3:_="" ns4:_="">
    <xsd:import namespace="bd57060c-11ef-410e-9103-5e486a4a1ae7"/>
    <xsd:import namespace="af3d46ad-c9a8-4cd7-9374-471ab89c57ac"/>
    <xsd:import namespace="df52ca87-820f-4265-a196-fbca7a4b8502"/>
    <xsd:element name="properties">
      <xsd:complexType>
        <xsd:sequence>
          <xsd:element name="documentManagement">
            <xsd:complexType>
              <xsd:all>
                <xsd:element ref="ns2:Commodity" minOccurs="0"/>
                <xsd:element ref="ns2:Endur_x0020_Category" minOccurs="0"/>
                <xsd:element ref="ns2:Endur_x0020_Topic" minOccurs="0"/>
                <xsd:element ref="ns3:SharedWithUsers" minOccurs="0"/>
                <xsd:element ref="ns4:SharedWithDetails" minOccurs="0"/>
                <xsd:element ref="ns3:TaxKeywordTaxHTField" minOccurs="0"/>
                <xsd:element ref="ns3:TaxCatchAll" minOccurs="0"/>
                <xsd:element ref="ns2:MediaServiceMetadata" minOccurs="0"/>
                <xsd:element ref="ns2:MediaServiceFastMetadata" minOccurs="0"/>
                <xsd:element ref="ns2:MediaServiceEventHashCode" minOccurs="0"/>
                <xsd:element ref="ns2:MediaServiceGenerationTime" minOccurs="0"/>
                <xsd:element ref="ns2:MediaServiceDateTaken" minOccurs="0"/>
                <xsd:element ref="ns2:MediaServiceAutoKeyPoints" minOccurs="0"/>
                <xsd:element ref="ns2:MediaServiceKeyPoints"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57060c-11ef-410e-9103-5e486a4a1ae7" elementFormDefault="qualified">
    <xsd:import namespace="http://schemas.microsoft.com/office/2006/documentManagement/types"/>
    <xsd:import namespace="http://schemas.microsoft.com/office/infopath/2007/PartnerControls"/>
    <xsd:element name="Commodity" ma:index="8" nillable="true" ma:displayName="Commodity/Asset Class" ma:format="Dropdown" ma:internalName="Commodity" ma:requiredMultiChoice="true">
      <xsd:complexType>
        <xsd:complexContent>
          <xsd:extension base="dms:MultiChoice">
            <xsd:sequence>
              <xsd:element name="Value" maxOccurs="unbounded" minOccurs="0" nillable="true">
                <xsd:simpleType>
                  <xsd:restriction base="dms:Choice">
                    <xsd:enumeration value="General"/>
                    <xsd:enumeration value="General Endur"/>
                    <xsd:enumeration value="General Findur"/>
                    <xsd:enumeration value="Base Metals"/>
                    <xsd:enumeration value="Coal"/>
                    <xsd:enumeration value="Electricity"/>
                    <xsd:enumeration value="Emissions"/>
                    <xsd:enumeration value="Freight"/>
                    <xsd:enumeration value="Green Certificates"/>
                    <xsd:enumeration value="Iron Ore"/>
                    <xsd:enumeration value="Natural Gas"/>
                    <xsd:enumeration value="Liquified Natural Gas"/>
                    <xsd:enumeration value="Oil"/>
                    <xsd:enumeration value="Precious Metals"/>
                    <xsd:enumeration value="FX"/>
                    <xsd:enumeration value="FRAs/MM/Loans/Deposits"/>
                    <xsd:enumeration value="Bonds/Repos"/>
                    <xsd:enumeration value="IR Derivatives"/>
                    <xsd:enumeration value="Credit Derivatives"/>
                    <xsd:enumeration value="Equities"/>
                    <xsd:enumeration value="Not Assigned"/>
                  </xsd:restriction>
                </xsd:simpleType>
              </xsd:element>
            </xsd:sequence>
          </xsd:extension>
        </xsd:complexContent>
      </xsd:complexType>
    </xsd:element>
    <xsd:element name="Endur_x0020_Category" ma:index="9" nillable="true" ma:displayName="Category" ma:internalName="Endur_x0020_Category" ma:requiredMultiChoice="true">
      <xsd:complexType>
        <xsd:complexContent>
          <xsd:extension base="dms:MultiChoice">
            <xsd:sequence>
              <xsd:element name="Value" maxOccurs="unbounded" minOccurs="0" nillable="true">
                <xsd:simpleType>
                  <xsd:restriction base="dms:Choice">
                    <xsd:enumeration value="Accounting"/>
                    <xsd:enumeration value="Back Office"/>
                    <xsd:enumeration value="Cash Management"/>
                    <xsd:enumeration value="Collateral Management"/>
                    <xsd:enumeration value="Compliance"/>
                    <xsd:enumeration value="Confirmations"/>
                    <xsd:enumeration value="Customisation"/>
                    <xsd:enumeration value="Data Model Extension"/>
                    <xsd:enumeration value="Desktops"/>
                    <xsd:enumeration value="Exchange Trading"/>
                    <xsd:enumeration value="Fees"/>
                    <xsd:enumeration value="FX Conversion"/>
                    <xsd:enumeration value="General Trading"/>
                    <xsd:enumeration value="Import/Export"/>
                    <xsd:enumeration value="Market Data"/>
                    <xsd:enumeration value="Model Database"/>
                    <xsd:enumeration value="Misc"/>
                    <xsd:enumeration value="Overview"/>
                    <xsd:enumeration value="Performance Measurement"/>
                    <xsd:enumeration value="Position Management"/>
                    <xsd:enumeration value="Reporting"/>
                    <xsd:enumeration value="Risk"/>
                    <xsd:enumeration value="Physical Assets"/>
                    <xsd:enumeration value="Scheduling"/>
                    <xsd:enumeration value="Services"/>
                    <xsd:enumeration value="Settlements"/>
                    <xsd:enumeration value="Simulations"/>
                    <xsd:enumeration value="Snapshots"/>
                    <xsd:enumeration value="Standard Interfaces"/>
                    <xsd:enumeration value="Static Data"/>
                    <xsd:enumeration value="Technology"/>
                    <xsd:enumeration value="Trade Modelling"/>
                    <xsd:enumeration value="What's New"/>
                    <xsd:enumeration value="Workflows"/>
                    <xsd:enumeration value="Toolset - ComFut"/>
                    <xsd:enumeration value="Toolset - ComFwd"/>
                    <xsd:enumeration value="Toolset - ComOptFut"/>
                    <xsd:enumeration value="Toolset - ComSwap"/>
                    <xsd:enumeration value="Toolset - ComOpt"/>
                    <xsd:enumeration value="Toolset - Commodity"/>
                    <xsd:enumeration value="Toolset - Power"/>
                    <xsd:enumeration value="Toolset - CallNot"/>
                    <xsd:enumeration value="Toolset - FX"/>
                    <xsd:enumeration value="Toolset - FX-Option"/>
                    <xsd:enumeration value="Toolset - FRA"/>
                    <xsd:enumeration value="Toolset - Money Market"/>
                    <xsd:enumeration value="Toolset - LoanDep"/>
                    <xsd:enumeration value="Toolset - LoanDep Option"/>
                    <xsd:enumeration value="Toolset - Swap"/>
                    <xsd:enumeration value="Toolset - Option"/>
                    <xsd:enumeration value="Toolset - DigOpt"/>
                    <xsd:enumeration value="Toolset - Swaption"/>
                    <xsd:enumeration value="Toolset - Bond"/>
                    <xsd:enumeration value="Toolset - Equity"/>
                    <xsd:enumeration value="Toolset - EquityOTCOpt"/>
                    <xsd:enumeration value="Toolset - Repo"/>
                    <xsd:enumeration value="Toolset - BondFut"/>
                    <xsd:enumeration value="Toolset - RateFut"/>
                    <xsd:enumeration value="Toolset - OptRateFut"/>
                    <xsd:enumeration value="Toolset - FinFut"/>
                    <xsd:enumeration value="Toolset - GenericFut"/>
                    <xsd:enumeration value="Toolset - CreditDeriv"/>
                    <xsd:enumeration value="Toolset - Margin"/>
                    <xsd:enumeration value="Toolset - Hybrid"/>
                    <xsd:enumeration value="Toolset - Structured"/>
                    <xsd:enumeration value="Toolset - Volatility-OTC"/>
                    <xsd:enumeration value="Not Assigned"/>
                  </xsd:restriction>
                </xsd:simpleType>
              </xsd:element>
            </xsd:sequence>
          </xsd:extension>
        </xsd:complexContent>
      </xsd:complexType>
    </xsd:element>
    <xsd:element name="Endur_x0020_Topic" ma:index="10" nillable="true" ma:displayName="Topic" ma:internalName="Endur_x0020_Topic" ma:requiredMultiChoice="true">
      <xsd:complexType>
        <xsd:complexContent>
          <xsd:extension base="dms:MultiChoice">
            <xsd:sequence>
              <xsd:element name="Value" maxOccurs="unbounded" minOccurs="0" nillable="true">
                <xsd:simpleType>
                  <xsd:restriction base="dms:Choice">
                    <xsd:enumeration value="360T"/>
                    <xsd:enumeration value="Accounting Desktop"/>
                    <xsd:enumeration value="Accrued Interest"/>
                    <xsd:enumeration value="Active Batch"/>
                    <xsd:enumeration value="Admin Manager"/>
                    <xsd:enumeration value="Adjustment Functions"/>
                    <xsd:enumeration value="ADS"/>
                    <xsd:enumeration value="AFE"/>
                    <xsd:enumeration value="AFS"/>
                    <xsd:enumeration value="Agreements"/>
                    <xsd:enumeration value="Alerts"/>
                    <xsd:enumeration value="ANE"/>
                    <xsd:enumeration value="APM"/>
                    <xsd:enumeration value="Architecture"/>
                    <xsd:enumeration value="Asset Forecasts"/>
                    <xsd:enumeration value="Asset Optimisation"/>
                    <xsd:enumeration value="Asset Valuation"/>
                    <xsd:enumeration value="Automatch"/>
                    <xsd:enumeration value="Automated Nominations"/>
                    <xsd:enumeration value="AVS"/>
                    <xsd:enumeration value="Back Office Desktop"/>
                    <xsd:enumeration value="Barrier Options"/>
                    <xsd:enumeration value="Benchmarking"/>
                    <xsd:enumeration value="Blobs"/>
                    <xsd:enumeration value="Bloomberg"/>
                    <xsd:enumeration value="Brent"/>
                    <xsd:enumeration value="Broker Fees"/>
                    <xsd:enumeration value="Buyouts"/>
                    <xsd:enumeration value="Cascading"/>
                    <xsd:enumeration value="Cash Accounts"/>
                    <xsd:enumeration value="Cash Applied"/>
                    <xsd:enumeration value="Cash Pooling"/>
                    <xsd:enumeration value="CDS"/>
                    <xsd:enumeration value="Certificates of Deposit"/>
                    <xsd:enumeration value="Cheapest to Deliver (CTD)"/>
                    <xsd:enumeration value="Clean Price"/>
                    <xsd:enumeration value="Client Doc"/>
                    <xsd:enumeration value="Closeouts"/>
                    <xsd:enumeration value="CMM"/>
                    <xsd:enumeration value="cMotion"/>
                    <xsd:enumeration value="ComFut Toolset"/>
                    <xsd:enumeration value="Connex"/>
                    <xsd:enumeration value="Convertible Bond"/>
                    <xsd:enumeration value="Convexity"/>
                    <xsd:enumeration value="Corporate Actions"/>
                    <xsd:enumeration value="Corporate Bond"/>
                    <xsd:enumeration value="Credit"/>
                    <xsd:enumeration value="Credit and Risk"/>
                    <xsd:enumeration value="Credit Cube"/>
                    <xsd:enumeration value="Credit Default Index Swap"/>
                    <xsd:enumeration value="Credit Facility"/>
                    <xsd:enumeration value="Credit Support Annex (CSA)"/>
                    <xsd:enumeration value="Crystal Reports"/>
                    <xsd:enumeration value="Cube"/>
                    <xsd:enumeration value="Curve Shaping"/>
                    <xsd:enumeration value="Data Comparison"/>
                    <xsd:enumeration value="Data Map Manager"/>
                    <xsd:enumeration value="Data Model"/>
                    <xsd:enumeration value="Database"/>
                    <xsd:enumeration value="Date Sequences"/>
                    <xsd:enumeration value="Deal pricing"/>
                    <xsd:enumeration value="Degree Days"/>
                    <xsd:enumeration value="Delivery Locations"/>
                    <xsd:enumeration value="Delta/Price Exposure"/>
                    <xsd:enumeration value="Derivatives"/>
                    <xsd:enumeration value="Desktops"/>
                    <xsd:enumeration value="Dirty Price"/>
                    <xsd:enumeration value="DMS"/>
                    <xsd:enumeration value="Dodd-Frank"/>
                    <xsd:enumeration value="eCMS"/>
                    <xsd:enumeration value="ECOM"/>
                    <xsd:enumeration value="EFP"/>
                    <xsd:enumeration value="EMIR"/>
                    <xsd:enumeration value="End of Day"/>
                    <xsd:enumeration value="Enhancements"/>
                    <xsd:enumeration value="Environment Variables"/>
                    <xsd:enumeration value="ESS"/>
                    <xsd:enumeration value="Eurodollar"/>
                    <xsd:enumeration value="Europe"/>
                    <xsd:enumeration value="Examples"/>
                    <xsd:enumeration value="Fees/Rates"/>
                    <xsd:enumeration value="Fixings/Resets"/>
                    <xsd:enumeration value="Forecasting"/>
                    <xsd:enumeration value="Forward Curves"/>
                    <xsd:enumeration value="Forwards"/>
                    <xsd:enumeration value="Futures"/>
                    <xsd:enumeration value="FX Conversion"/>
                    <xsd:enumeration value="General"/>
                    <xsd:enumeration value="Generation Options"/>
                    <xsd:enumeration value="gMotion Exercise"/>
                    <xsd:enumeration value="gMotion Overview"/>
                    <xsd:enumeration value="Government Bond"/>
                    <xsd:enumeration value="Hardware &amp; Networks"/>
                    <xsd:enumeration value="Hedge Analyzer"/>
                    <xsd:enumeration value="History"/>
                    <xsd:enumeration value="Holiday Schedules"/>
                    <xsd:enumeration value="ICE"/>
                    <xsd:enumeration value="Implied Volatilities"/>
                    <xsd:enumeration value="Indexed-Linked Bond"/>
                    <xsd:enumeration value="Initial Margin"/>
                    <xsd:enumeration value="Installation Guide"/>
                    <xsd:enumeration value="Instrument Builder"/>
                    <xsd:enumeration value="Instruments"/>
                    <xsd:enumeration value="Integration"/>
                    <xsd:enumeration value="Internal Risk"/>
                    <xsd:enumeration value="Internal Trading"/>
                    <xsd:enumeration value="Interpolation"/>
                    <xsd:enumeration value="Introduction"/>
                    <xsd:enumeration value="JVS"/>
                    <xsd:enumeration value="Letters of Credit"/>
                    <xsd:enumeration value="LIFFE"/>
                    <xsd:enumeration value="Limits"/>
                    <xsd:enumeration value="Listing Blotter"/>
                    <xsd:enumeration value="LME"/>
                    <xsd:enumeration value="Load Forecasts"/>
                    <xsd:enumeration value="Mapping"/>
                    <xsd:enumeration value="Market Data Client Mapper"/>
                    <xsd:enumeration value="Market Data Tools"/>
                    <xsd:enumeration value="Market Price Index"/>
                    <xsd:enumeration value="Market Snapshots"/>
                    <xsd:enumeration value="Markit"/>
                    <xsd:enumeration value="Master Central"/>
                    <xsd:enumeration value="MDSA"/>
                    <xsd:enumeration value="Measure Groups"/>
                    <xsd:enumeration value="Misc"/>
                    <xsd:enumeration value="Movement Management"/>
                    <xsd:enumeration value="MTM"/>
                    <xsd:enumeration value="Nomination Creation"/>
                    <xsd:enumeration value="Nomination Validation"/>
                    <xsd:enumeration value="Non Deliverable Forward (NDF)"/>
                    <xsd:enumeration value="non gMotion Overview"/>
                    <xsd:enumeration value="Nostro"/>
                    <xsd:enumeration value="Nth to Default"/>
                    <xsd:enumeration value="Nymex"/>
                    <xsd:enumeration value="Offsets"/>
                    <xsd:enumeration value="OpenComponents"/>
                    <xsd:enumeration value="Openlink Central"/>
                    <xsd:enumeration value="Operations Manager"/>
                    <xsd:enumeration value="Operations Services"/>
                    <xsd:enumeration value="Optimisation"/>
                    <xsd:enumeration value="Option Exercise"/>
                    <xsd:enumeration value="Options"/>
                    <xsd:enumeration value="OTC Clearing"/>
                    <xsd:enumeration value="Overview"/>
                    <xsd:enumeration value="pMotion"/>
                    <xsd:enumeration value="P&amp;L"/>
                    <xsd:enumeration value="Parcel Pricing"/>
                    <xsd:enumeration value="Partner Software Matrix"/>
                    <xsd:enumeration value="Payment Formula"/>
                    <xsd:enumeration value="Performance Measurement"/>
                    <xsd:enumeration value="Performance Recommendations"/>
                    <xsd:enumeration value="Pipelines"/>
                    <xsd:enumeration value="Portfolios/Book Structure"/>
                    <xsd:enumeration value="Price Forecasting"/>
                    <xsd:enumeration value="Pricing Models"/>
                    <xsd:enumeration value="Prior Period Adjustments"/>
                    <xsd:enumeration value="Profiled Volumes"/>
                    <xsd:enumeration value="Projection Methods"/>
                    <xsd:enumeration value="Provisional Invoicing"/>
                    <xsd:enumeration value="Purging"/>
                    <xsd:enumeration value="PWR SHARED Instruments"/>
                    <xsd:enumeration value="Quantity Management"/>
                    <xsd:enumeration value="Query"/>
                    <xsd:enumeration value="Reference Manager"/>
                    <xsd:enumeration value="Report Builder"/>
                    <xsd:enumeration value="Reporting"/>
                    <xsd:enumeration value="Requirements Gathering"/>
                    <xsd:enumeration value="Resets"/>
                    <xsd:enumeration value="Reuters"/>
                    <xsd:enumeration value="Risk Dashboard"/>
                    <xsd:enumeration value="RiskPak"/>
                    <xsd:enumeration value="RTPE"/>
                    <xsd:enumeration value="Scenarios"/>
                    <xsd:enumeration value="Scheduling Costs"/>
                    <xsd:enumeration value="Security Privileges"/>
                    <xsd:enumeration value="Simulation Results"/>
                    <xsd:enumeration value="Software"/>
                    <xsd:enumeration value="SOX"/>
                    <xsd:enumeration value="Spark Spread"/>
                    <xsd:enumeration value="Specification"/>
                    <xsd:enumeration value="Splitting"/>
                    <xsd:enumeration value="Spot Prices"/>
                    <xsd:enumeration value="Spread Options"/>
                    <xsd:enumeration value="Standard Reports"/>
                    <xsd:enumeration value="Storage/Inventory"/>
                    <xsd:enumeration value="STP"/>
                    <xsd:enumeration value="Strategies"/>
                    <xsd:enumeration value="Swaps"/>
                    <xsd:enumeration value="Swift"/>
                    <xsd:enumeration value="Swing Contracts"/>
                    <xsd:enumeration value="Tax"/>
                    <xsd:enumeration value="Time Series"/>
                    <xsd:enumeration value="TPM"/>
                    <xsd:enumeration value="Trade Events"/>
                    <xsd:enumeration value="Trade Snapshots"/>
                    <xsd:enumeration value="Trade Statuses"/>
                    <xsd:enumeration value="TradeWeb"/>
                    <xsd:enumeration value="Trading Locations"/>
                    <xsd:enumeration value="Trading Manager"/>
                    <xsd:enumeration value="TRANF"/>
                    <xsd:enumeration value="Tranmission Capacity"/>
                    <xsd:enumeration value="Transportation"/>
                    <xsd:enumeration value="Trayport"/>
                    <xsd:enumeration value="Upgrade"/>
                    <xsd:enumeration value="UK"/>
                    <xsd:enumeration value="UK - Interconnectors"/>
                    <xsd:enumeration value="Unassigned"/>
                    <xsd:enumeration value="US"/>
                    <xsd:enumeration value="User Tables/Data Worksheets"/>
                    <xsd:enumeration value="v8"/>
                    <xsd:enumeration value="v9"/>
                    <xsd:enumeration value="v10"/>
                    <xsd:enumeration value="v11"/>
                    <xsd:enumeration value="v12"/>
                    <xsd:enumeration value="v14"/>
                    <xsd:enumeration value="v15"/>
                    <xsd:enumeration value="v16"/>
                    <xsd:enumeration value="v17"/>
                    <xsd:enumeration value="v18"/>
                    <xsd:enumeration value="v19"/>
                    <xsd:enumeration value="v20"/>
                    <xsd:enumeration value="v21"/>
                    <xsd:enumeration value="v22"/>
                    <xsd:enumeration value="v23"/>
                    <xsd:enumeration value="v24"/>
                    <xsd:enumeration value="VaR"/>
                    <xsd:enumeration value="Volume Types"/>
                    <xsd:enumeration value="What's New"/>
                    <xsd:enumeration value="Yield Curves"/>
                    <xsd:enumeration value="Zero Coupon"/>
                  </xsd:restriction>
                </xsd:simpleType>
              </xsd:element>
            </xsd:sequence>
          </xsd:extension>
        </xsd:complexContent>
      </xsd:complexType>
    </xsd:element>
    <xsd:element name="MediaServiceMetadata" ma:index="16" nillable="true" ma:displayName="MediaServiceMetadata" ma:description="" ma:hidden="true" ma:internalName="MediaServiceMetadata" ma:readOnly="true">
      <xsd:simpleType>
        <xsd:restriction base="dms:Note"/>
      </xsd:simpleType>
    </xsd:element>
    <xsd:element name="MediaServiceFastMetadata" ma:index="17" nillable="true" ma:displayName="MediaServiceFastMetadata" ma:description="" ma:hidden="true" ma:internalName="MediaServiceFastMetadata" ma:readOnly="true">
      <xsd:simpleType>
        <xsd:restriction base="dms:Note"/>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f3d46ad-c9a8-4cd7-9374-471ab89c57ac"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axKeywordTaxHTField" ma:index="14" nillable="true" ma:taxonomy="true" ma:internalName="TaxKeywordTaxHTField" ma:taxonomyFieldName="TaxKeyword" ma:displayName="Enterprise Keywords" ma:fieldId="{23f27201-bee3-471e-b2e7-b64fd8b7ca38}" ma:taxonomyMulti="true" ma:sspId="d0a12048-9627-44d5-9a25-48d5f6753858" ma:termSetId="00000000-0000-0000-0000-000000000000" ma:anchorId="00000000-0000-0000-0000-000000000000" ma:open="true" ma:isKeyword="true">
      <xsd:complexType>
        <xsd:sequence>
          <xsd:element ref="pc:Terms" minOccurs="0" maxOccurs="1"/>
        </xsd:sequence>
      </xsd:complexType>
    </xsd:element>
    <xsd:element name="TaxCatchAll" ma:index="15" nillable="true" ma:displayName="Taxonomy Catch All Column" ma:description="" ma:hidden="true" ma:list="{4d3362c9-4764-4371-b933-9094a70d7f3d}" ma:internalName="TaxCatchAll" ma:showField="CatchAllData" ma:web="af3d46ad-c9a8-4cd7-9374-471ab89c57a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f52ca87-820f-4265-a196-fbca7a4b8502" elementFormDefault="qualified">
    <xsd:import namespace="http://schemas.microsoft.com/office/2006/documentManagement/types"/>
    <xsd:import namespace="http://schemas.microsoft.com/office/infopath/2007/PartnerControls"/>
    <xsd:element name="SharedWithDetails" ma:index="12"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Endur_x0020_Topic xmlns="bd57060c-11ef-410e-9103-5e486a4a1ae7">
      <Value>Introduction</Value>
    </Endur_x0020_Topic>
    <Endur_x0020_Category xmlns="bd57060c-11ef-410e-9103-5e486a4a1ae7">
      <Value>Overview</Value>
    </Endur_x0020_Category>
    <TaxCatchAll xmlns="af3d46ad-c9a8-4cd7-9374-471ab89c57ac" xsi:nil="true"/>
    <TaxKeywordTaxHTField xmlns="af3d46ad-c9a8-4cd7-9374-471ab89c57ac">
      <Terms xmlns="http://schemas.microsoft.com/office/infopath/2007/PartnerControls"/>
    </TaxKeywordTaxHTField>
    <Commodity xmlns="bd57060c-11ef-410e-9103-5e486a4a1ae7">
      <Value>General</Value>
    </Commodity>
  </documentManagement>
</p:properties>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6A636E37-83F1-47E0-B9C7-A8EDB423169C}">
  <ds:schemaRefs>
    <ds:schemaRef ds:uri="http://schemas.microsoft.com/office/2006/metadata/longProperties"/>
  </ds:schemaRefs>
</ds:datastoreItem>
</file>

<file path=customXml/itemProps2.xml><?xml version="1.0" encoding="utf-8"?>
<ds:datastoreItem xmlns:ds="http://schemas.openxmlformats.org/officeDocument/2006/customXml" ds:itemID="{A6FC9824-D36F-45E7-B6B6-2F6162886CAF}">
  <ds:schemaRefs>
    <ds:schemaRef ds:uri="http://schemas.microsoft.com/sharepoint/v3/contenttype/forms"/>
  </ds:schemaRefs>
</ds:datastoreItem>
</file>

<file path=customXml/itemProps3.xml><?xml version="1.0" encoding="utf-8"?>
<ds:datastoreItem xmlns:ds="http://schemas.openxmlformats.org/officeDocument/2006/customXml" ds:itemID="{887D3B18-59A0-4F1A-843B-FC89FDA06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57060c-11ef-410e-9103-5e486a4a1ae7"/>
    <ds:schemaRef ds:uri="af3d46ad-c9a8-4cd7-9374-471ab89c57ac"/>
    <ds:schemaRef ds:uri="df52ca87-820f-4265-a196-fbca7a4b8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8EB3C3F-8568-4522-A5A3-03B0EA49302F}">
  <ds:schemaRefs>
    <ds:schemaRef ds:uri="http://schemas.microsoft.com/office/2006/metadata/properties"/>
    <ds:schemaRef ds:uri="http://schemas.microsoft.com/office/infopath/2007/PartnerControls"/>
    <ds:schemaRef ds:uri="bd57060c-11ef-410e-9103-5e486a4a1ae7"/>
    <ds:schemaRef ds:uri="af3d46ad-c9a8-4cd7-9374-471ab89c57ac"/>
  </ds:schemaRefs>
</ds:datastoreItem>
</file>

<file path=customXml/itemProps5.xml><?xml version="1.0" encoding="utf-8"?>
<ds:datastoreItem xmlns:ds="http://schemas.openxmlformats.org/officeDocument/2006/customXml" ds:itemID="{C43F1A8C-E202-4A33-BAF5-F9EC8CB10E95}">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Corporate_Master_Design_Template_2007</Template>
  <TotalTime>1</TotalTime>
  <Words>5923</Words>
  <Application>Microsoft Office PowerPoint</Application>
  <PresentationFormat>On-screen Show (4:3)</PresentationFormat>
  <Paragraphs>921</Paragraphs>
  <Slides>85</Slides>
  <Notes>85</Notes>
  <HiddenSlides>7</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85</vt:i4>
      </vt:variant>
    </vt:vector>
  </HeadingPairs>
  <TitlesOfParts>
    <vt:vector size="94" baseType="lpstr">
      <vt:lpstr>Arial</vt:lpstr>
      <vt:lpstr>Frutiger 55 Roman</vt:lpstr>
      <vt:lpstr>Symbol</vt:lpstr>
      <vt:lpstr>Tahoma</vt:lpstr>
      <vt:lpstr>Times New Roman</vt:lpstr>
      <vt:lpstr>Verdana</vt:lpstr>
      <vt:lpstr>Wingdings</vt:lpstr>
      <vt:lpstr>3_Corporate_Master_Design_Template_2006</vt:lpstr>
      <vt:lpstr>Document</vt:lpstr>
      <vt:lpstr>PowerPoint Presentation</vt:lpstr>
      <vt:lpstr>INTRODUCTION TO ENDUR</vt:lpstr>
      <vt:lpstr>Overview of Endur</vt:lpstr>
      <vt:lpstr>Overview of Endur</vt:lpstr>
      <vt:lpstr>Overview of Endur Front Office</vt:lpstr>
      <vt:lpstr>Overview of Endur Middle Office</vt:lpstr>
      <vt:lpstr>Overview of Endur Back Office</vt:lpstr>
      <vt:lpstr>Overview of Endur Front-Mid-Back</vt:lpstr>
      <vt:lpstr>Overview of Endur OpenLink Central</vt:lpstr>
      <vt:lpstr>Reference Manager</vt:lpstr>
      <vt:lpstr>Admin Manager</vt:lpstr>
      <vt:lpstr>Market Manager</vt:lpstr>
      <vt:lpstr>Trading Manager</vt:lpstr>
      <vt:lpstr>Credit &amp; Risk Managers</vt:lpstr>
      <vt:lpstr>Operations Manager</vt:lpstr>
      <vt:lpstr>Accounting Manager</vt:lpstr>
      <vt:lpstr>Endur Managers</vt:lpstr>
      <vt:lpstr>Any Questions ?</vt:lpstr>
      <vt:lpstr>Overview of Endur  Common System Functionality</vt:lpstr>
      <vt:lpstr>Browser Window</vt:lpstr>
      <vt:lpstr>Browser Window and Queries</vt:lpstr>
      <vt:lpstr>Accessing the query functionality</vt:lpstr>
      <vt:lpstr>Running a Query</vt:lpstr>
      <vt:lpstr>Query Defaults</vt:lpstr>
      <vt:lpstr>Additional query criteria - SQL</vt:lpstr>
      <vt:lpstr>Time Period &amp; Amount Conventions</vt:lpstr>
      <vt:lpstr>Table Viewer</vt:lpstr>
      <vt:lpstr>Exporting Table Viewer Data into an Excel Spreadsheet</vt:lpstr>
      <vt:lpstr>Searching the Table Viewer </vt:lpstr>
      <vt:lpstr>Table Viewer Configuration</vt:lpstr>
      <vt:lpstr>Any Questions ?</vt:lpstr>
      <vt:lpstr>Admin Manager</vt:lpstr>
      <vt:lpstr>Admin Manager</vt:lpstr>
      <vt:lpstr>Admin Manager</vt:lpstr>
      <vt:lpstr>Admin Manager</vt:lpstr>
      <vt:lpstr>Admin Manager General Administration</vt:lpstr>
      <vt:lpstr>Admin Manager  Compliance </vt:lpstr>
      <vt:lpstr>Admin Manager  Data Model Extension </vt:lpstr>
      <vt:lpstr>Admin Manager Transportation Network</vt:lpstr>
      <vt:lpstr>Reference Manager</vt:lpstr>
      <vt:lpstr>Reference Manager</vt:lpstr>
      <vt:lpstr>Reference Manager Portfolios</vt:lpstr>
      <vt:lpstr>Reference Manager Personnel</vt:lpstr>
      <vt:lpstr>Reference Manager Personnel</vt:lpstr>
      <vt:lpstr>Reference Manager   Party Group</vt:lpstr>
      <vt:lpstr>Reference Manager   Party Group</vt:lpstr>
      <vt:lpstr>Party Group - Required Party Information </vt:lpstr>
      <vt:lpstr>Party Group Business Unit </vt:lpstr>
      <vt:lpstr>PowerPoint Presentation</vt:lpstr>
      <vt:lpstr>Party Group   Party Agreements </vt:lpstr>
      <vt:lpstr>Market Manager</vt:lpstr>
      <vt:lpstr>Market Manager</vt:lpstr>
      <vt:lpstr>Market Manager Indexes</vt:lpstr>
      <vt:lpstr>Market Manager Indexes</vt:lpstr>
      <vt:lpstr>Index  Definition</vt:lpstr>
      <vt:lpstr>Index Input  </vt:lpstr>
      <vt:lpstr>Market Manager Viewing and Saving Prices</vt:lpstr>
      <vt:lpstr>Overview of Endur   Trading Manager</vt:lpstr>
      <vt:lpstr>Trading Manager</vt:lpstr>
      <vt:lpstr>Trading Manager Browser  </vt:lpstr>
      <vt:lpstr>Trade Numbering</vt:lpstr>
      <vt:lpstr>Trade Dates</vt:lpstr>
      <vt:lpstr>Trading Platform</vt:lpstr>
      <vt:lpstr>Transaction Lifecycle</vt:lpstr>
      <vt:lpstr>Trade Events</vt:lpstr>
      <vt:lpstr>Trade Numbering</vt:lpstr>
      <vt:lpstr>Power Trading</vt:lpstr>
      <vt:lpstr>Price Bands, Power Products, Power Curves and Delivery Locations     </vt:lpstr>
      <vt:lpstr>Deal Entry in the Power Toolset</vt:lpstr>
      <vt:lpstr>Deal Entry – Secondary Input</vt:lpstr>
      <vt:lpstr>Deal Entry – Deal Profile – Physical side</vt:lpstr>
      <vt:lpstr>Deal Entry – Deal Profile – Fixed Side</vt:lpstr>
      <vt:lpstr>Deal Entry – Reset – Physical Side</vt:lpstr>
      <vt:lpstr>Deal Entry – Reset – Physical Side - Priced</vt:lpstr>
      <vt:lpstr>Price the Deal</vt:lpstr>
      <vt:lpstr>Pricing the Fixed Side of the deal</vt:lpstr>
      <vt:lpstr>Pricing the Physical Side of the deal</vt:lpstr>
      <vt:lpstr>Modify the deal</vt:lpstr>
      <vt:lpstr>Validate the Deal</vt:lpstr>
      <vt:lpstr>Portfolio Revaluations</vt:lpstr>
      <vt:lpstr>Trade Entry</vt:lpstr>
      <vt:lpstr>Trader Desktop</vt:lpstr>
      <vt:lpstr>Recap &amp; Questions ?</vt:lpstr>
      <vt:lpstr>The Lifecycle of a Trade</vt:lpstr>
      <vt:lpstr>Endur Managers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Abolanle Soares</dc:creator>
  <cp:lastModifiedBy>Craig Proudfoot</cp:lastModifiedBy>
  <cp:revision>336</cp:revision>
  <dcterms:created xsi:type="dcterms:W3CDTF">1601-01-01T00:00:00Z</dcterms:created>
  <dcterms:modified xsi:type="dcterms:W3CDTF">2025-06-25T09:48:09Z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modity">
    <vt:lpwstr>General</vt:lpwstr>
  </property>
  <property fmtid="{D5CDD505-2E9C-101B-9397-08002B2CF9AE}" pid="3" name="Endur Category">
    <vt:lpwstr>Overview</vt:lpwstr>
  </property>
  <property fmtid="{D5CDD505-2E9C-101B-9397-08002B2CF9AE}" pid="4" name="Endur Topic">
    <vt:lpwstr>Introduction</vt:lpwstr>
  </property>
  <property fmtid="{D5CDD505-2E9C-101B-9397-08002B2CF9AE}" pid="5" name="TaxKeywordTaxHTField">
    <vt:lpwstr/>
  </property>
  <property fmtid="{D5CDD505-2E9C-101B-9397-08002B2CF9AE}" pid="6" name="TaxKeyword">
    <vt:lpwstr/>
  </property>
  <property fmtid="{D5CDD505-2E9C-101B-9397-08002B2CF9AE}" pid="7" name="TaxCatchAll">
    <vt:lpwstr/>
  </property>
  <property fmtid="{D5CDD505-2E9C-101B-9397-08002B2CF9AE}" pid="8" name="ContentTypeId">
    <vt:lpwstr>0x0101008110B4286C73BC4DB66752CA77A09D1C</vt:lpwstr>
  </property>
</Properties>
</file>